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822960"/>
            <a:ext cx="822960" cy="41148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20">
                <a:solidFill>
                  <a:srgbClr val="B9B4AA"/>
                </a:solidFill>
                <a:latin typeface="Helvetica Neue"/>
              </a:rPr>
              <a:t>MODELA  ·  DESARROLLO INMOBILIARIO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087495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spc="-20">
                <a:solidFill>
                  <a:srgbClr val="FFFFFF"/>
                </a:solidFill>
                <a:latin typeface="Helvetica Neue"/>
              </a:rPr>
              <a:t>¿Cuánto vale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spc="-20">
                <a:solidFill>
                  <a:srgbClr val="B07D24"/>
                </a:solidFill>
                <a:latin typeface="Helvetica Neue"/>
              </a:rPr>
              <a:t>la conectividad?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348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FCBC2"/>
                </a:solidFill>
                <a:latin typeface="Helvetica Neue"/>
              </a:rPr>
              <a:t>Cómo la accesibilidad vial y ferroviaria se traduce en valor inmobiliario, y por qué Batuco y Estación Colina compiten hoy y lideran mañana.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60">
                <a:solidFill>
                  <a:srgbClr val="8C8880"/>
                </a:solidFill>
                <a:latin typeface="Helvetica Neue"/>
              </a:rPr>
              <a:t>Evaluación de accesibilidad · Región Metropolitana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0127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60">
                <a:solidFill>
                  <a:srgbClr val="8C8880"/>
                </a:solidFill>
                <a:latin typeface="Helvetica Neue"/>
              </a:rPr>
              <a:t>Documento de directorio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01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LA 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La conectividad no es un atributo: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">
                <a:solidFill>
                  <a:srgbClr val="161616"/>
                </a:solidFill>
                <a:latin typeface="Helvetica Neue"/>
              </a:rPr>
              <a:t>es valor inmobiliario medible.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Menos tiempo y menos costo de traslado se capitalizan en cuánto puede pagar una familia por su vivienda. Medimos ese efecto, zona por zona.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161616"/>
                </a:solidFill>
                <a:latin typeface="Helvetica Neue"/>
              </a:rPr>
              <a:t>3º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Batuco en auto, con la Autopista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hoy 11º 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7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B07D24"/>
                </a:solidFill>
                <a:latin typeface="Helvetica Neue"/>
              </a:rPr>
              <a:t>1º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7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Estación Colina en transporte público, con el tren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7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hoy 5º de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30632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161616"/>
                </a:solidFill>
                <a:latin typeface="Helvetica Neue"/>
              </a:rPr>
              <a:t>1 h 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37764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menos de viaje con el tren, desde Batuco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4434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de 2h17 a 1h10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spc="-20">
                <a:solidFill>
                  <a:srgbClr val="B07D24"/>
                </a:solidFill>
                <a:latin typeface="Helvetica Neue"/>
              </a:rPr>
              <a:t>+1.363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37764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61616"/>
                </a:solidFill>
                <a:latin typeface="Helvetica Neue"/>
              </a:rPr>
              <a:t>UF de Estación Colina sobre la zona peor conectada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4434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A64"/>
                </a:solidFill>
                <a:latin typeface="Helvetica Neue"/>
              </a:rPr>
              <a:t>Batuco, +696 UF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Batuco y Estación Colina: competitivos hoy y líderes del corredor norte con la infraestructura ya en construcción.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02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DÓNDE ESTAMOS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Hoy: Estación Colina ya es central;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Batuco es periférico y ninguno es 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1288" y="3906139"/>
            <a:ext cx="2506463" cy="711580"/>
          </a:xfrm>
          <a:prstGeom prst="rect">
            <a:avLst/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667751" y="2606040"/>
            <a:ext cx="0" cy="2011680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61288" y="3906139"/>
            <a:ext cx="5486400" cy="0"/>
          </a:xfrm>
          <a:prstGeom prst="line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1288" y="4617720"/>
            <a:ext cx="5486400" cy="0"/>
          </a:xfrm>
          <a:prstGeom prst="line">
            <a:avLst/>
          </a:prstGeom>
          <a:ln w="12700">
            <a:solidFill>
              <a:srgbClr val="C9C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1288" y="2606040"/>
            <a:ext cx="0" cy="2011680"/>
          </a:xfrm>
          <a:prstGeom prst="line">
            <a:avLst/>
          </a:prstGeom>
          <a:ln w="12700">
            <a:solidFill>
              <a:srgbClr val="C9C4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61288" y="4690872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Minutos promedio en auto a los 9 destinos (40 a 99 min)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331720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A64"/>
                </a:solidFill>
                <a:latin typeface="Helvetica Neue"/>
              </a:rPr>
              <a:t>Costo mensual de manejar ($189 a $496 mil/mes) 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970147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80">
                <a:solidFill>
                  <a:srgbClr val="2F9E6E"/>
                </a:solidFill>
                <a:latin typeface="Helvetica Neue"/>
              </a:rPr>
              <a:t>RÁPIDA Y BARATA</a:t>
            </a:r>
          </a:p>
        </p:txBody>
      </p:sp>
      <p:sp>
        <p:nvSpPr>
          <p:cNvPr id="13" name="Oval 12"/>
          <p:cNvSpPr/>
          <p:nvPr/>
        </p:nvSpPr>
        <p:spPr>
          <a:xfrm>
            <a:off x="1553476" y="4219186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97820" y="4358035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1081" y="2986889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41442" y="3581631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83259" y="4398187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81278" y="3873511"/>
            <a:ext cx="173736" cy="173736"/>
          </a:xfrm>
          <a:prstGeom prst="ellipse">
            <a:avLst/>
          </a:prstGeom>
          <a:solidFill>
            <a:srgbClr val="B07D2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846" y="3882655"/>
            <a:ext cx="11475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20" name="Oval 19"/>
          <p:cNvSpPr/>
          <p:nvPr/>
        </p:nvSpPr>
        <p:spPr>
          <a:xfrm>
            <a:off x="3485425" y="3560707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08315" y="3890142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7049" y="3092579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21766" y="2760065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78329" y="3486026"/>
            <a:ext cx="173736" cy="173736"/>
          </a:xfrm>
          <a:prstGeom prst="ellipse">
            <a:avLst/>
          </a:prstGeom>
          <a:solidFill>
            <a:srgbClr val="B07D24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0645" y="349517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6" name="Oval 25"/>
          <p:cNvSpPr/>
          <p:nvPr/>
        </p:nvSpPr>
        <p:spPr>
          <a:xfrm>
            <a:off x="4681393" y="4157327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4281" y="4006111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6086" y="3846703"/>
            <a:ext cx="118872" cy="118872"/>
          </a:xfrm>
          <a:prstGeom prst="ellipse">
            <a:avLst/>
          </a:prstGeom>
          <a:solidFill>
            <a:srgbClr val="134E4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331720"/>
            <a:ext cx="4263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90">
                <a:solidFill>
                  <a:srgbClr val="B07D24"/>
                </a:solidFill>
                <a:latin typeface="Helvetica Neue"/>
              </a:rPr>
              <a:t>EL DIAGNÓSTICO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697480"/>
            <a:ext cx="4263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Estación Colina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944368"/>
            <a:ext cx="4263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A64"/>
                </a:solidFill>
                <a:latin typeface="Helvetica Neue"/>
              </a:rPr>
              <a:t>Ya central (6º en auto), pero su transporte público de hoy es lento.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392424"/>
            <a:ext cx="4263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Batuco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639312"/>
            <a:ext cx="4263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A64"/>
                </a:solidFill>
                <a:latin typeface="Helvetica Neue"/>
              </a:rPr>
              <a:t>Lejano y caro en auto: cruza autopistas concesionadas hacia la mayoría de los destinos.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087368"/>
            <a:ext cx="42638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Los 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34256"/>
            <a:ext cx="42638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A64"/>
                </a:solidFill>
                <a:latin typeface="Helvetica Neue"/>
              </a:rPr>
              <a:t>Sin integración a RED: pagan el transporte público por tramo, más caro.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El diagnóstico de hoy tiene una fortaleza y debilidades claras. Cada debilidad tiene respuesta: infraestructura en construcción o gestión propia.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03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EL SALTO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El tren y la Autopista mueven a nuestros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proyectos a los primeros lugares.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51860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6E6A64"/>
                </a:solidFill>
                <a:latin typeface="Helvetica Neue"/>
              </a:rPr>
              <a:t>TRANSPORTE PÚBLICO ·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7307" y="2103120"/>
            <a:ext cx="51860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80">
                <a:solidFill>
                  <a:srgbClr val="134E48"/>
                </a:solidFill>
                <a:latin typeface="Helvetica Neue"/>
              </a:rPr>
              <a:t>CON EL TREN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9312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696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8081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465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6850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234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5618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003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87752"/>
            <a:ext cx="1005839" cy="105155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78608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Estación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28216" y="2592324"/>
            <a:ext cx="422808" cy="96011"/>
          </a:xfrm>
          <a:prstGeom prst="rect">
            <a:avLst/>
          </a:prstGeom>
          <a:solidFill>
            <a:srgbClr val="CB9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87600" y="2592324"/>
            <a:ext cx="422808" cy="96011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46984" y="2592324"/>
            <a:ext cx="422808" cy="96011"/>
          </a:xfrm>
          <a:prstGeom prst="rect">
            <a:avLst/>
          </a:prstGeom>
          <a:solidFill>
            <a:srgbClr val="62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6369" y="2592324"/>
            <a:ext cx="422808" cy="96011"/>
          </a:xfrm>
          <a:prstGeom prst="rect">
            <a:avLst/>
          </a:prstGeom>
          <a:solidFill>
            <a:srgbClr val="4E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5753" y="2592324"/>
            <a:ext cx="422808" cy="96011"/>
          </a:xfrm>
          <a:prstGeom prst="rect">
            <a:avLst/>
          </a:prstGeom>
          <a:solidFill>
            <a:srgbClr val="B0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5138" y="2592324"/>
            <a:ext cx="422808" cy="96011"/>
          </a:xfrm>
          <a:prstGeom prst="rect">
            <a:avLst/>
          </a:prstGeom>
          <a:solidFill>
            <a:srgbClr val="9F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4522" y="2592324"/>
            <a:ext cx="422808" cy="96011"/>
          </a:xfrm>
          <a:prstGeom prst="rect">
            <a:avLst/>
          </a:prstGeom>
          <a:solidFill>
            <a:srgbClr val="D16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43906" y="2592324"/>
            <a:ext cx="422808" cy="96011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3291" y="2592324"/>
            <a:ext cx="422808" cy="96011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2711196"/>
            <a:ext cx="1005839" cy="105155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702052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28216" y="2715768"/>
            <a:ext cx="422808" cy="96011"/>
          </a:xfrm>
          <a:prstGeom prst="rect">
            <a:avLst/>
          </a:prstGeom>
          <a:solidFill>
            <a:srgbClr val="CD8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87600" y="2715768"/>
            <a:ext cx="422808" cy="96011"/>
          </a:xfrm>
          <a:prstGeom prst="rect">
            <a:avLst/>
          </a:prstGeom>
          <a:solidFill>
            <a:srgbClr val="CD8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46984" y="2715768"/>
            <a:ext cx="422808" cy="96011"/>
          </a:xfrm>
          <a:prstGeom prst="rect">
            <a:avLst/>
          </a:prstGeom>
          <a:solidFill>
            <a:srgbClr val="C9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6369" y="2715768"/>
            <a:ext cx="422808" cy="96011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5753" y="2715768"/>
            <a:ext cx="422808" cy="96011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5138" y="2715768"/>
            <a:ext cx="422808" cy="96011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4522" y="2715768"/>
            <a:ext cx="422808" cy="96011"/>
          </a:xfrm>
          <a:prstGeom prst="rect">
            <a:avLst/>
          </a:prstGeom>
          <a:solidFill>
            <a:srgbClr val="D45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43906" y="2715768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03291" y="2715768"/>
            <a:ext cx="422808" cy="96011"/>
          </a:xfrm>
          <a:prstGeom prst="rect">
            <a:avLst/>
          </a:prstGeom>
          <a:solidFill>
            <a:srgbClr val="D16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2825496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Valle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28216" y="2839212"/>
            <a:ext cx="422808" cy="96011"/>
          </a:xfrm>
          <a:prstGeom prst="rect">
            <a:avLst/>
          </a:prstGeom>
          <a:solidFill>
            <a:srgbClr val="74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87600" y="2839212"/>
            <a:ext cx="422808" cy="96011"/>
          </a:xfrm>
          <a:prstGeom prst="rect">
            <a:avLst/>
          </a:prstGeom>
          <a:solidFill>
            <a:srgbClr val="71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46984" y="2839212"/>
            <a:ext cx="422808" cy="96011"/>
          </a:xfrm>
          <a:prstGeom prst="rect">
            <a:avLst/>
          </a:prstGeom>
          <a:solidFill>
            <a:srgbClr val="4C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06369" y="2839212"/>
            <a:ext cx="422808" cy="96011"/>
          </a:xfrm>
          <a:prstGeom prst="rect">
            <a:avLst/>
          </a:prstGeom>
          <a:solidFill>
            <a:srgbClr val="B1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65753" y="2839212"/>
            <a:ext cx="422808" cy="96011"/>
          </a:xfrm>
          <a:prstGeom prst="rect">
            <a:avLst/>
          </a:prstGeom>
          <a:solidFill>
            <a:srgbClr val="BA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5138" y="2839212"/>
            <a:ext cx="422808" cy="96011"/>
          </a:xfrm>
          <a:prstGeom prst="rect">
            <a:avLst/>
          </a:prstGeom>
          <a:solidFill>
            <a:srgbClr val="83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84522" y="2839212"/>
            <a:ext cx="422808" cy="96011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43906" y="2839212"/>
            <a:ext cx="422808" cy="96011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03291" y="2839212"/>
            <a:ext cx="422808" cy="96011"/>
          </a:xfrm>
          <a:prstGeom prst="rect">
            <a:avLst/>
          </a:prstGeom>
          <a:solidFill>
            <a:srgbClr val="46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2948940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8216" y="2962656"/>
            <a:ext cx="422808" cy="96011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87600" y="2962656"/>
            <a:ext cx="422808" cy="96011"/>
          </a:xfrm>
          <a:prstGeom prst="rect">
            <a:avLst/>
          </a:prstGeom>
          <a:solidFill>
            <a:srgbClr val="C6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46984" y="2962656"/>
            <a:ext cx="422808" cy="96011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6369" y="2962656"/>
            <a:ext cx="422808" cy="96011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65753" y="2962656"/>
            <a:ext cx="422808" cy="96011"/>
          </a:xfrm>
          <a:prstGeom prst="rect">
            <a:avLst/>
          </a:prstGeom>
          <a:solidFill>
            <a:srgbClr val="8B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25138" y="2962656"/>
            <a:ext cx="422808" cy="96011"/>
          </a:xfrm>
          <a:prstGeom prst="rect">
            <a:avLst/>
          </a:prstGeom>
          <a:solidFill>
            <a:srgbClr val="A1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84522" y="2962656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43906" y="2962656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03291" y="2962656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3072384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Hacienda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28216" y="3086100"/>
            <a:ext cx="422808" cy="96011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87600" y="3086100"/>
            <a:ext cx="422808" cy="96011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46984" y="3086100"/>
            <a:ext cx="422808" cy="96011"/>
          </a:xfrm>
          <a:prstGeom prst="rect">
            <a:avLst/>
          </a:prstGeom>
          <a:solidFill>
            <a:srgbClr val="C99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06369" y="3086100"/>
            <a:ext cx="422808" cy="96011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65753" y="3086100"/>
            <a:ext cx="422808" cy="96011"/>
          </a:xfrm>
          <a:prstGeom prst="rect">
            <a:avLst/>
          </a:prstGeom>
          <a:solidFill>
            <a:srgbClr val="CB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5138" y="3086100"/>
            <a:ext cx="422808" cy="96011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84522" y="3086100"/>
            <a:ext cx="422808" cy="96011"/>
          </a:xfrm>
          <a:prstGeom prst="rect">
            <a:avLst/>
          </a:prstGeom>
          <a:solidFill>
            <a:srgbClr val="D54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43906" y="3086100"/>
            <a:ext cx="422808" cy="96011"/>
          </a:xfrm>
          <a:prstGeom prst="rect">
            <a:avLst/>
          </a:prstGeom>
          <a:solidFill>
            <a:srgbClr val="D3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03291" y="3086100"/>
            <a:ext cx="422808" cy="96011"/>
          </a:xfrm>
          <a:prstGeom prst="rect">
            <a:avLst/>
          </a:prstGeom>
          <a:solidFill>
            <a:srgbClr val="D25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195828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28216" y="3209544"/>
            <a:ext cx="422808" cy="96011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87600" y="3209544"/>
            <a:ext cx="422808" cy="96011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46984" y="3209544"/>
            <a:ext cx="422808" cy="96011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06369" y="3209544"/>
            <a:ext cx="422808" cy="96011"/>
          </a:xfrm>
          <a:prstGeom prst="rect">
            <a:avLst/>
          </a:prstGeom>
          <a:solidFill>
            <a:srgbClr val="CC8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65753" y="3209544"/>
            <a:ext cx="422808" cy="96011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25138" y="3209544"/>
            <a:ext cx="422808" cy="96011"/>
          </a:xfrm>
          <a:prstGeom prst="rect">
            <a:avLst/>
          </a:prstGeom>
          <a:solidFill>
            <a:srgbClr val="50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84522" y="3209544"/>
            <a:ext cx="422808" cy="96011"/>
          </a:xfrm>
          <a:prstGeom prst="rect">
            <a:avLst/>
          </a:prstGeom>
          <a:solidFill>
            <a:srgbClr val="A1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43906" y="3209544"/>
            <a:ext cx="422808" cy="96011"/>
          </a:xfrm>
          <a:prstGeom prst="rect">
            <a:avLst/>
          </a:prstGeom>
          <a:solidFill>
            <a:srgbClr val="65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03291" y="3209544"/>
            <a:ext cx="422808" cy="96011"/>
          </a:xfrm>
          <a:prstGeom prst="rect">
            <a:avLst/>
          </a:prstGeom>
          <a:solidFill>
            <a:srgbClr val="8C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3319272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28216" y="3332988"/>
            <a:ext cx="422808" cy="96011"/>
          </a:xfrm>
          <a:prstGeom prst="rect">
            <a:avLst/>
          </a:prstGeom>
          <a:solidFill>
            <a:srgbClr val="63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87600" y="3332988"/>
            <a:ext cx="422808" cy="96011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646984" y="3332988"/>
            <a:ext cx="422808" cy="96011"/>
          </a:xfrm>
          <a:prstGeom prst="rect">
            <a:avLst/>
          </a:prstGeom>
          <a:solidFill>
            <a:srgbClr val="9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106369" y="3332988"/>
            <a:ext cx="422808" cy="96011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65753" y="3332988"/>
            <a:ext cx="422808" cy="96011"/>
          </a:xfrm>
          <a:prstGeom prst="rect">
            <a:avLst/>
          </a:prstGeom>
          <a:solidFill>
            <a:srgbClr val="B6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25138" y="3332988"/>
            <a:ext cx="422808" cy="96011"/>
          </a:xfrm>
          <a:prstGeom prst="rect">
            <a:avLst/>
          </a:prstGeom>
          <a:solidFill>
            <a:srgbClr val="C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84522" y="3332988"/>
            <a:ext cx="422808" cy="96011"/>
          </a:xfrm>
          <a:prstGeom prst="rect">
            <a:avLst/>
          </a:prstGeom>
          <a:solidFill>
            <a:srgbClr val="8D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43906" y="3332988"/>
            <a:ext cx="422808" cy="96011"/>
          </a:xfrm>
          <a:prstGeom prst="rect">
            <a:avLst/>
          </a:prstGeom>
          <a:solidFill>
            <a:srgbClr val="67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03291" y="3332988"/>
            <a:ext cx="422808" cy="96011"/>
          </a:xfrm>
          <a:prstGeom prst="rect">
            <a:avLst/>
          </a:prstGeom>
          <a:solidFill>
            <a:srgbClr val="73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2" y="3442716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28216" y="3456432"/>
            <a:ext cx="422808" cy="96011"/>
          </a:xfrm>
          <a:prstGeom prst="rect">
            <a:avLst/>
          </a:prstGeom>
          <a:solidFill>
            <a:srgbClr val="CD8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187600" y="3456432"/>
            <a:ext cx="422808" cy="96011"/>
          </a:xfrm>
          <a:prstGeom prst="rect">
            <a:avLst/>
          </a:prstGeom>
          <a:solidFill>
            <a:srgbClr val="CD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646984" y="3456432"/>
            <a:ext cx="422808" cy="96011"/>
          </a:xfrm>
          <a:prstGeom prst="rect">
            <a:avLst/>
          </a:prstGeom>
          <a:solidFill>
            <a:srgbClr val="A2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106369" y="3456432"/>
            <a:ext cx="422808" cy="96011"/>
          </a:xfrm>
          <a:prstGeom prst="rect">
            <a:avLst/>
          </a:prstGeom>
          <a:solidFill>
            <a:srgbClr val="CB8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65753" y="3456432"/>
            <a:ext cx="422808" cy="96011"/>
          </a:xfrm>
          <a:prstGeom prst="rect">
            <a:avLst/>
          </a:prstGeom>
          <a:solidFill>
            <a:srgbClr val="C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5138" y="3456432"/>
            <a:ext cx="422808" cy="96011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84522" y="3456432"/>
            <a:ext cx="422808" cy="96011"/>
          </a:xfrm>
          <a:prstGeom prst="rect">
            <a:avLst/>
          </a:prstGeom>
          <a:solidFill>
            <a:srgbClr val="D1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43906" y="3456432"/>
            <a:ext cx="422808" cy="96011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03291" y="3456432"/>
            <a:ext cx="422808" cy="96011"/>
          </a:xfrm>
          <a:prstGeom prst="rect">
            <a:avLst/>
          </a:prstGeom>
          <a:solidFill>
            <a:srgbClr val="CA9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3232" y="3566160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Laguna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728216" y="357987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187600" y="3579876"/>
            <a:ext cx="422808" cy="96011"/>
          </a:xfrm>
          <a:prstGeom prst="rect">
            <a:avLst/>
          </a:prstGeom>
          <a:solidFill>
            <a:srgbClr val="D54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646984" y="357987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6369" y="357987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565753" y="3579876"/>
            <a:ext cx="422808" cy="96011"/>
          </a:xfrm>
          <a:prstGeom prst="rect">
            <a:avLst/>
          </a:prstGeom>
          <a:solidFill>
            <a:srgbClr val="D0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025138" y="3579876"/>
            <a:ext cx="422808" cy="96011"/>
          </a:xfrm>
          <a:prstGeom prst="rect">
            <a:avLst/>
          </a:prstGeom>
          <a:solidFill>
            <a:srgbClr val="CE7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484522" y="3579876"/>
            <a:ext cx="422808" cy="96011"/>
          </a:xfrm>
          <a:prstGeom prst="rect">
            <a:avLst/>
          </a:prstGeom>
          <a:solidFill>
            <a:srgbClr val="C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943906" y="3579876"/>
            <a:ext cx="422808" cy="96011"/>
          </a:xfrm>
          <a:prstGeom prst="rect">
            <a:avLst/>
          </a:prstGeom>
          <a:solidFill>
            <a:srgbClr val="97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403291" y="3579876"/>
            <a:ext cx="422808" cy="96011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3232" y="3689604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Santa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28216" y="3703320"/>
            <a:ext cx="422808" cy="96011"/>
          </a:xfrm>
          <a:prstGeom prst="rect">
            <a:avLst/>
          </a:prstGeom>
          <a:solidFill>
            <a:srgbClr val="CF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187600" y="3703320"/>
            <a:ext cx="422808" cy="96011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46984" y="3703320"/>
            <a:ext cx="422808" cy="96011"/>
          </a:xfrm>
          <a:prstGeom prst="rect">
            <a:avLst/>
          </a:prstGeom>
          <a:solidFill>
            <a:srgbClr val="7E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106369" y="3703320"/>
            <a:ext cx="422808" cy="96011"/>
          </a:xfrm>
          <a:prstGeom prst="rect">
            <a:avLst/>
          </a:prstGeom>
          <a:solidFill>
            <a:srgbClr val="71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565753" y="3703320"/>
            <a:ext cx="422808" cy="96011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025138" y="3703320"/>
            <a:ext cx="422808" cy="96011"/>
          </a:xfrm>
          <a:prstGeom prst="rect">
            <a:avLst/>
          </a:prstGeom>
          <a:solidFill>
            <a:srgbClr val="B7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84522" y="3703320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43906" y="3703320"/>
            <a:ext cx="422808" cy="96011"/>
          </a:xfrm>
          <a:prstGeom prst="rect">
            <a:avLst/>
          </a:prstGeom>
          <a:solidFill>
            <a:srgbClr val="CE7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403291" y="3703320"/>
            <a:ext cx="422808" cy="96011"/>
          </a:xfrm>
          <a:prstGeom prst="rect">
            <a:avLst/>
          </a:prstGeom>
          <a:solidFill>
            <a:srgbClr val="CF7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3232" y="3813048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728216" y="3826763"/>
            <a:ext cx="422808" cy="96011"/>
          </a:xfrm>
          <a:prstGeom prst="rect">
            <a:avLst/>
          </a:prstGeom>
          <a:solidFill>
            <a:srgbClr val="CA9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87600" y="3826763"/>
            <a:ext cx="422808" cy="96011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646984" y="3826763"/>
            <a:ext cx="422808" cy="96011"/>
          </a:xfrm>
          <a:prstGeom prst="rect">
            <a:avLst/>
          </a:prstGeom>
          <a:solidFill>
            <a:srgbClr val="82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106369" y="3826763"/>
            <a:ext cx="422808" cy="96011"/>
          </a:xfrm>
          <a:prstGeom prst="rect">
            <a:avLst/>
          </a:prstGeom>
          <a:solidFill>
            <a:srgbClr val="BC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65753" y="3826763"/>
            <a:ext cx="422808" cy="96011"/>
          </a:xfrm>
          <a:prstGeom prst="rect">
            <a:avLst/>
          </a:prstGeom>
          <a:solidFill>
            <a:srgbClr val="D54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25138" y="3826763"/>
            <a:ext cx="422808" cy="96011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484522" y="3826763"/>
            <a:ext cx="422808" cy="96011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943906" y="3826763"/>
            <a:ext cx="422808" cy="96011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403291" y="3826763"/>
            <a:ext cx="422808" cy="96011"/>
          </a:xfrm>
          <a:prstGeom prst="rect">
            <a:avLst/>
          </a:prstGeom>
          <a:solidFill>
            <a:srgbClr val="C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13232" y="3936491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El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728216" y="3950207"/>
            <a:ext cx="422808" cy="96011"/>
          </a:xfrm>
          <a:prstGeom prst="rect">
            <a:avLst/>
          </a:prstGeom>
          <a:solidFill>
            <a:srgbClr val="B2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187600" y="3950207"/>
            <a:ext cx="422808" cy="96011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646984" y="3950207"/>
            <a:ext cx="422808" cy="96011"/>
          </a:xfrm>
          <a:prstGeom prst="rect">
            <a:avLst/>
          </a:prstGeom>
          <a:solidFill>
            <a:srgbClr val="D25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106369" y="3950207"/>
            <a:ext cx="422808" cy="96011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565753" y="3950207"/>
            <a:ext cx="422808" cy="96011"/>
          </a:xfrm>
          <a:prstGeom prst="rect">
            <a:avLst/>
          </a:prstGeom>
          <a:solidFill>
            <a:srgbClr val="D5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025138" y="3950207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84522" y="3950207"/>
            <a:ext cx="422808" cy="96011"/>
          </a:xfrm>
          <a:prstGeom prst="rect">
            <a:avLst/>
          </a:prstGeom>
          <a:solidFill>
            <a:srgbClr val="86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43906" y="3950207"/>
            <a:ext cx="422808" cy="96011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403291" y="3950207"/>
            <a:ext cx="422808" cy="96011"/>
          </a:xfrm>
          <a:prstGeom prst="rect">
            <a:avLst/>
          </a:prstGeom>
          <a:solidFill>
            <a:srgbClr val="A5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3232" y="4059935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728216" y="4073651"/>
            <a:ext cx="422808" cy="96011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187600" y="4073651"/>
            <a:ext cx="422808" cy="96011"/>
          </a:xfrm>
          <a:prstGeom prst="rect">
            <a:avLst/>
          </a:prstGeom>
          <a:solidFill>
            <a:srgbClr val="CC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646984" y="4073651"/>
            <a:ext cx="422808" cy="96011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106369" y="4073651"/>
            <a:ext cx="422808" cy="96011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565753" y="4073651"/>
            <a:ext cx="422808" cy="96011"/>
          </a:xfrm>
          <a:prstGeom prst="rect">
            <a:avLst/>
          </a:prstGeom>
          <a:solidFill>
            <a:srgbClr val="CA9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025138" y="4073651"/>
            <a:ext cx="422808" cy="96011"/>
          </a:xfrm>
          <a:prstGeom prst="rect">
            <a:avLst/>
          </a:prstGeom>
          <a:solidFill>
            <a:srgbClr val="BF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484522" y="4073651"/>
            <a:ext cx="422808" cy="96011"/>
          </a:xfrm>
          <a:prstGeom prst="rect">
            <a:avLst/>
          </a:prstGeom>
          <a:solidFill>
            <a:srgbClr val="D35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943906" y="4073651"/>
            <a:ext cx="422808" cy="96011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403291" y="4073651"/>
            <a:ext cx="422808" cy="96011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13232" y="4183380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Colina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728216" y="4197096"/>
            <a:ext cx="422808" cy="96011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187600" y="419709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646984" y="4197096"/>
            <a:ext cx="422808" cy="96011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106369" y="4197096"/>
            <a:ext cx="422808" cy="96011"/>
          </a:xfrm>
          <a:prstGeom prst="rect">
            <a:avLst/>
          </a:prstGeom>
          <a:solidFill>
            <a:srgbClr val="5F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565753" y="419709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5138" y="4197096"/>
            <a:ext cx="422808" cy="96011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484522" y="4197096"/>
            <a:ext cx="422808" cy="96011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943906" y="4197096"/>
            <a:ext cx="422808" cy="96011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5403291" y="419709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398867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Tobalaba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58252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Centro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317636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Industrial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77020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Cd. Empr.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236405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Univ.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695789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Aerop.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55174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Hospital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614558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Clínica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073942" y="2340864"/>
            <a:ext cx="45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6E6A64"/>
                </a:solidFill>
                <a:latin typeface="Helvetica Neue"/>
              </a:rPr>
              <a:t>C. Comercial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47307" y="2587752"/>
            <a:ext cx="1005839" cy="105155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2171" y="2578608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Estación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417155" y="2592324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876540" y="2592324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335924" y="2592324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795308" y="2592324"/>
            <a:ext cx="422808" cy="96011"/>
          </a:xfrm>
          <a:prstGeom prst="rect">
            <a:avLst/>
          </a:prstGeom>
          <a:solidFill>
            <a:srgbClr val="4E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254693" y="2592324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714077" y="2592324"/>
            <a:ext cx="422808" cy="96011"/>
          </a:xfrm>
          <a:prstGeom prst="rect">
            <a:avLst/>
          </a:prstGeom>
          <a:solidFill>
            <a:srgbClr val="51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173462" y="2592324"/>
            <a:ext cx="422808" cy="96011"/>
          </a:xfrm>
          <a:prstGeom prst="rect">
            <a:avLst/>
          </a:prstGeom>
          <a:solidFill>
            <a:srgbClr val="459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632846" y="2592324"/>
            <a:ext cx="422808" cy="96011"/>
          </a:xfrm>
          <a:prstGeom prst="rect">
            <a:avLst/>
          </a:prstGeom>
          <a:solidFill>
            <a:srgbClr val="AA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092230" y="2592324"/>
            <a:ext cx="422808" cy="96011"/>
          </a:xfrm>
          <a:prstGeom prst="rect">
            <a:avLst/>
          </a:prstGeom>
          <a:solidFill>
            <a:srgbClr val="33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347307" y="2711196"/>
            <a:ext cx="1005839" cy="105155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402171" y="2702052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417155" y="2715768"/>
            <a:ext cx="422808" cy="96011"/>
          </a:xfrm>
          <a:prstGeom prst="rect">
            <a:avLst/>
          </a:prstGeom>
          <a:solidFill>
            <a:srgbClr val="40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876540" y="2715768"/>
            <a:ext cx="422808" cy="96011"/>
          </a:xfrm>
          <a:prstGeom prst="rect">
            <a:avLst/>
          </a:prstGeom>
          <a:solidFill>
            <a:srgbClr val="439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35924" y="2715768"/>
            <a:ext cx="422808" cy="96011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795308" y="2715768"/>
            <a:ext cx="422808" cy="96011"/>
          </a:xfrm>
          <a:prstGeom prst="rect">
            <a:avLst/>
          </a:prstGeom>
          <a:solidFill>
            <a:srgbClr val="7A9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254693" y="2715768"/>
            <a:ext cx="422808" cy="96011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714077" y="2715768"/>
            <a:ext cx="422808" cy="96011"/>
          </a:xfrm>
          <a:prstGeom prst="rect">
            <a:avLst/>
          </a:prstGeom>
          <a:solidFill>
            <a:srgbClr val="5A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0173462" y="2715768"/>
            <a:ext cx="422808" cy="96011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10632846" y="2715768"/>
            <a:ext cx="422808" cy="96011"/>
          </a:xfrm>
          <a:prstGeom prst="rect">
            <a:avLst/>
          </a:prstGeom>
          <a:solidFill>
            <a:srgbClr val="B8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1092230" y="2715768"/>
            <a:ext cx="422808" cy="96011"/>
          </a:xfrm>
          <a:prstGeom prst="rect">
            <a:avLst/>
          </a:prstGeom>
          <a:solidFill>
            <a:srgbClr val="429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402171" y="2825496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Valle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417155" y="2839212"/>
            <a:ext cx="422808" cy="96011"/>
          </a:xfrm>
          <a:prstGeom prst="rect">
            <a:avLst/>
          </a:prstGeom>
          <a:solidFill>
            <a:srgbClr val="5C9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876540" y="2839212"/>
            <a:ext cx="422808" cy="96011"/>
          </a:xfrm>
          <a:prstGeom prst="rect">
            <a:avLst/>
          </a:prstGeom>
          <a:solidFill>
            <a:srgbClr val="66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35924" y="2839212"/>
            <a:ext cx="422808" cy="96011"/>
          </a:xfrm>
          <a:prstGeom prst="rect">
            <a:avLst/>
          </a:prstGeom>
          <a:solidFill>
            <a:srgbClr val="4C9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795308" y="2839212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254693" y="2839212"/>
            <a:ext cx="422808" cy="96011"/>
          </a:xfrm>
          <a:prstGeom prst="rect">
            <a:avLst/>
          </a:prstGeom>
          <a:solidFill>
            <a:srgbClr val="4D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714077" y="2839212"/>
            <a:ext cx="422808" cy="96011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0173462" y="2839212"/>
            <a:ext cx="422808" cy="96011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632846" y="2839212"/>
            <a:ext cx="422808" cy="96011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1092230" y="2839212"/>
            <a:ext cx="422808" cy="96011"/>
          </a:xfrm>
          <a:prstGeom prst="rect">
            <a:avLst/>
          </a:prstGeom>
          <a:solidFill>
            <a:srgbClr val="469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402171" y="2948940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NOS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417155" y="2962656"/>
            <a:ext cx="422808" cy="96011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876540" y="2962656"/>
            <a:ext cx="422808" cy="96011"/>
          </a:xfrm>
          <a:prstGeom prst="rect">
            <a:avLst/>
          </a:prstGeom>
          <a:solidFill>
            <a:srgbClr val="C6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335924" y="2962656"/>
            <a:ext cx="422808" cy="96011"/>
          </a:xfrm>
          <a:prstGeom prst="rect">
            <a:avLst/>
          </a:prstGeom>
          <a:solidFill>
            <a:srgbClr val="6A9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795308" y="2962656"/>
            <a:ext cx="422808" cy="96011"/>
          </a:xfrm>
          <a:prstGeom prst="rect">
            <a:avLst/>
          </a:prstGeom>
          <a:solidFill>
            <a:srgbClr val="BE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254693" y="2962656"/>
            <a:ext cx="422808" cy="96011"/>
          </a:xfrm>
          <a:prstGeom prst="rect">
            <a:avLst/>
          </a:prstGeom>
          <a:solidFill>
            <a:srgbClr val="8B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714077" y="2962656"/>
            <a:ext cx="422808" cy="96011"/>
          </a:xfrm>
          <a:prstGeom prst="rect">
            <a:avLst/>
          </a:prstGeom>
          <a:solidFill>
            <a:srgbClr val="A1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173462" y="2962656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632846" y="2962656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1092230" y="2962656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402171" y="3072384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Hacienda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417155" y="3086100"/>
            <a:ext cx="422808" cy="96011"/>
          </a:xfrm>
          <a:prstGeom prst="rect">
            <a:avLst/>
          </a:prstGeom>
          <a:solidFill>
            <a:srgbClr val="7D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76540" y="3086100"/>
            <a:ext cx="422808" cy="96011"/>
          </a:xfrm>
          <a:prstGeom prst="rect">
            <a:avLst/>
          </a:prstGeom>
          <a:solidFill>
            <a:srgbClr val="8C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335924" y="3086100"/>
            <a:ext cx="422808" cy="96011"/>
          </a:xfrm>
          <a:prstGeom prst="rect">
            <a:avLst/>
          </a:prstGeom>
          <a:solidFill>
            <a:srgbClr val="61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795308" y="3086100"/>
            <a:ext cx="422808" cy="96011"/>
          </a:xfrm>
          <a:prstGeom prst="rect">
            <a:avLst/>
          </a:prstGeom>
          <a:solidFill>
            <a:srgbClr val="9EA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254693" y="3086100"/>
            <a:ext cx="422808" cy="96011"/>
          </a:xfrm>
          <a:prstGeom prst="rect">
            <a:avLst/>
          </a:prstGeom>
          <a:solidFill>
            <a:srgbClr val="63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714077" y="3086100"/>
            <a:ext cx="422808" cy="96011"/>
          </a:xfrm>
          <a:prstGeom prst="rect">
            <a:avLst/>
          </a:prstGeom>
          <a:solidFill>
            <a:srgbClr val="7A9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173462" y="3086100"/>
            <a:ext cx="422808" cy="96011"/>
          </a:xfrm>
          <a:prstGeom prst="rect">
            <a:avLst/>
          </a:prstGeom>
          <a:solidFill>
            <a:srgbClr val="84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632846" y="3086100"/>
            <a:ext cx="422808" cy="96011"/>
          </a:xfrm>
          <a:prstGeom prst="rect">
            <a:avLst/>
          </a:prstGeom>
          <a:solidFill>
            <a:srgbClr val="C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1092230" y="3086100"/>
            <a:ext cx="422808" cy="96011"/>
          </a:xfrm>
          <a:prstGeom prst="rect">
            <a:avLst/>
          </a:prstGeom>
          <a:solidFill>
            <a:srgbClr val="76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402171" y="3195828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417155" y="3209544"/>
            <a:ext cx="422808" cy="96011"/>
          </a:xfrm>
          <a:prstGeom prst="rect">
            <a:avLst/>
          </a:prstGeom>
          <a:solidFill>
            <a:srgbClr val="CB8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876540" y="3209544"/>
            <a:ext cx="422808" cy="96011"/>
          </a:xfrm>
          <a:prstGeom prst="rect">
            <a:avLst/>
          </a:prstGeom>
          <a:solidFill>
            <a:srgbClr val="CA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335924" y="3209544"/>
            <a:ext cx="422808" cy="96011"/>
          </a:xfrm>
          <a:prstGeom prst="rect">
            <a:avLst/>
          </a:prstGeom>
          <a:solidFill>
            <a:srgbClr val="539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795308" y="3209544"/>
            <a:ext cx="422808" cy="96011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54693" y="3209544"/>
            <a:ext cx="422808" cy="96011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714077" y="3209544"/>
            <a:ext cx="422808" cy="96011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173462" y="3209544"/>
            <a:ext cx="422808" cy="96011"/>
          </a:xfrm>
          <a:prstGeom prst="rect">
            <a:avLst/>
          </a:prstGeom>
          <a:solidFill>
            <a:srgbClr val="99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0632846" y="3209544"/>
            <a:ext cx="422808" cy="96011"/>
          </a:xfrm>
          <a:prstGeom prst="rect">
            <a:avLst/>
          </a:prstGeom>
          <a:solidFill>
            <a:srgbClr val="65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092230" y="3209544"/>
            <a:ext cx="422808" cy="96011"/>
          </a:xfrm>
          <a:prstGeom prst="rect">
            <a:avLst/>
          </a:prstGeom>
          <a:solidFill>
            <a:srgbClr val="7FA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402171" y="3319272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417155" y="3332988"/>
            <a:ext cx="422808" cy="96011"/>
          </a:xfrm>
          <a:prstGeom prst="rect">
            <a:avLst/>
          </a:prstGeom>
          <a:solidFill>
            <a:srgbClr val="639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876540" y="3332988"/>
            <a:ext cx="422808" cy="96011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335924" y="3332988"/>
            <a:ext cx="422808" cy="96011"/>
          </a:xfrm>
          <a:prstGeom prst="rect">
            <a:avLst/>
          </a:prstGeom>
          <a:solidFill>
            <a:srgbClr val="9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795308" y="3332988"/>
            <a:ext cx="422808" cy="96011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254693" y="3332988"/>
            <a:ext cx="422808" cy="96011"/>
          </a:xfrm>
          <a:prstGeom prst="rect">
            <a:avLst/>
          </a:prstGeom>
          <a:solidFill>
            <a:srgbClr val="B6A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714077" y="3332988"/>
            <a:ext cx="422808" cy="96011"/>
          </a:xfrm>
          <a:prstGeom prst="rect">
            <a:avLst/>
          </a:prstGeom>
          <a:solidFill>
            <a:srgbClr val="AEA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173462" y="3332988"/>
            <a:ext cx="422808" cy="96011"/>
          </a:xfrm>
          <a:prstGeom prst="rect">
            <a:avLst/>
          </a:prstGeom>
          <a:solidFill>
            <a:srgbClr val="8DA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632846" y="3332988"/>
            <a:ext cx="422808" cy="96011"/>
          </a:xfrm>
          <a:prstGeom prst="rect">
            <a:avLst/>
          </a:prstGeom>
          <a:solidFill>
            <a:srgbClr val="67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092230" y="3332988"/>
            <a:ext cx="422808" cy="96011"/>
          </a:xfrm>
          <a:prstGeom prst="rect">
            <a:avLst/>
          </a:prstGeom>
          <a:solidFill>
            <a:srgbClr val="739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402171" y="3442716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417155" y="3456432"/>
            <a:ext cx="422808" cy="96011"/>
          </a:xfrm>
          <a:prstGeom prst="rect">
            <a:avLst/>
          </a:prstGeom>
          <a:solidFill>
            <a:srgbClr val="A4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876540" y="3456432"/>
            <a:ext cx="422808" cy="96011"/>
          </a:xfrm>
          <a:prstGeom prst="rect">
            <a:avLst/>
          </a:prstGeom>
          <a:solidFill>
            <a:srgbClr val="BB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335924" y="3456432"/>
            <a:ext cx="422808" cy="96011"/>
          </a:xfrm>
          <a:prstGeom prst="rect">
            <a:avLst/>
          </a:prstGeom>
          <a:solidFill>
            <a:srgbClr val="5B9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795308" y="3456432"/>
            <a:ext cx="422808" cy="96011"/>
          </a:xfrm>
          <a:prstGeom prst="rect">
            <a:avLst/>
          </a:prstGeom>
          <a:solidFill>
            <a:srgbClr val="60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254693" y="3456432"/>
            <a:ext cx="422808" cy="96011"/>
          </a:xfrm>
          <a:prstGeom prst="rect">
            <a:avLst/>
          </a:prstGeom>
          <a:solidFill>
            <a:srgbClr val="7D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714077" y="3456432"/>
            <a:ext cx="422808" cy="96011"/>
          </a:xfrm>
          <a:prstGeom prst="rect">
            <a:avLst/>
          </a:prstGeom>
          <a:solidFill>
            <a:srgbClr val="9A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173462" y="3456432"/>
            <a:ext cx="422808" cy="96011"/>
          </a:xfrm>
          <a:prstGeom prst="rect">
            <a:avLst/>
          </a:prstGeom>
          <a:solidFill>
            <a:srgbClr val="A4A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632846" y="3456432"/>
            <a:ext cx="422808" cy="96011"/>
          </a:xfrm>
          <a:prstGeom prst="rect">
            <a:avLst/>
          </a:prstGeom>
          <a:solidFill>
            <a:srgbClr val="CA9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1092230" y="3456432"/>
            <a:ext cx="422808" cy="96011"/>
          </a:xfrm>
          <a:prstGeom prst="rect">
            <a:avLst/>
          </a:prstGeom>
          <a:solidFill>
            <a:srgbClr val="C2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402171" y="3566160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Laguna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417155" y="3579876"/>
            <a:ext cx="422808" cy="96011"/>
          </a:xfrm>
          <a:prstGeom prst="rect">
            <a:avLst/>
          </a:prstGeom>
          <a:solidFill>
            <a:srgbClr val="91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76540" y="3579876"/>
            <a:ext cx="422808" cy="96011"/>
          </a:xfrm>
          <a:prstGeom prst="rect">
            <a:avLst/>
          </a:prstGeom>
          <a:solidFill>
            <a:srgbClr val="B9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335924" y="3579876"/>
            <a:ext cx="422808" cy="96011"/>
          </a:xfrm>
          <a:prstGeom prst="rect">
            <a:avLst/>
          </a:prstGeom>
          <a:solidFill>
            <a:srgbClr val="CD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795308" y="3579876"/>
            <a:ext cx="422808" cy="96011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254693" y="3579876"/>
            <a:ext cx="422808" cy="96011"/>
          </a:xfrm>
          <a:prstGeom prst="rect">
            <a:avLst/>
          </a:prstGeom>
          <a:solidFill>
            <a:srgbClr val="6D9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14077" y="3579876"/>
            <a:ext cx="422808" cy="96011"/>
          </a:xfrm>
          <a:prstGeom prst="rect">
            <a:avLst/>
          </a:prstGeom>
          <a:solidFill>
            <a:srgbClr val="B4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173462" y="3579876"/>
            <a:ext cx="422808" cy="96011"/>
          </a:xfrm>
          <a:prstGeom prst="rect">
            <a:avLst/>
          </a:prstGeom>
          <a:solidFill>
            <a:srgbClr val="AEA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632846" y="3579876"/>
            <a:ext cx="422808" cy="96011"/>
          </a:xfrm>
          <a:prstGeom prst="rect">
            <a:avLst/>
          </a:prstGeom>
          <a:solidFill>
            <a:srgbClr val="92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092230" y="3579876"/>
            <a:ext cx="422808" cy="96011"/>
          </a:xfrm>
          <a:prstGeom prst="rect">
            <a:avLst/>
          </a:prstGeom>
          <a:solidFill>
            <a:srgbClr val="C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402171" y="3689604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Santa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7417155" y="3703320"/>
            <a:ext cx="422808" cy="96011"/>
          </a:xfrm>
          <a:prstGeom prst="rect">
            <a:avLst/>
          </a:prstGeom>
          <a:solidFill>
            <a:srgbClr val="CA9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876540" y="3703320"/>
            <a:ext cx="422808" cy="96011"/>
          </a:xfrm>
          <a:prstGeom prst="rect">
            <a:avLst/>
          </a:prstGeom>
          <a:solidFill>
            <a:srgbClr val="CD8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335924" y="3703320"/>
            <a:ext cx="422808" cy="96011"/>
          </a:xfrm>
          <a:prstGeom prst="rect">
            <a:avLst/>
          </a:prstGeom>
          <a:solidFill>
            <a:srgbClr val="7EA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795308" y="3703320"/>
            <a:ext cx="422808" cy="96011"/>
          </a:xfrm>
          <a:prstGeom prst="rect">
            <a:avLst/>
          </a:prstGeom>
          <a:solidFill>
            <a:srgbClr val="719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254693" y="3703320"/>
            <a:ext cx="422808" cy="96011"/>
          </a:xfrm>
          <a:prstGeom prst="rect">
            <a:avLst/>
          </a:prstGeom>
          <a:solidFill>
            <a:srgbClr val="B8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14077" y="3703320"/>
            <a:ext cx="422808" cy="96011"/>
          </a:xfrm>
          <a:prstGeom prst="rect">
            <a:avLst/>
          </a:prstGeom>
          <a:solidFill>
            <a:srgbClr val="B7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173462" y="3703320"/>
            <a:ext cx="422808" cy="96011"/>
          </a:xfrm>
          <a:prstGeom prst="rect">
            <a:avLst/>
          </a:prstGeom>
          <a:solidFill>
            <a:srgbClr val="C99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632846" y="3703320"/>
            <a:ext cx="422808" cy="96011"/>
          </a:xfrm>
          <a:prstGeom prst="rect">
            <a:avLst/>
          </a:prstGeom>
          <a:solidFill>
            <a:srgbClr val="CE7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092230" y="3703320"/>
            <a:ext cx="422808" cy="96011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402171" y="3813048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7417155" y="3826763"/>
            <a:ext cx="422808" cy="96011"/>
          </a:xfrm>
          <a:prstGeom prst="rect">
            <a:avLst/>
          </a:prstGeom>
          <a:solidFill>
            <a:srgbClr val="CA9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876540" y="3826763"/>
            <a:ext cx="422808" cy="96011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335924" y="3826763"/>
            <a:ext cx="422808" cy="96011"/>
          </a:xfrm>
          <a:prstGeom prst="rect">
            <a:avLst/>
          </a:prstGeom>
          <a:solidFill>
            <a:srgbClr val="82A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795308" y="3826763"/>
            <a:ext cx="422808" cy="96011"/>
          </a:xfrm>
          <a:prstGeom prst="rect">
            <a:avLst/>
          </a:prstGeom>
          <a:solidFill>
            <a:srgbClr val="BC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254693" y="3826763"/>
            <a:ext cx="422808" cy="96011"/>
          </a:xfrm>
          <a:prstGeom prst="rect">
            <a:avLst/>
          </a:prstGeom>
          <a:solidFill>
            <a:srgbClr val="D2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714077" y="3826763"/>
            <a:ext cx="422808" cy="96011"/>
          </a:xfrm>
          <a:prstGeom prst="rect">
            <a:avLst/>
          </a:prstGeom>
          <a:solidFill>
            <a:srgbClr val="A8A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0173462" y="3826763"/>
            <a:ext cx="422808" cy="96011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632846" y="3826763"/>
            <a:ext cx="422808" cy="96011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092230" y="3826763"/>
            <a:ext cx="422808" cy="96011"/>
          </a:xfrm>
          <a:prstGeom prst="rect">
            <a:avLst/>
          </a:prstGeom>
          <a:solidFill>
            <a:srgbClr val="C3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402171" y="3936491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El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417155" y="3950207"/>
            <a:ext cx="422808" cy="96011"/>
          </a:xfrm>
          <a:prstGeom prst="rect">
            <a:avLst/>
          </a:prstGeom>
          <a:solidFill>
            <a:srgbClr val="B2A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876540" y="3950207"/>
            <a:ext cx="422808" cy="96011"/>
          </a:xfrm>
          <a:prstGeom prst="rect">
            <a:avLst/>
          </a:prstGeom>
          <a:solidFill>
            <a:srgbClr val="CF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8335924" y="3950207"/>
            <a:ext cx="422808" cy="96011"/>
          </a:xfrm>
          <a:prstGeom prst="rect">
            <a:avLst/>
          </a:prstGeom>
          <a:solidFill>
            <a:srgbClr val="D16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795308" y="3950207"/>
            <a:ext cx="422808" cy="96011"/>
          </a:xfrm>
          <a:prstGeom prst="rect">
            <a:avLst/>
          </a:prstGeom>
          <a:solidFill>
            <a:srgbClr val="CE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254693" y="3950207"/>
            <a:ext cx="422808" cy="96011"/>
          </a:xfrm>
          <a:prstGeom prst="rect">
            <a:avLst/>
          </a:prstGeom>
          <a:solidFill>
            <a:srgbClr val="D35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714077" y="3950207"/>
            <a:ext cx="422808" cy="96011"/>
          </a:xfrm>
          <a:prstGeom prst="rect">
            <a:avLst/>
          </a:prstGeom>
          <a:solidFill>
            <a:srgbClr val="D0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173462" y="3950207"/>
            <a:ext cx="422808" cy="96011"/>
          </a:xfrm>
          <a:prstGeom prst="rect">
            <a:avLst/>
          </a:prstGeom>
          <a:solidFill>
            <a:srgbClr val="86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632846" y="3950207"/>
            <a:ext cx="422808" cy="96011"/>
          </a:xfrm>
          <a:prstGeom prst="rect">
            <a:avLst/>
          </a:prstGeom>
          <a:solidFill>
            <a:srgbClr val="3A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1092230" y="3950207"/>
            <a:ext cx="422808" cy="96011"/>
          </a:xfrm>
          <a:prstGeom prst="rect">
            <a:avLst/>
          </a:prstGeom>
          <a:solidFill>
            <a:srgbClr val="9AA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402171" y="4059935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417155" y="4073651"/>
            <a:ext cx="422808" cy="96011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876540" y="4073651"/>
            <a:ext cx="422808" cy="96011"/>
          </a:xfrm>
          <a:prstGeom prst="rect">
            <a:avLst/>
          </a:prstGeom>
          <a:solidFill>
            <a:srgbClr val="CC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335924" y="4073651"/>
            <a:ext cx="422808" cy="96011"/>
          </a:xfrm>
          <a:prstGeom prst="rect">
            <a:avLst/>
          </a:prstGeom>
          <a:solidFill>
            <a:srgbClr val="CE7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8795308" y="4073651"/>
            <a:ext cx="422808" cy="96011"/>
          </a:xfrm>
          <a:prstGeom prst="rect">
            <a:avLst/>
          </a:prstGeom>
          <a:solidFill>
            <a:srgbClr val="C99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254693" y="4073651"/>
            <a:ext cx="422808" cy="96011"/>
          </a:xfrm>
          <a:prstGeom prst="rect">
            <a:avLst/>
          </a:prstGeom>
          <a:solidFill>
            <a:srgbClr val="C9A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9714077" y="4073651"/>
            <a:ext cx="422808" cy="96011"/>
          </a:xfrm>
          <a:prstGeom prst="rect">
            <a:avLst/>
          </a:prstGeom>
          <a:solidFill>
            <a:srgbClr val="BFA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173462" y="4073651"/>
            <a:ext cx="422808" cy="96011"/>
          </a:xfrm>
          <a:prstGeom prst="rect">
            <a:avLst/>
          </a:prstGeom>
          <a:solidFill>
            <a:srgbClr val="CE7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632846" y="4073651"/>
            <a:ext cx="422808" cy="96011"/>
          </a:xfrm>
          <a:prstGeom prst="rect">
            <a:avLst/>
          </a:prstGeom>
          <a:solidFill>
            <a:srgbClr val="D2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1092230" y="4073651"/>
            <a:ext cx="422808" cy="96011"/>
          </a:xfrm>
          <a:prstGeom prst="rect">
            <a:avLst/>
          </a:prstGeom>
          <a:solidFill>
            <a:srgbClr val="CC8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402171" y="4183380"/>
            <a:ext cx="905255" cy="1234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161616"/>
                </a:solidFill>
                <a:latin typeface="Helvetica Neue"/>
              </a:rPr>
              <a:t>Colina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7417155" y="4197096"/>
            <a:ext cx="422808" cy="96011"/>
          </a:xfrm>
          <a:prstGeom prst="rect">
            <a:avLst/>
          </a:prstGeom>
          <a:solidFill>
            <a:srgbClr val="CD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7876540" y="419709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35924" y="4197096"/>
            <a:ext cx="422808" cy="96011"/>
          </a:xfrm>
          <a:prstGeom prst="rect">
            <a:avLst/>
          </a:prstGeom>
          <a:solidFill>
            <a:srgbClr val="C9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795308" y="4197096"/>
            <a:ext cx="422808" cy="96011"/>
          </a:xfrm>
          <a:prstGeom prst="rect">
            <a:avLst/>
          </a:prstGeom>
          <a:solidFill>
            <a:srgbClr val="5F9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254693" y="4197096"/>
            <a:ext cx="422808" cy="96011"/>
          </a:xfrm>
          <a:prstGeom prst="rect">
            <a:avLst/>
          </a:prstGeom>
          <a:solidFill>
            <a:srgbClr val="D35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714077" y="4197096"/>
            <a:ext cx="422808" cy="96011"/>
          </a:xfrm>
          <a:prstGeom prst="rect">
            <a:avLst/>
          </a:prstGeom>
          <a:solidFill>
            <a:srgbClr val="CD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173462" y="4197096"/>
            <a:ext cx="422808" cy="96011"/>
          </a:xfrm>
          <a:prstGeom prst="rect">
            <a:avLst/>
          </a:prstGeom>
          <a:solidFill>
            <a:srgbClr val="CF7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632846" y="4197096"/>
            <a:ext cx="422808" cy="96011"/>
          </a:xfrm>
          <a:prstGeom prst="rect">
            <a:avLst/>
          </a:prstGeom>
          <a:solidFill>
            <a:srgbClr val="CC8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092230" y="4197096"/>
            <a:ext cx="422808" cy="96011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58368" y="449884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A64"/>
                </a:solidFill>
                <a:latin typeface="Helvetica Neue"/>
              </a:rPr>
              <a:t>Con el tren  </a:t>
            </a:r>
            <a:r>
              <a:rPr sz="1300" b="1">
                <a:solidFill>
                  <a:srgbClr val="B07D24"/>
                </a:solidFill>
                <a:latin typeface="Helvetica Neue"/>
              </a:rPr>
              <a:t>Est. Colina 5º→1º</a:t>
            </a:r>
            <a:r>
              <a:rPr sz="1200" b="0">
                <a:solidFill>
                  <a:srgbClr val="6E6A64"/>
                </a:solidFill>
                <a:latin typeface="Helvetica Neue"/>
              </a:rPr>
              <a:t>  y  </a:t>
            </a:r>
            <a:r>
              <a:rPr sz="1300" b="1">
                <a:solidFill>
                  <a:srgbClr val="B07D24"/>
                </a:solidFill>
                <a:latin typeface="Helvetica Neue"/>
              </a:rPr>
              <a:t>Batuco 11º→2º</a:t>
            </a:r>
            <a:r>
              <a:rPr sz="1200" b="0">
                <a:solidFill>
                  <a:srgbClr val="6E6A64"/>
                </a:solidFill>
                <a:latin typeface="Helvetica Neue"/>
              </a:rPr>
              <a:t>      con la Autopista  </a:t>
            </a:r>
            <a:r>
              <a:rPr sz="1300" b="1">
                <a:solidFill>
                  <a:srgbClr val="B07D24"/>
                </a:solidFill>
                <a:latin typeface="Helvetica Neue"/>
              </a:rPr>
              <a:t>Batuco 11º→3º en auto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El transporte público de nuestros proyectos pasa de rojo a verde con el tren; la Autopista hace lo mismo con Batuco en auto. Ambas obras ya están en construcción.</a:t>
            </a:r>
          </a:p>
        </p:txBody>
      </p:sp>
      <p:cxnSp>
        <p:nvCxnSpPr>
          <p:cNvPr id="314" name="Connector 313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TextBox 314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04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CUÁNTO VALE · SOBREPRECIO ENTRE ZONAS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Sobreprecio justificado entre zonas: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la comparación completa, en UF.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2622466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Chicauma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3258823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Urbanya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3895180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Valle Grande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4531537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167894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Larapinta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5804251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NOS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440609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Santa Elena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7076966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Laguna del Sol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7713323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Hacienda Batuco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8349680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El Peñón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8986037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9622394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Ayres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0258751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10895108" y="2377440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E6A64"/>
                </a:solidFill>
                <a:latin typeface="Helvetica Neue"/>
              </a:rPr>
              <a:t>Buin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798063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Chicauma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5300" y="280903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1657" y="2809036"/>
            <a:ext cx="614411" cy="124358"/>
          </a:xfrm>
          <a:prstGeom prst="rect">
            <a:avLst/>
          </a:prstGeom>
          <a:solidFill>
            <a:srgbClr val="F2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0685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08014" y="2809036"/>
            <a:ext cx="614411" cy="124358"/>
          </a:xfrm>
          <a:prstGeom prst="rect">
            <a:avLst/>
          </a:prstGeom>
          <a:solidFill>
            <a:srgbClr val="E0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7042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44372" y="2809036"/>
            <a:ext cx="614411" cy="124358"/>
          </a:xfrm>
          <a:prstGeom prst="rect">
            <a:avLst/>
          </a:prstGeom>
          <a:solidFill>
            <a:srgbClr val="A0C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3399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+592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0729" y="2809036"/>
            <a:ext cx="614411" cy="124358"/>
          </a:xfrm>
          <a:prstGeom prst="rect">
            <a:avLst/>
          </a:prstGeom>
          <a:solidFill>
            <a:srgbClr val="98C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756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17086" y="2809036"/>
            <a:ext cx="614411" cy="124358"/>
          </a:xfrm>
          <a:prstGeom prst="rect">
            <a:avLst/>
          </a:prstGeom>
          <a:solidFill>
            <a:srgbClr val="93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113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3443" y="2809036"/>
            <a:ext cx="614411" cy="124358"/>
          </a:xfrm>
          <a:prstGeom prst="rect">
            <a:avLst/>
          </a:prstGeom>
          <a:solidFill>
            <a:srgbClr val="85C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2470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+869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9800" y="2809036"/>
            <a:ext cx="614411" cy="124358"/>
          </a:xfrm>
          <a:prstGeom prst="rect">
            <a:avLst/>
          </a:prstGeom>
          <a:solidFill>
            <a:srgbClr val="7C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78827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157" y="2809036"/>
            <a:ext cx="614411" cy="124358"/>
          </a:xfrm>
          <a:prstGeom prst="rect">
            <a:avLst/>
          </a:prstGeom>
          <a:solidFill>
            <a:srgbClr val="78B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5184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2514" y="2809036"/>
            <a:ext cx="614411" cy="124358"/>
          </a:xfrm>
          <a:prstGeom prst="rect">
            <a:avLst/>
          </a:prstGeom>
          <a:solidFill>
            <a:srgbClr val="66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1541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8871" y="2809036"/>
            <a:ext cx="614411" cy="124358"/>
          </a:xfrm>
          <a:prstGeom prst="rect">
            <a:avLst/>
          </a:prstGeom>
          <a:solidFill>
            <a:srgbClr val="64B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7898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35228" y="2809036"/>
            <a:ext cx="614411" cy="124358"/>
          </a:xfrm>
          <a:prstGeom prst="rect">
            <a:avLst/>
          </a:prstGeom>
          <a:solidFill>
            <a:srgbClr val="56A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24255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+1427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71585" y="2809036"/>
            <a:ext cx="614411" cy="124358"/>
          </a:xfrm>
          <a:prstGeom prst="rect">
            <a:avLst/>
          </a:prstGeom>
          <a:solidFill>
            <a:srgbClr val="4CA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0613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+1557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07942" y="2809036"/>
            <a:ext cx="614411" cy="124358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96970" y="279806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+1954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2944368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2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Urbanya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35300" y="2955340"/>
            <a:ext cx="614411" cy="124358"/>
          </a:xfrm>
          <a:prstGeom prst="rect">
            <a:avLst/>
          </a:prstGeom>
          <a:solidFill>
            <a:srgbClr val="F5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24328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1657" y="295534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08014" y="2955340"/>
            <a:ext cx="614411" cy="124358"/>
          </a:xfrm>
          <a:prstGeom prst="rect">
            <a:avLst/>
          </a:prstGeom>
          <a:solidFill>
            <a:srgbClr val="E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97042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44372" y="2955340"/>
            <a:ext cx="614411" cy="124358"/>
          </a:xfrm>
          <a:prstGeom prst="rect">
            <a:avLst/>
          </a:prstGeom>
          <a:solidFill>
            <a:srgbClr val="A1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33399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+582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80729" y="2955340"/>
            <a:ext cx="614411" cy="124358"/>
          </a:xfrm>
          <a:prstGeom prst="rect">
            <a:avLst/>
          </a:prstGeom>
          <a:solidFill>
            <a:srgbClr val="99C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9756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17086" y="2955340"/>
            <a:ext cx="614411" cy="124358"/>
          </a:xfrm>
          <a:prstGeom prst="rect">
            <a:avLst/>
          </a:prstGeom>
          <a:solidFill>
            <a:srgbClr val="94C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113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+709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53443" y="2955340"/>
            <a:ext cx="614411" cy="124358"/>
          </a:xfrm>
          <a:prstGeom prst="rect">
            <a:avLst/>
          </a:prstGeom>
          <a:solidFill>
            <a:srgbClr val="86C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2470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+859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9800" y="2955340"/>
            <a:ext cx="614411" cy="124358"/>
          </a:xfrm>
          <a:prstGeom prst="rect">
            <a:avLst/>
          </a:prstGeom>
          <a:solidFill>
            <a:srgbClr val="7DC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78827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+960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157" y="2955340"/>
            <a:ext cx="614411" cy="124358"/>
          </a:xfrm>
          <a:prstGeom prst="rect">
            <a:avLst/>
          </a:prstGeom>
          <a:solidFill>
            <a:srgbClr val="79B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15184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+1005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62514" y="2955340"/>
            <a:ext cx="614411" cy="124358"/>
          </a:xfrm>
          <a:prstGeom prst="rect">
            <a:avLst/>
          </a:prstGeom>
          <a:solidFill>
            <a:srgbClr val="67B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51541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98871" y="2955340"/>
            <a:ext cx="614411" cy="124358"/>
          </a:xfrm>
          <a:prstGeom prst="rect">
            <a:avLst/>
          </a:prstGeom>
          <a:solidFill>
            <a:srgbClr val="64B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7898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+1249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35228" y="2955340"/>
            <a:ext cx="614411" cy="124358"/>
          </a:xfrm>
          <a:prstGeom prst="rect">
            <a:avLst/>
          </a:prstGeom>
          <a:solidFill>
            <a:srgbClr val="57A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24255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+1417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71585" y="2955340"/>
            <a:ext cx="614411" cy="124358"/>
          </a:xfrm>
          <a:prstGeom prst="rect">
            <a:avLst/>
          </a:prstGeom>
          <a:solidFill>
            <a:srgbClr val="4DA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60613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+1547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907942" y="2955340"/>
            <a:ext cx="614411" cy="124358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96970" y="2944368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+1944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090671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3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Valle Grande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35300" y="3101644"/>
            <a:ext cx="614411" cy="124358"/>
          </a:xfrm>
          <a:prstGeom prst="rect">
            <a:avLst/>
          </a:prstGeom>
          <a:solidFill>
            <a:srgbClr val="F0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24328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71657" y="3101644"/>
            <a:ext cx="614411" cy="124358"/>
          </a:xfrm>
          <a:prstGeom prst="rect">
            <a:avLst/>
          </a:prstGeom>
          <a:solidFill>
            <a:srgbClr val="F1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60685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08014" y="310164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44372" y="3101644"/>
            <a:ext cx="614411" cy="124358"/>
          </a:xfrm>
          <a:prstGeom prst="rect">
            <a:avLst/>
          </a:prstGeom>
          <a:solidFill>
            <a:srgbClr val="A9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33399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+507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80729" y="3101644"/>
            <a:ext cx="614411" cy="124358"/>
          </a:xfrm>
          <a:prstGeom prst="rect">
            <a:avLst/>
          </a:prstGeom>
          <a:solidFill>
            <a:srgbClr val="A1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69756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+583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17086" y="3101644"/>
            <a:ext cx="614411" cy="124358"/>
          </a:xfrm>
          <a:prstGeom prst="rect">
            <a:avLst/>
          </a:prstGeom>
          <a:solidFill>
            <a:srgbClr val="9CC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06113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+634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53443" y="3101644"/>
            <a:ext cx="614411" cy="124358"/>
          </a:xfrm>
          <a:prstGeom prst="rect">
            <a:avLst/>
          </a:prstGeom>
          <a:solidFill>
            <a:srgbClr val="8DC7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42470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+785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89800" y="3101644"/>
            <a:ext cx="614411" cy="124358"/>
          </a:xfrm>
          <a:prstGeom prst="rect">
            <a:avLst/>
          </a:prstGeom>
          <a:solidFill>
            <a:srgbClr val="84C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78827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+886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26157" y="3101644"/>
            <a:ext cx="614411" cy="124358"/>
          </a:xfrm>
          <a:prstGeom prst="rect">
            <a:avLst/>
          </a:prstGeom>
          <a:solidFill>
            <a:srgbClr val="80C1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15184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+930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62514" y="3101644"/>
            <a:ext cx="614411" cy="124358"/>
          </a:xfrm>
          <a:prstGeom prst="rect">
            <a:avLst/>
          </a:prstGeom>
          <a:solidFill>
            <a:srgbClr val="6EB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51541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+1138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98871" y="3101644"/>
            <a:ext cx="614411" cy="124358"/>
          </a:xfrm>
          <a:prstGeom prst="rect">
            <a:avLst/>
          </a:prstGeom>
          <a:solidFill>
            <a:srgbClr val="6A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7898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+1174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35228" y="3101644"/>
            <a:ext cx="614411" cy="124358"/>
          </a:xfrm>
          <a:prstGeom prst="rect">
            <a:avLst/>
          </a:prstGeom>
          <a:solidFill>
            <a:srgbClr val="5DB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24255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+1343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71585" y="3101644"/>
            <a:ext cx="614411" cy="124358"/>
          </a:xfrm>
          <a:prstGeom prst="rect">
            <a:avLst/>
          </a:prstGeom>
          <a:solidFill>
            <a:srgbClr val="52A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0613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+1472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907942" y="3101644"/>
            <a:ext cx="614411" cy="124358"/>
          </a:xfrm>
          <a:prstGeom prst="rect">
            <a:avLst/>
          </a:prstGeom>
          <a:solidFill>
            <a:srgbClr val="35A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896970" y="309067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+1870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" y="3244291"/>
            <a:ext cx="1920240" cy="131673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4088" y="3236975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4  </a:t>
            </a:r>
            <a:r>
              <a:rPr sz="800" b="1">
                <a:solidFill>
                  <a:srgbClr val="B07D24"/>
                </a:solidFill>
                <a:latin typeface="Helvetica Neue"/>
              </a:rPr>
              <a:t>Estación Colina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35300" y="3247948"/>
            <a:ext cx="614411" cy="124358"/>
          </a:xfrm>
          <a:prstGeom prst="rect">
            <a:avLst/>
          </a:prstGeom>
          <a:solidFill>
            <a:srgbClr val="DFA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24328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-592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71657" y="3247948"/>
            <a:ext cx="614411" cy="124358"/>
          </a:xfrm>
          <a:prstGeom prst="rect">
            <a:avLst/>
          </a:prstGeom>
          <a:solidFill>
            <a:srgbClr val="DFA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60685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908014" y="3247948"/>
            <a:ext cx="614411" cy="124358"/>
          </a:xfrm>
          <a:prstGeom prst="rect">
            <a:avLst/>
          </a:prstGeom>
          <a:solidFill>
            <a:srgbClr val="E1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97042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-507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44372" y="324794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180729" y="3247948"/>
            <a:ext cx="614411" cy="124358"/>
          </a:xfrm>
          <a:prstGeom prst="rect">
            <a:avLst/>
          </a:prstGeom>
          <a:solidFill>
            <a:srgbClr val="E2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69756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17086" y="3247948"/>
            <a:ext cx="614411" cy="124358"/>
          </a:xfrm>
          <a:prstGeom prst="rect">
            <a:avLst/>
          </a:prstGeom>
          <a:solidFill>
            <a:srgbClr val="D9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06113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+127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53443" y="3247948"/>
            <a:ext cx="614411" cy="124358"/>
          </a:xfrm>
          <a:prstGeom prst="rect">
            <a:avLst/>
          </a:prstGeom>
          <a:solidFill>
            <a:srgbClr val="C3D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42470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+278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89800" y="3247948"/>
            <a:ext cx="614411" cy="124358"/>
          </a:xfrm>
          <a:prstGeom prst="rect">
            <a:avLst/>
          </a:prstGeom>
          <a:solidFill>
            <a:srgbClr val="B7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078827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+379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26157" y="3247948"/>
            <a:ext cx="614411" cy="124358"/>
          </a:xfrm>
          <a:prstGeom prst="rect">
            <a:avLst/>
          </a:prstGeom>
          <a:solidFill>
            <a:srgbClr val="B2D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15184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+423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62514" y="3247948"/>
            <a:ext cx="614411" cy="124358"/>
          </a:xfrm>
          <a:prstGeom prst="rect">
            <a:avLst/>
          </a:prstGeom>
          <a:solidFill>
            <a:srgbClr val="9CC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51541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+631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98871" y="3247948"/>
            <a:ext cx="614411" cy="124358"/>
          </a:xfrm>
          <a:prstGeom prst="rect">
            <a:avLst/>
          </a:prstGeom>
          <a:solidFill>
            <a:srgbClr val="98C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87898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+667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635228" y="3247948"/>
            <a:ext cx="614411" cy="124358"/>
          </a:xfrm>
          <a:prstGeom prst="rect">
            <a:avLst/>
          </a:prstGeom>
          <a:solidFill>
            <a:srgbClr val="88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24255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+836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271585" y="3247948"/>
            <a:ext cx="614411" cy="124358"/>
          </a:xfrm>
          <a:prstGeom prst="rect">
            <a:avLst/>
          </a:prstGeom>
          <a:solidFill>
            <a:srgbClr val="7C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260613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+965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907942" y="3247948"/>
            <a:ext cx="614411" cy="124358"/>
          </a:xfrm>
          <a:prstGeom prst="rect">
            <a:avLst/>
          </a:prstGeom>
          <a:solidFill>
            <a:srgbClr val="5BB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896970" y="3236975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+1363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4088" y="3383279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5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Larapinta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35300" y="3394252"/>
            <a:ext cx="614411" cy="124358"/>
          </a:xfrm>
          <a:prstGeom prst="rect">
            <a:avLst/>
          </a:prstGeom>
          <a:solidFill>
            <a:srgbClr val="DDA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24328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-667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71657" y="3394252"/>
            <a:ext cx="614411" cy="124358"/>
          </a:xfrm>
          <a:prstGeom prst="rect">
            <a:avLst/>
          </a:prstGeom>
          <a:solidFill>
            <a:srgbClr val="DD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60685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-658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908014" y="3394252"/>
            <a:ext cx="614411" cy="124358"/>
          </a:xfrm>
          <a:prstGeom prst="rect">
            <a:avLst/>
          </a:prstGeom>
          <a:solidFill>
            <a:srgbClr val="DFA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897042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-583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44372" y="3394252"/>
            <a:ext cx="614411" cy="124358"/>
          </a:xfrm>
          <a:prstGeom prst="rect">
            <a:avLst/>
          </a:prstGeom>
          <a:solidFill>
            <a:srgbClr val="F1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533399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80729" y="3394252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817086" y="3394252"/>
            <a:ext cx="614411" cy="124358"/>
          </a:xfrm>
          <a:prstGeom prst="rect">
            <a:avLst/>
          </a:prstGeom>
          <a:solidFill>
            <a:srgbClr val="E7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806113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53443" y="3394252"/>
            <a:ext cx="614411" cy="124358"/>
          </a:xfrm>
          <a:prstGeom prst="rect">
            <a:avLst/>
          </a:prstGeom>
          <a:solidFill>
            <a:srgbClr val="CE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42470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089800" y="3394252"/>
            <a:ext cx="614411" cy="124358"/>
          </a:xfrm>
          <a:prstGeom prst="rect">
            <a:avLst/>
          </a:prstGeom>
          <a:solidFill>
            <a:srgbClr val="C0D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78827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+303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726157" y="3394252"/>
            <a:ext cx="614411" cy="124358"/>
          </a:xfrm>
          <a:prstGeom prst="rect">
            <a:avLst/>
          </a:prstGeom>
          <a:solidFill>
            <a:srgbClr val="BBD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715184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+347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362514" y="3394252"/>
            <a:ext cx="614411" cy="124358"/>
          </a:xfrm>
          <a:prstGeom prst="rect">
            <a:avLst/>
          </a:prstGeom>
          <a:solidFill>
            <a:srgbClr val="A4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351541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+555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998871" y="3394252"/>
            <a:ext cx="614411" cy="124358"/>
          </a:xfrm>
          <a:prstGeom prst="rect">
            <a:avLst/>
          </a:prstGeom>
          <a:solidFill>
            <a:srgbClr val="A0C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987898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+591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635228" y="3394252"/>
            <a:ext cx="614411" cy="124358"/>
          </a:xfrm>
          <a:prstGeom prst="rect">
            <a:avLst/>
          </a:prstGeom>
          <a:solidFill>
            <a:srgbClr val="8FC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24255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+760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271585" y="3394252"/>
            <a:ext cx="614411" cy="124358"/>
          </a:xfrm>
          <a:prstGeom prst="rect">
            <a:avLst/>
          </a:prstGeom>
          <a:solidFill>
            <a:srgbClr val="83C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0260613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+889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907942" y="3394252"/>
            <a:ext cx="614411" cy="124358"/>
          </a:xfrm>
          <a:prstGeom prst="rect">
            <a:avLst/>
          </a:prstGeom>
          <a:solidFill>
            <a:srgbClr val="61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0896970" y="3383279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+1287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4088" y="3529583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6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NOS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635300" y="3540556"/>
            <a:ext cx="614411" cy="124358"/>
          </a:xfrm>
          <a:prstGeom prst="rect">
            <a:avLst/>
          </a:prstGeom>
          <a:solidFill>
            <a:srgbClr val="DB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624328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-718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71657" y="3540556"/>
            <a:ext cx="614411" cy="124358"/>
          </a:xfrm>
          <a:prstGeom prst="rect">
            <a:avLst/>
          </a:prstGeom>
          <a:solidFill>
            <a:srgbClr val="DBA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260685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-709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08014" y="3540556"/>
            <a:ext cx="614411" cy="124358"/>
          </a:xfrm>
          <a:prstGeom prst="rect">
            <a:avLst/>
          </a:prstGeom>
          <a:solidFill>
            <a:srgbClr val="DDA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897042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-634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44372" y="3540556"/>
            <a:ext cx="614411" cy="124358"/>
          </a:xfrm>
          <a:prstGeom prst="rect">
            <a:avLst/>
          </a:prstGeom>
          <a:solidFill>
            <a:srgbClr val="EE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33399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-127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180729" y="3540556"/>
            <a:ext cx="614411" cy="124358"/>
          </a:xfrm>
          <a:prstGeom prst="rect">
            <a:avLst/>
          </a:prstGeom>
          <a:solidFill>
            <a:srgbClr val="F2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169756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817086" y="354055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453443" y="3540556"/>
            <a:ext cx="614411" cy="124358"/>
          </a:xfrm>
          <a:prstGeom prst="rect">
            <a:avLst/>
          </a:prstGeom>
          <a:solidFill>
            <a:srgbClr val="D5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442470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+151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089800" y="3540556"/>
            <a:ext cx="614411" cy="124358"/>
          </a:xfrm>
          <a:prstGeom prst="rect">
            <a:avLst/>
          </a:prstGeom>
          <a:solidFill>
            <a:srgbClr val="C7E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078827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+252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726157" y="3540556"/>
            <a:ext cx="614411" cy="124358"/>
          </a:xfrm>
          <a:prstGeom prst="rect">
            <a:avLst/>
          </a:prstGeom>
          <a:solidFill>
            <a:srgbClr val="C1D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715184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+296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362514" y="3540556"/>
            <a:ext cx="614411" cy="124358"/>
          </a:xfrm>
          <a:prstGeom prst="rect">
            <a:avLst/>
          </a:prstGeom>
          <a:solidFill>
            <a:srgbClr val="A9D3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351541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+504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998871" y="3540556"/>
            <a:ext cx="614411" cy="124358"/>
          </a:xfrm>
          <a:prstGeom prst="rect">
            <a:avLst/>
          </a:prstGeom>
          <a:solidFill>
            <a:srgbClr val="A5D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987898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+540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635228" y="3540556"/>
            <a:ext cx="614411" cy="124358"/>
          </a:xfrm>
          <a:prstGeom prst="rect">
            <a:avLst/>
          </a:prstGeom>
          <a:solidFill>
            <a:srgbClr val="94C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624255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+709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271585" y="3540556"/>
            <a:ext cx="614411" cy="124358"/>
          </a:xfrm>
          <a:prstGeom prst="rect">
            <a:avLst/>
          </a:prstGeom>
          <a:solidFill>
            <a:srgbClr val="88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260613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+838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907942" y="3540556"/>
            <a:ext cx="614411" cy="124358"/>
          </a:xfrm>
          <a:prstGeom prst="rect">
            <a:avLst/>
          </a:prstGeom>
          <a:solidFill>
            <a:srgbClr val="65B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896970" y="3529583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+1236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" y="3675887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7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Santa Elena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635300" y="3686860"/>
            <a:ext cx="614411" cy="124358"/>
          </a:xfrm>
          <a:prstGeom prst="rect">
            <a:avLst/>
          </a:prstGeom>
          <a:solidFill>
            <a:srgbClr val="D79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624328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-869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271657" y="3686860"/>
            <a:ext cx="614411" cy="124358"/>
          </a:xfrm>
          <a:prstGeom prst="rect">
            <a:avLst/>
          </a:prstGeom>
          <a:solidFill>
            <a:srgbClr val="D89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260685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-859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3908014" y="3686860"/>
            <a:ext cx="614411" cy="124358"/>
          </a:xfrm>
          <a:prstGeom prst="rect">
            <a:avLst/>
          </a:prstGeom>
          <a:solidFill>
            <a:srgbClr val="D99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3897042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-785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44372" y="3686860"/>
            <a:ext cx="614411" cy="124358"/>
          </a:xfrm>
          <a:prstGeom prst="rect">
            <a:avLst/>
          </a:prstGeom>
          <a:solidFill>
            <a:srgbClr val="E8C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33399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-278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180729" y="3686860"/>
            <a:ext cx="614411" cy="124358"/>
          </a:xfrm>
          <a:prstGeom prst="rect">
            <a:avLst/>
          </a:prstGeom>
          <a:solidFill>
            <a:srgbClr val="EB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169756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817086" y="3686860"/>
            <a:ext cx="614411" cy="124358"/>
          </a:xfrm>
          <a:prstGeom prst="rect">
            <a:avLst/>
          </a:prstGeom>
          <a:solidFill>
            <a:srgbClr val="ED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806113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-151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453443" y="368686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089800" y="3686860"/>
            <a:ext cx="614411" cy="124358"/>
          </a:xfrm>
          <a:prstGeom prst="rect">
            <a:avLst/>
          </a:prstGeom>
          <a:solidFill>
            <a:srgbClr val="DD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078827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+101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726157" y="3686860"/>
            <a:ext cx="614411" cy="124358"/>
          </a:xfrm>
          <a:prstGeom prst="rect">
            <a:avLst/>
          </a:prstGeom>
          <a:solidFill>
            <a:srgbClr val="D6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715184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+145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362514" y="3686860"/>
            <a:ext cx="614411" cy="124358"/>
          </a:xfrm>
          <a:prstGeom prst="rect">
            <a:avLst/>
          </a:prstGeom>
          <a:solidFill>
            <a:srgbClr val="BAD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351541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+353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998871" y="3686860"/>
            <a:ext cx="614411" cy="124358"/>
          </a:xfrm>
          <a:prstGeom prst="rect">
            <a:avLst/>
          </a:prstGeom>
          <a:solidFill>
            <a:srgbClr val="B6D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987898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+389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635228" y="3686860"/>
            <a:ext cx="614411" cy="124358"/>
          </a:xfrm>
          <a:prstGeom prst="rect">
            <a:avLst/>
          </a:prstGeom>
          <a:solidFill>
            <a:srgbClr val="A3D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624255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+558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271585" y="3686860"/>
            <a:ext cx="614411" cy="124358"/>
          </a:xfrm>
          <a:prstGeom prst="rect">
            <a:avLst/>
          </a:prstGeom>
          <a:solidFill>
            <a:srgbClr val="96C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260613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+688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0907942" y="3686860"/>
            <a:ext cx="614411" cy="124358"/>
          </a:xfrm>
          <a:prstGeom prst="rect">
            <a:avLst/>
          </a:prstGeom>
          <a:solidFill>
            <a:srgbClr val="72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896970" y="367588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+1085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04088" y="3822191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8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Laguna del Sol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635300" y="3833164"/>
            <a:ext cx="614411" cy="124358"/>
          </a:xfrm>
          <a:prstGeom prst="rect">
            <a:avLst/>
          </a:prstGeom>
          <a:solidFill>
            <a:srgbClr val="D59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24328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-970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271657" y="3833164"/>
            <a:ext cx="614411" cy="124358"/>
          </a:xfrm>
          <a:prstGeom prst="rect">
            <a:avLst/>
          </a:prstGeom>
          <a:solidFill>
            <a:srgbClr val="D5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260685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-960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908014" y="3833164"/>
            <a:ext cx="614411" cy="124358"/>
          </a:xfrm>
          <a:prstGeom prst="rect">
            <a:avLst/>
          </a:prstGeom>
          <a:solidFill>
            <a:srgbClr val="D79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897042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-886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544372" y="3833164"/>
            <a:ext cx="614411" cy="124358"/>
          </a:xfrm>
          <a:prstGeom prst="rect">
            <a:avLst/>
          </a:prstGeom>
          <a:solidFill>
            <a:srgbClr val="E5C1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533399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-379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180729" y="3833164"/>
            <a:ext cx="614411" cy="124358"/>
          </a:xfrm>
          <a:prstGeom prst="rect">
            <a:avLst/>
          </a:prstGeom>
          <a:solidFill>
            <a:srgbClr val="E8C8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169756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-303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5817086" y="3833164"/>
            <a:ext cx="614411" cy="124358"/>
          </a:xfrm>
          <a:prstGeom prst="rect">
            <a:avLst/>
          </a:prstGeom>
          <a:solidFill>
            <a:srgbClr val="E9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806113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-252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453443" y="3833164"/>
            <a:ext cx="614411" cy="124358"/>
          </a:xfrm>
          <a:prstGeom prst="rect">
            <a:avLst/>
          </a:prstGeom>
          <a:solidFill>
            <a:srgbClr val="F0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442470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089800" y="383316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726157" y="3833164"/>
            <a:ext cx="614411" cy="12435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715184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+44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8362514" y="3833164"/>
            <a:ext cx="614411" cy="124358"/>
          </a:xfrm>
          <a:prstGeom prst="rect">
            <a:avLst/>
          </a:prstGeom>
          <a:solidFill>
            <a:srgbClr val="C7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351541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+252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998871" y="3833164"/>
            <a:ext cx="614411" cy="124358"/>
          </a:xfrm>
          <a:prstGeom prst="rect">
            <a:avLst/>
          </a:prstGeom>
          <a:solidFill>
            <a:srgbClr val="C2D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987898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+288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635228" y="3833164"/>
            <a:ext cx="614411" cy="124358"/>
          </a:xfrm>
          <a:prstGeom prst="rect">
            <a:avLst/>
          </a:prstGeom>
          <a:solidFill>
            <a:srgbClr val="AED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624255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+457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271585" y="3833164"/>
            <a:ext cx="614411" cy="124358"/>
          </a:xfrm>
          <a:prstGeom prst="rect">
            <a:avLst/>
          </a:prstGeom>
          <a:solidFill>
            <a:srgbClr val="A0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0260613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+587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907942" y="3833164"/>
            <a:ext cx="614411" cy="124358"/>
          </a:xfrm>
          <a:prstGeom prst="rect">
            <a:avLst/>
          </a:prstGeom>
          <a:solidFill>
            <a:srgbClr val="7BB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896970" y="3822191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+984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04088" y="3968496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9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Hacienda Batuco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635300" y="3979468"/>
            <a:ext cx="614411" cy="124358"/>
          </a:xfrm>
          <a:prstGeom prst="rect">
            <a:avLst/>
          </a:prstGeom>
          <a:solidFill>
            <a:srgbClr val="D48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624328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-1014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271657" y="3979468"/>
            <a:ext cx="614411" cy="124358"/>
          </a:xfrm>
          <a:prstGeom prst="rect">
            <a:avLst/>
          </a:prstGeom>
          <a:solidFill>
            <a:srgbClr val="D48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260685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-1005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3908014" y="3979468"/>
            <a:ext cx="614411" cy="124358"/>
          </a:xfrm>
          <a:prstGeom prst="rect">
            <a:avLst/>
          </a:prstGeom>
          <a:solidFill>
            <a:srgbClr val="D69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897042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-930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4544372" y="3979468"/>
            <a:ext cx="614411" cy="124358"/>
          </a:xfrm>
          <a:prstGeom prst="rect">
            <a:avLst/>
          </a:prstGeom>
          <a:solidFill>
            <a:srgbClr val="E4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533399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-423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180729" y="3979468"/>
            <a:ext cx="614411" cy="124358"/>
          </a:xfrm>
          <a:prstGeom prst="rect">
            <a:avLst/>
          </a:prstGeom>
          <a:solidFill>
            <a:srgbClr val="E6C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169756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-347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817086" y="3979468"/>
            <a:ext cx="614411" cy="124358"/>
          </a:xfrm>
          <a:prstGeom prst="rect">
            <a:avLst/>
          </a:prstGeom>
          <a:solidFill>
            <a:srgbClr val="E8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806113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-296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453443" y="3979468"/>
            <a:ext cx="614411" cy="124358"/>
          </a:xfrm>
          <a:prstGeom prst="rect">
            <a:avLst/>
          </a:prstGeom>
          <a:solidFill>
            <a:srgbClr val="EE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442470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-145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089800" y="3979468"/>
            <a:ext cx="614411" cy="124358"/>
          </a:xfrm>
          <a:prstGeom prst="rect">
            <a:avLst/>
          </a:prstGeom>
          <a:solidFill>
            <a:srgbClr val="F3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078827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7726157" y="397946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362514" y="3979468"/>
            <a:ext cx="614411" cy="124358"/>
          </a:xfrm>
          <a:prstGeom prst="rect">
            <a:avLst/>
          </a:prstGeom>
          <a:solidFill>
            <a:srgbClr val="CD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351541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+208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8998871" y="3979468"/>
            <a:ext cx="614411" cy="124358"/>
          </a:xfrm>
          <a:prstGeom prst="rect">
            <a:avLst/>
          </a:prstGeom>
          <a:solidFill>
            <a:srgbClr val="C8E0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8987898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+244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9635228" y="3979468"/>
            <a:ext cx="614411" cy="124358"/>
          </a:xfrm>
          <a:prstGeom prst="rect">
            <a:avLst/>
          </a:prstGeom>
          <a:solidFill>
            <a:srgbClr val="B3D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9624255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+413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0271585" y="3979468"/>
            <a:ext cx="614411" cy="124358"/>
          </a:xfrm>
          <a:prstGeom prst="rect">
            <a:avLst/>
          </a:prstGeom>
          <a:solidFill>
            <a:srgbClr val="A5D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0260613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+542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10907942" y="3979468"/>
            <a:ext cx="614411" cy="124358"/>
          </a:xfrm>
          <a:prstGeom prst="rect">
            <a:avLst/>
          </a:prstGeom>
          <a:solidFill>
            <a:srgbClr val="7FC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0896970" y="396849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+940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704088" y="4114800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10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El Peñón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635300" y="4125772"/>
            <a:ext cx="614411" cy="124358"/>
          </a:xfrm>
          <a:prstGeom prst="rect">
            <a:avLst/>
          </a:prstGeom>
          <a:solidFill>
            <a:srgbClr val="CF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24328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-1222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3271657" y="4125772"/>
            <a:ext cx="614411" cy="124358"/>
          </a:xfrm>
          <a:prstGeom prst="rect">
            <a:avLst/>
          </a:prstGeom>
          <a:solidFill>
            <a:srgbClr val="CF7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3260685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-1213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3908014" y="4125772"/>
            <a:ext cx="614411" cy="124358"/>
          </a:xfrm>
          <a:prstGeom prst="rect">
            <a:avLst/>
          </a:prstGeom>
          <a:solidFill>
            <a:srgbClr val="D18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3897042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-1138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4544372" y="4125772"/>
            <a:ext cx="614411" cy="124358"/>
          </a:xfrm>
          <a:prstGeom prst="rect">
            <a:avLst/>
          </a:prstGeom>
          <a:solidFill>
            <a:srgbClr val="DEA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533399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-631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180729" y="4125772"/>
            <a:ext cx="614411" cy="124358"/>
          </a:xfrm>
          <a:prstGeom prst="rect">
            <a:avLst/>
          </a:prstGeom>
          <a:solidFill>
            <a:srgbClr val="E0B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169756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-555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5817086" y="4125772"/>
            <a:ext cx="614411" cy="124358"/>
          </a:xfrm>
          <a:prstGeom prst="rect">
            <a:avLst/>
          </a:prstGeom>
          <a:solidFill>
            <a:srgbClr val="E1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5806113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-504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6453443" y="4125772"/>
            <a:ext cx="614411" cy="124358"/>
          </a:xfrm>
          <a:prstGeom prst="rect">
            <a:avLst/>
          </a:prstGeom>
          <a:solidFill>
            <a:srgbClr val="E6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442470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-353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089800" y="4125772"/>
            <a:ext cx="614411" cy="124358"/>
          </a:xfrm>
          <a:prstGeom prst="rect">
            <a:avLst/>
          </a:prstGeom>
          <a:solidFill>
            <a:srgbClr val="E9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7078827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-252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7726157" y="4125772"/>
            <a:ext cx="614411" cy="124358"/>
          </a:xfrm>
          <a:prstGeom prst="rect">
            <a:avLst/>
          </a:prstGeom>
          <a:solidFill>
            <a:srgbClr val="EBD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715184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-208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8362514" y="4125772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8998871" y="4125772"/>
            <a:ext cx="614411" cy="124358"/>
          </a:xfrm>
          <a:prstGeom prst="rect">
            <a:avLst/>
          </a:prstGeom>
          <a:solidFill>
            <a:srgbClr val="EA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987898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+36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635228" y="4125772"/>
            <a:ext cx="614411" cy="124358"/>
          </a:xfrm>
          <a:prstGeom prst="rect">
            <a:avLst/>
          </a:prstGeom>
          <a:solidFill>
            <a:srgbClr val="CD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624255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+205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0271585" y="4125772"/>
            <a:ext cx="614411" cy="124358"/>
          </a:xfrm>
          <a:prstGeom prst="rect">
            <a:avLst/>
          </a:prstGeom>
          <a:solidFill>
            <a:srgbClr val="BCD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260613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+334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0907942" y="4125772"/>
            <a:ext cx="614411" cy="124358"/>
          </a:xfrm>
          <a:prstGeom prst="rect">
            <a:avLst/>
          </a:prstGeom>
          <a:solidFill>
            <a:srgbClr val="92C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10896970" y="4114800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+732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658368" y="4268419"/>
            <a:ext cx="1920240" cy="131673"/>
          </a:xfrm>
          <a:prstGeom prst="rect">
            <a:avLst/>
          </a:prstGeom>
          <a:solidFill>
            <a:srgbClr val="F3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704088" y="4261104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11  </a:t>
            </a:r>
            <a:r>
              <a:rPr sz="800" b="1">
                <a:solidFill>
                  <a:srgbClr val="B07D24"/>
                </a:solidFill>
                <a:latin typeface="Helvetica Neue"/>
              </a:rPr>
              <a:t>Batuco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635300" y="4272076"/>
            <a:ext cx="614411" cy="124358"/>
          </a:xfrm>
          <a:prstGeom prst="rect">
            <a:avLst/>
          </a:prstGeom>
          <a:solidFill>
            <a:srgbClr val="CE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2624328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-1258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271657" y="4272076"/>
            <a:ext cx="614411" cy="124358"/>
          </a:xfrm>
          <a:prstGeom prst="rect">
            <a:avLst/>
          </a:prstGeom>
          <a:solidFill>
            <a:srgbClr val="CE7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260685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-1249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908014" y="4272076"/>
            <a:ext cx="614411" cy="124358"/>
          </a:xfrm>
          <a:prstGeom prst="rect">
            <a:avLst/>
          </a:prstGeom>
          <a:solidFill>
            <a:srgbClr val="D08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3897042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-1174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544372" y="4272076"/>
            <a:ext cx="614411" cy="124358"/>
          </a:xfrm>
          <a:prstGeom prst="rect">
            <a:avLst/>
          </a:prstGeom>
          <a:solidFill>
            <a:srgbClr val="DDA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4533399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-667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180729" y="4272076"/>
            <a:ext cx="614411" cy="124358"/>
          </a:xfrm>
          <a:prstGeom prst="rect">
            <a:avLst/>
          </a:prstGeom>
          <a:solidFill>
            <a:srgbClr val="DFA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169756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-591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5817086" y="4272076"/>
            <a:ext cx="614411" cy="124358"/>
          </a:xfrm>
          <a:prstGeom prst="rect">
            <a:avLst/>
          </a:prstGeom>
          <a:solidFill>
            <a:srgbClr val="E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5806113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-540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453443" y="4272076"/>
            <a:ext cx="614411" cy="124358"/>
          </a:xfrm>
          <a:prstGeom prst="rect">
            <a:avLst/>
          </a:prstGeom>
          <a:solidFill>
            <a:srgbClr val="E5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442470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-389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9800" y="4272076"/>
            <a:ext cx="614411" cy="124358"/>
          </a:xfrm>
          <a:prstGeom prst="rect">
            <a:avLst/>
          </a:prstGeom>
          <a:solidFill>
            <a:srgbClr val="E8C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078827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-288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726157" y="4272076"/>
            <a:ext cx="614411" cy="124358"/>
          </a:xfrm>
          <a:prstGeom prst="rect">
            <a:avLst/>
          </a:prstGeom>
          <a:solidFill>
            <a:srgbClr val="EAC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715184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-244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62514" y="4272076"/>
            <a:ext cx="614411" cy="124358"/>
          </a:xfrm>
          <a:prstGeom prst="rect">
            <a:avLst/>
          </a:prstGeom>
          <a:solidFill>
            <a:srgbClr val="F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1541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-36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98871" y="4272076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9635228" y="4272076"/>
            <a:ext cx="614411" cy="124358"/>
          </a:xfrm>
          <a:prstGeom prst="rect">
            <a:avLst/>
          </a:prstGeom>
          <a:solidFill>
            <a:srgbClr val="D3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9624255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+169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271585" y="4272076"/>
            <a:ext cx="614411" cy="124358"/>
          </a:xfrm>
          <a:prstGeom prst="rect">
            <a:avLst/>
          </a:prstGeom>
          <a:solidFill>
            <a:srgbClr val="C1D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0260613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+298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907942" y="4272076"/>
            <a:ext cx="614411" cy="124358"/>
          </a:xfrm>
          <a:prstGeom prst="rect">
            <a:avLst/>
          </a:prstGeom>
          <a:solidFill>
            <a:srgbClr val="95C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0896970" y="4261104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+696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04088" y="4407407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12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Ayres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2635300" y="4418380"/>
            <a:ext cx="614411" cy="124358"/>
          </a:xfrm>
          <a:prstGeom prst="rect">
            <a:avLst/>
          </a:prstGeom>
          <a:solidFill>
            <a:srgbClr val="CA7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2624328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-1427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3271657" y="4418380"/>
            <a:ext cx="614411" cy="124358"/>
          </a:xfrm>
          <a:prstGeom prst="rect">
            <a:avLst/>
          </a:prstGeom>
          <a:solidFill>
            <a:srgbClr val="CB7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3260685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-1417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908014" y="4418380"/>
            <a:ext cx="614411" cy="124358"/>
          </a:xfrm>
          <a:prstGeom prst="rect">
            <a:avLst/>
          </a:prstGeom>
          <a:solidFill>
            <a:srgbClr val="CC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3897042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-1343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544372" y="4418380"/>
            <a:ext cx="614411" cy="124358"/>
          </a:xfrm>
          <a:prstGeom prst="rect">
            <a:avLst/>
          </a:prstGeom>
          <a:solidFill>
            <a:srgbClr val="D8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4533399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-836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5180729" y="4418380"/>
            <a:ext cx="614411" cy="124358"/>
          </a:xfrm>
          <a:prstGeom prst="rect">
            <a:avLst/>
          </a:prstGeom>
          <a:solidFill>
            <a:srgbClr val="DAA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169756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-760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5817086" y="4418380"/>
            <a:ext cx="614411" cy="124358"/>
          </a:xfrm>
          <a:prstGeom prst="rect">
            <a:avLst/>
          </a:prstGeom>
          <a:solidFill>
            <a:srgbClr val="DBA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5806113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-709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453443" y="4418380"/>
            <a:ext cx="614411" cy="124358"/>
          </a:xfrm>
          <a:prstGeom prst="rect">
            <a:avLst/>
          </a:prstGeom>
          <a:solidFill>
            <a:srgbClr val="E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6442470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-558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7089800" y="4418380"/>
            <a:ext cx="614411" cy="124358"/>
          </a:xfrm>
          <a:prstGeom prst="rect">
            <a:avLst/>
          </a:prstGeom>
          <a:solidFill>
            <a:srgbClr val="E3B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7078827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-457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726157" y="4418380"/>
            <a:ext cx="614411" cy="124358"/>
          </a:xfrm>
          <a:prstGeom prst="rect">
            <a:avLst/>
          </a:prstGeom>
          <a:solidFill>
            <a:srgbClr val="E4B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7715184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-413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362514" y="4418380"/>
            <a:ext cx="614411" cy="124358"/>
          </a:xfrm>
          <a:prstGeom prst="rect">
            <a:avLst/>
          </a:prstGeom>
          <a:solidFill>
            <a:srgbClr val="EBD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8351541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-205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998871" y="4418380"/>
            <a:ext cx="614411" cy="124358"/>
          </a:xfrm>
          <a:prstGeom prst="rect">
            <a:avLst/>
          </a:prstGeom>
          <a:solidFill>
            <a:srgbClr val="EDD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987898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-169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635228" y="4418380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271585" y="4418380"/>
            <a:ext cx="614411" cy="124358"/>
          </a:xfrm>
          <a:prstGeom prst="rect">
            <a:avLst/>
          </a:prstGeom>
          <a:solidFill>
            <a:srgbClr val="D9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0260613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+130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10907942" y="4418380"/>
            <a:ext cx="614411" cy="124358"/>
          </a:xfrm>
          <a:prstGeom prst="rect">
            <a:avLst/>
          </a:prstGeom>
          <a:solidFill>
            <a:srgbClr val="A7D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896970" y="4407407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+527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704088" y="4553712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13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Colina · Reina N.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2635300" y="4564684"/>
            <a:ext cx="614411" cy="124358"/>
          </a:xfrm>
          <a:prstGeom prst="rect">
            <a:avLst/>
          </a:prstGeom>
          <a:solidFill>
            <a:srgbClr val="C86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2624328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-1557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3271657" y="4564684"/>
            <a:ext cx="614411" cy="124358"/>
          </a:xfrm>
          <a:prstGeom prst="rect">
            <a:avLst/>
          </a:prstGeom>
          <a:solidFill>
            <a:srgbClr val="C86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3260685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-1547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3908014" y="4564684"/>
            <a:ext cx="614411" cy="124358"/>
          </a:xfrm>
          <a:prstGeom prst="rect">
            <a:avLst/>
          </a:prstGeom>
          <a:solidFill>
            <a:srgbClr val="C9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3897042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-1472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4544372" y="4564684"/>
            <a:ext cx="614411" cy="124358"/>
          </a:xfrm>
          <a:prstGeom prst="rect">
            <a:avLst/>
          </a:prstGeom>
          <a:solidFill>
            <a:srgbClr val="D59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4533399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-965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5180729" y="4564684"/>
            <a:ext cx="614411" cy="124358"/>
          </a:xfrm>
          <a:prstGeom prst="rect">
            <a:avLst/>
          </a:prstGeom>
          <a:solidFill>
            <a:srgbClr val="D79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5169756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-889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5817086" y="4564684"/>
            <a:ext cx="614411" cy="124358"/>
          </a:xfrm>
          <a:prstGeom prst="rect">
            <a:avLst/>
          </a:prstGeom>
          <a:solidFill>
            <a:srgbClr val="D89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5806113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-838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6453443" y="4564684"/>
            <a:ext cx="614411" cy="124358"/>
          </a:xfrm>
          <a:prstGeom prst="rect">
            <a:avLst/>
          </a:prstGeom>
          <a:solidFill>
            <a:srgbClr val="DCA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6442470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-688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7089800" y="4564684"/>
            <a:ext cx="614411" cy="124358"/>
          </a:xfrm>
          <a:prstGeom prst="rect">
            <a:avLst/>
          </a:prstGeom>
          <a:solidFill>
            <a:srgbClr val="DFA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7078827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-587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726157" y="4564684"/>
            <a:ext cx="614411" cy="124358"/>
          </a:xfrm>
          <a:prstGeom prst="rect">
            <a:avLst/>
          </a:prstGeom>
          <a:solidFill>
            <a:srgbClr val="E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7715184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-542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362514" y="4564684"/>
            <a:ext cx="614411" cy="124358"/>
          </a:xfrm>
          <a:prstGeom prst="rect">
            <a:avLst/>
          </a:prstGeom>
          <a:solidFill>
            <a:srgbClr val="E7C5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351541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-334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8998871" y="4564684"/>
            <a:ext cx="614411" cy="124358"/>
          </a:xfrm>
          <a:prstGeom prst="rect">
            <a:avLst/>
          </a:prstGeom>
          <a:solidFill>
            <a:srgbClr val="E8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987898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-298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9635228" y="4564684"/>
            <a:ext cx="614411" cy="124358"/>
          </a:xfrm>
          <a:prstGeom prst="rect">
            <a:avLst/>
          </a:prstGeom>
          <a:solidFill>
            <a:srgbClr val="EE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624255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-130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10271585" y="4564684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907942" y="4564684"/>
            <a:ext cx="614411" cy="124358"/>
          </a:xfrm>
          <a:prstGeom prst="rect">
            <a:avLst/>
          </a:prstGeom>
          <a:solidFill>
            <a:srgbClr val="B5D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10896970" y="4553712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+398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04088" y="4700016"/>
            <a:ext cx="18562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9A958C"/>
                </a:solidFill>
                <a:latin typeface="Helvetica Neue"/>
              </a:rPr>
              <a:t>14  </a:t>
            </a:r>
            <a:r>
              <a:rPr sz="800" b="0">
                <a:solidFill>
                  <a:srgbClr val="161616"/>
                </a:solidFill>
                <a:latin typeface="Helvetica Neue"/>
              </a:rPr>
              <a:t>Buin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2635300" y="4710988"/>
            <a:ext cx="614411" cy="124358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2624328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-1954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3271657" y="4710988"/>
            <a:ext cx="614411" cy="124358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3260685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-1944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3908014" y="4710988"/>
            <a:ext cx="614411" cy="124358"/>
          </a:xfrm>
          <a:prstGeom prst="rect">
            <a:avLst/>
          </a:prstGeom>
          <a:solidFill>
            <a:srgbClr val="C15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3897042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-1870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4544372" y="4710988"/>
            <a:ext cx="614411" cy="124358"/>
          </a:xfrm>
          <a:prstGeom prst="rect">
            <a:avLst/>
          </a:prstGeom>
          <a:solidFill>
            <a:srgbClr val="CC7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4533399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-1363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5180729" y="4710988"/>
            <a:ext cx="614411" cy="124358"/>
          </a:xfrm>
          <a:prstGeom prst="rect">
            <a:avLst/>
          </a:prstGeom>
          <a:solidFill>
            <a:srgbClr val="CD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5169756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-1287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5817086" y="4710988"/>
            <a:ext cx="614411" cy="124358"/>
          </a:xfrm>
          <a:prstGeom prst="rect">
            <a:avLst/>
          </a:prstGeom>
          <a:solidFill>
            <a:srgbClr val="CF7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5806113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-1236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453443" y="4710988"/>
            <a:ext cx="614411" cy="124358"/>
          </a:xfrm>
          <a:prstGeom prst="rect">
            <a:avLst/>
          </a:prstGeom>
          <a:solidFill>
            <a:srgbClr val="D28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6442470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FFFFFF"/>
                </a:solidFill>
                <a:latin typeface="Helvetica Neue"/>
              </a:rPr>
              <a:t>-1085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7089800" y="4710988"/>
            <a:ext cx="614411" cy="124358"/>
          </a:xfrm>
          <a:prstGeom prst="rect">
            <a:avLst/>
          </a:prstGeom>
          <a:solidFill>
            <a:srgbClr val="D4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7078827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-984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7726157" y="4710988"/>
            <a:ext cx="614411" cy="124358"/>
          </a:xfrm>
          <a:prstGeom prst="rect">
            <a:avLst/>
          </a:prstGeom>
          <a:solidFill>
            <a:srgbClr val="D692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7715184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-940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8362514" y="4710988"/>
            <a:ext cx="614411" cy="124358"/>
          </a:xfrm>
          <a:prstGeom prst="rect">
            <a:avLst/>
          </a:prstGeom>
          <a:solidFill>
            <a:srgbClr val="DB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8351541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-732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8998871" y="4710988"/>
            <a:ext cx="614411" cy="124358"/>
          </a:xfrm>
          <a:prstGeom prst="rect">
            <a:avLst/>
          </a:prstGeom>
          <a:solidFill>
            <a:srgbClr val="DC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87898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-696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9635228" y="4710988"/>
            <a:ext cx="614411" cy="124358"/>
          </a:xfrm>
          <a:prstGeom prst="rect">
            <a:avLst/>
          </a:prstGeom>
          <a:solidFill>
            <a:srgbClr val="E1B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9624255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-527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10271585" y="4710988"/>
            <a:ext cx="614411" cy="124358"/>
          </a:xfrm>
          <a:prstGeom prst="rect">
            <a:avLst/>
          </a:prstGeom>
          <a:solidFill>
            <a:srgbClr val="E4B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10260613" y="4700016"/>
            <a:ext cx="636357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161616"/>
                </a:solidFill>
                <a:latin typeface="Helvetica Neue"/>
              </a:rPr>
              <a:t>-398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10907942" y="4710988"/>
            <a:ext cx="614411" cy="124358"/>
          </a:xfrm>
          <a:prstGeom prst="rect">
            <a:avLst/>
          </a:prstGeom>
          <a:solidFill>
            <a:srgbClr val="E9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658368" y="4956048"/>
            <a:ext cx="10607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58C"/>
                </a:solidFill>
                <a:latin typeface="Helvetica Neue"/>
              </a:rPr>
              <a:t>Cada celda: UF que la vivienda de la FILA justifica por sobre la de la COLUMNA (tiempo + costo de auto ahorrados). Verde = puede pedir más; rojo = debe pedir menos.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 lectura honesta: manejar desde Batuco es caro y su sobreprecio por auto es acotado; no puede pedir más UF que Valle Grande ni Chicauma. La lámina siguiente muestra dónde recupera esa diferencia.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05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LA RECOMENDACIÓN · INTEGRAR A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Integrar Batuco y Estación Colina a RED: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spc="-10">
                <a:solidFill>
                  <a:srgbClr val="161616"/>
                </a:solidFill>
                <a:latin typeface="Helvetica Neue"/>
              </a:rPr>
              <a:t>la gestión que depende de nosotros.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2219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6A64"/>
                </a:solidFill>
                <a:latin typeface="Helvetica Neue"/>
              </a:rPr>
              <a:t>Hoy · pagan por tramo (sin 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514600"/>
            <a:ext cx="3977639" cy="457200"/>
          </a:xfrm>
          <a:prstGeom prst="rect">
            <a:avLst/>
          </a:prstGeom>
          <a:solidFill>
            <a:srgbClr val="C05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2407" y="256946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1616"/>
                </a:solidFill>
                <a:latin typeface="Helvetica Neue"/>
              </a:rPr>
              <a:t>≈ $103 mil/mes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0906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E6A64"/>
                </a:solidFill>
                <a:latin typeface="Helvetica Neue"/>
              </a:rPr>
              <a:t>Integrado a RED (bip!)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383280"/>
            <a:ext cx="1410324" cy="457200"/>
          </a:xfrm>
          <a:prstGeom prst="rect">
            <a:avLst/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5092" y="343814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F9E6E"/>
                </a:solidFill>
                <a:latin typeface="Helvetica Neue"/>
              </a:rPr>
              <a:t>≈ $37 mil/mes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99592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958C"/>
                </a:solidFill>
                <a:latin typeface="Helvetica Neue"/>
              </a:rPr>
              <a:t>Caso de referencia: viaje diario a Metro Tobalaba; tarifa integrada de una zona RED comparable.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4805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F9E6E"/>
                </a:solidFill>
                <a:latin typeface="Helvetica Neue"/>
              </a:rPr>
              <a:t>65% menos</a:t>
            </a:r>
            <a:r>
              <a:rPr sz="1400" b="0">
                <a:solidFill>
                  <a:srgbClr val="6E6A64"/>
                </a:solidFill>
                <a:latin typeface="Helvetica Neue"/>
              </a:rPr>
              <a:t>  en el costo de transporte 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00">
                <a:solidFill>
                  <a:srgbClr val="B07D24"/>
                </a:solidFill>
                <a:latin typeface="Helvetica Neue"/>
              </a:rPr>
              <a:t>NO ES UNA OBRA · ES GESTIÓN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249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A64"/>
                </a:solidFill>
                <a:latin typeface="Helvetica Neue"/>
              </a:rPr>
              <a:t>Batuco y Estación Colina quedan a un trámite de tarifa integrada. Gestionar su incorporación a RED con el Ministerio de Transportes y EFE completa su ventaja competitiva, y no depende de esperar a 2030.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La recomendación central: gestionar la integración a RED. Baja el costo, sube el atractivo y depende de nosotros, no de una obra por construir.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80">
                <a:solidFill>
                  <a:srgbClr val="134E48"/>
                </a:solidFill>
                <a:latin typeface="Helvetica Neue"/>
              </a:rPr>
              <a:t>06</a:t>
            </a:r>
            <a:r>
              <a:rPr sz="1100" b="0">
                <a:solidFill>
                  <a:srgbClr val="134E48"/>
                </a:solidFill>
                <a:latin typeface="Helvetica Neue"/>
              </a:rPr>
              <a:t>   </a:t>
            </a:r>
            <a:r>
              <a:rPr sz="1100" b="0" spc="180">
                <a:solidFill>
                  <a:srgbClr val="6E6A64"/>
                </a:solidFill>
                <a:latin typeface="Helvetica Neue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¿Cuánto vale la conectividad?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61616"/>
                </a:solidFill>
                <a:latin typeface="Helvetica Neue"/>
              </a:rPr>
              <a:t>Seis conclusiones para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194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Estación Colina,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219456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En la mitad más rápida sin depender de obra futura: 6º de 14 en auto y 5º en transporte público.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Batuco, con infraestructura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9748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De 11º a 3º en auto con la Autopista, y de 11º a 2º en transporte público con el tren.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00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El diferencial del tren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20040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Frente a las zonas sin estación nueva: +977 UF en Batuco y +652 en Estación Colina.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703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7033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El costo de manejar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70332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Acota el sobreprecio de Batuco por auto. Su argumento de precio es el tren, no el auto.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06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2062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7D24"/>
                </a:solidFill>
                <a:latin typeface="Helvetica Neue"/>
              </a:rPr>
              <a:t>Integración a 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20624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7D24"/>
                </a:solidFill>
                <a:latin typeface="Helvetica Neue"/>
              </a:rPr>
              <a:t>Reduce el costo mensual de transporte público en 65%. Es gestión, no obra.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09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07D24"/>
                </a:solidFill>
                <a:latin typeface="Helvetica Neue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091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1616"/>
                </a:solidFill>
                <a:latin typeface="Helvetica Neue"/>
              </a:rPr>
              <a:t>Pricing por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709160"/>
            <a:ext cx="68515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A64"/>
                </a:solidFill>
                <a:latin typeface="Helvetica Neue"/>
              </a:rPr>
              <a:t>Fijar precio contra las comparables de cada producto, con el diferencial en UF de referencia.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85232"/>
            <a:ext cx="1087495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85232"/>
            <a:ext cx="50292" cy="877824"/>
          </a:xfrm>
          <a:prstGeom prst="rect">
            <a:avLst/>
          </a:prstGeom>
          <a:solidFill>
            <a:srgbClr val="B07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223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B07D24"/>
                </a:solidFill>
                <a:latin typeface="Helvetica Neue"/>
              </a:rP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50992"/>
            <a:ext cx="10372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5">
                <a:solidFill>
                  <a:srgbClr val="161616"/>
                </a:solidFill>
                <a:latin typeface="Helvetica Neue"/>
              </a:rPr>
              <a:t>Competitivos hoy y líderes del corredor con la infraestructura en construcción. La decisión que solo depende de nosotros: integrarlos a RED.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382512"/>
            <a:ext cx="10874959" cy="0"/>
          </a:xfrm>
          <a:prstGeom prst="bentConnector3">
            <a:avLst/>
          </a:prstGeom>
          <a:ln w="9525">
            <a:solidFill>
              <a:srgbClr val="E4D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50">
                <a:solidFill>
                  <a:srgbClr val="6E6A64"/>
                </a:solidFill>
                <a:latin typeface="Helvetica Neue"/>
              </a:rPr>
              <a:t>MODELA</a:t>
            </a:r>
            <a:r>
              <a:rPr sz="850" b="0" spc="150">
                <a:solidFill>
                  <a:srgbClr val="9A958C"/>
                </a:solidFill>
                <a:latin typeface="Helvetica Neue"/>
              </a:rPr>
              <a:t>   ·   CONECTIVIDAD 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1727" y="6455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20">
                <a:solidFill>
                  <a:srgbClr val="9A958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