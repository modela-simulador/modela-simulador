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DÓNDE ESTAMOS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Hoy: una ya es central, el otro 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periférico — y ninguno es 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1288" y="3833385"/>
            <a:ext cx="2567250" cy="738614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3728538" y="2468880"/>
            <a:ext cx="0" cy="210312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61288" y="3833385"/>
            <a:ext cx="54864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161288" y="462686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3127" y="4626864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1284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426110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4615046" y="3352197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3646" y="3333909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2983708" y="3805383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2308" y="3787095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2883580" y="442351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43008" y="414181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34514" y="421416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28648" y="277292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38012" y="34685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4733" y="3778521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717916" y="396495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1123" y="250763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031896" y="289653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45626" y="437655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39760" y="344403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673674" y="382932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233172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90">
                <a:solidFill>
                  <a:srgbClr val="B07D2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697480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Estación Colina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44368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Ya central (6º en auto), pero su transporte público de hoy es lento.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392424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Batuco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3639312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Lejano y caro en auto: cruza pórticos hacia casi todo.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087368"/>
            <a:ext cx="42638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Los 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334256"/>
            <a:ext cx="42638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A64"/>
                </a:solidFill>
                <a:latin typeface="Helvetica Neue"/>
              </a:rPr>
              <a:t>No son RED: pagan el transporte público por tramo, más caro.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foto de hoy tiene una fortaleza y reparos claros — y cada reparo tiene salida con la infraestructura que viene, o con gestión.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tren y la Orbital nos mueven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media tabla a podio.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6E6A64"/>
                </a:solidFill>
                <a:latin typeface="Helvetica Neue"/>
              </a:rPr>
              <a:t>TRANSPORTE PÚBLICO ·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47307" y="2103120"/>
            <a:ext cx="518601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8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931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869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081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46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685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623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561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003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28216" y="2592324"/>
            <a:ext cx="422808" cy="96011"/>
          </a:xfrm>
          <a:prstGeom prst="rect">
            <a:avLst/>
          </a:prstGeom>
          <a:solidFill>
            <a:srgbClr val="CB9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87600" y="2592324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46984" y="2592324"/>
            <a:ext cx="422808" cy="96011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6369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5753" y="2592324"/>
            <a:ext cx="422808" cy="96011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25138" y="2592324"/>
            <a:ext cx="422808" cy="96011"/>
          </a:xfrm>
          <a:prstGeom prst="rect">
            <a:avLst/>
          </a:prstGeom>
          <a:solidFill>
            <a:srgbClr val="9F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4522" y="2592324"/>
            <a:ext cx="422808" cy="96011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43906" y="259232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03291" y="2592324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28216" y="2715768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87600" y="2715768"/>
            <a:ext cx="422808" cy="96011"/>
          </a:xfrm>
          <a:prstGeom prst="rect">
            <a:avLst/>
          </a:prstGeom>
          <a:solidFill>
            <a:srgbClr val="CD8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46984" y="2715768"/>
            <a:ext cx="422808" cy="96011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6369" y="2715768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65753" y="2715768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5138" y="2715768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84522" y="2715768"/>
            <a:ext cx="422808" cy="96011"/>
          </a:xfrm>
          <a:prstGeom prst="rect">
            <a:avLst/>
          </a:prstGeom>
          <a:solidFill>
            <a:srgbClr val="D452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943906" y="2715768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3291" y="2715768"/>
            <a:ext cx="422808" cy="96011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28216" y="2839212"/>
            <a:ext cx="422808" cy="96011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87600" y="2839212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4698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06369" y="2839212"/>
            <a:ext cx="422808" cy="96011"/>
          </a:xfrm>
          <a:prstGeom prst="rect">
            <a:avLst/>
          </a:prstGeom>
          <a:solidFill>
            <a:srgbClr val="B1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65753" y="2839212"/>
            <a:ext cx="422808" cy="96011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025138" y="2839212"/>
            <a:ext cx="422808" cy="96011"/>
          </a:xfrm>
          <a:prstGeom prst="rect">
            <a:avLst/>
          </a:prstGeom>
          <a:solidFill>
            <a:srgbClr val="83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84522" y="2839212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94390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03291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28216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18760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4698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06369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6575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025138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8452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4390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03291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28216" y="308610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87600" y="308610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46984" y="3086100"/>
            <a:ext cx="422808" cy="96011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106369" y="3086100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565753" y="3086100"/>
            <a:ext cx="422808" cy="96011"/>
          </a:xfrm>
          <a:prstGeom prst="rect">
            <a:avLst/>
          </a:prstGeom>
          <a:solidFill>
            <a:srgbClr val="CB9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5138" y="3086100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84522" y="3086100"/>
            <a:ext cx="422808" cy="96011"/>
          </a:xfrm>
          <a:prstGeom prst="rect">
            <a:avLst/>
          </a:prstGeom>
          <a:solidFill>
            <a:srgbClr val="D54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943906" y="3086100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403291" y="3086100"/>
            <a:ext cx="422808" cy="96011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28216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8760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64698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06369" y="3209544"/>
            <a:ext cx="422808" cy="96011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65753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025138" y="3209544"/>
            <a:ext cx="422808" cy="96011"/>
          </a:xfrm>
          <a:prstGeom prst="rect">
            <a:avLst/>
          </a:prstGeom>
          <a:solidFill>
            <a:srgbClr val="50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4522" y="3209544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4390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403291" y="3209544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3232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728216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18760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4698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06369" y="3332988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575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025138" y="3332988"/>
            <a:ext cx="422808" cy="96011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8452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4390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03291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728216" y="3456432"/>
            <a:ext cx="422808" cy="96011"/>
          </a:xfrm>
          <a:prstGeom prst="rect">
            <a:avLst/>
          </a:prstGeom>
          <a:solidFill>
            <a:srgbClr val="CD8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87600" y="3456432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646984" y="3456432"/>
            <a:ext cx="422808" cy="96011"/>
          </a:xfrm>
          <a:prstGeom prst="rect">
            <a:avLst/>
          </a:prstGeom>
          <a:solidFill>
            <a:srgbClr val="A2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106369" y="3456432"/>
            <a:ext cx="422808" cy="96011"/>
          </a:xfrm>
          <a:prstGeom prst="rect">
            <a:avLst/>
          </a:prstGeom>
          <a:solidFill>
            <a:srgbClr val="CB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565753" y="3456432"/>
            <a:ext cx="422808" cy="96011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5138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84522" y="3456432"/>
            <a:ext cx="422808" cy="96011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94390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03291" y="3456432"/>
            <a:ext cx="422808" cy="96011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13232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728216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87600" y="3579876"/>
            <a:ext cx="422808" cy="96011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46984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6369" y="357987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565753" y="3579876"/>
            <a:ext cx="422808" cy="96011"/>
          </a:xfrm>
          <a:prstGeom prst="rect">
            <a:avLst/>
          </a:prstGeom>
          <a:solidFill>
            <a:srgbClr val="D06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025138" y="3579876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4522" y="3579876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943906" y="3579876"/>
            <a:ext cx="422808" cy="96011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403291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728216" y="3703320"/>
            <a:ext cx="422808" cy="96011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87600" y="3703320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64698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106369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565753" y="3703320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025138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484522" y="3703320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94390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403291" y="3703320"/>
            <a:ext cx="422808" cy="96011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3232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8216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18760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4698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106369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565753" y="3826763"/>
            <a:ext cx="422808" cy="96011"/>
          </a:xfrm>
          <a:prstGeom prst="rect">
            <a:avLst/>
          </a:prstGeom>
          <a:solidFill>
            <a:srgbClr val="D54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5138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48452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4390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03291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13232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728216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18760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646984" y="3950207"/>
            <a:ext cx="422808" cy="96011"/>
          </a:xfrm>
          <a:prstGeom prst="rect">
            <a:avLst/>
          </a:prstGeom>
          <a:solidFill>
            <a:srgbClr val="D2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106369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565753" y="3950207"/>
            <a:ext cx="422808" cy="96011"/>
          </a:xfrm>
          <a:prstGeom prst="rect">
            <a:avLst/>
          </a:prstGeom>
          <a:solidFill>
            <a:srgbClr val="D54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025138" y="3950207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48452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94390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403291" y="3950207"/>
            <a:ext cx="422808" cy="96011"/>
          </a:xfrm>
          <a:prstGeom prst="rect">
            <a:avLst/>
          </a:prstGeom>
          <a:solidFill>
            <a:srgbClr val="A5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13232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728216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8760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64698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06369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565753" y="4073651"/>
            <a:ext cx="422808" cy="96011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025138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484522" y="4073651"/>
            <a:ext cx="422808" cy="96011"/>
          </a:xfrm>
          <a:prstGeom prst="rect">
            <a:avLst/>
          </a:prstGeom>
          <a:solidFill>
            <a:srgbClr val="D354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94390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5403291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728216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8760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64698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06369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565753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5138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48452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4390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5403291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398867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85825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17636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77020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236405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695789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155174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14558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073942" y="2340864"/>
            <a:ext cx="459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47307" y="2587752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402171" y="257860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Estación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417155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876540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335924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795308" y="2592324"/>
            <a:ext cx="422808" cy="96011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54693" y="259232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9714077" y="2592324"/>
            <a:ext cx="422808" cy="96011"/>
          </a:xfrm>
          <a:prstGeom prst="rect">
            <a:avLst/>
          </a:prstGeom>
          <a:solidFill>
            <a:srgbClr val="51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173462" y="2592324"/>
            <a:ext cx="422808" cy="96011"/>
          </a:xfrm>
          <a:prstGeom prst="rect">
            <a:avLst/>
          </a:prstGeom>
          <a:solidFill>
            <a:srgbClr val="45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632846" y="2592324"/>
            <a:ext cx="422808" cy="96011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1092230" y="2592324"/>
            <a:ext cx="422808" cy="96011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6347307" y="2711196"/>
            <a:ext cx="1005839" cy="105155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402171" y="270205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7417155" y="2715768"/>
            <a:ext cx="422808" cy="96011"/>
          </a:xfrm>
          <a:prstGeom prst="rect">
            <a:avLst/>
          </a:prstGeom>
          <a:solidFill>
            <a:srgbClr val="409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6540" y="2715768"/>
            <a:ext cx="422808" cy="96011"/>
          </a:xfrm>
          <a:prstGeom prst="rect">
            <a:avLst/>
          </a:prstGeom>
          <a:solidFill>
            <a:srgbClr val="439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335924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795308" y="2715768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254693" y="2715768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9714077" y="2715768"/>
            <a:ext cx="422808" cy="96011"/>
          </a:xfrm>
          <a:prstGeom prst="rect">
            <a:avLst/>
          </a:prstGeom>
          <a:solidFill>
            <a:srgbClr val="5A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173462" y="2715768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0632846" y="2715768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1092230" y="2715768"/>
            <a:ext cx="422808" cy="96011"/>
          </a:xfrm>
          <a:prstGeom prst="rect">
            <a:avLst/>
          </a:prstGeom>
          <a:solidFill>
            <a:srgbClr val="42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402171" y="282549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Valle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7417155" y="2839212"/>
            <a:ext cx="422808" cy="96011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6540" y="2839212"/>
            <a:ext cx="422808" cy="96011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335924" y="2839212"/>
            <a:ext cx="422808" cy="96011"/>
          </a:xfrm>
          <a:prstGeom prst="rect">
            <a:avLst/>
          </a:prstGeom>
          <a:solidFill>
            <a:srgbClr val="4C9E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795308" y="2839212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254693" y="2839212"/>
            <a:ext cx="422808" cy="96011"/>
          </a:xfrm>
          <a:prstGeom prst="rect">
            <a:avLst/>
          </a:prstGeom>
          <a:solidFill>
            <a:srgbClr val="4D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714077" y="2839212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10173462" y="2839212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10632846" y="2839212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1092230" y="2839212"/>
            <a:ext cx="422808" cy="96011"/>
          </a:xfrm>
          <a:prstGeom prst="rect">
            <a:avLst/>
          </a:prstGeom>
          <a:solidFill>
            <a:srgbClr val="46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402171" y="294894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17155" y="296265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6540" y="2962656"/>
            <a:ext cx="422808" cy="96011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335924" y="2962656"/>
            <a:ext cx="422808" cy="96011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795308" y="2962656"/>
            <a:ext cx="422808" cy="96011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54693" y="2962656"/>
            <a:ext cx="422808" cy="96011"/>
          </a:xfrm>
          <a:prstGeom prst="rect">
            <a:avLst/>
          </a:prstGeom>
          <a:solidFill>
            <a:srgbClr val="8B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9714077" y="2962656"/>
            <a:ext cx="422808" cy="96011"/>
          </a:xfrm>
          <a:prstGeom prst="rect">
            <a:avLst/>
          </a:prstGeom>
          <a:solidFill>
            <a:srgbClr val="A1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0173462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10632846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1092230" y="2962656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2171" y="307238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Hacienda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7417155" y="3086100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6540" y="3086100"/>
            <a:ext cx="422808" cy="96011"/>
          </a:xfrm>
          <a:prstGeom prst="rect">
            <a:avLst/>
          </a:prstGeom>
          <a:solidFill>
            <a:srgbClr val="8C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335924" y="3086100"/>
            <a:ext cx="422808" cy="96011"/>
          </a:xfrm>
          <a:prstGeom prst="rect">
            <a:avLst/>
          </a:prstGeom>
          <a:solidFill>
            <a:srgbClr val="61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95308" y="3086100"/>
            <a:ext cx="422808" cy="96011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254693" y="3086100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9714077" y="3086100"/>
            <a:ext cx="422808" cy="96011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0173462" y="3086100"/>
            <a:ext cx="422808" cy="96011"/>
          </a:xfrm>
          <a:prstGeom prst="rect">
            <a:avLst/>
          </a:prstGeom>
          <a:solidFill>
            <a:srgbClr val="84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0632846" y="3086100"/>
            <a:ext cx="422808" cy="96011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1092230" y="3086100"/>
            <a:ext cx="422808" cy="96011"/>
          </a:xfrm>
          <a:prstGeom prst="rect">
            <a:avLst/>
          </a:prstGeom>
          <a:solidFill>
            <a:srgbClr val="76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402171" y="319582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417155" y="3209544"/>
            <a:ext cx="422808" cy="96011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6540" y="3209544"/>
            <a:ext cx="422808" cy="96011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335924" y="3209544"/>
            <a:ext cx="422808" cy="96011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795308" y="3209544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254693" y="3209544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714077" y="3209544"/>
            <a:ext cx="422808" cy="96011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0173462" y="3209544"/>
            <a:ext cx="422808" cy="96011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0632846" y="3209544"/>
            <a:ext cx="422808" cy="96011"/>
          </a:xfrm>
          <a:prstGeom prst="rect">
            <a:avLst/>
          </a:prstGeom>
          <a:solidFill>
            <a:srgbClr val="65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1092230" y="3209544"/>
            <a:ext cx="422808" cy="96011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6402171" y="3319272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17155" y="3332988"/>
            <a:ext cx="422808" cy="96011"/>
          </a:xfrm>
          <a:prstGeom prst="rect">
            <a:avLst/>
          </a:prstGeom>
          <a:solidFill>
            <a:srgbClr val="63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876540" y="3332988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8335924" y="3332988"/>
            <a:ext cx="422808" cy="96011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8795308" y="3332988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254693" y="3332988"/>
            <a:ext cx="422808" cy="96011"/>
          </a:xfrm>
          <a:prstGeom prst="rect">
            <a:avLst/>
          </a:prstGeom>
          <a:solidFill>
            <a:srgbClr val="B6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714077" y="3332988"/>
            <a:ext cx="422808" cy="96011"/>
          </a:xfrm>
          <a:prstGeom prst="rect">
            <a:avLst/>
          </a:prstGeom>
          <a:solidFill>
            <a:srgbClr val="AE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173462" y="3332988"/>
            <a:ext cx="422808" cy="96011"/>
          </a:xfrm>
          <a:prstGeom prst="rect">
            <a:avLst/>
          </a:prstGeom>
          <a:solidFill>
            <a:srgbClr val="8D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632846" y="3332988"/>
            <a:ext cx="422808" cy="96011"/>
          </a:xfrm>
          <a:prstGeom prst="rect">
            <a:avLst/>
          </a:prstGeom>
          <a:solidFill>
            <a:srgbClr val="67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1092230" y="3332988"/>
            <a:ext cx="422808" cy="96011"/>
          </a:xfrm>
          <a:prstGeom prst="rect">
            <a:avLst/>
          </a:prstGeom>
          <a:solidFill>
            <a:srgbClr val="73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402171" y="3442716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7417155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876540" y="3456432"/>
            <a:ext cx="422808" cy="96011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8335924" y="3456432"/>
            <a:ext cx="422808" cy="96011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795308" y="3456432"/>
            <a:ext cx="422808" cy="96011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254693" y="3456432"/>
            <a:ext cx="422808" cy="96011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9714077" y="3456432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0173462" y="3456432"/>
            <a:ext cx="422808" cy="96011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0632846" y="3456432"/>
            <a:ext cx="422808" cy="96011"/>
          </a:xfrm>
          <a:prstGeom prst="rect">
            <a:avLst/>
          </a:prstGeom>
          <a:solidFill>
            <a:srgbClr val="CA9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1092230" y="3456432"/>
            <a:ext cx="422808" cy="96011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6402171" y="356616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Laguna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7417155" y="3579876"/>
            <a:ext cx="422808" cy="96011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76540" y="3579876"/>
            <a:ext cx="422808" cy="96011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8335924" y="3579876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8795308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9254693" y="3579876"/>
            <a:ext cx="422808" cy="96011"/>
          </a:xfrm>
          <a:prstGeom prst="rect">
            <a:avLst/>
          </a:prstGeom>
          <a:solidFill>
            <a:srgbClr val="6D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9714077" y="3579876"/>
            <a:ext cx="422808" cy="96011"/>
          </a:xfrm>
          <a:prstGeom prst="rect">
            <a:avLst/>
          </a:prstGeom>
          <a:solidFill>
            <a:srgbClr val="B4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0173462" y="3579876"/>
            <a:ext cx="422808" cy="96011"/>
          </a:xfrm>
          <a:prstGeom prst="rect">
            <a:avLst/>
          </a:prstGeom>
          <a:solidFill>
            <a:srgbClr val="AE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0632846" y="3579876"/>
            <a:ext cx="422808" cy="96011"/>
          </a:xfrm>
          <a:prstGeom prst="rect">
            <a:avLst/>
          </a:prstGeom>
          <a:solidFill>
            <a:srgbClr val="92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1092230" y="3579876"/>
            <a:ext cx="422808" cy="96011"/>
          </a:xfrm>
          <a:prstGeom prst="rect">
            <a:avLst/>
          </a:prstGeom>
          <a:solidFill>
            <a:srgbClr val="C1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6402171" y="3689604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Santa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417155" y="3703320"/>
            <a:ext cx="422808" cy="96011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7876540" y="3703320"/>
            <a:ext cx="422808" cy="96011"/>
          </a:xfrm>
          <a:prstGeom prst="rect">
            <a:avLst/>
          </a:prstGeom>
          <a:solidFill>
            <a:srgbClr val="CD8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35924" y="3703320"/>
            <a:ext cx="422808" cy="96011"/>
          </a:xfrm>
          <a:prstGeom prst="rect">
            <a:avLst/>
          </a:prstGeom>
          <a:solidFill>
            <a:srgbClr val="7E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795308" y="3703320"/>
            <a:ext cx="422808" cy="96011"/>
          </a:xfrm>
          <a:prstGeom prst="rect">
            <a:avLst/>
          </a:prstGeom>
          <a:solidFill>
            <a:srgbClr val="71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9254693" y="3703320"/>
            <a:ext cx="422808" cy="96011"/>
          </a:xfrm>
          <a:prstGeom prst="rect">
            <a:avLst/>
          </a:prstGeom>
          <a:solidFill>
            <a:srgbClr val="B8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9714077" y="3703320"/>
            <a:ext cx="422808" cy="96011"/>
          </a:xfrm>
          <a:prstGeom prst="rect">
            <a:avLst/>
          </a:prstGeom>
          <a:solidFill>
            <a:srgbClr val="B7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173462" y="3703320"/>
            <a:ext cx="422808" cy="96011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0632846" y="3703320"/>
            <a:ext cx="422808" cy="96011"/>
          </a:xfrm>
          <a:prstGeom prst="rect">
            <a:avLst/>
          </a:prstGeom>
          <a:solidFill>
            <a:srgbClr val="CE79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1092230" y="3703320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6402171" y="3813048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7417155" y="3826763"/>
            <a:ext cx="422808" cy="96011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876540" y="3826763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335924" y="3826763"/>
            <a:ext cx="422808" cy="96011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795308" y="3826763"/>
            <a:ext cx="422808" cy="96011"/>
          </a:xfrm>
          <a:prstGeom prst="rect">
            <a:avLst/>
          </a:prstGeom>
          <a:solidFill>
            <a:srgbClr val="BC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254693" y="3826763"/>
            <a:ext cx="422808" cy="96011"/>
          </a:xfrm>
          <a:prstGeom prst="rect">
            <a:avLst/>
          </a:prstGeom>
          <a:solidFill>
            <a:srgbClr val="D25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714077" y="3826763"/>
            <a:ext cx="422808" cy="96011"/>
          </a:xfrm>
          <a:prstGeom prst="rect">
            <a:avLst/>
          </a:prstGeom>
          <a:solidFill>
            <a:srgbClr val="A8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0173462" y="3826763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0632846" y="3826763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1092230" y="3826763"/>
            <a:ext cx="422808" cy="96011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6402171" y="3936491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El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417155" y="3950207"/>
            <a:ext cx="422808" cy="96011"/>
          </a:xfrm>
          <a:prstGeom prst="rect">
            <a:avLst/>
          </a:prstGeom>
          <a:solidFill>
            <a:srgbClr val="B2A1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7876540" y="3950207"/>
            <a:ext cx="422808" cy="96011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335924" y="3950207"/>
            <a:ext cx="422808" cy="96011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795308" y="3950207"/>
            <a:ext cx="422808" cy="96011"/>
          </a:xfrm>
          <a:prstGeom prst="rect">
            <a:avLst/>
          </a:prstGeom>
          <a:solidFill>
            <a:srgbClr val="CE7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9254693" y="3950207"/>
            <a:ext cx="422808" cy="96011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9714077" y="3950207"/>
            <a:ext cx="422808" cy="96011"/>
          </a:xfrm>
          <a:prstGeom prst="rect">
            <a:avLst/>
          </a:prstGeom>
          <a:solidFill>
            <a:srgbClr val="D06F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0173462" y="3950207"/>
            <a:ext cx="422808" cy="96011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0632846" y="3950207"/>
            <a:ext cx="422808" cy="96011"/>
          </a:xfrm>
          <a:prstGeom prst="rect">
            <a:avLst/>
          </a:prstGeom>
          <a:solidFill>
            <a:srgbClr val="3A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1092230" y="3950207"/>
            <a:ext cx="422808" cy="96011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TextBox 288"/>
          <p:cNvSpPr txBox="1"/>
          <p:nvPr/>
        </p:nvSpPr>
        <p:spPr>
          <a:xfrm>
            <a:off x="6402171" y="4059935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7417155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7876540" y="4073651"/>
            <a:ext cx="422808" cy="96011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335924" y="4073651"/>
            <a:ext cx="422808" cy="96011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8795308" y="4073651"/>
            <a:ext cx="422808" cy="96011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254693" y="4073651"/>
            <a:ext cx="422808" cy="96011"/>
          </a:xfrm>
          <a:prstGeom prst="rect">
            <a:avLst/>
          </a:prstGeom>
          <a:solidFill>
            <a:srgbClr val="C9A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714077" y="4073651"/>
            <a:ext cx="422808" cy="96011"/>
          </a:xfrm>
          <a:prstGeom prst="rect">
            <a:avLst/>
          </a:prstGeom>
          <a:solidFill>
            <a:srgbClr val="BF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10173462" y="4073651"/>
            <a:ext cx="422808" cy="96011"/>
          </a:xfrm>
          <a:prstGeom prst="rect">
            <a:avLst/>
          </a:prstGeom>
          <a:solidFill>
            <a:srgbClr val="CE7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632846" y="4073651"/>
            <a:ext cx="422808" cy="96011"/>
          </a:xfrm>
          <a:prstGeom prst="rect">
            <a:avLst/>
          </a:prstGeom>
          <a:solidFill>
            <a:srgbClr val="D25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092230" y="4073651"/>
            <a:ext cx="422808" cy="96011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6402171" y="4183380"/>
            <a:ext cx="905255" cy="1234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161616"/>
                </a:solidFill>
                <a:latin typeface="Helvetica Neue"/>
              </a:rPr>
              <a:t>Colina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7417155" y="4197096"/>
            <a:ext cx="422808" cy="96011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787654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8335924" y="4197096"/>
            <a:ext cx="422808" cy="96011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795308" y="4197096"/>
            <a:ext cx="422808" cy="96011"/>
          </a:xfrm>
          <a:prstGeom prst="rect">
            <a:avLst/>
          </a:prstGeom>
          <a:solidFill>
            <a:srgbClr val="5F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54693" y="4197096"/>
            <a:ext cx="422808" cy="96011"/>
          </a:xfrm>
          <a:prstGeom prst="rect">
            <a:avLst/>
          </a:prstGeom>
          <a:solidFill>
            <a:srgbClr val="D35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714077" y="4197096"/>
            <a:ext cx="422808" cy="96011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0173462" y="4197096"/>
            <a:ext cx="422808" cy="96011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0632846" y="4197096"/>
            <a:ext cx="422808" cy="96011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1092230" y="4197096"/>
            <a:ext cx="422808" cy="96011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58368" y="449884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Con el tren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Est. Colina 5º→1º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y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    con la Orbital  </a:t>
            </a:r>
            <a:r>
              <a:rPr sz="1300" b="1">
                <a:solidFill>
                  <a:srgbClr val="B07D24"/>
                </a:solidFill>
                <a:latin typeface="Helvetica Neue"/>
              </a:rPr>
              <a:t>Batuco 11º→3º en auto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transporte público de nuestros proyectos pasa de rojo a verde con el tren; la Orbital hace lo mismo con Batuco en auto. Ambas obras ya están en construcción.</a:t>
            </a:r>
          </a:p>
        </p:txBody>
      </p:sp>
      <p:cxnSp>
        <p:nvCxnSpPr>
          <p:cNvPr id="314" name="Connector 31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TextBox 31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EN UF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El sobreprecio en UF: cuánto más puede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pedir cada zona por su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00">
                <a:solidFill>
                  <a:srgbClr val="6E6A64"/>
                </a:solidFill>
                <a:latin typeface="Helvetica Neue"/>
              </a:rPr>
              <a:t>UF QUE JUSTIFICA UNA VIVIENDA POR SOBRE LA ZONA MENOS CONECTADA DEL SET · TIEMPO + COSTO AHORRADOS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7685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5" y="227685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2286000"/>
            <a:ext cx="6138367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6983" y="22677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502712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5" y="2502712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511856"/>
            <a:ext cx="611222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0838" y="249356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2.268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28569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5" y="2728569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737713"/>
            <a:ext cx="5910933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9549" y="2719425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2.193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5442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295442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2963570"/>
            <a:ext cx="4543934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2550" y="294528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1.686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18028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5" y="318028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0" y="3189427"/>
            <a:ext cx="43395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8188" y="317113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40614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5" y="34061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3415284"/>
            <a:ext cx="420188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30497" y="339699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1.559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631996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5" y="363199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41140"/>
            <a:ext cx="379579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4407" y="362285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1.408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857853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3857853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3866997"/>
            <a:ext cx="3523654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2270" y="3848709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1.307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08371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5" y="408371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092854"/>
            <a:ext cx="3404021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2637" y="407456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1.263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30956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5" y="430956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4318711"/>
            <a:ext cx="2843859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75" y="430042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1.055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453542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5" y="453542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544568"/>
            <a:ext cx="2746403" cy="134416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75019" y="452628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07D24"/>
                </a:solidFill>
                <a:latin typeface="Helvetica Neue"/>
              </a:rPr>
              <a:t>1.019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761280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5" y="476128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770424"/>
            <a:ext cx="229180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0418" y="475213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850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87137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5" y="4987137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46320" y="4996281"/>
            <a:ext cx="1942530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71146" y="4977993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721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1299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5" y="5212994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5222138"/>
            <a:ext cx="870972" cy="134416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99588" y="520385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616"/>
                </a:solidFill>
                <a:latin typeface="Helvetica Neue"/>
              </a:rPr>
              <a:t>323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 mide contra la peor zona del set (Buin): una vivienda en Estación Colina justifica ~1.686 UF más, y Batuco ~1.019 UF más — solo por lo que su gente ahorra en traslados, capitalizado.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JUGADA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está en nuestra cancha: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pelear por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La jugada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Pelear por integrar Batuco y Estación Colina a RED: baja el costo y está en nuestra cancha.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jugada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