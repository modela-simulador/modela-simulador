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822960"/>
            <a:ext cx="822960" cy="41148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220">
                <a:solidFill>
                  <a:srgbClr val="B9B4AA"/>
                </a:solidFill>
                <a:latin typeface="Helvetica Neue"/>
              </a:rPr>
              <a:t>MODELA  ·  DESARROLLO INMOBILIARIO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08749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FFFFFF"/>
                </a:solidFill>
                <a:latin typeface="Helvetica Neue"/>
              </a:rPr>
              <a:t>¿Cuánto vale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B07D24"/>
                </a:solidFill>
                <a:latin typeface="Helvetica Neue"/>
              </a:rPr>
              <a:t>la conectividad?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434840"/>
            <a:ext cx="8412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FCBC2"/>
                </a:solidFill>
                <a:latin typeface="Helvetica Neue"/>
              </a:rPr>
              <a:t>Cómo la accesibilidad vial y ferroviaria se traduce en valor inmobiliario, y por qué Batuco y Estación Colina compiten hoy y lideran mañana.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989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8C8880"/>
                </a:solidFill>
                <a:latin typeface="Helvetica Neue"/>
              </a:rPr>
              <a:t>Evaluación de accesibilidad · Región Metropolitana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0127" y="5989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8C8880"/>
                </a:solidFill>
                <a:latin typeface="Helvetica Neue"/>
              </a:rPr>
              <a:t>Documento de directorio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La conectividad no es un atributo: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es valor inmobiliario medible.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Menos tiempo y menos costo de traslado se capitalizan en cuánto puede pagar una familia por su vivienda. Medimos esa conexión, zona por zona, y el veredicto para nuestros proyectos es claro.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3º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Batuco en auto, con la Autopista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11º de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728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8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Estación Colina en transporte público, con el tren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5º de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1 h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menos de viaje con el tren, desde Batuco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de 2h17 a 1h10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306324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+1.363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128" y="3776472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UF sobre la zona peor conectada, Estación Colina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443484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Batuco, +696 UF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y Estación Colina: competitivos hoy y líderes del corredor norte con la infraestructura ya en construcción.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DÓNDE ESTAMOS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Hoy: Estación Colina ya es central;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Batuco es periférico y ninguno es 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61288" y="3906139"/>
            <a:ext cx="2506463" cy="711580"/>
          </a:xfrm>
          <a:prstGeom prst="rect">
            <a:avLst/>
          </a:prstGeom>
          <a:solidFill>
            <a:srgbClr val="EC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3667751" y="2606040"/>
            <a:ext cx="0" cy="201168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61288" y="3906139"/>
            <a:ext cx="5486400" cy="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61288" y="4617720"/>
            <a:ext cx="5486400" cy="0"/>
          </a:xfrm>
          <a:prstGeom prst="line">
            <a:avLst/>
          </a:prstGeom>
          <a:ln w="12700">
            <a:solidFill>
              <a:srgbClr val="C9C4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61288" y="2606040"/>
            <a:ext cx="0" cy="2011680"/>
          </a:xfrm>
          <a:prstGeom prst="line">
            <a:avLst/>
          </a:prstGeom>
          <a:ln w="12700">
            <a:solidFill>
              <a:srgbClr val="C9C4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161288" y="4690872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Minutos promedio en auto a los 9 destinos (40 a 99 min) 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" y="2331720"/>
            <a:ext cx="5943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Costo mensual de manejar ($189 a $496 mil/mes)  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3970147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80">
                <a:solidFill>
                  <a:srgbClr val="2F9E6E"/>
                </a:solidFill>
                <a:latin typeface="Helvetica Neue"/>
              </a:rPr>
              <a:t>RÁPIDA Y BARATA</a:t>
            </a:r>
          </a:p>
        </p:txBody>
      </p:sp>
      <p:sp>
        <p:nvSpPr>
          <p:cNvPr id="13" name="Oval 12"/>
          <p:cNvSpPr/>
          <p:nvPr/>
        </p:nvSpPr>
        <p:spPr>
          <a:xfrm>
            <a:off x="1553476" y="4219186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97820" y="4358035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41081" y="2986889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841442" y="3581631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883259" y="4398187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81278" y="3873511"/>
            <a:ext cx="173736" cy="173736"/>
          </a:xfrm>
          <a:prstGeom prst="ellipse">
            <a:avLst/>
          </a:prstGeom>
          <a:solidFill>
            <a:srgbClr val="B07D24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10846" y="3882655"/>
            <a:ext cx="11475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0" name="Oval 19"/>
          <p:cNvSpPr/>
          <p:nvPr/>
        </p:nvSpPr>
        <p:spPr>
          <a:xfrm>
            <a:off x="3485425" y="3560707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08315" y="3890142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37049" y="3092579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21766" y="2760065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78329" y="3486026"/>
            <a:ext cx="173736" cy="173736"/>
          </a:xfrm>
          <a:prstGeom prst="ellipse">
            <a:avLst/>
          </a:prstGeom>
          <a:solidFill>
            <a:srgbClr val="B07D24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20645" y="3495170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6" name="Oval 25"/>
          <p:cNvSpPr/>
          <p:nvPr/>
        </p:nvSpPr>
        <p:spPr>
          <a:xfrm>
            <a:off x="4681393" y="4157327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484281" y="4006111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986086" y="3846703"/>
            <a:ext cx="118872" cy="118872"/>
          </a:xfrm>
          <a:prstGeom prst="ellipse">
            <a:avLst/>
          </a:prstGeom>
          <a:solidFill>
            <a:srgbClr val="134E48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69480" y="2331720"/>
            <a:ext cx="42638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90">
                <a:solidFill>
                  <a:srgbClr val="B07D24"/>
                </a:solidFill>
                <a:latin typeface="Helvetica Neue"/>
              </a:rPr>
              <a:t>EL DIAGNÓSTICO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9480" y="2697480"/>
            <a:ext cx="42638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Estación Colina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2944368"/>
            <a:ext cx="42638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A64"/>
                </a:solidFill>
                <a:latin typeface="Helvetica Neue"/>
              </a:rPr>
              <a:t>Ya central (6º en auto), pero su transporte público de hoy es lento.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9480" y="3392424"/>
            <a:ext cx="42638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Batuco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3639312"/>
            <a:ext cx="42638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A64"/>
                </a:solidFill>
                <a:latin typeface="Helvetica Neue"/>
              </a:rPr>
              <a:t>Lejano y caro en auto: cruza autopistas concesionadas hacia la mayoría de los destinos.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9480" y="4087368"/>
            <a:ext cx="42638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Los 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4334256"/>
            <a:ext cx="42638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A64"/>
                </a:solidFill>
                <a:latin typeface="Helvetica Neue"/>
              </a:rPr>
              <a:t>Sin integración a RED: pagan el transporte público por tramo, más caro.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El diagnóstico de hoy tiene una fortaleza y debilidades claras. Cada debilidad tiene respuesta: infraestructura en construcción o gestión propia.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SALTO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tren y la Autopista mueven a nuestros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proyectos a los primeros lugares.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03120"/>
            <a:ext cx="518601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80">
                <a:solidFill>
                  <a:srgbClr val="6E6A64"/>
                </a:solidFill>
                <a:latin typeface="Helvetica Neue"/>
              </a:rPr>
              <a:t>TRANSPORTE PÚBLICO · 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47307" y="2103120"/>
            <a:ext cx="518601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80">
                <a:solidFill>
                  <a:srgbClr val="134E48"/>
                </a:solidFill>
                <a:latin typeface="Helvetica Neue"/>
              </a:rPr>
              <a:t>CON EL TREN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9312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8696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8081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465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6850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6234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25618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5003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587752"/>
            <a:ext cx="1005839" cy="105155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578608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Estación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28216" y="2592324"/>
            <a:ext cx="422808" cy="96011"/>
          </a:xfrm>
          <a:prstGeom prst="rect">
            <a:avLst/>
          </a:prstGeom>
          <a:solidFill>
            <a:srgbClr val="CB9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87600" y="2592324"/>
            <a:ext cx="422808" cy="96011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646984" y="2592324"/>
            <a:ext cx="422808" cy="96011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06369" y="2592324"/>
            <a:ext cx="422808" cy="96011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65753" y="2592324"/>
            <a:ext cx="422808" cy="96011"/>
          </a:xfrm>
          <a:prstGeom prst="rect">
            <a:avLst/>
          </a:prstGeom>
          <a:solidFill>
            <a:srgbClr val="B0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25138" y="2592324"/>
            <a:ext cx="422808" cy="96011"/>
          </a:xfrm>
          <a:prstGeom prst="rect">
            <a:avLst/>
          </a:prstGeom>
          <a:solidFill>
            <a:srgbClr val="9F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84522" y="2592324"/>
            <a:ext cx="422808" cy="96011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43906" y="2592324"/>
            <a:ext cx="422808" cy="96011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03291" y="2592324"/>
            <a:ext cx="422808" cy="96011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2711196"/>
            <a:ext cx="1005839" cy="105155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2702052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28216" y="2715768"/>
            <a:ext cx="422808" cy="96011"/>
          </a:xfrm>
          <a:prstGeom prst="rect">
            <a:avLst/>
          </a:prstGeom>
          <a:solidFill>
            <a:srgbClr val="CD8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87600" y="2715768"/>
            <a:ext cx="422808" cy="96011"/>
          </a:xfrm>
          <a:prstGeom prst="rect">
            <a:avLst/>
          </a:prstGeom>
          <a:solidFill>
            <a:srgbClr val="CD8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646984" y="2715768"/>
            <a:ext cx="422808" cy="96011"/>
          </a:xfrm>
          <a:prstGeom prst="rect">
            <a:avLst/>
          </a:prstGeom>
          <a:solidFill>
            <a:srgbClr val="C9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06369" y="2715768"/>
            <a:ext cx="422808" cy="96011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565753" y="2715768"/>
            <a:ext cx="422808" cy="96011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25138" y="2715768"/>
            <a:ext cx="422808" cy="96011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84522" y="2715768"/>
            <a:ext cx="422808" cy="96011"/>
          </a:xfrm>
          <a:prstGeom prst="rect">
            <a:avLst/>
          </a:prstGeom>
          <a:solidFill>
            <a:srgbClr val="D45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943906" y="2715768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03291" y="2715768"/>
            <a:ext cx="422808" cy="96011"/>
          </a:xfrm>
          <a:prstGeom prst="rect">
            <a:avLst/>
          </a:prstGeom>
          <a:solidFill>
            <a:srgbClr val="D16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" y="2825496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Valle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28216" y="2839212"/>
            <a:ext cx="422808" cy="96011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187600" y="2839212"/>
            <a:ext cx="422808" cy="96011"/>
          </a:xfrm>
          <a:prstGeom prst="rect">
            <a:avLst/>
          </a:prstGeom>
          <a:solidFill>
            <a:srgbClr val="71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646984" y="2839212"/>
            <a:ext cx="422808" cy="96011"/>
          </a:xfrm>
          <a:prstGeom prst="rect">
            <a:avLst/>
          </a:prstGeom>
          <a:solidFill>
            <a:srgbClr val="4C9E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106369" y="2839212"/>
            <a:ext cx="422808" cy="96011"/>
          </a:xfrm>
          <a:prstGeom prst="rect">
            <a:avLst/>
          </a:prstGeom>
          <a:solidFill>
            <a:srgbClr val="B1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65753" y="2839212"/>
            <a:ext cx="422808" cy="96011"/>
          </a:xfrm>
          <a:prstGeom prst="rect">
            <a:avLst/>
          </a:prstGeom>
          <a:solidFill>
            <a:srgbClr val="BA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025138" y="2839212"/>
            <a:ext cx="422808" cy="96011"/>
          </a:xfrm>
          <a:prstGeom prst="rect">
            <a:avLst/>
          </a:prstGeom>
          <a:solidFill>
            <a:srgbClr val="83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484522" y="2839212"/>
            <a:ext cx="422808" cy="96011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943906" y="2839212"/>
            <a:ext cx="422808" cy="96011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03291" y="2839212"/>
            <a:ext cx="422808" cy="96011"/>
          </a:xfrm>
          <a:prstGeom prst="rect">
            <a:avLst/>
          </a:prstGeom>
          <a:solidFill>
            <a:srgbClr val="46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2" y="2948940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28216" y="2962656"/>
            <a:ext cx="422808" cy="96011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187600" y="2962656"/>
            <a:ext cx="422808" cy="96011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646984" y="2962656"/>
            <a:ext cx="422808" cy="96011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06369" y="2962656"/>
            <a:ext cx="422808" cy="96011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565753" y="2962656"/>
            <a:ext cx="422808" cy="96011"/>
          </a:xfrm>
          <a:prstGeom prst="rect">
            <a:avLst/>
          </a:prstGeom>
          <a:solidFill>
            <a:srgbClr val="8B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025138" y="2962656"/>
            <a:ext cx="422808" cy="96011"/>
          </a:xfrm>
          <a:prstGeom prst="rect">
            <a:avLst/>
          </a:prstGeom>
          <a:solidFill>
            <a:srgbClr val="A1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484522" y="2962656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43906" y="2962656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403291" y="2962656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13232" y="3072384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Hacienda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728216" y="3086100"/>
            <a:ext cx="422808" cy="96011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187600" y="3086100"/>
            <a:ext cx="422808" cy="96011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646984" y="3086100"/>
            <a:ext cx="422808" cy="96011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106369" y="3086100"/>
            <a:ext cx="422808" cy="96011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565753" y="3086100"/>
            <a:ext cx="422808" cy="96011"/>
          </a:xfrm>
          <a:prstGeom prst="rect">
            <a:avLst/>
          </a:prstGeom>
          <a:solidFill>
            <a:srgbClr val="CB9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25138" y="3086100"/>
            <a:ext cx="422808" cy="96011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84522" y="3086100"/>
            <a:ext cx="422808" cy="96011"/>
          </a:xfrm>
          <a:prstGeom prst="rect">
            <a:avLst/>
          </a:prstGeom>
          <a:solidFill>
            <a:srgbClr val="D54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943906" y="3086100"/>
            <a:ext cx="422808" cy="96011"/>
          </a:xfrm>
          <a:prstGeom prst="rect">
            <a:avLst/>
          </a:prstGeom>
          <a:solidFill>
            <a:srgbClr val="D354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403291" y="3086100"/>
            <a:ext cx="422808" cy="96011"/>
          </a:xfrm>
          <a:prstGeom prst="rect">
            <a:avLst/>
          </a:prstGeom>
          <a:solidFill>
            <a:srgbClr val="D2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3232" y="3195828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728216" y="3209544"/>
            <a:ext cx="422808" cy="96011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187600" y="3209544"/>
            <a:ext cx="422808" cy="96011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646984" y="3209544"/>
            <a:ext cx="422808" cy="96011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106369" y="3209544"/>
            <a:ext cx="422808" cy="96011"/>
          </a:xfrm>
          <a:prstGeom prst="rect">
            <a:avLst/>
          </a:prstGeom>
          <a:solidFill>
            <a:srgbClr val="CC8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565753" y="3209544"/>
            <a:ext cx="422808" cy="96011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025138" y="3209544"/>
            <a:ext cx="422808" cy="96011"/>
          </a:xfrm>
          <a:prstGeom prst="rect">
            <a:avLst/>
          </a:prstGeom>
          <a:solidFill>
            <a:srgbClr val="50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484522" y="3209544"/>
            <a:ext cx="422808" cy="96011"/>
          </a:xfrm>
          <a:prstGeom prst="rect">
            <a:avLst/>
          </a:prstGeom>
          <a:solidFill>
            <a:srgbClr val="A1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943906" y="3209544"/>
            <a:ext cx="422808" cy="96011"/>
          </a:xfrm>
          <a:prstGeom prst="rect">
            <a:avLst/>
          </a:prstGeom>
          <a:solidFill>
            <a:srgbClr val="65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403291" y="3209544"/>
            <a:ext cx="422808" cy="96011"/>
          </a:xfrm>
          <a:prstGeom prst="rect">
            <a:avLst/>
          </a:prstGeom>
          <a:solidFill>
            <a:srgbClr val="8C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3232" y="3319272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728216" y="3332988"/>
            <a:ext cx="422808" cy="96011"/>
          </a:xfrm>
          <a:prstGeom prst="rect">
            <a:avLst/>
          </a:prstGeom>
          <a:solidFill>
            <a:srgbClr val="63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187600" y="3332988"/>
            <a:ext cx="422808" cy="96011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646984" y="3332988"/>
            <a:ext cx="422808" cy="96011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106369" y="3332988"/>
            <a:ext cx="422808" cy="96011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565753" y="3332988"/>
            <a:ext cx="422808" cy="96011"/>
          </a:xfrm>
          <a:prstGeom prst="rect">
            <a:avLst/>
          </a:prstGeom>
          <a:solidFill>
            <a:srgbClr val="B6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025138" y="3332988"/>
            <a:ext cx="422808" cy="96011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484522" y="3332988"/>
            <a:ext cx="422808" cy="96011"/>
          </a:xfrm>
          <a:prstGeom prst="rect">
            <a:avLst/>
          </a:prstGeom>
          <a:solidFill>
            <a:srgbClr val="8D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943906" y="3332988"/>
            <a:ext cx="422808" cy="96011"/>
          </a:xfrm>
          <a:prstGeom prst="rect">
            <a:avLst/>
          </a:prstGeom>
          <a:solidFill>
            <a:srgbClr val="67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03291" y="3332988"/>
            <a:ext cx="422808" cy="96011"/>
          </a:xfrm>
          <a:prstGeom prst="rect">
            <a:avLst/>
          </a:prstGeom>
          <a:solidFill>
            <a:srgbClr val="73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13232" y="3442716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728216" y="3456432"/>
            <a:ext cx="422808" cy="96011"/>
          </a:xfrm>
          <a:prstGeom prst="rect">
            <a:avLst/>
          </a:prstGeom>
          <a:solidFill>
            <a:srgbClr val="CD8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187600" y="3456432"/>
            <a:ext cx="422808" cy="96011"/>
          </a:xfrm>
          <a:prstGeom prst="rect">
            <a:avLst/>
          </a:prstGeom>
          <a:solidFill>
            <a:srgbClr val="CD8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646984" y="3456432"/>
            <a:ext cx="422808" cy="96011"/>
          </a:xfrm>
          <a:prstGeom prst="rect">
            <a:avLst/>
          </a:prstGeom>
          <a:solidFill>
            <a:srgbClr val="A2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106369" y="3456432"/>
            <a:ext cx="422808" cy="96011"/>
          </a:xfrm>
          <a:prstGeom prst="rect">
            <a:avLst/>
          </a:prstGeom>
          <a:solidFill>
            <a:srgbClr val="CB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565753" y="3456432"/>
            <a:ext cx="422808" cy="96011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025138" y="3456432"/>
            <a:ext cx="422808" cy="96011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484522" y="3456432"/>
            <a:ext cx="422808" cy="96011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943906" y="3456432"/>
            <a:ext cx="422808" cy="96011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403291" y="3456432"/>
            <a:ext cx="422808" cy="96011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13232" y="3566160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Laguna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728216" y="357987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187600" y="3579876"/>
            <a:ext cx="422808" cy="96011"/>
          </a:xfrm>
          <a:prstGeom prst="rect">
            <a:avLst/>
          </a:prstGeom>
          <a:solidFill>
            <a:srgbClr val="D5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646984" y="357987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106369" y="357987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565753" y="3579876"/>
            <a:ext cx="422808" cy="96011"/>
          </a:xfrm>
          <a:prstGeom prst="rect">
            <a:avLst/>
          </a:prstGeom>
          <a:solidFill>
            <a:srgbClr val="D06B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025138" y="3579876"/>
            <a:ext cx="422808" cy="96011"/>
          </a:xfrm>
          <a:prstGeom prst="rect">
            <a:avLst/>
          </a:prstGeom>
          <a:solidFill>
            <a:srgbClr val="CE7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484522" y="3579876"/>
            <a:ext cx="422808" cy="96011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943906" y="3579876"/>
            <a:ext cx="422808" cy="96011"/>
          </a:xfrm>
          <a:prstGeom prst="rect">
            <a:avLst/>
          </a:prstGeom>
          <a:solidFill>
            <a:srgbClr val="97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403291" y="3579876"/>
            <a:ext cx="422808" cy="96011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13232" y="3689604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Santa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728216" y="3703320"/>
            <a:ext cx="422808" cy="96011"/>
          </a:xfrm>
          <a:prstGeom prst="rect">
            <a:avLst/>
          </a:prstGeom>
          <a:solidFill>
            <a:srgbClr val="CF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187600" y="3703320"/>
            <a:ext cx="422808" cy="96011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646984" y="3703320"/>
            <a:ext cx="422808" cy="96011"/>
          </a:xfrm>
          <a:prstGeom prst="rect">
            <a:avLst/>
          </a:prstGeom>
          <a:solidFill>
            <a:srgbClr val="7E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106369" y="3703320"/>
            <a:ext cx="422808" cy="96011"/>
          </a:xfrm>
          <a:prstGeom prst="rect">
            <a:avLst/>
          </a:prstGeom>
          <a:solidFill>
            <a:srgbClr val="71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565753" y="3703320"/>
            <a:ext cx="422808" cy="96011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025138" y="3703320"/>
            <a:ext cx="422808" cy="96011"/>
          </a:xfrm>
          <a:prstGeom prst="rect">
            <a:avLst/>
          </a:prstGeom>
          <a:solidFill>
            <a:srgbClr val="B7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484522" y="3703320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943906" y="3703320"/>
            <a:ext cx="422808" cy="96011"/>
          </a:xfrm>
          <a:prstGeom prst="rect">
            <a:avLst/>
          </a:prstGeom>
          <a:solidFill>
            <a:srgbClr val="CE7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403291" y="3703320"/>
            <a:ext cx="422808" cy="96011"/>
          </a:xfrm>
          <a:prstGeom prst="rect">
            <a:avLst/>
          </a:prstGeom>
          <a:solidFill>
            <a:srgbClr val="CF7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13232" y="3813048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728216" y="3826763"/>
            <a:ext cx="422808" cy="96011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187600" y="3826763"/>
            <a:ext cx="422808" cy="96011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646984" y="3826763"/>
            <a:ext cx="422808" cy="96011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106369" y="3826763"/>
            <a:ext cx="422808" cy="96011"/>
          </a:xfrm>
          <a:prstGeom prst="rect">
            <a:avLst/>
          </a:prstGeom>
          <a:solidFill>
            <a:srgbClr val="BC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565753" y="3826763"/>
            <a:ext cx="422808" cy="96011"/>
          </a:xfrm>
          <a:prstGeom prst="rect">
            <a:avLst/>
          </a:prstGeom>
          <a:solidFill>
            <a:srgbClr val="D54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025138" y="3826763"/>
            <a:ext cx="422808" cy="96011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484522" y="3826763"/>
            <a:ext cx="422808" cy="96011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943906" y="3826763"/>
            <a:ext cx="422808" cy="96011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403291" y="3826763"/>
            <a:ext cx="422808" cy="96011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13232" y="3936491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El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728216" y="3950207"/>
            <a:ext cx="422808" cy="96011"/>
          </a:xfrm>
          <a:prstGeom prst="rect">
            <a:avLst/>
          </a:prstGeom>
          <a:solidFill>
            <a:srgbClr val="B2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187600" y="3950207"/>
            <a:ext cx="422808" cy="96011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646984" y="3950207"/>
            <a:ext cx="422808" cy="96011"/>
          </a:xfrm>
          <a:prstGeom prst="rect">
            <a:avLst/>
          </a:prstGeom>
          <a:solidFill>
            <a:srgbClr val="D25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3106369" y="3950207"/>
            <a:ext cx="422808" cy="96011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565753" y="3950207"/>
            <a:ext cx="422808" cy="96011"/>
          </a:xfrm>
          <a:prstGeom prst="rect">
            <a:avLst/>
          </a:prstGeom>
          <a:solidFill>
            <a:srgbClr val="D54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025138" y="3950207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484522" y="3950207"/>
            <a:ext cx="422808" cy="96011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943906" y="3950207"/>
            <a:ext cx="422808" cy="96011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5403291" y="3950207"/>
            <a:ext cx="422808" cy="96011"/>
          </a:xfrm>
          <a:prstGeom prst="rect">
            <a:avLst/>
          </a:prstGeom>
          <a:solidFill>
            <a:srgbClr val="A5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713232" y="4059935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728216" y="4073651"/>
            <a:ext cx="422808" cy="96011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187600" y="4073651"/>
            <a:ext cx="422808" cy="96011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646984" y="4073651"/>
            <a:ext cx="422808" cy="96011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3106369" y="4073651"/>
            <a:ext cx="422808" cy="96011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565753" y="4073651"/>
            <a:ext cx="422808" cy="96011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025138" y="4073651"/>
            <a:ext cx="422808" cy="96011"/>
          </a:xfrm>
          <a:prstGeom prst="rect">
            <a:avLst/>
          </a:prstGeom>
          <a:solidFill>
            <a:srgbClr val="BF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484522" y="4073651"/>
            <a:ext cx="422808" cy="96011"/>
          </a:xfrm>
          <a:prstGeom prst="rect">
            <a:avLst/>
          </a:prstGeom>
          <a:solidFill>
            <a:srgbClr val="D354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943906" y="4073651"/>
            <a:ext cx="422808" cy="96011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403291" y="4073651"/>
            <a:ext cx="422808" cy="96011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13232" y="4183380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Colina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1728216" y="4197096"/>
            <a:ext cx="422808" cy="96011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2187600" y="419709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646984" y="4197096"/>
            <a:ext cx="422808" cy="96011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106369" y="4197096"/>
            <a:ext cx="422808" cy="96011"/>
          </a:xfrm>
          <a:prstGeom prst="rect">
            <a:avLst/>
          </a:prstGeom>
          <a:solidFill>
            <a:srgbClr val="5F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565753" y="419709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4025138" y="4197096"/>
            <a:ext cx="422808" cy="96011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484522" y="4197096"/>
            <a:ext cx="422808" cy="96011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943906" y="4197096"/>
            <a:ext cx="422808" cy="96011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5403291" y="419709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398867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858252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17636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77020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236405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695789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155174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614558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1073942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347307" y="2587752"/>
            <a:ext cx="1005839" cy="105155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402171" y="2578608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Estación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417155" y="2592324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7876540" y="2592324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8335924" y="2592324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8795308" y="2592324"/>
            <a:ext cx="422808" cy="96011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9254693" y="2592324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9714077" y="2592324"/>
            <a:ext cx="422808" cy="96011"/>
          </a:xfrm>
          <a:prstGeom prst="rect">
            <a:avLst/>
          </a:prstGeom>
          <a:solidFill>
            <a:srgbClr val="51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173462" y="2592324"/>
            <a:ext cx="422808" cy="96011"/>
          </a:xfrm>
          <a:prstGeom prst="rect">
            <a:avLst/>
          </a:prstGeom>
          <a:solidFill>
            <a:srgbClr val="459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10632846" y="2592324"/>
            <a:ext cx="422808" cy="96011"/>
          </a:xfrm>
          <a:prstGeom prst="rect">
            <a:avLst/>
          </a:prstGeom>
          <a:solidFill>
            <a:srgbClr val="AA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1092230" y="2592324"/>
            <a:ext cx="422808" cy="96011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6347307" y="2711196"/>
            <a:ext cx="1005839" cy="105155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402171" y="2702052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7417155" y="2715768"/>
            <a:ext cx="422808" cy="96011"/>
          </a:xfrm>
          <a:prstGeom prst="rect">
            <a:avLst/>
          </a:prstGeom>
          <a:solidFill>
            <a:srgbClr val="409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7876540" y="2715768"/>
            <a:ext cx="422808" cy="96011"/>
          </a:xfrm>
          <a:prstGeom prst="rect">
            <a:avLst/>
          </a:prstGeom>
          <a:solidFill>
            <a:srgbClr val="439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335924" y="2715768"/>
            <a:ext cx="422808" cy="96011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8795308" y="2715768"/>
            <a:ext cx="422808" cy="96011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9254693" y="2715768"/>
            <a:ext cx="422808" cy="96011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9714077" y="2715768"/>
            <a:ext cx="422808" cy="96011"/>
          </a:xfrm>
          <a:prstGeom prst="rect">
            <a:avLst/>
          </a:prstGeom>
          <a:solidFill>
            <a:srgbClr val="5A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10173462" y="2715768"/>
            <a:ext cx="422808" cy="96011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0632846" y="2715768"/>
            <a:ext cx="422808" cy="96011"/>
          </a:xfrm>
          <a:prstGeom prst="rect">
            <a:avLst/>
          </a:prstGeom>
          <a:solidFill>
            <a:srgbClr val="B8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11092230" y="2715768"/>
            <a:ext cx="422808" cy="96011"/>
          </a:xfrm>
          <a:prstGeom prst="rect">
            <a:avLst/>
          </a:prstGeom>
          <a:solidFill>
            <a:srgbClr val="42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402171" y="2825496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Valle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7417155" y="2839212"/>
            <a:ext cx="422808" cy="96011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7876540" y="2839212"/>
            <a:ext cx="422808" cy="96011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8335924" y="2839212"/>
            <a:ext cx="422808" cy="96011"/>
          </a:xfrm>
          <a:prstGeom prst="rect">
            <a:avLst/>
          </a:prstGeom>
          <a:solidFill>
            <a:srgbClr val="4C9E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795308" y="2839212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9254693" y="2839212"/>
            <a:ext cx="422808" cy="96011"/>
          </a:xfrm>
          <a:prstGeom prst="rect">
            <a:avLst/>
          </a:prstGeom>
          <a:solidFill>
            <a:srgbClr val="4D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9714077" y="2839212"/>
            <a:ext cx="422808" cy="96011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10173462" y="2839212"/>
            <a:ext cx="422808" cy="96011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10632846" y="2839212"/>
            <a:ext cx="422808" cy="96011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1092230" y="2839212"/>
            <a:ext cx="422808" cy="96011"/>
          </a:xfrm>
          <a:prstGeom prst="rect">
            <a:avLst/>
          </a:prstGeom>
          <a:solidFill>
            <a:srgbClr val="46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402171" y="2948940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417155" y="2962656"/>
            <a:ext cx="422808" cy="96011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7876540" y="2962656"/>
            <a:ext cx="422808" cy="96011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8335924" y="2962656"/>
            <a:ext cx="422808" cy="96011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8795308" y="2962656"/>
            <a:ext cx="422808" cy="96011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9254693" y="2962656"/>
            <a:ext cx="422808" cy="96011"/>
          </a:xfrm>
          <a:prstGeom prst="rect">
            <a:avLst/>
          </a:prstGeom>
          <a:solidFill>
            <a:srgbClr val="8B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9714077" y="2962656"/>
            <a:ext cx="422808" cy="96011"/>
          </a:xfrm>
          <a:prstGeom prst="rect">
            <a:avLst/>
          </a:prstGeom>
          <a:solidFill>
            <a:srgbClr val="A1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0173462" y="2962656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0632846" y="2962656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1092230" y="2962656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6402171" y="3072384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Hacienda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7417155" y="3086100"/>
            <a:ext cx="422808" cy="96011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7876540" y="3086100"/>
            <a:ext cx="422808" cy="96011"/>
          </a:xfrm>
          <a:prstGeom prst="rect">
            <a:avLst/>
          </a:prstGeom>
          <a:solidFill>
            <a:srgbClr val="8C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335924" y="3086100"/>
            <a:ext cx="422808" cy="96011"/>
          </a:xfrm>
          <a:prstGeom prst="rect">
            <a:avLst/>
          </a:prstGeom>
          <a:solidFill>
            <a:srgbClr val="61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795308" y="3086100"/>
            <a:ext cx="422808" cy="96011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9254693" y="3086100"/>
            <a:ext cx="422808" cy="96011"/>
          </a:xfrm>
          <a:prstGeom prst="rect">
            <a:avLst/>
          </a:prstGeom>
          <a:solidFill>
            <a:srgbClr val="63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9714077" y="3086100"/>
            <a:ext cx="422808" cy="96011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10173462" y="3086100"/>
            <a:ext cx="422808" cy="96011"/>
          </a:xfrm>
          <a:prstGeom prst="rect">
            <a:avLst/>
          </a:prstGeom>
          <a:solidFill>
            <a:srgbClr val="84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0632846" y="3086100"/>
            <a:ext cx="422808" cy="96011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1092230" y="3086100"/>
            <a:ext cx="422808" cy="96011"/>
          </a:xfrm>
          <a:prstGeom prst="rect">
            <a:avLst/>
          </a:prstGeom>
          <a:solidFill>
            <a:srgbClr val="76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6402171" y="3195828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7417155" y="3209544"/>
            <a:ext cx="422808" cy="96011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876540" y="3209544"/>
            <a:ext cx="422808" cy="96011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8335924" y="3209544"/>
            <a:ext cx="422808" cy="96011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8795308" y="3209544"/>
            <a:ext cx="422808" cy="96011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9254693" y="3209544"/>
            <a:ext cx="422808" cy="96011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9714077" y="3209544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10173462" y="3209544"/>
            <a:ext cx="422808" cy="96011"/>
          </a:xfrm>
          <a:prstGeom prst="rect">
            <a:avLst/>
          </a:prstGeom>
          <a:solidFill>
            <a:srgbClr val="99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0632846" y="3209544"/>
            <a:ext cx="422808" cy="96011"/>
          </a:xfrm>
          <a:prstGeom prst="rect">
            <a:avLst/>
          </a:prstGeom>
          <a:solidFill>
            <a:srgbClr val="65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11092230" y="3209544"/>
            <a:ext cx="422808" cy="96011"/>
          </a:xfrm>
          <a:prstGeom prst="rect">
            <a:avLst/>
          </a:prstGeom>
          <a:solidFill>
            <a:srgbClr val="7F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6402171" y="3319272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7417155" y="3332988"/>
            <a:ext cx="422808" cy="96011"/>
          </a:xfrm>
          <a:prstGeom prst="rect">
            <a:avLst/>
          </a:prstGeom>
          <a:solidFill>
            <a:srgbClr val="63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7876540" y="3332988"/>
            <a:ext cx="422808" cy="96011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8335924" y="3332988"/>
            <a:ext cx="422808" cy="96011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8795308" y="3332988"/>
            <a:ext cx="422808" cy="96011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9254693" y="3332988"/>
            <a:ext cx="422808" cy="96011"/>
          </a:xfrm>
          <a:prstGeom prst="rect">
            <a:avLst/>
          </a:prstGeom>
          <a:solidFill>
            <a:srgbClr val="B6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9714077" y="3332988"/>
            <a:ext cx="422808" cy="96011"/>
          </a:xfrm>
          <a:prstGeom prst="rect">
            <a:avLst/>
          </a:prstGeom>
          <a:solidFill>
            <a:srgbClr val="AE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10173462" y="3332988"/>
            <a:ext cx="422808" cy="96011"/>
          </a:xfrm>
          <a:prstGeom prst="rect">
            <a:avLst/>
          </a:prstGeom>
          <a:solidFill>
            <a:srgbClr val="8D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10632846" y="3332988"/>
            <a:ext cx="422808" cy="96011"/>
          </a:xfrm>
          <a:prstGeom prst="rect">
            <a:avLst/>
          </a:prstGeom>
          <a:solidFill>
            <a:srgbClr val="67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11092230" y="3332988"/>
            <a:ext cx="422808" cy="96011"/>
          </a:xfrm>
          <a:prstGeom prst="rect">
            <a:avLst/>
          </a:prstGeom>
          <a:solidFill>
            <a:srgbClr val="73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6402171" y="3442716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7417155" y="3456432"/>
            <a:ext cx="422808" cy="96011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7876540" y="3456432"/>
            <a:ext cx="422808" cy="96011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8335924" y="3456432"/>
            <a:ext cx="422808" cy="96011"/>
          </a:xfrm>
          <a:prstGeom prst="rect">
            <a:avLst/>
          </a:prstGeom>
          <a:solidFill>
            <a:srgbClr val="5B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8795308" y="3456432"/>
            <a:ext cx="422808" cy="96011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9254693" y="3456432"/>
            <a:ext cx="422808" cy="96011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9714077" y="3456432"/>
            <a:ext cx="422808" cy="96011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0173462" y="3456432"/>
            <a:ext cx="422808" cy="96011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0632846" y="3456432"/>
            <a:ext cx="422808" cy="96011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1092230" y="3456432"/>
            <a:ext cx="422808" cy="96011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6402171" y="3566160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Laguna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7417155" y="3579876"/>
            <a:ext cx="422808" cy="96011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7876540" y="3579876"/>
            <a:ext cx="422808" cy="96011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8335924" y="3579876"/>
            <a:ext cx="422808" cy="96011"/>
          </a:xfrm>
          <a:prstGeom prst="rect">
            <a:avLst/>
          </a:prstGeom>
          <a:solidFill>
            <a:srgbClr val="CD8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8795308" y="3579876"/>
            <a:ext cx="422808" cy="96011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9254693" y="3579876"/>
            <a:ext cx="422808" cy="96011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9714077" y="3579876"/>
            <a:ext cx="422808" cy="96011"/>
          </a:xfrm>
          <a:prstGeom prst="rect">
            <a:avLst/>
          </a:prstGeom>
          <a:solidFill>
            <a:srgbClr val="B4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10173462" y="3579876"/>
            <a:ext cx="422808" cy="96011"/>
          </a:xfrm>
          <a:prstGeom prst="rect">
            <a:avLst/>
          </a:prstGeom>
          <a:solidFill>
            <a:srgbClr val="AE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10632846" y="3579876"/>
            <a:ext cx="422808" cy="96011"/>
          </a:xfrm>
          <a:prstGeom prst="rect">
            <a:avLst/>
          </a:prstGeom>
          <a:solidFill>
            <a:srgbClr val="92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11092230" y="3579876"/>
            <a:ext cx="422808" cy="96011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6402171" y="3689604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Santa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7417155" y="3703320"/>
            <a:ext cx="422808" cy="96011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7876540" y="3703320"/>
            <a:ext cx="422808" cy="96011"/>
          </a:xfrm>
          <a:prstGeom prst="rect">
            <a:avLst/>
          </a:prstGeom>
          <a:solidFill>
            <a:srgbClr val="CD8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8335924" y="3703320"/>
            <a:ext cx="422808" cy="96011"/>
          </a:xfrm>
          <a:prstGeom prst="rect">
            <a:avLst/>
          </a:prstGeom>
          <a:solidFill>
            <a:srgbClr val="7E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8795308" y="3703320"/>
            <a:ext cx="422808" cy="96011"/>
          </a:xfrm>
          <a:prstGeom prst="rect">
            <a:avLst/>
          </a:prstGeom>
          <a:solidFill>
            <a:srgbClr val="71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9254693" y="3703320"/>
            <a:ext cx="422808" cy="96011"/>
          </a:xfrm>
          <a:prstGeom prst="rect">
            <a:avLst/>
          </a:prstGeom>
          <a:solidFill>
            <a:srgbClr val="B8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9714077" y="3703320"/>
            <a:ext cx="422808" cy="96011"/>
          </a:xfrm>
          <a:prstGeom prst="rect">
            <a:avLst/>
          </a:prstGeom>
          <a:solidFill>
            <a:srgbClr val="B7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10173462" y="3703320"/>
            <a:ext cx="422808" cy="96011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10632846" y="3703320"/>
            <a:ext cx="422808" cy="96011"/>
          </a:xfrm>
          <a:prstGeom prst="rect">
            <a:avLst/>
          </a:prstGeom>
          <a:solidFill>
            <a:srgbClr val="CE7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11092230" y="3703320"/>
            <a:ext cx="422808" cy="96011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6402171" y="3813048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7417155" y="3826763"/>
            <a:ext cx="422808" cy="96011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7876540" y="3826763"/>
            <a:ext cx="422808" cy="96011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8335924" y="3826763"/>
            <a:ext cx="422808" cy="96011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8795308" y="3826763"/>
            <a:ext cx="422808" cy="96011"/>
          </a:xfrm>
          <a:prstGeom prst="rect">
            <a:avLst/>
          </a:prstGeom>
          <a:solidFill>
            <a:srgbClr val="BC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9254693" y="3826763"/>
            <a:ext cx="422808" cy="96011"/>
          </a:xfrm>
          <a:prstGeom prst="rect">
            <a:avLst/>
          </a:prstGeom>
          <a:solidFill>
            <a:srgbClr val="D2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9714077" y="3826763"/>
            <a:ext cx="422808" cy="96011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0173462" y="3826763"/>
            <a:ext cx="422808" cy="96011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0632846" y="3826763"/>
            <a:ext cx="422808" cy="96011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1092230" y="3826763"/>
            <a:ext cx="422808" cy="96011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6402171" y="3936491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El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7417155" y="3950207"/>
            <a:ext cx="422808" cy="96011"/>
          </a:xfrm>
          <a:prstGeom prst="rect">
            <a:avLst/>
          </a:prstGeom>
          <a:solidFill>
            <a:srgbClr val="B2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7876540" y="3950207"/>
            <a:ext cx="422808" cy="96011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8335924" y="3950207"/>
            <a:ext cx="422808" cy="96011"/>
          </a:xfrm>
          <a:prstGeom prst="rect">
            <a:avLst/>
          </a:prstGeom>
          <a:solidFill>
            <a:srgbClr val="D16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8795308" y="3950207"/>
            <a:ext cx="422808" cy="96011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9254693" y="3950207"/>
            <a:ext cx="422808" cy="96011"/>
          </a:xfrm>
          <a:prstGeom prst="rect">
            <a:avLst/>
          </a:prstGeom>
          <a:solidFill>
            <a:srgbClr val="D35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9714077" y="3950207"/>
            <a:ext cx="422808" cy="96011"/>
          </a:xfrm>
          <a:prstGeom prst="rect">
            <a:avLst/>
          </a:prstGeom>
          <a:solidFill>
            <a:srgbClr val="D06F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10173462" y="3950207"/>
            <a:ext cx="422808" cy="96011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0632846" y="3950207"/>
            <a:ext cx="422808" cy="96011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1092230" y="3950207"/>
            <a:ext cx="422808" cy="96011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6402171" y="4059935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7417155" y="4073651"/>
            <a:ext cx="422808" cy="96011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7876540" y="4073651"/>
            <a:ext cx="422808" cy="96011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8335924" y="4073651"/>
            <a:ext cx="422808" cy="96011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8795308" y="4073651"/>
            <a:ext cx="422808" cy="96011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9254693" y="4073651"/>
            <a:ext cx="422808" cy="96011"/>
          </a:xfrm>
          <a:prstGeom prst="rect">
            <a:avLst/>
          </a:prstGeom>
          <a:solidFill>
            <a:srgbClr val="C9A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9714077" y="4073651"/>
            <a:ext cx="422808" cy="96011"/>
          </a:xfrm>
          <a:prstGeom prst="rect">
            <a:avLst/>
          </a:prstGeom>
          <a:solidFill>
            <a:srgbClr val="BF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10173462" y="4073651"/>
            <a:ext cx="422808" cy="96011"/>
          </a:xfrm>
          <a:prstGeom prst="rect">
            <a:avLst/>
          </a:prstGeom>
          <a:solidFill>
            <a:srgbClr val="CE7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10632846" y="4073651"/>
            <a:ext cx="422808" cy="96011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11092230" y="4073651"/>
            <a:ext cx="422808" cy="96011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6402171" y="4183380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Colina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7417155" y="4197096"/>
            <a:ext cx="422808" cy="96011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7876540" y="419709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8335924" y="4197096"/>
            <a:ext cx="422808" cy="96011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8795308" y="4197096"/>
            <a:ext cx="422808" cy="96011"/>
          </a:xfrm>
          <a:prstGeom prst="rect">
            <a:avLst/>
          </a:prstGeom>
          <a:solidFill>
            <a:srgbClr val="5F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9254693" y="4197096"/>
            <a:ext cx="422808" cy="96011"/>
          </a:xfrm>
          <a:prstGeom prst="rect">
            <a:avLst/>
          </a:prstGeom>
          <a:solidFill>
            <a:srgbClr val="D35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9714077" y="4197096"/>
            <a:ext cx="422808" cy="96011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0173462" y="4197096"/>
            <a:ext cx="422808" cy="96011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10632846" y="4197096"/>
            <a:ext cx="422808" cy="96011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11092230" y="419709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658368" y="449884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Con el tren  </a:t>
            </a:r>
            <a:r>
              <a:rPr sz="1300" b="1">
                <a:solidFill>
                  <a:srgbClr val="B07D24"/>
                </a:solidFill>
                <a:latin typeface="Helvetica Neue"/>
              </a:rPr>
              <a:t>Est. Colina 5º→1º</a:t>
            </a:r>
            <a:r>
              <a:rPr sz="1200" b="0">
                <a:solidFill>
                  <a:srgbClr val="6E6A64"/>
                </a:solidFill>
                <a:latin typeface="Helvetica Neue"/>
              </a:rPr>
              <a:t>  y  </a:t>
            </a:r>
            <a:r>
              <a:rPr sz="1300" b="1">
                <a:solidFill>
                  <a:srgbClr val="B07D24"/>
                </a:solidFill>
                <a:latin typeface="Helvetica Neue"/>
              </a:rPr>
              <a:t>Batuco 11º→2º</a:t>
            </a:r>
            <a:r>
              <a:rPr sz="1200" b="0">
                <a:solidFill>
                  <a:srgbClr val="6E6A64"/>
                </a:solidFill>
                <a:latin typeface="Helvetica Neue"/>
              </a:rPr>
              <a:t>      con la Autopista  </a:t>
            </a:r>
            <a:r>
              <a:rPr sz="1300" b="1">
                <a:solidFill>
                  <a:srgbClr val="B07D24"/>
                </a:solidFill>
                <a:latin typeface="Helvetica Neue"/>
              </a:rPr>
              <a:t>Batuco 11º→3º en auto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El transporte público de nuestros proyectos pasa de rojo a verde con el tren; la Autopista hace lo mismo con Batuco en auto. Ambas obras ya están en construcción.</a:t>
            </a:r>
          </a:p>
        </p:txBody>
      </p:sp>
      <p:cxnSp>
        <p:nvCxnSpPr>
          <p:cNvPr id="314" name="Connector 313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TextBox 314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SOBREPRECIO ENTRE ZONAS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Sobreprecio justificado entre zonas: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comparación completa, en UF.</a:t>
            </a:r>
          </a:p>
        </p:txBody>
      </p:sp>
      <p:sp>
        <p:nvSpPr>
          <p:cNvPr id="5" name="TextBox 4"/>
          <p:cNvSpPr txBox="1"/>
          <p:nvPr/>
        </p:nvSpPr>
        <p:spPr>
          <a:xfrm rot="16200000">
            <a:off x="2622466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Chicauma</a:t>
            </a:r>
          </a:p>
        </p:txBody>
      </p:sp>
      <p:sp>
        <p:nvSpPr>
          <p:cNvPr id="6" name="TextBox 5"/>
          <p:cNvSpPr txBox="1"/>
          <p:nvPr/>
        </p:nvSpPr>
        <p:spPr>
          <a:xfrm rot="16200000">
            <a:off x="3258823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Urbanya</a:t>
            </a:r>
          </a:p>
        </p:txBody>
      </p:sp>
      <p:sp>
        <p:nvSpPr>
          <p:cNvPr id="7" name="TextBox 6"/>
          <p:cNvSpPr txBox="1"/>
          <p:nvPr/>
        </p:nvSpPr>
        <p:spPr>
          <a:xfrm rot="16200000">
            <a:off x="3895180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Valle Grande</a:t>
            </a:r>
          </a:p>
        </p:txBody>
      </p:sp>
      <p:sp>
        <p:nvSpPr>
          <p:cNvPr id="8" name="TextBox 7"/>
          <p:cNvSpPr txBox="1"/>
          <p:nvPr/>
        </p:nvSpPr>
        <p:spPr>
          <a:xfrm rot="16200000">
            <a:off x="4531537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5167894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Larapinta</a:t>
            </a:r>
          </a:p>
        </p:txBody>
      </p:sp>
      <p:sp>
        <p:nvSpPr>
          <p:cNvPr id="10" name="TextBox 9"/>
          <p:cNvSpPr txBox="1"/>
          <p:nvPr/>
        </p:nvSpPr>
        <p:spPr>
          <a:xfrm rot="16200000">
            <a:off x="5804251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NOS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40609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Santa Elena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7076966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Laguna del Sol</a:t>
            </a:r>
          </a:p>
        </p:txBody>
      </p:sp>
      <p:sp>
        <p:nvSpPr>
          <p:cNvPr id="13" name="TextBox 12"/>
          <p:cNvSpPr txBox="1"/>
          <p:nvPr/>
        </p:nvSpPr>
        <p:spPr>
          <a:xfrm rot="16200000">
            <a:off x="7713323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Hacienda Batuco</a:t>
            </a:r>
          </a:p>
        </p:txBody>
      </p:sp>
      <p:sp>
        <p:nvSpPr>
          <p:cNvPr id="14" name="TextBox 13"/>
          <p:cNvSpPr txBox="1"/>
          <p:nvPr/>
        </p:nvSpPr>
        <p:spPr>
          <a:xfrm rot="16200000">
            <a:off x="8349680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El Peñón</a:t>
            </a:r>
          </a:p>
        </p:txBody>
      </p:sp>
      <p:sp>
        <p:nvSpPr>
          <p:cNvPr id="15" name="TextBox 14"/>
          <p:cNvSpPr txBox="1"/>
          <p:nvPr/>
        </p:nvSpPr>
        <p:spPr>
          <a:xfrm rot="16200000">
            <a:off x="8986037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6" name="TextBox 15"/>
          <p:cNvSpPr txBox="1"/>
          <p:nvPr/>
        </p:nvSpPr>
        <p:spPr>
          <a:xfrm rot="16200000">
            <a:off x="9622394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Ayres</a:t>
            </a:r>
          </a:p>
        </p:txBody>
      </p:sp>
      <p:sp>
        <p:nvSpPr>
          <p:cNvPr id="17" name="TextBox 16"/>
          <p:cNvSpPr txBox="1"/>
          <p:nvPr/>
        </p:nvSpPr>
        <p:spPr>
          <a:xfrm rot="16200000">
            <a:off x="10258751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18" name="TextBox 17"/>
          <p:cNvSpPr txBox="1"/>
          <p:nvPr/>
        </p:nvSpPr>
        <p:spPr>
          <a:xfrm rot="16200000">
            <a:off x="10895108" y="237744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6E6A64"/>
                </a:solidFill>
                <a:latin typeface="Helvetica Neue"/>
              </a:rPr>
              <a:t>Buin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2798063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35300" y="280903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71657" y="2809036"/>
            <a:ext cx="614411" cy="124358"/>
          </a:xfrm>
          <a:prstGeom prst="rect">
            <a:avLst/>
          </a:prstGeom>
          <a:solidFill>
            <a:srgbClr val="F2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60685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08014" y="2809036"/>
            <a:ext cx="614411" cy="124358"/>
          </a:xfrm>
          <a:prstGeom prst="rect">
            <a:avLst/>
          </a:prstGeom>
          <a:solidFill>
            <a:srgbClr val="E0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97042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44372" y="2809036"/>
            <a:ext cx="614411" cy="124358"/>
          </a:xfrm>
          <a:prstGeom prst="rect">
            <a:avLst/>
          </a:prstGeom>
          <a:solidFill>
            <a:srgbClr val="A0C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33399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80729" y="2809036"/>
            <a:ext cx="614411" cy="124358"/>
          </a:xfrm>
          <a:prstGeom prst="rect">
            <a:avLst/>
          </a:prstGeom>
          <a:solidFill>
            <a:srgbClr val="98C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9756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+667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17086" y="2809036"/>
            <a:ext cx="614411" cy="124358"/>
          </a:xfrm>
          <a:prstGeom prst="rect">
            <a:avLst/>
          </a:prstGeom>
          <a:solidFill>
            <a:srgbClr val="93C9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113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+718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53443" y="2809036"/>
            <a:ext cx="614411" cy="124358"/>
          </a:xfrm>
          <a:prstGeom prst="rect">
            <a:avLst/>
          </a:prstGeom>
          <a:solidFill>
            <a:srgbClr val="85C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2470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89800" y="2809036"/>
            <a:ext cx="614411" cy="124358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78827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+970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26157" y="2809036"/>
            <a:ext cx="614411" cy="124358"/>
          </a:xfrm>
          <a:prstGeom prst="rect">
            <a:avLst/>
          </a:prstGeom>
          <a:solidFill>
            <a:srgbClr val="78B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15184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+1014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62514" y="2809036"/>
            <a:ext cx="614411" cy="124358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51541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+1222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98871" y="2809036"/>
            <a:ext cx="614411" cy="124358"/>
          </a:xfrm>
          <a:prstGeom prst="rect">
            <a:avLst/>
          </a:prstGeom>
          <a:solidFill>
            <a:srgbClr val="64B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87898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+1258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35228" y="2809036"/>
            <a:ext cx="614411" cy="124358"/>
          </a:xfrm>
          <a:prstGeom prst="rect">
            <a:avLst/>
          </a:prstGeom>
          <a:solidFill>
            <a:srgbClr val="56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24255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+1427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271585" y="2809036"/>
            <a:ext cx="614411" cy="124358"/>
          </a:xfrm>
          <a:prstGeom prst="rect">
            <a:avLst/>
          </a:prstGeom>
          <a:solidFill>
            <a:srgbClr val="4CA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60613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+1557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07942" y="2809036"/>
            <a:ext cx="614411" cy="124358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896970" y="279806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+1954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" y="2944368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35300" y="2955340"/>
            <a:ext cx="614411" cy="124358"/>
          </a:xfrm>
          <a:prstGeom prst="rect">
            <a:avLst/>
          </a:prstGeom>
          <a:solidFill>
            <a:srgbClr val="F5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24328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71657" y="295534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908014" y="2955340"/>
            <a:ext cx="614411" cy="124358"/>
          </a:xfrm>
          <a:prstGeom prst="rect">
            <a:avLst/>
          </a:prstGeom>
          <a:solidFill>
            <a:srgbClr val="E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97042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44372" y="2955340"/>
            <a:ext cx="614411" cy="124358"/>
          </a:xfrm>
          <a:prstGeom prst="rect">
            <a:avLst/>
          </a:prstGeom>
          <a:solidFill>
            <a:srgbClr val="A1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33399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80729" y="2955340"/>
            <a:ext cx="614411" cy="124358"/>
          </a:xfrm>
          <a:prstGeom prst="rect">
            <a:avLst/>
          </a:prstGeom>
          <a:solidFill>
            <a:srgbClr val="99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69756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+658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17086" y="2955340"/>
            <a:ext cx="614411" cy="124358"/>
          </a:xfrm>
          <a:prstGeom prst="rect">
            <a:avLst/>
          </a:prstGeom>
          <a:solidFill>
            <a:srgbClr val="94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06113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+709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53443" y="2955340"/>
            <a:ext cx="614411" cy="124358"/>
          </a:xfrm>
          <a:prstGeom prst="rect">
            <a:avLst/>
          </a:prstGeom>
          <a:solidFill>
            <a:srgbClr val="86C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2470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089800" y="2955340"/>
            <a:ext cx="614411" cy="124358"/>
          </a:xfrm>
          <a:prstGeom prst="rect">
            <a:avLst/>
          </a:prstGeom>
          <a:solidFill>
            <a:srgbClr val="7DC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78827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+960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726157" y="2955340"/>
            <a:ext cx="614411" cy="124358"/>
          </a:xfrm>
          <a:prstGeom prst="rect">
            <a:avLst/>
          </a:prstGeom>
          <a:solidFill>
            <a:srgbClr val="79B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715184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+1005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62514" y="2955340"/>
            <a:ext cx="614411" cy="124358"/>
          </a:xfrm>
          <a:prstGeom prst="rect">
            <a:avLst/>
          </a:prstGeom>
          <a:solidFill>
            <a:srgbClr val="67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51541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+1213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998871" y="2955340"/>
            <a:ext cx="614411" cy="124358"/>
          </a:xfrm>
          <a:prstGeom prst="rect">
            <a:avLst/>
          </a:prstGeom>
          <a:solidFill>
            <a:srgbClr val="64B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987898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+1249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635228" y="2955340"/>
            <a:ext cx="614411" cy="124358"/>
          </a:xfrm>
          <a:prstGeom prst="rect">
            <a:avLst/>
          </a:prstGeom>
          <a:solidFill>
            <a:srgbClr val="57A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624255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+1417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271585" y="2955340"/>
            <a:ext cx="614411" cy="124358"/>
          </a:xfrm>
          <a:prstGeom prst="rect">
            <a:avLst/>
          </a:prstGeom>
          <a:solidFill>
            <a:srgbClr val="4DA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260613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+1547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907942" y="2955340"/>
            <a:ext cx="614411" cy="124358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896970" y="2944368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+1944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4088" y="3090671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635300" y="3101644"/>
            <a:ext cx="614411" cy="124358"/>
          </a:xfrm>
          <a:prstGeom prst="rect">
            <a:avLst/>
          </a:prstGeom>
          <a:solidFill>
            <a:srgbClr val="F0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624328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71657" y="3101644"/>
            <a:ext cx="614411" cy="124358"/>
          </a:xfrm>
          <a:prstGeom prst="rect">
            <a:avLst/>
          </a:prstGeom>
          <a:solidFill>
            <a:srgbClr val="F1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260685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908014" y="310164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544372" y="3101644"/>
            <a:ext cx="614411" cy="124358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33399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+507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180729" y="3101644"/>
            <a:ext cx="614411" cy="124358"/>
          </a:xfrm>
          <a:prstGeom prst="rect">
            <a:avLst/>
          </a:prstGeom>
          <a:solidFill>
            <a:srgbClr val="A1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169756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817086" y="3101644"/>
            <a:ext cx="614411" cy="124358"/>
          </a:xfrm>
          <a:prstGeom prst="rect">
            <a:avLst/>
          </a:prstGeom>
          <a:solidFill>
            <a:srgbClr val="9CC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806113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+634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53443" y="3101644"/>
            <a:ext cx="614411" cy="124358"/>
          </a:xfrm>
          <a:prstGeom prst="rect">
            <a:avLst/>
          </a:prstGeom>
          <a:solidFill>
            <a:srgbClr val="8DC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42470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+785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089800" y="3101644"/>
            <a:ext cx="614411" cy="124358"/>
          </a:xfrm>
          <a:prstGeom prst="rect">
            <a:avLst/>
          </a:prstGeom>
          <a:solidFill>
            <a:srgbClr val="84C3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078827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+886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726157" y="3101644"/>
            <a:ext cx="614411" cy="124358"/>
          </a:xfrm>
          <a:prstGeom prst="rect">
            <a:avLst/>
          </a:prstGeom>
          <a:solidFill>
            <a:srgbClr val="80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715184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+930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362514" y="3101644"/>
            <a:ext cx="614411" cy="124358"/>
          </a:xfrm>
          <a:prstGeom prst="rect">
            <a:avLst/>
          </a:prstGeom>
          <a:solidFill>
            <a:srgbClr val="6EB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351541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+1138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998871" y="3101644"/>
            <a:ext cx="614411" cy="124358"/>
          </a:xfrm>
          <a:prstGeom prst="rect">
            <a:avLst/>
          </a:prstGeom>
          <a:solidFill>
            <a:srgbClr val="6AB8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987898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+1174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635228" y="3101644"/>
            <a:ext cx="614411" cy="124358"/>
          </a:xfrm>
          <a:prstGeom prst="rect">
            <a:avLst/>
          </a:prstGeom>
          <a:solidFill>
            <a:srgbClr val="5DB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624255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+1343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271585" y="3101644"/>
            <a:ext cx="614411" cy="124358"/>
          </a:xfrm>
          <a:prstGeom prst="rect">
            <a:avLst/>
          </a:prstGeom>
          <a:solidFill>
            <a:srgbClr val="52A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260613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+1472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907942" y="3101644"/>
            <a:ext cx="614411" cy="124358"/>
          </a:xfrm>
          <a:prstGeom prst="rect">
            <a:avLst/>
          </a:prstGeom>
          <a:solidFill>
            <a:srgbClr val="35A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896970" y="309067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+1870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58368" y="3244291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04088" y="3236975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635300" y="3247948"/>
            <a:ext cx="614411" cy="124358"/>
          </a:xfrm>
          <a:prstGeom prst="rect">
            <a:avLst/>
          </a:prstGeom>
          <a:solidFill>
            <a:srgbClr val="DF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624328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-592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271657" y="3247948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260685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908014" y="3247948"/>
            <a:ext cx="614411" cy="124358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897042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-507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544372" y="324794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180729" y="3247948"/>
            <a:ext cx="614411" cy="124358"/>
          </a:xfrm>
          <a:prstGeom prst="rect">
            <a:avLst/>
          </a:prstGeom>
          <a:solidFill>
            <a:srgbClr val="E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69756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+76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817086" y="3247948"/>
            <a:ext cx="614411" cy="124358"/>
          </a:xfrm>
          <a:prstGeom prst="rect">
            <a:avLst/>
          </a:prstGeom>
          <a:solidFill>
            <a:srgbClr val="D9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806113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+127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453443" y="3247948"/>
            <a:ext cx="614411" cy="124358"/>
          </a:xfrm>
          <a:prstGeom prst="rect">
            <a:avLst/>
          </a:prstGeom>
          <a:solidFill>
            <a:srgbClr val="C3D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442470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+278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089800" y="3247948"/>
            <a:ext cx="614411" cy="124358"/>
          </a:xfrm>
          <a:prstGeom prst="rect">
            <a:avLst/>
          </a:prstGeom>
          <a:solidFill>
            <a:srgbClr val="B7D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078827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+379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726157" y="3247948"/>
            <a:ext cx="614411" cy="124358"/>
          </a:xfrm>
          <a:prstGeom prst="rect">
            <a:avLst/>
          </a:prstGeom>
          <a:solidFill>
            <a:srgbClr val="B2D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715184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+423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362514" y="3247948"/>
            <a:ext cx="614411" cy="124358"/>
          </a:xfrm>
          <a:prstGeom prst="rect">
            <a:avLst/>
          </a:prstGeom>
          <a:solidFill>
            <a:srgbClr val="9CC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351541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+631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998871" y="3247948"/>
            <a:ext cx="614411" cy="124358"/>
          </a:xfrm>
          <a:prstGeom prst="rect">
            <a:avLst/>
          </a:prstGeom>
          <a:solidFill>
            <a:srgbClr val="98C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987898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+667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635228" y="3247948"/>
            <a:ext cx="614411" cy="124358"/>
          </a:xfrm>
          <a:prstGeom prst="rect">
            <a:avLst/>
          </a:prstGeom>
          <a:solidFill>
            <a:srgbClr val="88C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24255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+836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0271585" y="3247948"/>
            <a:ext cx="614411" cy="124358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0260613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+965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0907942" y="3247948"/>
            <a:ext cx="614411" cy="124358"/>
          </a:xfrm>
          <a:prstGeom prst="rect">
            <a:avLst/>
          </a:prstGeom>
          <a:solidFill>
            <a:srgbClr val="5BB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896970" y="3236975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+1363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04088" y="3383279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2635300" y="3394252"/>
            <a:ext cx="614411" cy="124358"/>
          </a:xfrm>
          <a:prstGeom prst="rect">
            <a:avLst/>
          </a:prstGeom>
          <a:solidFill>
            <a:srgbClr val="D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624328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-667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271657" y="3394252"/>
            <a:ext cx="614411" cy="124358"/>
          </a:xfrm>
          <a:prstGeom prst="rect">
            <a:avLst/>
          </a:prstGeom>
          <a:solidFill>
            <a:srgbClr val="DD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260685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-658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908014" y="3394252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897042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-583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4544372" y="3394252"/>
            <a:ext cx="614411" cy="124358"/>
          </a:xfrm>
          <a:prstGeom prst="rect">
            <a:avLst/>
          </a:prstGeom>
          <a:solidFill>
            <a:srgbClr val="F1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533399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-76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180729" y="339425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5817086" y="3394252"/>
            <a:ext cx="614411" cy="124358"/>
          </a:xfrm>
          <a:prstGeom prst="rect">
            <a:avLst/>
          </a:prstGeom>
          <a:solidFill>
            <a:srgbClr val="E7E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806113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453443" y="3394252"/>
            <a:ext cx="614411" cy="124358"/>
          </a:xfrm>
          <a:prstGeom prst="rect">
            <a:avLst/>
          </a:prstGeom>
          <a:solidFill>
            <a:srgbClr val="CE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42470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089800" y="3394252"/>
            <a:ext cx="614411" cy="124358"/>
          </a:xfrm>
          <a:prstGeom prst="rect">
            <a:avLst/>
          </a:prstGeom>
          <a:solidFill>
            <a:srgbClr val="C0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078827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+303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726157" y="3394252"/>
            <a:ext cx="614411" cy="124358"/>
          </a:xfrm>
          <a:prstGeom prst="rect">
            <a:avLst/>
          </a:prstGeom>
          <a:solidFill>
            <a:srgbClr val="BBDB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715184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+347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362514" y="3394252"/>
            <a:ext cx="614411" cy="124358"/>
          </a:xfrm>
          <a:prstGeom prst="rect">
            <a:avLst/>
          </a:prstGeom>
          <a:solidFill>
            <a:srgbClr val="A4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351541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+555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998871" y="3394252"/>
            <a:ext cx="614411" cy="124358"/>
          </a:xfrm>
          <a:prstGeom prst="rect">
            <a:avLst/>
          </a:prstGeom>
          <a:solidFill>
            <a:srgbClr val="A0C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987898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+591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9635228" y="3394252"/>
            <a:ext cx="614411" cy="124358"/>
          </a:xfrm>
          <a:prstGeom prst="rect">
            <a:avLst/>
          </a:prstGeom>
          <a:solidFill>
            <a:srgbClr val="8FC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9624255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+760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0271585" y="3394252"/>
            <a:ext cx="614411" cy="124358"/>
          </a:xfrm>
          <a:prstGeom prst="rect">
            <a:avLst/>
          </a:prstGeom>
          <a:solidFill>
            <a:srgbClr val="83C2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0260613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+889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0907942" y="3394252"/>
            <a:ext cx="614411" cy="124358"/>
          </a:xfrm>
          <a:prstGeom prst="rect">
            <a:avLst/>
          </a:prstGeom>
          <a:solidFill>
            <a:srgbClr val="61B4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0896970" y="3383279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+1287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04088" y="3529583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2635300" y="3540556"/>
            <a:ext cx="614411" cy="124358"/>
          </a:xfrm>
          <a:prstGeom prst="rect">
            <a:avLst/>
          </a:prstGeom>
          <a:solidFill>
            <a:srgbClr val="DBA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2624328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-718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3271657" y="3540556"/>
            <a:ext cx="614411" cy="124358"/>
          </a:xfrm>
          <a:prstGeom prst="rect">
            <a:avLst/>
          </a:prstGeom>
          <a:solidFill>
            <a:srgbClr val="DBA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3260685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-709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3908014" y="3540556"/>
            <a:ext cx="614411" cy="124358"/>
          </a:xfrm>
          <a:prstGeom prst="rect">
            <a:avLst/>
          </a:prstGeom>
          <a:solidFill>
            <a:srgbClr val="DDA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897042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-634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4544372" y="3540556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33399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-127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5180729" y="3540556"/>
            <a:ext cx="614411" cy="124358"/>
          </a:xfrm>
          <a:prstGeom prst="rect">
            <a:avLst/>
          </a:prstGeom>
          <a:solidFill>
            <a:srgbClr val="F2E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5169756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-51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5817086" y="354055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453443" y="3540556"/>
            <a:ext cx="614411" cy="124358"/>
          </a:xfrm>
          <a:prstGeom prst="rect">
            <a:avLst/>
          </a:prstGeom>
          <a:solidFill>
            <a:srgbClr val="D5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442470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+151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7089800" y="3540556"/>
            <a:ext cx="614411" cy="124358"/>
          </a:xfrm>
          <a:prstGeom prst="rect">
            <a:avLst/>
          </a:prstGeom>
          <a:solidFill>
            <a:srgbClr val="C7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078827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+252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7726157" y="3540556"/>
            <a:ext cx="614411" cy="124358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715184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362514" y="3540556"/>
            <a:ext cx="614411" cy="124358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351541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+504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998871" y="3540556"/>
            <a:ext cx="614411" cy="124358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987898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+540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635228" y="3540556"/>
            <a:ext cx="614411" cy="124358"/>
          </a:xfrm>
          <a:prstGeom prst="rect">
            <a:avLst/>
          </a:prstGeom>
          <a:solidFill>
            <a:srgbClr val="94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624255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+709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271585" y="3540556"/>
            <a:ext cx="614411" cy="124358"/>
          </a:xfrm>
          <a:prstGeom prst="rect">
            <a:avLst/>
          </a:prstGeom>
          <a:solidFill>
            <a:srgbClr val="88C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260613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+838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0907942" y="3540556"/>
            <a:ext cx="614411" cy="124358"/>
          </a:xfrm>
          <a:prstGeom prst="rect">
            <a:avLst/>
          </a:prstGeom>
          <a:solidFill>
            <a:srgbClr val="65B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0896970" y="3529583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+1236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704088" y="3675887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635300" y="3686860"/>
            <a:ext cx="614411" cy="124358"/>
          </a:xfrm>
          <a:prstGeom prst="rect">
            <a:avLst/>
          </a:prstGeom>
          <a:solidFill>
            <a:srgbClr val="D79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2624328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-869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271657" y="3686860"/>
            <a:ext cx="614411" cy="124358"/>
          </a:xfrm>
          <a:prstGeom prst="rect">
            <a:avLst/>
          </a:prstGeom>
          <a:solidFill>
            <a:srgbClr val="D89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3260685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-859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3908014" y="3686860"/>
            <a:ext cx="614411" cy="124358"/>
          </a:xfrm>
          <a:prstGeom prst="rect">
            <a:avLst/>
          </a:prstGeom>
          <a:solidFill>
            <a:srgbClr val="D99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3897042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-785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4544372" y="3686860"/>
            <a:ext cx="614411" cy="124358"/>
          </a:xfrm>
          <a:prstGeom prst="rect">
            <a:avLst/>
          </a:prstGeom>
          <a:solidFill>
            <a:srgbClr val="E8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4533399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-278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5180729" y="3686860"/>
            <a:ext cx="614411" cy="124358"/>
          </a:xfrm>
          <a:prstGeom prst="rect">
            <a:avLst/>
          </a:prstGeom>
          <a:solidFill>
            <a:srgbClr val="EBD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5169756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-202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5817086" y="3686860"/>
            <a:ext cx="614411" cy="124358"/>
          </a:xfrm>
          <a:prstGeom prst="rect">
            <a:avLst/>
          </a:prstGeom>
          <a:solidFill>
            <a:srgbClr val="ED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5806113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-151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6453443" y="368686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7089800" y="3686860"/>
            <a:ext cx="614411" cy="124358"/>
          </a:xfrm>
          <a:prstGeom prst="rect">
            <a:avLst/>
          </a:prstGeom>
          <a:solidFill>
            <a:srgbClr val="DD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7078827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+101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7726157" y="3686860"/>
            <a:ext cx="614411" cy="124358"/>
          </a:xfrm>
          <a:prstGeom prst="rect">
            <a:avLst/>
          </a:prstGeom>
          <a:solidFill>
            <a:srgbClr val="D6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7715184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+145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8362514" y="3686860"/>
            <a:ext cx="614411" cy="124358"/>
          </a:xfrm>
          <a:prstGeom prst="rect">
            <a:avLst/>
          </a:prstGeom>
          <a:solidFill>
            <a:srgbClr val="BAD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8351541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+353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8998871" y="3686860"/>
            <a:ext cx="614411" cy="124358"/>
          </a:xfrm>
          <a:prstGeom prst="rect">
            <a:avLst/>
          </a:prstGeom>
          <a:solidFill>
            <a:srgbClr val="B6D8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8987898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+389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9635228" y="3686860"/>
            <a:ext cx="614411" cy="124358"/>
          </a:xfrm>
          <a:prstGeom prst="rect">
            <a:avLst/>
          </a:prstGeom>
          <a:solidFill>
            <a:srgbClr val="A3D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9624255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+558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10271585" y="3686860"/>
            <a:ext cx="614411" cy="124358"/>
          </a:xfrm>
          <a:prstGeom prst="rect">
            <a:avLst/>
          </a:prstGeom>
          <a:solidFill>
            <a:srgbClr val="96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10260613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+688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0907942" y="3686860"/>
            <a:ext cx="614411" cy="124358"/>
          </a:xfrm>
          <a:prstGeom prst="rect">
            <a:avLst/>
          </a:prstGeom>
          <a:solidFill>
            <a:srgbClr val="72BB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10896970" y="367588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+1085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704088" y="3822191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2635300" y="3833164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2624328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-970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3271657" y="3833164"/>
            <a:ext cx="614411" cy="124358"/>
          </a:xfrm>
          <a:prstGeom prst="rect">
            <a:avLst/>
          </a:prstGeom>
          <a:solidFill>
            <a:srgbClr val="D59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3260685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-960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3908014" y="3833164"/>
            <a:ext cx="614411" cy="124358"/>
          </a:xfrm>
          <a:prstGeom prst="rect">
            <a:avLst/>
          </a:prstGeom>
          <a:solidFill>
            <a:srgbClr val="D79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3897042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-886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4544372" y="3833164"/>
            <a:ext cx="614411" cy="124358"/>
          </a:xfrm>
          <a:prstGeom prst="rect">
            <a:avLst/>
          </a:prstGeom>
          <a:solidFill>
            <a:srgbClr val="E5C1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4533399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-379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5180729" y="3833164"/>
            <a:ext cx="614411" cy="124358"/>
          </a:xfrm>
          <a:prstGeom prst="rect">
            <a:avLst/>
          </a:prstGeom>
          <a:solidFill>
            <a:srgbClr val="E8C8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5169756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-303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5817086" y="3833164"/>
            <a:ext cx="614411" cy="124358"/>
          </a:xfrm>
          <a:prstGeom prst="rect">
            <a:avLst/>
          </a:prstGeom>
          <a:solidFill>
            <a:srgbClr val="E9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5806113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-252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6453443" y="3833164"/>
            <a:ext cx="614411" cy="124358"/>
          </a:xfrm>
          <a:prstGeom prst="rect">
            <a:avLst/>
          </a:prstGeom>
          <a:solidFill>
            <a:srgbClr val="F0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6442470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-101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7089800" y="383316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7726157" y="3833164"/>
            <a:ext cx="614411" cy="124358"/>
          </a:xfrm>
          <a:prstGeom prst="rect">
            <a:avLst/>
          </a:prstGeom>
          <a:solidFill>
            <a:srgbClr val="E8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7715184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+44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8362514" y="3833164"/>
            <a:ext cx="614411" cy="124358"/>
          </a:xfrm>
          <a:prstGeom prst="rect">
            <a:avLst/>
          </a:prstGeom>
          <a:solidFill>
            <a:srgbClr val="C7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8351541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+252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8998871" y="3833164"/>
            <a:ext cx="614411" cy="124358"/>
          </a:xfrm>
          <a:prstGeom prst="rect">
            <a:avLst/>
          </a:prstGeom>
          <a:solidFill>
            <a:srgbClr val="C2DE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8987898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+288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9635228" y="3833164"/>
            <a:ext cx="614411" cy="124358"/>
          </a:xfrm>
          <a:prstGeom prst="rect">
            <a:avLst/>
          </a:prstGeom>
          <a:solidFill>
            <a:srgbClr val="AE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9624255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+457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10271585" y="3833164"/>
            <a:ext cx="614411" cy="124358"/>
          </a:xfrm>
          <a:prstGeom prst="rect">
            <a:avLst/>
          </a:prstGeom>
          <a:solidFill>
            <a:srgbClr val="A0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0260613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+587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907942" y="3833164"/>
            <a:ext cx="614411" cy="124358"/>
          </a:xfrm>
          <a:prstGeom prst="rect">
            <a:avLst/>
          </a:prstGeom>
          <a:solidFill>
            <a:srgbClr val="7B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896970" y="3822191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+984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04088" y="396849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9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635300" y="3979468"/>
            <a:ext cx="614411" cy="124358"/>
          </a:xfrm>
          <a:prstGeom prst="rect">
            <a:avLst/>
          </a:prstGeom>
          <a:solidFill>
            <a:srgbClr val="D48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624328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-1014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271657" y="3979468"/>
            <a:ext cx="614411" cy="124358"/>
          </a:xfrm>
          <a:prstGeom prst="rect">
            <a:avLst/>
          </a:prstGeom>
          <a:solidFill>
            <a:srgbClr val="D48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260685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-1005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3908014" y="3979468"/>
            <a:ext cx="614411" cy="124358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3897042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-930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4544372" y="3979468"/>
            <a:ext cx="614411" cy="124358"/>
          </a:xfrm>
          <a:prstGeom prst="rect">
            <a:avLst/>
          </a:prstGeom>
          <a:solidFill>
            <a:srgbClr val="E4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4533399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-423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5180729" y="3979468"/>
            <a:ext cx="614411" cy="124358"/>
          </a:xfrm>
          <a:prstGeom prst="rect">
            <a:avLst/>
          </a:prstGeom>
          <a:solidFill>
            <a:srgbClr val="E6C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5169756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-347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817086" y="3979468"/>
            <a:ext cx="614411" cy="124358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5806113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-296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6453443" y="3979468"/>
            <a:ext cx="614411" cy="124358"/>
          </a:xfrm>
          <a:prstGeom prst="rect">
            <a:avLst/>
          </a:prstGeom>
          <a:solidFill>
            <a:srgbClr val="EED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442470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-145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7089800" y="3979468"/>
            <a:ext cx="614411" cy="124358"/>
          </a:xfrm>
          <a:prstGeom prst="rect">
            <a:avLst/>
          </a:prstGeom>
          <a:solidFill>
            <a:srgbClr val="F3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7078827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-44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7726157" y="397946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8362514" y="3979468"/>
            <a:ext cx="614411" cy="124358"/>
          </a:xfrm>
          <a:prstGeom prst="rect">
            <a:avLst/>
          </a:prstGeom>
          <a:solidFill>
            <a:srgbClr val="CD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8351541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+208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8998871" y="3979468"/>
            <a:ext cx="614411" cy="124358"/>
          </a:xfrm>
          <a:prstGeom prst="rect">
            <a:avLst/>
          </a:prstGeom>
          <a:solidFill>
            <a:srgbClr val="C8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8987898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+244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9635228" y="3979468"/>
            <a:ext cx="614411" cy="124358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9624255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+413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10271585" y="3979468"/>
            <a:ext cx="614411" cy="124358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10260613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+542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10907942" y="3979468"/>
            <a:ext cx="614411" cy="124358"/>
          </a:xfrm>
          <a:prstGeom prst="rect">
            <a:avLst/>
          </a:prstGeom>
          <a:solidFill>
            <a:srgbClr val="7FC0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10896970" y="396849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+940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704088" y="4114800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10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73" name="Rectangle 272"/>
          <p:cNvSpPr/>
          <p:nvPr/>
        </p:nvSpPr>
        <p:spPr>
          <a:xfrm>
            <a:off x="2635300" y="4125772"/>
            <a:ext cx="614411" cy="124358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2624328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-1222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3271657" y="4125772"/>
            <a:ext cx="614411" cy="124358"/>
          </a:xfrm>
          <a:prstGeom prst="rect">
            <a:avLst/>
          </a:prstGeom>
          <a:solidFill>
            <a:srgbClr val="CF7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3260685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-1213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3908014" y="4125772"/>
            <a:ext cx="614411" cy="124358"/>
          </a:xfrm>
          <a:prstGeom prst="rect">
            <a:avLst/>
          </a:prstGeom>
          <a:solidFill>
            <a:srgbClr val="D18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3897042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-1138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4544372" y="4125772"/>
            <a:ext cx="614411" cy="124358"/>
          </a:xfrm>
          <a:prstGeom prst="rect">
            <a:avLst/>
          </a:prstGeom>
          <a:solidFill>
            <a:srgbClr val="DEA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4533399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-631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5180729" y="4125772"/>
            <a:ext cx="614411" cy="124358"/>
          </a:xfrm>
          <a:prstGeom prst="rect">
            <a:avLst/>
          </a:prstGeom>
          <a:solidFill>
            <a:srgbClr val="E0B1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5169756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-555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5817086" y="4125772"/>
            <a:ext cx="614411" cy="124358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5806113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-504</a:t>
            </a:r>
          </a:p>
        </p:txBody>
      </p:sp>
      <p:sp>
        <p:nvSpPr>
          <p:cNvPr id="285" name="Rectangle 284"/>
          <p:cNvSpPr/>
          <p:nvPr/>
        </p:nvSpPr>
        <p:spPr>
          <a:xfrm>
            <a:off x="6453443" y="4125772"/>
            <a:ext cx="614411" cy="124358"/>
          </a:xfrm>
          <a:prstGeom prst="rect">
            <a:avLst/>
          </a:prstGeom>
          <a:solidFill>
            <a:srgbClr val="E6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6442470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-353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7089800" y="4125772"/>
            <a:ext cx="614411" cy="124358"/>
          </a:xfrm>
          <a:prstGeom prst="rect">
            <a:avLst/>
          </a:prstGeom>
          <a:solidFill>
            <a:srgbClr val="E9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7078827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-252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7726157" y="4125772"/>
            <a:ext cx="614411" cy="124358"/>
          </a:xfrm>
          <a:prstGeom prst="rect">
            <a:avLst/>
          </a:prstGeom>
          <a:solidFill>
            <a:srgbClr val="EBD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7715184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-208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8362514" y="4125772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8998871" y="4125772"/>
            <a:ext cx="614411" cy="124358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8987898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+36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9635228" y="4125772"/>
            <a:ext cx="614411" cy="124358"/>
          </a:xfrm>
          <a:prstGeom prst="rect">
            <a:avLst/>
          </a:prstGeom>
          <a:solidFill>
            <a:srgbClr val="C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9624255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+205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10271585" y="4125772"/>
            <a:ext cx="614411" cy="124358"/>
          </a:xfrm>
          <a:prstGeom prst="rect">
            <a:avLst/>
          </a:prstGeom>
          <a:solidFill>
            <a:srgbClr val="BCD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10260613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+334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10907942" y="4125772"/>
            <a:ext cx="614411" cy="124358"/>
          </a:xfrm>
          <a:prstGeom prst="rect">
            <a:avLst/>
          </a:prstGeom>
          <a:solidFill>
            <a:srgbClr val="92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10896970" y="4114800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+732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658368" y="4268419"/>
            <a:ext cx="1920240" cy="131673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704088" y="4261104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11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2635300" y="4272076"/>
            <a:ext cx="614411" cy="124358"/>
          </a:xfrm>
          <a:prstGeom prst="rect">
            <a:avLst/>
          </a:prstGeom>
          <a:solidFill>
            <a:srgbClr val="CE7C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2624328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-1258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3271657" y="4272076"/>
            <a:ext cx="614411" cy="124358"/>
          </a:xfrm>
          <a:prstGeom prst="rect">
            <a:avLst/>
          </a:prstGeom>
          <a:solidFill>
            <a:srgbClr val="CE7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3260685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-1249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908014" y="4272076"/>
            <a:ext cx="614411" cy="124358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3897042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-1174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544372" y="4272076"/>
            <a:ext cx="614411" cy="124358"/>
          </a:xfrm>
          <a:prstGeom prst="rect">
            <a:avLst/>
          </a:prstGeom>
          <a:solidFill>
            <a:srgbClr val="D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4533399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-667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5180729" y="4272076"/>
            <a:ext cx="614411" cy="124358"/>
          </a:xfrm>
          <a:prstGeom prst="rect">
            <a:avLst/>
          </a:prstGeom>
          <a:solidFill>
            <a:srgbClr val="DF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5169756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-591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817086" y="4272076"/>
            <a:ext cx="614411" cy="124358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5806113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-540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6453443" y="4272076"/>
            <a:ext cx="614411" cy="124358"/>
          </a:xfrm>
          <a:prstGeom prst="rect">
            <a:avLst/>
          </a:prstGeom>
          <a:solidFill>
            <a:srgbClr val="E5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TextBox 314"/>
          <p:cNvSpPr txBox="1"/>
          <p:nvPr/>
        </p:nvSpPr>
        <p:spPr>
          <a:xfrm>
            <a:off x="6442470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-389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9800" y="4272076"/>
            <a:ext cx="614411" cy="124358"/>
          </a:xfrm>
          <a:prstGeom prst="rect">
            <a:avLst/>
          </a:prstGeom>
          <a:solidFill>
            <a:srgbClr val="E8CA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7078827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-288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726157" y="4272076"/>
            <a:ext cx="614411" cy="124358"/>
          </a:xfrm>
          <a:prstGeom prst="rect">
            <a:avLst/>
          </a:prstGeom>
          <a:solidFill>
            <a:srgbClr val="EA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7715184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-244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362514" y="4272076"/>
            <a:ext cx="614411" cy="124358"/>
          </a:xfrm>
          <a:prstGeom prst="rect">
            <a:avLst/>
          </a:prstGeom>
          <a:solidFill>
            <a:srgbClr val="F3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8351541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-36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998871" y="4272076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9635228" y="4272076"/>
            <a:ext cx="614411" cy="124358"/>
          </a:xfrm>
          <a:prstGeom prst="rect">
            <a:avLst/>
          </a:prstGeom>
          <a:solidFill>
            <a:srgbClr val="D3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TextBox 323"/>
          <p:cNvSpPr txBox="1"/>
          <p:nvPr/>
        </p:nvSpPr>
        <p:spPr>
          <a:xfrm>
            <a:off x="9624255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+169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10271585" y="4272076"/>
            <a:ext cx="614411" cy="124358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10260613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+298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0907942" y="4272076"/>
            <a:ext cx="614411" cy="124358"/>
          </a:xfrm>
          <a:prstGeom prst="rect">
            <a:avLst/>
          </a:prstGeom>
          <a:solidFill>
            <a:srgbClr val="95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10896970" y="4261104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+696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704088" y="4407407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2635300" y="4418380"/>
            <a:ext cx="614411" cy="124358"/>
          </a:xfrm>
          <a:prstGeom prst="rect">
            <a:avLst/>
          </a:prstGeom>
          <a:solidFill>
            <a:srgbClr val="CA7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2624328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-1427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3271657" y="4418380"/>
            <a:ext cx="614411" cy="124358"/>
          </a:xfrm>
          <a:prstGeom prst="rect">
            <a:avLst/>
          </a:prstGeom>
          <a:solidFill>
            <a:srgbClr val="CB72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3260685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-1417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908014" y="4418380"/>
            <a:ext cx="614411" cy="124358"/>
          </a:xfrm>
          <a:prstGeom prst="rect">
            <a:avLst/>
          </a:prstGeom>
          <a:solidFill>
            <a:srgbClr val="CC7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3897042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-1343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544372" y="4418380"/>
            <a:ext cx="614411" cy="124358"/>
          </a:xfrm>
          <a:prstGeom prst="rect">
            <a:avLst/>
          </a:prstGeom>
          <a:solidFill>
            <a:srgbClr val="D89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4533399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-836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5180729" y="4418380"/>
            <a:ext cx="614411" cy="124358"/>
          </a:xfrm>
          <a:prstGeom prst="rect">
            <a:avLst/>
          </a:prstGeom>
          <a:solidFill>
            <a:srgbClr val="DAA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5169756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-760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5817086" y="4418380"/>
            <a:ext cx="614411" cy="124358"/>
          </a:xfrm>
          <a:prstGeom prst="rect">
            <a:avLst/>
          </a:prstGeom>
          <a:solidFill>
            <a:srgbClr val="DBA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5806113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-709</a:t>
            </a:r>
          </a:p>
        </p:txBody>
      </p:sp>
      <p:sp>
        <p:nvSpPr>
          <p:cNvPr id="342" name="Rectangle 341"/>
          <p:cNvSpPr/>
          <p:nvPr/>
        </p:nvSpPr>
        <p:spPr>
          <a:xfrm>
            <a:off x="6453443" y="4418380"/>
            <a:ext cx="614411" cy="124358"/>
          </a:xfrm>
          <a:prstGeom prst="rect">
            <a:avLst/>
          </a:prstGeom>
          <a:solidFill>
            <a:srgbClr val="E0B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TextBox 342"/>
          <p:cNvSpPr txBox="1"/>
          <p:nvPr/>
        </p:nvSpPr>
        <p:spPr>
          <a:xfrm>
            <a:off x="6442470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-558</a:t>
            </a:r>
          </a:p>
        </p:txBody>
      </p:sp>
      <p:sp>
        <p:nvSpPr>
          <p:cNvPr id="344" name="Rectangle 343"/>
          <p:cNvSpPr/>
          <p:nvPr/>
        </p:nvSpPr>
        <p:spPr>
          <a:xfrm>
            <a:off x="7089800" y="4418380"/>
            <a:ext cx="614411" cy="124358"/>
          </a:xfrm>
          <a:prstGeom prst="rect">
            <a:avLst/>
          </a:prstGeom>
          <a:solidFill>
            <a:srgbClr val="E3B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TextBox 344"/>
          <p:cNvSpPr txBox="1"/>
          <p:nvPr/>
        </p:nvSpPr>
        <p:spPr>
          <a:xfrm>
            <a:off x="7078827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-457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7726157" y="4418380"/>
            <a:ext cx="614411" cy="124358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7715184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-413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8362514" y="4418380"/>
            <a:ext cx="614411" cy="124358"/>
          </a:xfrm>
          <a:prstGeom prst="rect">
            <a:avLst/>
          </a:prstGeom>
          <a:solidFill>
            <a:srgbClr val="EB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8351541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-205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8998871" y="4418380"/>
            <a:ext cx="614411" cy="124358"/>
          </a:xfrm>
          <a:prstGeom prst="rect">
            <a:avLst/>
          </a:prstGeom>
          <a:solidFill>
            <a:srgbClr val="ED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8987898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-169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9635228" y="4418380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0271585" y="4418380"/>
            <a:ext cx="614411" cy="124358"/>
          </a:xfrm>
          <a:prstGeom prst="rect">
            <a:avLst/>
          </a:prstGeom>
          <a:solidFill>
            <a:srgbClr val="D9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10260613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+130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10907942" y="4418380"/>
            <a:ext cx="614411" cy="124358"/>
          </a:xfrm>
          <a:prstGeom prst="rect">
            <a:avLst/>
          </a:prstGeom>
          <a:solidFill>
            <a:srgbClr val="A7D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10896970" y="4407407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+527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704088" y="4553712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Colina · Reina N.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2635300" y="4564684"/>
            <a:ext cx="614411" cy="124358"/>
          </a:xfrm>
          <a:prstGeom prst="rect">
            <a:avLst/>
          </a:prstGeom>
          <a:solidFill>
            <a:srgbClr val="C86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2624328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-1557</a:t>
            </a:r>
          </a:p>
        </p:txBody>
      </p:sp>
      <p:sp>
        <p:nvSpPr>
          <p:cNvPr id="360" name="Rectangle 359"/>
          <p:cNvSpPr/>
          <p:nvPr/>
        </p:nvSpPr>
        <p:spPr>
          <a:xfrm>
            <a:off x="3271657" y="4564684"/>
            <a:ext cx="614411" cy="124358"/>
          </a:xfrm>
          <a:prstGeom prst="rect">
            <a:avLst/>
          </a:prstGeom>
          <a:solidFill>
            <a:srgbClr val="C86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3260685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-1547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3908014" y="4564684"/>
            <a:ext cx="614411" cy="124358"/>
          </a:xfrm>
          <a:prstGeom prst="rect">
            <a:avLst/>
          </a:prstGeom>
          <a:solidFill>
            <a:srgbClr val="C9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3897042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-1472</a:t>
            </a:r>
          </a:p>
        </p:txBody>
      </p:sp>
      <p:sp>
        <p:nvSpPr>
          <p:cNvPr id="364" name="Rectangle 363"/>
          <p:cNvSpPr/>
          <p:nvPr/>
        </p:nvSpPr>
        <p:spPr>
          <a:xfrm>
            <a:off x="4544372" y="4564684"/>
            <a:ext cx="614411" cy="124358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4533399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-965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5180729" y="4564684"/>
            <a:ext cx="614411" cy="124358"/>
          </a:xfrm>
          <a:prstGeom prst="rect">
            <a:avLst/>
          </a:prstGeom>
          <a:solidFill>
            <a:srgbClr val="D79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5169756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-889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5817086" y="4564684"/>
            <a:ext cx="614411" cy="124358"/>
          </a:xfrm>
          <a:prstGeom prst="rect">
            <a:avLst/>
          </a:prstGeom>
          <a:solidFill>
            <a:srgbClr val="D89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TextBox 368"/>
          <p:cNvSpPr txBox="1"/>
          <p:nvPr/>
        </p:nvSpPr>
        <p:spPr>
          <a:xfrm>
            <a:off x="5806113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-838</a:t>
            </a:r>
          </a:p>
        </p:txBody>
      </p:sp>
      <p:sp>
        <p:nvSpPr>
          <p:cNvPr id="370" name="Rectangle 369"/>
          <p:cNvSpPr/>
          <p:nvPr/>
        </p:nvSpPr>
        <p:spPr>
          <a:xfrm>
            <a:off x="6453443" y="4564684"/>
            <a:ext cx="614411" cy="124358"/>
          </a:xfrm>
          <a:prstGeom prst="rect">
            <a:avLst/>
          </a:prstGeom>
          <a:solidFill>
            <a:srgbClr val="DCA6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TextBox 370"/>
          <p:cNvSpPr txBox="1"/>
          <p:nvPr/>
        </p:nvSpPr>
        <p:spPr>
          <a:xfrm>
            <a:off x="6442470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-688</a:t>
            </a:r>
          </a:p>
        </p:txBody>
      </p:sp>
      <p:sp>
        <p:nvSpPr>
          <p:cNvPr id="372" name="Rectangle 371"/>
          <p:cNvSpPr/>
          <p:nvPr/>
        </p:nvSpPr>
        <p:spPr>
          <a:xfrm>
            <a:off x="7089800" y="4564684"/>
            <a:ext cx="614411" cy="124358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TextBox 372"/>
          <p:cNvSpPr txBox="1"/>
          <p:nvPr/>
        </p:nvSpPr>
        <p:spPr>
          <a:xfrm>
            <a:off x="7078827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-587</a:t>
            </a:r>
          </a:p>
        </p:txBody>
      </p:sp>
      <p:sp>
        <p:nvSpPr>
          <p:cNvPr id="374" name="Rectangle 373"/>
          <p:cNvSpPr/>
          <p:nvPr/>
        </p:nvSpPr>
        <p:spPr>
          <a:xfrm>
            <a:off x="7726157" y="4564684"/>
            <a:ext cx="614411" cy="124358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TextBox 374"/>
          <p:cNvSpPr txBox="1"/>
          <p:nvPr/>
        </p:nvSpPr>
        <p:spPr>
          <a:xfrm>
            <a:off x="7715184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-542</a:t>
            </a:r>
          </a:p>
        </p:txBody>
      </p:sp>
      <p:sp>
        <p:nvSpPr>
          <p:cNvPr id="376" name="Rectangle 375"/>
          <p:cNvSpPr/>
          <p:nvPr/>
        </p:nvSpPr>
        <p:spPr>
          <a:xfrm>
            <a:off x="8362514" y="4564684"/>
            <a:ext cx="614411" cy="124358"/>
          </a:xfrm>
          <a:prstGeom prst="rect">
            <a:avLst/>
          </a:prstGeom>
          <a:solidFill>
            <a:srgbClr val="E7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TextBox 376"/>
          <p:cNvSpPr txBox="1"/>
          <p:nvPr/>
        </p:nvSpPr>
        <p:spPr>
          <a:xfrm>
            <a:off x="8351541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-334</a:t>
            </a:r>
          </a:p>
        </p:txBody>
      </p:sp>
      <p:sp>
        <p:nvSpPr>
          <p:cNvPr id="378" name="Rectangle 377"/>
          <p:cNvSpPr/>
          <p:nvPr/>
        </p:nvSpPr>
        <p:spPr>
          <a:xfrm>
            <a:off x="8998871" y="4564684"/>
            <a:ext cx="614411" cy="124358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8987898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-298</a:t>
            </a:r>
          </a:p>
        </p:txBody>
      </p:sp>
      <p:sp>
        <p:nvSpPr>
          <p:cNvPr id="380" name="Rectangle 379"/>
          <p:cNvSpPr/>
          <p:nvPr/>
        </p:nvSpPr>
        <p:spPr>
          <a:xfrm>
            <a:off x="9635228" y="4564684"/>
            <a:ext cx="614411" cy="124358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TextBox 380"/>
          <p:cNvSpPr txBox="1"/>
          <p:nvPr/>
        </p:nvSpPr>
        <p:spPr>
          <a:xfrm>
            <a:off x="9624255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-130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10271585" y="4564684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10907942" y="4564684"/>
            <a:ext cx="614411" cy="124358"/>
          </a:xfrm>
          <a:prstGeom prst="rect">
            <a:avLst/>
          </a:prstGeom>
          <a:solidFill>
            <a:srgbClr val="B5D8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10896970" y="4553712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+398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704088" y="4700016"/>
            <a:ext cx="1856231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86" name="Rectangle 385"/>
          <p:cNvSpPr/>
          <p:nvPr/>
        </p:nvSpPr>
        <p:spPr>
          <a:xfrm>
            <a:off x="2635300" y="4710988"/>
            <a:ext cx="614411" cy="124358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TextBox 386"/>
          <p:cNvSpPr txBox="1"/>
          <p:nvPr/>
        </p:nvSpPr>
        <p:spPr>
          <a:xfrm>
            <a:off x="2624328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-1954</a:t>
            </a:r>
          </a:p>
        </p:txBody>
      </p:sp>
      <p:sp>
        <p:nvSpPr>
          <p:cNvPr id="388" name="Rectangle 387"/>
          <p:cNvSpPr/>
          <p:nvPr/>
        </p:nvSpPr>
        <p:spPr>
          <a:xfrm>
            <a:off x="3271657" y="4710988"/>
            <a:ext cx="614411" cy="124358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3260685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-1944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3908014" y="4710988"/>
            <a:ext cx="614411" cy="124358"/>
          </a:xfrm>
          <a:prstGeom prst="rect">
            <a:avLst/>
          </a:prstGeom>
          <a:solidFill>
            <a:srgbClr val="C15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3897042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-1870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4544372" y="4710988"/>
            <a:ext cx="614411" cy="124358"/>
          </a:xfrm>
          <a:prstGeom prst="rect">
            <a:avLst/>
          </a:prstGeom>
          <a:solidFill>
            <a:srgbClr val="CC7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4533399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-1363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5180729" y="4710988"/>
            <a:ext cx="614411" cy="124358"/>
          </a:xfrm>
          <a:prstGeom prst="rect">
            <a:avLst/>
          </a:prstGeom>
          <a:solidFill>
            <a:srgbClr val="CD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TextBox 394"/>
          <p:cNvSpPr txBox="1"/>
          <p:nvPr/>
        </p:nvSpPr>
        <p:spPr>
          <a:xfrm>
            <a:off x="5169756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-1287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5817086" y="4710988"/>
            <a:ext cx="614411" cy="124358"/>
          </a:xfrm>
          <a:prstGeom prst="rect">
            <a:avLst/>
          </a:prstGeom>
          <a:solidFill>
            <a:srgbClr val="CF7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5806113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-1236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6453443" y="4710988"/>
            <a:ext cx="614411" cy="124358"/>
          </a:xfrm>
          <a:prstGeom prst="rect">
            <a:avLst/>
          </a:prstGeom>
          <a:solidFill>
            <a:srgbClr val="D28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6442470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FFFFFF"/>
                </a:solidFill>
                <a:latin typeface="Helvetica Neue"/>
              </a:rPr>
              <a:t>-1085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7089800" y="4710988"/>
            <a:ext cx="614411" cy="124358"/>
          </a:xfrm>
          <a:prstGeom prst="rect">
            <a:avLst/>
          </a:prstGeom>
          <a:solidFill>
            <a:srgbClr val="D4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7078827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-984</a:t>
            </a:r>
          </a:p>
        </p:txBody>
      </p:sp>
      <p:sp>
        <p:nvSpPr>
          <p:cNvPr id="402" name="Rectangle 401"/>
          <p:cNvSpPr/>
          <p:nvPr/>
        </p:nvSpPr>
        <p:spPr>
          <a:xfrm>
            <a:off x="7726157" y="4710988"/>
            <a:ext cx="614411" cy="124358"/>
          </a:xfrm>
          <a:prstGeom prst="rect">
            <a:avLst/>
          </a:prstGeom>
          <a:solidFill>
            <a:srgbClr val="D692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TextBox 402"/>
          <p:cNvSpPr txBox="1"/>
          <p:nvPr/>
        </p:nvSpPr>
        <p:spPr>
          <a:xfrm>
            <a:off x="7715184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-940</a:t>
            </a:r>
          </a:p>
        </p:txBody>
      </p:sp>
      <p:sp>
        <p:nvSpPr>
          <p:cNvPr id="404" name="Rectangle 403"/>
          <p:cNvSpPr/>
          <p:nvPr/>
        </p:nvSpPr>
        <p:spPr>
          <a:xfrm>
            <a:off x="8362514" y="4710988"/>
            <a:ext cx="614411" cy="124358"/>
          </a:xfrm>
          <a:prstGeom prst="rect">
            <a:avLst/>
          </a:prstGeom>
          <a:solidFill>
            <a:srgbClr val="DBA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TextBox 404"/>
          <p:cNvSpPr txBox="1"/>
          <p:nvPr/>
        </p:nvSpPr>
        <p:spPr>
          <a:xfrm>
            <a:off x="8351541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-732</a:t>
            </a:r>
          </a:p>
        </p:txBody>
      </p:sp>
      <p:sp>
        <p:nvSpPr>
          <p:cNvPr id="406" name="Rectangle 405"/>
          <p:cNvSpPr/>
          <p:nvPr/>
        </p:nvSpPr>
        <p:spPr>
          <a:xfrm>
            <a:off x="8998871" y="4710988"/>
            <a:ext cx="614411" cy="124358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8987898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-696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9635228" y="4710988"/>
            <a:ext cx="614411" cy="124358"/>
          </a:xfrm>
          <a:prstGeom prst="rect">
            <a:avLst/>
          </a:prstGeom>
          <a:solidFill>
            <a:srgbClr val="E1B3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9624255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-527</a:t>
            </a:r>
          </a:p>
        </p:txBody>
      </p:sp>
      <p:sp>
        <p:nvSpPr>
          <p:cNvPr id="410" name="Rectangle 409"/>
          <p:cNvSpPr/>
          <p:nvPr/>
        </p:nvSpPr>
        <p:spPr>
          <a:xfrm>
            <a:off x="10271585" y="4710988"/>
            <a:ext cx="614411" cy="124358"/>
          </a:xfrm>
          <a:prstGeom prst="rect">
            <a:avLst/>
          </a:prstGeom>
          <a:solidFill>
            <a:srgbClr val="E4B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TextBox 410"/>
          <p:cNvSpPr txBox="1"/>
          <p:nvPr/>
        </p:nvSpPr>
        <p:spPr>
          <a:xfrm>
            <a:off x="10260613" y="4700016"/>
            <a:ext cx="636357" cy="146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161616"/>
                </a:solidFill>
                <a:latin typeface="Helvetica Neue"/>
              </a:rPr>
              <a:t>-398</a:t>
            </a:r>
          </a:p>
        </p:txBody>
      </p:sp>
      <p:sp>
        <p:nvSpPr>
          <p:cNvPr id="412" name="Rectangle 411"/>
          <p:cNvSpPr/>
          <p:nvPr/>
        </p:nvSpPr>
        <p:spPr>
          <a:xfrm>
            <a:off x="10907942" y="4710988"/>
            <a:ext cx="614411" cy="124358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TextBox 412"/>
          <p:cNvSpPr txBox="1"/>
          <p:nvPr/>
        </p:nvSpPr>
        <p:spPr>
          <a:xfrm>
            <a:off x="658368" y="4956048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Cada celda: UF que la vivienda de la FILA justifica por sobre la de la COLUMNA (tiempo + costo de auto ahorrados). Verde = puede pedir más; rojo = debe pedir menos.</a:t>
            </a:r>
          </a:p>
        </p:txBody>
      </p:sp>
      <p:sp>
        <p:nvSpPr>
          <p:cNvPr id="414" name="Rectangle 4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lectura honesta: manejar desde Batuco es caro y su sobreprecio por auto es acotado; no puede pedir más UF que Valle Grande ni Chicauma. Su diferencial de precio está en el tren.</a:t>
            </a:r>
          </a:p>
        </p:txBody>
      </p:sp>
      <p:cxnSp>
        <p:nvCxnSpPr>
          <p:cNvPr id="418" name="Connector 4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TextBox 4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RECOMENDACIÓN · INTEGRAR A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Integrar Batuco y Estación Colina a RED: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gestión que depende de nosotros.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222199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Hoy · pagan por tramo (sin RED)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514600"/>
            <a:ext cx="3977639" cy="457200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22407" y="2569464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≈ $103 mil/mes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09067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Integrado a RED (bip!)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3383280"/>
            <a:ext cx="1410324" cy="457200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5092" y="3438144"/>
            <a:ext cx="1508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F9E6E"/>
                </a:solidFill>
                <a:latin typeface="Helvetica Neue"/>
              </a:rPr>
              <a:t>≈ $37 mil/mes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399592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Caso de referencia: viaje diario a Metro Tobalaba; tarifa integrada de una zona RED comparable.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F9E6E"/>
                </a:solidFill>
                <a:latin typeface="Helvetica Neue"/>
              </a:rPr>
              <a:t>65% menos</a:t>
            </a:r>
            <a:r>
              <a:rPr sz="1400" b="0">
                <a:solidFill>
                  <a:srgbClr val="6E6A64"/>
                </a:solidFill>
                <a:latin typeface="Helvetica Neue"/>
              </a:rPr>
              <a:t>  en el costo de transporte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39572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00">
                <a:solidFill>
                  <a:srgbClr val="B07D24"/>
                </a:solidFill>
                <a:latin typeface="Helvetica Neue"/>
              </a:rPr>
              <a:t>NO ES UNA OBRA · ES GESTIÓN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2491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Batuco y Estación Colina quedan a un trámite de tarifa integrada. Gestionar su incorporación a RED con el Ministerio de Transportes y EFE completa su ventaja competitiva, y no depende de esperar a 2030.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 la recomendación central: gestionar la integración a RED. Baja el costo, sube el atractivo y está bajo nuestra influencia, no la de una autopista por construir.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¿Cuánto vale la conectividad?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Seis conclusiones para decidir.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1945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Estación Colina,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1728" y="21945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En la mitad más rápida sin depender de obra futura: 6º de 14 en auto y 5º en transporte público.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69748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Batuco, con infraestructura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69748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De 11º a 3º en auto con la Autopista, y de 11º a 2º en transporte público con el tren.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00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20040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El diferencial del tren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20040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Frente a las zonas sin estación nueva: +977 UF en Batuco y +652 en Estación Colina.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7033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7033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El costo de manejar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0332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Acota el sobreprecio de Batuco por auto. Su argumento de precio es el tren, no el auto.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206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20624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07D24"/>
                </a:solidFill>
                <a:latin typeface="Helvetica Neue"/>
              </a:rPr>
              <a:t>Integración a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420624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07D24"/>
                </a:solidFill>
                <a:latin typeface="Helvetica Neue"/>
              </a:rPr>
              <a:t>Reduce el costo mensual de transporte público en 65%. Es gestión, no obra.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7091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7091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Pricing por producto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47091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Fijar precio contra las comparables de cada producto, con el diferencial en UF de referencia.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Competitivos hoy y líderes del corredor con la infraestructura en construcción. La decisión que solo depende de nosotros: integrarlos a RED.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