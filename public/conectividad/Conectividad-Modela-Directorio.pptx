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822960"/>
            <a:ext cx="822960" cy="41148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0515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220">
                <a:solidFill>
                  <a:srgbClr val="B9B4AA"/>
                </a:solidFill>
                <a:latin typeface="Helvetica Neue"/>
              </a:rPr>
              <a:t>MODELA  ·  DESARROLLO INMOBILIARIO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31720"/>
            <a:ext cx="1087495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0" b="1" spc="-20">
                <a:solidFill>
                  <a:srgbClr val="FFFFFF"/>
                </a:solidFill>
                <a:latin typeface="Helvetica Neue"/>
              </a:rPr>
              <a:t>¿Cuánto vale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0" b="1" spc="-20">
                <a:solidFill>
                  <a:srgbClr val="B07D24"/>
                </a:solidFill>
                <a:latin typeface="Helvetica Neue"/>
              </a:rPr>
              <a:t>la conectividad?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434840"/>
            <a:ext cx="8412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CFCBC2"/>
                </a:solidFill>
                <a:latin typeface="Helvetica Neue"/>
              </a:rPr>
              <a:t>Cómo la accesibilidad vial y ferroviaria se traduce en valor inmobiliario — y por qué Batuco y Estación Colina compiten hoy, y lideran mañana.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9893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60">
                <a:solidFill>
                  <a:srgbClr val="8C8880"/>
                </a:solidFill>
                <a:latin typeface="Helvetica Neue"/>
              </a:rPr>
              <a:t>Evaluación de accesibilidad · Región Metropolitana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90127" y="59893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60">
                <a:solidFill>
                  <a:srgbClr val="8C8880"/>
                </a:solidFill>
                <a:latin typeface="Helvetica Neue"/>
              </a:rPr>
              <a:t>Documento de directorio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01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LA 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-10">
                <a:solidFill>
                  <a:srgbClr val="161616"/>
                </a:solidFill>
                <a:latin typeface="Helvetica Neue"/>
              </a:rPr>
              <a:t>La conectividad no es un atributo: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-10">
                <a:solidFill>
                  <a:srgbClr val="161616"/>
                </a:solidFill>
                <a:latin typeface="Helvetica Neue"/>
              </a:rPr>
              <a:t>es valor inmobiliario medible.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749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E6A64"/>
                </a:solidFill>
                <a:latin typeface="Helvetica Neue"/>
              </a:rPr>
              <a:t>Menos tiempo y menos costo de traslado se capitalizan en cuánto puede pagar una familia por su vivienda. Medimos esa conexión, zona por zona — y el veredicto para el portafolio es claro.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6324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20">
                <a:solidFill>
                  <a:srgbClr val="161616"/>
                </a:solidFill>
                <a:latin typeface="Helvetica Neue"/>
              </a:rPr>
              <a:t>3º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776472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1616"/>
                </a:solidFill>
                <a:latin typeface="Helvetica Neue"/>
              </a:rPr>
              <a:t>Batuco en auto, con la Orbital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43484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hoy 11º de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47287" y="306324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20">
                <a:solidFill>
                  <a:srgbClr val="B07D24"/>
                </a:solidFill>
                <a:latin typeface="Helvetica Neue"/>
              </a:rPr>
              <a:t>1º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47287" y="3776472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1616"/>
                </a:solidFill>
                <a:latin typeface="Helvetica Neue"/>
              </a:rPr>
              <a:t>Estación Colina en transporte público, con el tren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47287" y="443484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hoy 5º de 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6207" y="306324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20">
                <a:solidFill>
                  <a:srgbClr val="161616"/>
                </a:solidFill>
                <a:latin typeface="Helvetica Neue"/>
              </a:rPr>
              <a:t>−1 h 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6207" y="3776472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1616"/>
                </a:solidFill>
                <a:latin typeface="Helvetica Neue"/>
              </a:rPr>
              <a:t>que recorta el tren a Batuco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6207" y="443484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de 2h17 a 1h10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25128" y="3063240"/>
            <a:ext cx="2468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20">
                <a:solidFill>
                  <a:srgbClr val="B07D24"/>
                </a:solidFill>
                <a:latin typeface="Helvetica Neue"/>
              </a:rPr>
              <a:t>+1.686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25128" y="3776472"/>
            <a:ext cx="2468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1616"/>
                </a:solidFill>
                <a:latin typeface="Helvetica Neue"/>
              </a:rPr>
              <a:t>UF de mayor valor — Est. Colina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25128" y="443484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Batuco, +1.019 UF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Batuco y Estación Colina son competitivos hoy y de los más competitivos del norte con la infraestructura que ya está en construcción.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02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DÓNDE ESTAMOS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Hoy: una ya es central, el otro es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periférico — y ninguno es RED.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1161288" y="3833385"/>
            <a:ext cx="2567250" cy="738614"/>
          </a:xfrm>
          <a:prstGeom prst="rect">
            <a:avLst/>
          </a:prstGeom>
          <a:solidFill>
            <a:srgbClr val="EF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3728538" y="2468880"/>
            <a:ext cx="0" cy="2103120"/>
          </a:xfrm>
          <a:prstGeom prst="line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61288" y="3833385"/>
            <a:ext cx="5486400" cy="0"/>
          </a:xfrm>
          <a:prstGeom prst="line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161288" y="4626864"/>
            <a:ext cx="2743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E6A64"/>
                </a:solidFill>
                <a:latin typeface="Helvetica Neue"/>
              </a:rPr>
              <a:t>← más rápido en auto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53127" y="4626864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E6A64"/>
                </a:solidFill>
                <a:latin typeface="Helvetica Neue"/>
              </a:rPr>
              <a:t>más lento 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212848"/>
            <a:ext cx="2743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E6A64"/>
                </a:solidFill>
                <a:latin typeface="Helvetica Neue"/>
              </a:rPr>
              <a:t>↑ más caro de manejar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71016" y="4261104"/>
            <a:ext cx="2743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40">
                <a:solidFill>
                  <a:srgbClr val="2F9E6E"/>
                </a:solidFill>
                <a:latin typeface="Helvetica Neue"/>
              </a:rPr>
              <a:t>RÁPIDA Y BARATA ✓</a:t>
            </a:r>
          </a:p>
        </p:txBody>
      </p:sp>
      <p:sp>
        <p:nvSpPr>
          <p:cNvPr id="12" name="Oval 11"/>
          <p:cNvSpPr/>
          <p:nvPr/>
        </p:nvSpPr>
        <p:spPr>
          <a:xfrm>
            <a:off x="4615046" y="3352197"/>
            <a:ext cx="182880" cy="182880"/>
          </a:xfrm>
          <a:prstGeom prst="ellipse">
            <a:avLst/>
          </a:prstGeom>
          <a:solidFill>
            <a:srgbClr val="B07D24"/>
          </a:solidFill>
          <a:ln w="165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3646" y="3333909"/>
            <a:ext cx="20116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14" name="Oval 13"/>
          <p:cNvSpPr/>
          <p:nvPr/>
        </p:nvSpPr>
        <p:spPr>
          <a:xfrm>
            <a:off x="2983708" y="3805383"/>
            <a:ext cx="182880" cy="182880"/>
          </a:xfrm>
          <a:prstGeom prst="ellipse">
            <a:avLst/>
          </a:prstGeom>
          <a:solidFill>
            <a:srgbClr val="B07D24"/>
          </a:solidFill>
          <a:ln w="165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12308" y="3787095"/>
            <a:ext cx="20116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6" name="Oval 15"/>
          <p:cNvSpPr/>
          <p:nvPr/>
        </p:nvSpPr>
        <p:spPr>
          <a:xfrm>
            <a:off x="2883580" y="4423515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843008" y="4141815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434514" y="4214162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728648" y="2772920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838012" y="3468505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264733" y="3778521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717916" y="3964959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451123" y="2507636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031896" y="2896530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245626" y="4376554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39760" y="3444033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673674" y="3829326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69480" y="2331720"/>
            <a:ext cx="426384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90">
                <a:solidFill>
                  <a:srgbClr val="B07D24"/>
                </a:solidFill>
                <a:latin typeface="Helvetica Neue"/>
              </a:rPr>
              <a:t>LOS REPAROS, SIN VUELTAS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69480" y="2697480"/>
            <a:ext cx="426384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Estación Colina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69480" y="2944368"/>
            <a:ext cx="42638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A64"/>
                </a:solidFill>
                <a:latin typeface="Helvetica Neue"/>
              </a:rPr>
              <a:t>Ya central (6º en auto), pero su transporte público de hoy es lento.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69480" y="3392424"/>
            <a:ext cx="426384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Batuco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69480" y="3639312"/>
            <a:ext cx="42638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A64"/>
                </a:solidFill>
                <a:latin typeface="Helvetica Neue"/>
              </a:rPr>
              <a:t>Lejano y caro en auto: cruza pórticos hacia casi todo.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69480" y="4087368"/>
            <a:ext cx="426384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Los dos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69480" y="4334256"/>
            <a:ext cx="42638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A64"/>
                </a:solidFill>
                <a:latin typeface="Helvetica Neue"/>
              </a:rPr>
              <a:t>No son RED: pagan el transporte público por tramo, más caro.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La foto de hoy tiene una fortaleza y reparos claros — y cada reparo tiene salida con la infraestructura que viene, o con gestión.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03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EL SALTO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El tren y la Orbital mueven a nuestros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proyectos a los primeros lugares.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103120"/>
            <a:ext cx="518601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80">
                <a:solidFill>
                  <a:srgbClr val="6E6A64"/>
                </a:solidFill>
                <a:latin typeface="Helvetica Neue"/>
              </a:rPr>
              <a:t>TRANSPORTE PÚBLICO · HOY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47307" y="2103120"/>
            <a:ext cx="518601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80">
                <a:solidFill>
                  <a:srgbClr val="134E48"/>
                </a:solidFill>
                <a:latin typeface="Helvetica Neue"/>
              </a:rPr>
              <a:t>CON EL TREN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09928" y="2340864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Tobalaba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69312" y="2340864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Centro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8696" y="2340864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Industrial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88081" y="2340864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Cd. Empr.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465" y="2340864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Univ.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06850" y="2340864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Aerop.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66234" y="2340864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Hospital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25618" y="2340864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Clínica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85003" y="2340864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C. Comercial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2587752"/>
            <a:ext cx="1005839" cy="105155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2578608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B07D24"/>
                </a:solidFill>
                <a:latin typeface="Helvetica Neue"/>
              </a:rPr>
              <a:t>Estación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728216" y="2592324"/>
            <a:ext cx="422808" cy="96011"/>
          </a:xfrm>
          <a:prstGeom prst="rect">
            <a:avLst/>
          </a:prstGeom>
          <a:solidFill>
            <a:srgbClr val="CB9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187600" y="2592324"/>
            <a:ext cx="422808" cy="96011"/>
          </a:xfrm>
          <a:prstGeom prst="rect">
            <a:avLst/>
          </a:prstGeom>
          <a:solidFill>
            <a:srgbClr val="CA9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646984" y="2592324"/>
            <a:ext cx="422808" cy="96011"/>
          </a:xfrm>
          <a:prstGeom prst="rect">
            <a:avLst/>
          </a:prstGeom>
          <a:solidFill>
            <a:srgbClr val="629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106369" y="2592324"/>
            <a:ext cx="422808" cy="96011"/>
          </a:xfrm>
          <a:prstGeom prst="rect">
            <a:avLst/>
          </a:prstGeom>
          <a:solidFill>
            <a:srgbClr val="4E9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65753" y="2592324"/>
            <a:ext cx="422808" cy="96011"/>
          </a:xfrm>
          <a:prstGeom prst="rect">
            <a:avLst/>
          </a:prstGeom>
          <a:solidFill>
            <a:srgbClr val="B0A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025138" y="2592324"/>
            <a:ext cx="422808" cy="96011"/>
          </a:xfrm>
          <a:prstGeom prst="rect">
            <a:avLst/>
          </a:prstGeom>
          <a:solidFill>
            <a:srgbClr val="9F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84522" y="2592324"/>
            <a:ext cx="422808" cy="96011"/>
          </a:xfrm>
          <a:prstGeom prst="rect">
            <a:avLst/>
          </a:prstGeom>
          <a:solidFill>
            <a:srgbClr val="D16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943906" y="2592324"/>
            <a:ext cx="422808" cy="96011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03291" y="2592324"/>
            <a:ext cx="422808" cy="96011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" y="2711196"/>
            <a:ext cx="1005839" cy="105155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3232" y="2702052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728216" y="2715768"/>
            <a:ext cx="422808" cy="96011"/>
          </a:xfrm>
          <a:prstGeom prst="rect">
            <a:avLst/>
          </a:prstGeom>
          <a:solidFill>
            <a:srgbClr val="CD8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187600" y="2715768"/>
            <a:ext cx="422808" cy="96011"/>
          </a:xfrm>
          <a:prstGeom prst="rect">
            <a:avLst/>
          </a:prstGeom>
          <a:solidFill>
            <a:srgbClr val="CD8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646984" y="2715768"/>
            <a:ext cx="422808" cy="96011"/>
          </a:xfrm>
          <a:prstGeom prst="rect">
            <a:avLst/>
          </a:prstGeom>
          <a:solidFill>
            <a:srgbClr val="C9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06369" y="2715768"/>
            <a:ext cx="422808" cy="96011"/>
          </a:xfrm>
          <a:prstGeom prst="rect">
            <a:avLst/>
          </a:prstGeom>
          <a:solidFill>
            <a:srgbClr val="CA9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565753" y="2715768"/>
            <a:ext cx="422808" cy="96011"/>
          </a:xfrm>
          <a:prstGeom prst="rect">
            <a:avLst/>
          </a:prstGeom>
          <a:solidFill>
            <a:srgbClr val="CA97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025138" y="2715768"/>
            <a:ext cx="422808" cy="96011"/>
          </a:xfrm>
          <a:prstGeom prst="rect">
            <a:avLst/>
          </a:prstGeom>
          <a:solidFill>
            <a:srgbClr val="C99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484522" y="2715768"/>
            <a:ext cx="422808" cy="96011"/>
          </a:xfrm>
          <a:prstGeom prst="rect">
            <a:avLst/>
          </a:prstGeom>
          <a:solidFill>
            <a:srgbClr val="D452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943906" y="2715768"/>
            <a:ext cx="422808" cy="96011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403291" y="2715768"/>
            <a:ext cx="422808" cy="96011"/>
          </a:xfrm>
          <a:prstGeom prst="rect">
            <a:avLst/>
          </a:prstGeom>
          <a:solidFill>
            <a:srgbClr val="D16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13232" y="2825496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Valle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728216" y="2839212"/>
            <a:ext cx="422808" cy="96011"/>
          </a:xfrm>
          <a:prstGeom prst="rect">
            <a:avLst/>
          </a:prstGeom>
          <a:solidFill>
            <a:srgbClr val="74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187600" y="2839212"/>
            <a:ext cx="422808" cy="96011"/>
          </a:xfrm>
          <a:prstGeom prst="rect">
            <a:avLst/>
          </a:prstGeom>
          <a:solidFill>
            <a:srgbClr val="719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646984" y="2839212"/>
            <a:ext cx="422808" cy="96011"/>
          </a:xfrm>
          <a:prstGeom prst="rect">
            <a:avLst/>
          </a:prstGeom>
          <a:solidFill>
            <a:srgbClr val="4C9E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106369" y="2839212"/>
            <a:ext cx="422808" cy="96011"/>
          </a:xfrm>
          <a:prstGeom prst="rect">
            <a:avLst/>
          </a:prstGeom>
          <a:solidFill>
            <a:srgbClr val="B1A1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565753" y="2839212"/>
            <a:ext cx="422808" cy="96011"/>
          </a:xfrm>
          <a:prstGeom prst="rect">
            <a:avLst/>
          </a:prstGeom>
          <a:solidFill>
            <a:srgbClr val="BA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025138" y="2839212"/>
            <a:ext cx="422808" cy="96011"/>
          </a:xfrm>
          <a:prstGeom prst="rect">
            <a:avLst/>
          </a:prstGeom>
          <a:solidFill>
            <a:srgbClr val="83A0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484522" y="2839212"/>
            <a:ext cx="422808" cy="96011"/>
          </a:xfrm>
          <a:prstGeom prst="rect">
            <a:avLst/>
          </a:prstGeom>
          <a:solidFill>
            <a:srgbClr val="C99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943906" y="2839212"/>
            <a:ext cx="422808" cy="96011"/>
          </a:xfrm>
          <a:prstGeom prst="rect">
            <a:avLst/>
          </a:prstGeom>
          <a:solidFill>
            <a:srgbClr val="A8A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403291" y="2839212"/>
            <a:ext cx="422808" cy="96011"/>
          </a:xfrm>
          <a:prstGeom prst="rect">
            <a:avLst/>
          </a:prstGeom>
          <a:solidFill>
            <a:srgbClr val="469E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13232" y="2948940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NOS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728216" y="2962656"/>
            <a:ext cx="422808" cy="96011"/>
          </a:xfrm>
          <a:prstGeom prst="rect">
            <a:avLst/>
          </a:prstGeom>
          <a:solidFill>
            <a:srgbClr val="6D9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187600" y="2962656"/>
            <a:ext cx="422808" cy="96011"/>
          </a:xfrm>
          <a:prstGeom prst="rect">
            <a:avLst/>
          </a:prstGeom>
          <a:solidFill>
            <a:srgbClr val="C6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646984" y="2962656"/>
            <a:ext cx="422808" cy="96011"/>
          </a:xfrm>
          <a:prstGeom prst="rect">
            <a:avLst/>
          </a:prstGeom>
          <a:solidFill>
            <a:srgbClr val="6A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106369" y="2962656"/>
            <a:ext cx="422808" cy="96011"/>
          </a:xfrm>
          <a:prstGeom prst="rect">
            <a:avLst/>
          </a:prstGeom>
          <a:solidFill>
            <a:srgbClr val="BEA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565753" y="2962656"/>
            <a:ext cx="422808" cy="96011"/>
          </a:xfrm>
          <a:prstGeom prst="rect">
            <a:avLst/>
          </a:prstGeom>
          <a:solidFill>
            <a:srgbClr val="8BA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025138" y="2962656"/>
            <a:ext cx="422808" cy="96011"/>
          </a:xfrm>
          <a:prstGeom prst="rect">
            <a:avLst/>
          </a:prstGeom>
          <a:solidFill>
            <a:srgbClr val="A1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484522" y="2962656"/>
            <a:ext cx="422808" cy="96011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943906" y="2962656"/>
            <a:ext cx="422808" cy="96011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403291" y="2962656"/>
            <a:ext cx="422808" cy="96011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13232" y="3072384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Hacienda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728216" y="3086100"/>
            <a:ext cx="422808" cy="96011"/>
          </a:xfrm>
          <a:prstGeom prst="rect">
            <a:avLst/>
          </a:prstGeom>
          <a:solidFill>
            <a:srgbClr val="CE7C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187600" y="3086100"/>
            <a:ext cx="422808" cy="96011"/>
          </a:xfrm>
          <a:prstGeom prst="rect">
            <a:avLst/>
          </a:prstGeom>
          <a:solidFill>
            <a:srgbClr val="CF7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646984" y="3086100"/>
            <a:ext cx="422808" cy="96011"/>
          </a:xfrm>
          <a:prstGeom prst="rect">
            <a:avLst/>
          </a:prstGeom>
          <a:solidFill>
            <a:srgbClr val="C99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106369" y="3086100"/>
            <a:ext cx="422808" cy="96011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565753" y="3086100"/>
            <a:ext cx="422808" cy="96011"/>
          </a:xfrm>
          <a:prstGeom prst="rect">
            <a:avLst/>
          </a:prstGeom>
          <a:solidFill>
            <a:srgbClr val="CB9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025138" y="3086100"/>
            <a:ext cx="422808" cy="96011"/>
          </a:xfrm>
          <a:prstGeom prst="rect">
            <a:avLst/>
          </a:prstGeom>
          <a:solidFill>
            <a:srgbClr val="CA9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484522" y="3086100"/>
            <a:ext cx="422808" cy="96011"/>
          </a:xfrm>
          <a:prstGeom prst="rect">
            <a:avLst/>
          </a:prstGeom>
          <a:solidFill>
            <a:srgbClr val="D54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943906" y="3086100"/>
            <a:ext cx="422808" cy="96011"/>
          </a:xfrm>
          <a:prstGeom prst="rect">
            <a:avLst/>
          </a:prstGeom>
          <a:solidFill>
            <a:srgbClr val="D354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403291" y="3086100"/>
            <a:ext cx="422808" cy="96011"/>
          </a:xfrm>
          <a:prstGeom prst="rect">
            <a:avLst/>
          </a:prstGeom>
          <a:solidFill>
            <a:srgbClr val="D25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13232" y="3195828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728216" y="3209544"/>
            <a:ext cx="422808" cy="96011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187600" y="3209544"/>
            <a:ext cx="422808" cy="96011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646984" y="3209544"/>
            <a:ext cx="422808" cy="96011"/>
          </a:xfrm>
          <a:prstGeom prst="rect">
            <a:avLst/>
          </a:prstGeom>
          <a:solidFill>
            <a:srgbClr val="539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3106369" y="3209544"/>
            <a:ext cx="422808" cy="96011"/>
          </a:xfrm>
          <a:prstGeom prst="rect">
            <a:avLst/>
          </a:prstGeom>
          <a:solidFill>
            <a:srgbClr val="CC8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565753" y="3209544"/>
            <a:ext cx="422808" cy="96011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025138" y="3209544"/>
            <a:ext cx="422808" cy="96011"/>
          </a:xfrm>
          <a:prstGeom prst="rect">
            <a:avLst/>
          </a:prstGeom>
          <a:solidFill>
            <a:srgbClr val="509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484522" y="3209544"/>
            <a:ext cx="422808" cy="96011"/>
          </a:xfrm>
          <a:prstGeom prst="rect">
            <a:avLst/>
          </a:prstGeom>
          <a:solidFill>
            <a:srgbClr val="A1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943906" y="3209544"/>
            <a:ext cx="422808" cy="96011"/>
          </a:xfrm>
          <a:prstGeom prst="rect">
            <a:avLst/>
          </a:prstGeom>
          <a:solidFill>
            <a:srgbClr val="65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5403291" y="3209544"/>
            <a:ext cx="422808" cy="96011"/>
          </a:xfrm>
          <a:prstGeom prst="rect">
            <a:avLst/>
          </a:prstGeom>
          <a:solidFill>
            <a:srgbClr val="8CA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13232" y="3319272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728216" y="3332988"/>
            <a:ext cx="422808" cy="96011"/>
          </a:xfrm>
          <a:prstGeom prst="rect">
            <a:avLst/>
          </a:prstGeom>
          <a:solidFill>
            <a:srgbClr val="639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2187600" y="3332988"/>
            <a:ext cx="422808" cy="96011"/>
          </a:xfrm>
          <a:prstGeom prst="rect">
            <a:avLst/>
          </a:prstGeom>
          <a:solidFill>
            <a:srgbClr val="91A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2646984" y="3332988"/>
            <a:ext cx="422808" cy="96011"/>
          </a:xfrm>
          <a:prstGeom prst="rect">
            <a:avLst/>
          </a:prstGeom>
          <a:solidFill>
            <a:srgbClr val="98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3106369" y="3332988"/>
            <a:ext cx="422808" cy="96011"/>
          </a:xfrm>
          <a:prstGeom prst="rect">
            <a:avLst/>
          </a:prstGeom>
          <a:solidFill>
            <a:srgbClr val="C99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565753" y="3332988"/>
            <a:ext cx="422808" cy="96011"/>
          </a:xfrm>
          <a:prstGeom prst="rect">
            <a:avLst/>
          </a:prstGeom>
          <a:solidFill>
            <a:srgbClr val="B6A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025138" y="3332988"/>
            <a:ext cx="422808" cy="96011"/>
          </a:xfrm>
          <a:prstGeom prst="rect">
            <a:avLst/>
          </a:prstGeom>
          <a:solidFill>
            <a:srgbClr val="C8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4484522" y="3332988"/>
            <a:ext cx="422808" cy="96011"/>
          </a:xfrm>
          <a:prstGeom prst="rect">
            <a:avLst/>
          </a:prstGeom>
          <a:solidFill>
            <a:srgbClr val="8DA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4943906" y="3332988"/>
            <a:ext cx="422808" cy="96011"/>
          </a:xfrm>
          <a:prstGeom prst="rect">
            <a:avLst/>
          </a:prstGeom>
          <a:solidFill>
            <a:srgbClr val="679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5403291" y="3332988"/>
            <a:ext cx="422808" cy="96011"/>
          </a:xfrm>
          <a:prstGeom prst="rect">
            <a:avLst/>
          </a:prstGeom>
          <a:solidFill>
            <a:srgbClr val="73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13232" y="3442716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728216" y="3456432"/>
            <a:ext cx="422808" cy="96011"/>
          </a:xfrm>
          <a:prstGeom prst="rect">
            <a:avLst/>
          </a:prstGeom>
          <a:solidFill>
            <a:srgbClr val="CD8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2187600" y="3456432"/>
            <a:ext cx="422808" cy="96011"/>
          </a:xfrm>
          <a:prstGeom prst="rect">
            <a:avLst/>
          </a:prstGeom>
          <a:solidFill>
            <a:srgbClr val="CD8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646984" y="3456432"/>
            <a:ext cx="422808" cy="96011"/>
          </a:xfrm>
          <a:prstGeom prst="rect">
            <a:avLst/>
          </a:prstGeom>
          <a:solidFill>
            <a:srgbClr val="A2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3106369" y="3456432"/>
            <a:ext cx="422808" cy="96011"/>
          </a:xfrm>
          <a:prstGeom prst="rect">
            <a:avLst/>
          </a:prstGeom>
          <a:solidFill>
            <a:srgbClr val="CB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565753" y="3456432"/>
            <a:ext cx="422808" cy="96011"/>
          </a:xfrm>
          <a:prstGeom prst="rect">
            <a:avLst/>
          </a:prstGeom>
          <a:solidFill>
            <a:srgbClr val="CE7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4025138" y="3456432"/>
            <a:ext cx="422808" cy="96011"/>
          </a:xfrm>
          <a:prstGeom prst="rect">
            <a:avLst/>
          </a:prstGeom>
          <a:solidFill>
            <a:srgbClr val="CA97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484522" y="3456432"/>
            <a:ext cx="422808" cy="96011"/>
          </a:xfrm>
          <a:prstGeom prst="rect">
            <a:avLst/>
          </a:prstGeom>
          <a:solidFill>
            <a:srgbClr val="D1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943906" y="3456432"/>
            <a:ext cx="422808" cy="96011"/>
          </a:xfrm>
          <a:prstGeom prst="rect">
            <a:avLst/>
          </a:prstGeom>
          <a:solidFill>
            <a:srgbClr val="CA9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5403291" y="3456432"/>
            <a:ext cx="422808" cy="96011"/>
          </a:xfrm>
          <a:prstGeom prst="rect">
            <a:avLst/>
          </a:prstGeom>
          <a:solidFill>
            <a:srgbClr val="CA97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13232" y="3566160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Laguna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728216" y="3579876"/>
            <a:ext cx="422808" cy="96011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2187600" y="3579876"/>
            <a:ext cx="422808" cy="96011"/>
          </a:xfrm>
          <a:prstGeom prst="rect">
            <a:avLst/>
          </a:prstGeom>
          <a:solidFill>
            <a:srgbClr val="D54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2646984" y="3579876"/>
            <a:ext cx="422808" cy="96011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3106369" y="3579876"/>
            <a:ext cx="422808" cy="96011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3565753" y="3579876"/>
            <a:ext cx="422808" cy="96011"/>
          </a:xfrm>
          <a:prstGeom prst="rect">
            <a:avLst/>
          </a:prstGeom>
          <a:solidFill>
            <a:srgbClr val="D06B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4025138" y="3579876"/>
            <a:ext cx="422808" cy="96011"/>
          </a:xfrm>
          <a:prstGeom prst="rect">
            <a:avLst/>
          </a:prstGeom>
          <a:solidFill>
            <a:srgbClr val="CE7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4484522" y="3579876"/>
            <a:ext cx="422808" cy="96011"/>
          </a:xfrm>
          <a:prstGeom prst="rect">
            <a:avLst/>
          </a:prstGeom>
          <a:solidFill>
            <a:srgbClr val="CB8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4943906" y="3579876"/>
            <a:ext cx="422808" cy="96011"/>
          </a:xfrm>
          <a:prstGeom prst="rect">
            <a:avLst/>
          </a:prstGeom>
          <a:solidFill>
            <a:srgbClr val="97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5403291" y="3579876"/>
            <a:ext cx="422808" cy="96011"/>
          </a:xfrm>
          <a:prstGeom prst="rect">
            <a:avLst/>
          </a:prstGeom>
          <a:solidFill>
            <a:srgbClr val="C1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713232" y="3689604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Santa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1728216" y="3703320"/>
            <a:ext cx="422808" cy="96011"/>
          </a:xfrm>
          <a:prstGeom prst="rect">
            <a:avLst/>
          </a:prstGeom>
          <a:solidFill>
            <a:srgbClr val="CF7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2187600" y="3703320"/>
            <a:ext cx="422808" cy="96011"/>
          </a:xfrm>
          <a:prstGeom prst="rect">
            <a:avLst/>
          </a:prstGeom>
          <a:solidFill>
            <a:srgbClr val="CF7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2646984" y="3703320"/>
            <a:ext cx="422808" cy="96011"/>
          </a:xfrm>
          <a:prstGeom prst="rect">
            <a:avLst/>
          </a:prstGeom>
          <a:solidFill>
            <a:srgbClr val="7EA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3106369" y="3703320"/>
            <a:ext cx="422808" cy="96011"/>
          </a:xfrm>
          <a:prstGeom prst="rect">
            <a:avLst/>
          </a:prstGeom>
          <a:solidFill>
            <a:srgbClr val="719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3565753" y="3703320"/>
            <a:ext cx="422808" cy="96011"/>
          </a:xfrm>
          <a:prstGeom prst="rect">
            <a:avLst/>
          </a:prstGeom>
          <a:solidFill>
            <a:srgbClr val="CA9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4025138" y="3703320"/>
            <a:ext cx="422808" cy="96011"/>
          </a:xfrm>
          <a:prstGeom prst="rect">
            <a:avLst/>
          </a:prstGeom>
          <a:solidFill>
            <a:srgbClr val="B7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4484522" y="3703320"/>
            <a:ext cx="422808" cy="96011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4943906" y="3703320"/>
            <a:ext cx="422808" cy="96011"/>
          </a:xfrm>
          <a:prstGeom prst="rect">
            <a:avLst/>
          </a:prstGeom>
          <a:solidFill>
            <a:srgbClr val="CE7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5403291" y="3703320"/>
            <a:ext cx="422808" cy="96011"/>
          </a:xfrm>
          <a:prstGeom prst="rect">
            <a:avLst/>
          </a:prstGeom>
          <a:solidFill>
            <a:srgbClr val="CF7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713232" y="3813048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Ayres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1728216" y="3826763"/>
            <a:ext cx="422808" cy="96011"/>
          </a:xfrm>
          <a:prstGeom prst="rect">
            <a:avLst/>
          </a:prstGeom>
          <a:solidFill>
            <a:srgbClr val="CA9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2187600" y="3826763"/>
            <a:ext cx="422808" cy="96011"/>
          </a:xfrm>
          <a:prstGeom prst="rect">
            <a:avLst/>
          </a:prstGeom>
          <a:solidFill>
            <a:srgbClr val="C9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2646984" y="3826763"/>
            <a:ext cx="422808" cy="96011"/>
          </a:xfrm>
          <a:prstGeom prst="rect">
            <a:avLst/>
          </a:prstGeom>
          <a:solidFill>
            <a:srgbClr val="82A0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3106369" y="3826763"/>
            <a:ext cx="422808" cy="96011"/>
          </a:xfrm>
          <a:prstGeom prst="rect">
            <a:avLst/>
          </a:prstGeom>
          <a:solidFill>
            <a:srgbClr val="BC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3565753" y="3826763"/>
            <a:ext cx="422808" cy="96011"/>
          </a:xfrm>
          <a:prstGeom prst="rect">
            <a:avLst/>
          </a:prstGeom>
          <a:solidFill>
            <a:srgbClr val="D545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4025138" y="3826763"/>
            <a:ext cx="422808" cy="96011"/>
          </a:xfrm>
          <a:prstGeom prst="rect">
            <a:avLst/>
          </a:prstGeom>
          <a:solidFill>
            <a:srgbClr val="A8A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4484522" y="3826763"/>
            <a:ext cx="422808" cy="96011"/>
          </a:xfrm>
          <a:prstGeom prst="rect">
            <a:avLst/>
          </a:prstGeom>
          <a:solidFill>
            <a:srgbClr val="D25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4943906" y="3826763"/>
            <a:ext cx="422808" cy="96011"/>
          </a:xfrm>
          <a:prstGeom prst="rect">
            <a:avLst/>
          </a:prstGeom>
          <a:solidFill>
            <a:srgbClr val="CF7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5403291" y="3826763"/>
            <a:ext cx="422808" cy="96011"/>
          </a:xfrm>
          <a:prstGeom prst="rect">
            <a:avLst/>
          </a:prstGeom>
          <a:solidFill>
            <a:srgbClr val="C3A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713232" y="3936491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El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1728216" y="3950207"/>
            <a:ext cx="422808" cy="96011"/>
          </a:xfrm>
          <a:prstGeom prst="rect">
            <a:avLst/>
          </a:prstGeom>
          <a:solidFill>
            <a:srgbClr val="B2A1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2187600" y="3950207"/>
            <a:ext cx="422808" cy="96011"/>
          </a:xfrm>
          <a:prstGeom prst="rect">
            <a:avLst/>
          </a:prstGeom>
          <a:solidFill>
            <a:srgbClr val="CF7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2646984" y="3950207"/>
            <a:ext cx="422808" cy="96011"/>
          </a:xfrm>
          <a:prstGeom prst="rect">
            <a:avLst/>
          </a:prstGeom>
          <a:solidFill>
            <a:srgbClr val="D25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3106369" y="3950207"/>
            <a:ext cx="422808" cy="96011"/>
          </a:xfrm>
          <a:prstGeom prst="rect">
            <a:avLst/>
          </a:prstGeom>
          <a:solidFill>
            <a:srgbClr val="CE7C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3565753" y="3950207"/>
            <a:ext cx="422808" cy="96011"/>
          </a:xfrm>
          <a:prstGeom prst="rect">
            <a:avLst/>
          </a:prstGeom>
          <a:solidFill>
            <a:srgbClr val="D54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4025138" y="3950207"/>
            <a:ext cx="422808" cy="96011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4484522" y="3950207"/>
            <a:ext cx="422808" cy="96011"/>
          </a:xfrm>
          <a:prstGeom prst="rect">
            <a:avLst/>
          </a:prstGeom>
          <a:solidFill>
            <a:srgbClr val="86A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4943906" y="3950207"/>
            <a:ext cx="422808" cy="96011"/>
          </a:xfrm>
          <a:prstGeom prst="rect">
            <a:avLst/>
          </a:prstGeom>
          <a:solidFill>
            <a:srgbClr val="3A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5403291" y="3950207"/>
            <a:ext cx="422808" cy="96011"/>
          </a:xfrm>
          <a:prstGeom prst="rect">
            <a:avLst/>
          </a:prstGeom>
          <a:solidFill>
            <a:srgbClr val="A5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713232" y="4059935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1728216" y="4073651"/>
            <a:ext cx="422808" cy="96011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2187600" y="4073651"/>
            <a:ext cx="422808" cy="96011"/>
          </a:xfrm>
          <a:prstGeom prst="rect">
            <a:avLst/>
          </a:prstGeom>
          <a:solidFill>
            <a:srgbClr val="CC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2646984" y="4073651"/>
            <a:ext cx="422808" cy="96011"/>
          </a:xfrm>
          <a:prstGeom prst="rect">
            <a:avLst/>
          </a:prstGeom>
          <a:solidFill>
            <a:srgbClr val="CE7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3106369" y="4073651"/>
            <a:ext cx="422808" cy="96011"/>
          </a:xfrm>
          <a:prstGeom prst="rect">
            <a:avLst/>
          </a:prstGeom>
          <a:solidFill>
            <a:srgbClr val="C99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3565753" y="4073651"/>
            <a:ext cx="422808" cy="96011"/>
          </a:xfrm>
          <a:prstGeom prst="rect">
            <a:avLst/>
          </a:prstGeom>
          <a:solidFill>
            <a:srgbClr val="CA9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4025138" y="4073651"/>
            <a:ext cx="422808" cy="96011"/>
          </a:xfrm>
          <a:prstGeom prst="rect">
            <a:avLst/>
          </a:prstGeom>
          <a:solidFill>
            <a:srgbClr val="BFA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4484522" y="4073651"/>
            <a:ext cx="422808" cy="96011"/>
          </a:xfrm>
          <a:prstGeom prst="rect">
            <a:avLst/>
          </a:prstGeom>
          <a:solidFill>
            <a:srgbClr val="D354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4943906" y="4073651"/>
            <a:ext cx="422808" cy="96011"/>
          </a:xfrm>
          <a:prstGeom prst="rect">
            <a:avLst/>
          </a:prstGeom>
          <a:solidFill>
            <a:srgbClr val="D25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5403291" y="4073651"/>
            <a:ext cx="422808" cy="96011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713232" y="4183380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Colina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1728216" y="4197096"/>
            <a:ext cx="422808" cy="96011"/>
          </a:xfrm>
          <a:prstGeom prst="rect">
            <a:avLst/>
          </a:prstGeom>
          <a:solidFill>
            <a:srgbClr val="CD8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2187600" y="4197096"/>
            <a:ext cx="422808" cy="96011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2646984" y="4197096"/>
            <a:ext cx="422808" cy="96011"/>
          </a:xfrm>
          <a:prstGeom prst="rect">
            <a:avLst/>
          </a:prstGeom>
          <a:solidFill>
            <a:srgbClr val="C9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3106369" y="4197096"/>
            <a:ext cx="422808" cy="96011"/>
          </a:xfrm>
          <a:prstGeom prst="rect">
            <a:avLst/>
          </a:prstGeom>
          <a:solidFill>
            <a:srgbClr val="5F9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3565753" y="4197096"/>
            <a:ext cx="422808" cy="96011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4025138" y="4197096"/>
            <a:ext cx="422808" cy="96011"/>
          </a:xfrm>
          <a:prstGeom prst="rect">
            <a:avLst/>
          </a:prstGeom>
          <a:solidFill>
            <a:srgbClr val="CD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4484522" y="4197096"/>
            <a:ext cx="422808" cy="96011"/>
          </a:xfrm>
          <a:prstGeom prst="rect">
            <a:avLst/>
          </a:prstGeom>
          <a:solidFill>
            <a:srgbClr val="CF7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4943906" y="4197096"/>
            <a:ext cx="422808" cy="96011"/>
          </a:xfrm>
          <a:prstGeom prst="rect">
            <a:avLst/>
          </a:prstGeom>
          <a:solidFill>
            <a:srgbClr val="CC8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5403291" y="4197096"/>
            <a:ext cx="422808" cy="96011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7398867" y="2340864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Tobalaba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858252" y="2340864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Centro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17636" y="2340864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Industrial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77020" y="2340864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Cd. Empr.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236405" y="2340864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Univ.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9695789" y="2340864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Aerop.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155174" y="2340864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Hospital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0614558" y="2340864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Clínica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1073942" y="2340864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C. Comercial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6347307" y="2587752"/>
            <a:ext cx="1005839" cy="105155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6402171" y="2578608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B07D24"/>
                </a:solidFill>
                <a:latin typeface="Helvetica Neue"/>
              </a:rPr>
              <a:t>Estación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7417155" y="2592324"/>
            <a:ext cx="422808" cy="96011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7876540" y="2592324"/>
            <a:ext cx="422808" cy="96011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8335924" y="2592324"/>
            <a:ext cx="422808" cy="96011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8795308" y="2592324"/>
            <a:ext cx="422808" cy="96011"/>
          </a:xfrm>
          <a:prstGeom prst="rect">
            <a:avLst/>
          </a:prstGeom>
          <a:solidFill>
            <a:srgbClr val="4E9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9254693" y="2592324"/>
            <a:ext cx="422808" cy="96011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9714077" y="2592324"/>
            <a:ext cx="422808" cy="96011"/>
          </a:xfrm>
          <a:prstGeom prst="rect">
            <a:avLst/>
          </a:prstGeom>
          <a:solidFill>
            <a:srgbClr val="519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10173462" y="2592324"/>
            <a:ext cx="422808" cy="96011"/>
          </a:xfrm>
          <a:prstGeom prst="rect">
            <a:avLst/>
          </a:prstGeom>
          <a:solidFill>
            <a:srgbClr val="459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10632846" y="2592324"/>
            <a:ext cx="422808" cy="96011"/>
          </a:xfrm>
          <a:prstGeom prst="rect">
            <a:avLst/>
          </a:prstGeom>
          <a:solidFill>
            <a:srgbClr val="AAA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11092230" y="2592324"/>
            <a:ext cx="422808" cy="96011"/>
          </a:xfrm>
          <a:prstGeom prst="rect">
            <a:avLst/>
          </a:prstGeom>
          <a:solidFill>
            <a:srgbClr val="339E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6347307" y="2711196"/>
            <a:ext cx="1005839" cy="105155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402171" y="2702052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7417155" y="2715768"/>
            <a:ext cx="422808" cy="96011"/>
          </a:xfrm>
          <a:prstGeom prst="rect">
            <a:avLst/>
          </a:prstGeom>
          <a:solidFill>
            <a:srgbClr val="409E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7876540" y="2715768"/>
            <a:ext cx="422808" cy="96011"/>
          </a:xfrm>
          <a:prstGeom prst="rect">
            <a:avLst/>
          </a:prstGeom>
          <a:solidFill>
            <a:srgbClr val="439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8335924" y="2715768"/>
            <a:ext cx="422808" cy="96011"/>
          </a:xfrm>
          <a:prstGeom prst="rect">
            <a:avLst/>
          </a:prstGeom>
          <a:solidFill>
            <a:srgbClr val="3A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8795308" y="2715768"/>
            <a:ext cx="422808" cy="96011"/>
          </a:xfrm>
          <a:prstGeom prst="rect">
            <a:avLst/>
          </a:prstGeom>
          <a:solidFill>
            <a:srgbClr val="7A9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9254693" y="2715768"/>
            <a:ext cx="422808" cy="96011"/>
          </a:xfrm>
          <a:prstGeom prst="rect">
            <a:avLst/>
          </a:prstGeom>
          <a:solidFill>
            <a:srgbClr val="3A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9714077" y="2715768"/>
            <a:ext cx="422808" cy="96011"/>
          </a:xfrm>
          <a:prstGeom prst="rect">
            <a:avLst/>
          </a:prstGeom>
          <a:solidFill>
            <a:srgbClr val="5A9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10173462" y="2715768"/>
            <a:ext cx="422808" cy="96011"/>
          </a:xfrm>
          <a:prstGeom prst="rect">
            <a:avLst/>
          </a:prstGeom>
          <a:solidFill>
            <a:srgbClr val="539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10632846" y="2715768"/>
            <a:ext cx="422808" cy="96011"/>
          </a:xfrm>
          <a:prstGeom prst="rect">
            <a:avLst/>
          </a:prstGeom>
          <a:solidFill>
            <a:srgbClr val="B8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11092230" y="2715768"/>
            <a:ext cx="422808" cy="96011"/>
          </a:xfrm>
          <a:prstGeom prst="rect">
            <a:avLst/>
          </a:prstGeom>
          <a:solidFill>
            <a:srgbClr val="429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402171" y="2825496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Valle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7417155" y="2839212"/>
            <a:ext cx="422808" cy="96011"/>
          </a:xfrm>
          <a:prstGeom prst="rect">
            <a:avLst/>
          </a:prstGeom>
          <a:solidFill>
            <a:srgbClr val="5C9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7876540" y="2839212"/>
            <a:ext cx="422808" cy="96011"/>
          </a:xfrm>
          <a:prstGeom prst="rect">
            <a:avLst/>
          </a:prstGeom>
          <a:solidFill>
            <a:srgbClr val="66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8335924" y="2839212"/>
            <a:ext cx="422808" cy="96011"/>
          </a:xfrm>
          <a:prstGeom prst="rect">
            <a:avLst/>
          </a:prstGeom>
          <a:solidFill>
            <a:srgbClr val="4C9E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8795308" y="2839212"/>
            <a:ext cx="422808" cy="96011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9254693" y="2839212"/>
            <a:ext cx="422808" cy="96011"/>
          </a:xfrm>
          <a:prstGeom prst="rect">
            <a:avLst/>
          </a:prstGeom>
          <a:solidFill>
            <a:srgbClr val="4D9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9714077" y="2839212"/>
            <a:ext cx="422808" cy="96011"/>
          </a:xfrm>
          <a:prstGeom prst="rect">
            <a:avLst/>
          </a:prstGeom>
          <a:solidFill>
            <a:srgbClr val="6D9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10173462" y="2839212"/>
            <a:ext cx="422808" cy="96011"/>
          </a:xfrm>
          <a:prstGeom prst="rect">
            <a:avLst/>
          </a:prstGeom>
          <a:solidFill>
            <a:srgbClr val="6A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10632846" y="2839212"/>
            <a:ext cx="422808" cy="96011"/>
          </a:xfrm>
          <a:prstGeom prst="rect">
            <a:avLst/>
          </a:prstGeom>
          <a:solidFill>
            <a:srgbClr val="A8A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11092230" y="2839212"/>
            <a:ext cx="422808" cy="96011"/>
          </a:xfrm>
          <a:prstGeom prst="rect">
            <a:avLst/>
          </a:prstGeom>
          <a:solidFill>
            <a:srgbClr val="469E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6402171" y="2948940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NOS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7417155" y="2962656"/>
            <a:ext cx="422808" cy="96011"/>
          </a:xfrm>
          <a:prstGeom prst="rect">
            <a:avLst/>
          </a:prstGeom>
          <a:solidFill>
            <a:srgbClr val="6D9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7876540" y="2962656"/>
            <a:ext cx="422808" cy="96011"/>
          </a:xfrm>
          <a:prstGeom prst="rect">
            <a:avLst/>
          </a:prstGeom>
          <a:solidFill>
            <a:srgbClr val="C6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8335924" y="2962656"/>
            <a:ext cx="422808" cy="96011"/>
          </a:xfrm>
          <a:prstGeom prst="rect">
            <a:avLst/>
          </a:prstGeom>
          <a:solidFill>
            <a:srgbClr val="6A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8795308" y="2962656"/>
            <a:ext cx="422808" cy="96011"/>
          </a:xfrm>
          <a:prstGeom prst="rect">
            <a:avLst/>
          </a:prstGeom>
          <a:solidFill>
            <a:srgbClr val="BEA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9254693" y="2962656"/>
            <a:ext cx="422808" cy="96011"/>
          </a:xfrm>
          <a:prstGeom prst="rect">
            <a:avLst/>
          </a:prstGeom>
          <a:solidFill>
            <a:srgbClr val="8BA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9714077" y="2962656"/>
            <a:ext cx="422808" cy="96011"/>
          </a:xfrm>
          <a:prstGeom prst="rect">
            <a:avLst/>
          </a:prstGeom>
          <a:solidFill>
            <a:srgbClr val="A1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10173462" y="2962656"/>
            <a:ext cx="422808" cy="96011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10632846" y="2962656"/>
            <a:ext cx="422808" cy="96011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11092230" y="2962656"/>
            <a:ext cx="422808" cy="96011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6402171" y="3072384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Hacienda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7417155" y="3086100"/>
            <a:ext cx="422808" cy="96011"/>
          </a:xfrm>
          <a:prstGeom prst="rect">
            <a:avLst/>
          </a:prstGeom>
          <a:solidFill>
            <a:srgbClr val="7DA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7876540" y="3086100"/>
            <a:ext cx="422808" cy="96011"/>
          </a:xfrm>
          <a:prstGeom prst="rect">
            <a:avLst/>
          </a:prstGeom>
          <a:solidFill>
            <a:srgbClr val="8CA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8335924" y="3086100"/>
            <a:ext cx="422808" cy="96011"/>
          </a:xfrm>
          <a:prstGeom prst="rect">
            <a:avLst/>
          </a:prstGeom>
          <a:solidFill>
            <a:srgbClr val="619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8795308" y="3086100"/>
            <a:ext cx="422808" cy="96011"/>
          </a:xfrm>
          <a:prstGeom prst="rect">
            <a:avLst/>
          </a:prstGeom>
          <a:solidFill>
            <a:srgbClr val="9EA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9254693" y="3086100"/>
            <a:ext cx="422808" cy="96011"/>
          </a:xfrm>
          <a:prstGeom prst="rect">
            <a:avLst/>
          </a:prstGeom>
          <a:solidFill>
            <a:srgbClr val="639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9714077" y="3086100"/>
            <a:ext cx="422808" cy="96011"/>
          </a:xfrm>
          <a:prstGeom prst="rect">
            <a:avLst/>
          </a:prstGeom>
          <a:solidFill>
            <a:srgbClr val="7A9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10173462" y="3086100"/>
            <a:ext cx="422808" cy="96011"/>
          </a:xfrm>
          <a:prstGeom prst="rect">
            <a:avLst/>
          </a:prstGeom>
          <a:solidFill>
            <a:srgbClr val="84A0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10632846" y="3086100"/>
            <a:ext cx="422808" cy="96011"/>
          </a:xfrm>
          <a:prstGeom prst="rect">
            <a:avLst/>
          </a:prstGeom>
          <a:solidFill>
            <a:srgbClr val="CB8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11092230" y="3086100"/>
            <a:ext cx="422808" cy="96011"/>
          </a:xfrm>
          <a:prstGeom prst="rect">
            <a:avLst/>
          </a:prstGeom>
          <a:solidFill>
            <a:srgbClr val="769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6402171" y="3195828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220" name="Rectangle 219"/>
          <p:cNvSpPr/>
          <p:nvPr/>
        </p:nvSpPr>
        <p:spPr>
          <a:xfrm>
            <a:off x="7417155" y="3209544"/>
            <a:ext cx="422808" cy="96011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7876540" y="3209544"/>
            <a:ext cx="422808" cy="96011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8335924" y="3209544"/>
            <a:ext cx="422808" cy="96011"/>
          </a:xfrm>
          <a:prstGeom prst="rect">
            <a:avLst/>
          </a:prstGeom>
          <a:solidFill>
            <a:srgbClr val="539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8795308" y="3209544"/>
            <a:ext cx="422808" cy="96011"/>
          </a:xfrm>
          <a:prstGeom prst="rect">
            <a:avLst/>
          </a:prstGeom>
          <a:solidFill>
            <a:srgbClr val="C99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9254693" y="3209544"/>
            <a:ext cx="422808" cy="96011"/>
          </a:xfrm>
          <a:prstGeom prst="rect">
            <a:avLst/>
          </a:prstGeom>
          <a:solidFill>
            <a:srgbClr val="C1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9714077" y="3209544"/>
            <a:ext cx="422808" cy="96011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10173462" y="3209544"/>
            <a:ext cx="422808" cy="96011"/>
          </a:xfrm>
          <a:prstGeom prst="rect">
            <a:avLst/>
          </a:prstGeom>
          <a:solidFill>
            <a:srgbClr val="99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10632846" y="3209544"/>
            <a:ext cx="422808" cy="96011"/>
          </a:xfrm>
          <a:prstGeom prst="rect">
            <a:avLst/>
          </a:prstGeom>
          <a:solidFill>
            <a:srgbClr val="65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11092230" y="3209544"/>
            <a:ext cx="422808" cy="96011"/>
          </a:xfrm>
          <a:prstGeom prst="rect">
            <a:avLst/>
          </a:prstGeom>
          <a:solidFill>
            <a:srgbClr val="7FA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6402171" y="3319272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7417155" y="3332988"/>
            <a:ext cx="422808" cy="96011"/>
          </a:xfrm>
          <a:prstGeom prst="rect">
            <a:avLst/>
          </a:prstGeom>
          <a:solidFill>
            <a:srgbClr val="639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7876540" y="3332988"/>
            <a:ext cx="422808" cy="96011"/>
          </a:xfrm>
          <a:prstGeom prst="rect">
            <a:avLst/>
          </a:prstGeom>
          <a:solidFill>
            <a:srgbClr val="91A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8335924" y="3332988"/>
            <a:ext cx="422808" cy="96011"/>
          </a:xfrm>
          <a:prstGeom prst="rect">
            <a:avLst/>
          </a:prstGeom>
          <a:solidFill>
            <a:srgbClr val="98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8795308" y="3332988"/>
            <a:ext cx="422808" cy="96011"/>
          </a:xfrm>
          <a:prstGeom prst="rect">
            <a:avLst/>
          </a:prstGeom>
          <a:solidFill>
            <a:srgbClr val="BB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9254693" y="3332988"/>
            <a:ext cx="422808" cy="96011"/>
          </a:xfrm>
          <a:prstGeom prst="rect">
            <a:avLst/>
          </a:prstGeom>
          <a:solidFill>
            <a:srgbClr val="B6A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9714077" y="3332988"/>
            <a:ext cx="422808" cy="96011"/>
          </a:xfrm>
          <a:prstGeom prst="rect">
            <a:avLst/>
          </a:prstGeom>
          <a:solidFill>
            <a:srgbClr val="AEA1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10173462" y="3332988"/>
            <a:ext cx="422808" cy="96011"/>
          </a:xfrm>
          <a:prstGeom prst="rect">
            <a:avLst/>
          </a:prstGeom>
          <a:solidFill>
            <a:srgbClr val="8DA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10632846" y="3332988"/>
            <a:ext cx="422808" cy="96011"/>
          </a:xfrm>
          <a:prstGeom prst="rect">
            <a:avLst/>
          </a:prstGeom>
          <a:solidFill>
            <a:srgbClr val="679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11092230" y="3332988"/>
            <a:ext cx="422808" cy="96011"/>
          </a:xfrm>
          <a:prstGeom prst="rect">
            <a:avLst/>
          </a:prstGeom>
          <a:solidFill>
            <a:srgbClr val="73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6402171" y="3442716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7417155" y="3456432"/>
            <a:ext cx="422808" cy="96011"/>
          </a:xfrm>
          <a:prstGeom prst="rect">
            <a:avLst/>
          </a:prstGeom>
          <a:solidFill>
            <a:srgbClr val="A4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7876540" y="3456432"/>
            <a:ext cx="422808" cy="96011"/>
          </a:xfrm>
          <a:prstGeom prst="rect">
            <a:avLst/>
          </a:prstGeom>
          <a:solidFill>
            <a:srgbClr val="BB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8335924" y="3456432"/>
            <a:ext cx="422808" cy="96011"/>
          </a:xfrm>
          <a:prstGeom prst="rect">
            <a:avLst/>
          </a:prstGeom>
          <a:solidFill>
            <a:srgbClr val="5B9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8795308" y="3456432"/>
            <a:ext cx="422808" cy="96011"/>
          </a:xfrm>
          <a:prstGeom prst="rect">
            <a:avLst/>
          </a:prstGeom>
          <a:solidFill>
            <a:srgbClr val="609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9254693" y="3456432"/>
            <a:ext cx="422808" cy="96011"/>
          </a:xfrm>
          <a:prstGeom prst="rect">
            <a:avLst/>
          </a:prstGeom>
          <a:solidFill>
            <a:srgbClr val="7DA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9714077" y="3456432"/>
            <a:ext cx="422808" cy="96011"/>
          </a:xfrm>
          <a:prstGeom prst="rect">
            <a:avLst/>
          </a:prstGeom>
          <a:solidFill>
            <a:srgbClr val="9AA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10173462" y="3456432"/>
            <a:ext cx="422808" cy="96011"/>
          </a:xfrm>
          <a:prstGeom prst="rect">
            <a:avLst/>
          </a:prstGeom>
          <a:solidFill>
            <a:srgbClr val="A4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10632846" y="3456432"/>
            <a:ext cx="422808" cy="96011"/>
          </a:xfrm>
          <a:prstGeom prst="rect">
            <a:avLst/>
          </a:prstGeom>
          <a:solidFill>
            <a:srgbClr val="CA9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11092230" y="3456432"/>
            <a:ext cx="422808" cy="96011"/>
          </a:xfrm>
          <a:prstGeom prst="rect">
            <a:avLst/>
          </a:prstGeom>
          <a:solidFill>
            <a:srgbClr val="C2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TextBox 248"/>
          <p:cNvSpPr txBox="1"/>
          <p:nvPr/>
        </p:nvSpPr>
        <p:spPr>
          <a:xfrm>
            <a:off x="6402171" y="3566160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Laguna</a:t>
            </a:r>
          </a:p>
        </p:txBody>
      </p:sp>
      <p:sp>
        <p:nvSpPr>
          <p:cNvPr id="250" name="Rectangle 249"/>
          <p:cNvSpPr/>
          <p:nvPr/>
        </p:nvSpPr>
        <p:spPr>
          <a:xfrm>
            <a:off x="7417155" y="3579876"/>
            <a:ext cx="422808" cy="96011"/>
          </a:xfrm>
          <a:prstGeom prst="rect">
            <a:avLst/>
          </a:prstGeom>
          <a:solidFill>
            <a:srgbClr val="91A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7876540" y="3579876"/>
            <a:ext cx="422808" cy="96011"/>
          </a:xfrm>
          <a:prstGeom prst="rect">
            <a:avLst/>
          </a:prstGeom>
          <a:solidFill>
            <a:srgbClr val="B9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8335924" y="3579876"/>
            <a:ext cx="422808" cy="96011"/>
          </a:xfrm>
          <a:prstGeom prst="rect">
            <a:avLst/>
          </a:prstGeom>
          <a:solidFill>
            <a:srgbClr val="CD8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8795308" y="3579876"/>
            <a:ext cx="422808" cy="96011"/>
          </a:xfrm>
          <a:prstGeom prst="rect">
            <a:avLst/>
          </a:prstGeom>
          <a:solidFill>
            <a:srgbClr val="C1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9254693" y="3579876"/>
            <a:ext cx="422808" cy="96011"/>
          </a:xfrm>
          <a:prstGeom prst="rect">
            <a:avLst/>
          </a:prstGeom>
          <a:solidFill>
            <a:srgbClr val="6D9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Rectangle 254"/>
          <p:cNvSpPr/>
          <p:nvPr/>
        </p:nvSpPr>
        <p:spPr>
          <a:xfrm>
            <a:off x="9714077" y="3579876"/>
            <a:ext cx="422808" cy="96011"/>
          </a:xfrm>
          <a:prstGeom prst="rect">
            <a:avLst/>
          </a:prstGeom>
          <a:solidFill>
            <a:srgbClr val="B4A1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Rectangle 255"/>
          <p:cNvSpPr/>
          <p:nvPr/>
        </p:nvSpPr>
        <p:spPr>
          <a:xfrm>
            <a:off x="10173462" y="3579876"/>
            <a:ext cx="422808" cy="96011"/>
          </a:xfrm>
          <a:prstGeom prst="rect">
            <a:avLst/>
          </a:prstGeom>
          <a:solidFill>
            <a:srgbClr val="AEA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ectangle 256"/>
          <p:cNvSpPr/>
          <p:nvPr/>
        </p:nvSpPr>
        <p:spPr>
          <a:xfrm>
            <a:off x="10632846" y="3579876"/>
            <a:ext cx="422808" cy="96011"/>
          </a:xfrm>
          <a:prstGeom prst="rect">
            <a:avLst/>
          </a:prstGeom>
          <a:solidFill>
            <a:srgbClr val="92A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Rectangle 257"/>
          <p:cNvSpPr/>
          <p:nvPr/>
        </p:nvSpPr>
        <p:spPr>
          <a:xfrm>
            <a:off x="11092230" y="3579876"/>
            <a:ext cx="422808" cy="96011"/>
          </a:xfrm>
          <a:prstGeom prst="rect">
            <a:avLst/>
          </a:prstGeom>
          <a:solidFill>
            <a:srgbClr val="C1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TextBox 258"/>
          <p:cNvSpPr txBox="1"/>
          <p:nvPr/>
        </p:nvSpPr>
        <p:spPr>
          <a:xfrm>
            <a:off x="6402171" y="3689604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Santa</a:t>
            </a:r>
          </a:p>
        </p:txBody>
      </p:sp>
      <p:sp>
        <p:nvSpPr>
          <p:cNvPr id="260" name="Rectangle 259"/>
          <p:cNvSpPr/>
          <p:nvPr/>
        </p:nvSpPr>
        <p:spPr>
          <a:xfrm>
            <a:off x="7417155" y="3703320"/>
            <a:ext cx="422808" cy="96011"/>
          </a:xfrm>
          <a:prstGeom prst="rect">
            <a:avLst/>
          </a:prstGeom>
          <a:solidFill>
            <a:srgbClr val="CA9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Rectangle 260"/>
          <p:cNvSpPr/>
          <p:nvPr/>
        </p:nvSpPr>
        <p:spPr>
          <a:xfrm>
            <a:off x="7876540" y="3703320"/>
            <a:ext cx="422808" cy="96011"/>
          </a:xfrm>
          <a:prstGeom prst="rect">
            <a:avLst/>
          </a:prstGeom>
          <a:solidFill>
            <a:srgbClr val="CD8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8335924" y="3703320"/>
            <a:ext cx="422808" cy="96011"/>
          </a:xfrm>
          <a:prstGeom prst="rect">
            <a:avLst/>
          </a:prstGeom>
          <a:solidFill>
            <a:srgbClr val="7EA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8795308" y="3703320"/>
            <a:ext cx="422808" cy="96011"/>
          </a:xfrm>
          <a:prstGeom prst="rect">
            <a:avLst/>
          </a:prstGeom>
          <a:solidFill>
            <a:srgbClr val="719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9254693" y="3703320"/>
            <a:ext cx="422808" cy="96011"/>
          </a:xfrm>
          <a:prstGeom prst="rect">
            <a:avLst/>
          </a:prstGeom>
          <a:solidFill>
            <a:srgbClr val="B8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9714077" y="3703320"/>
            <a:ext cx="422808" cy="96011"/>
          </a:xfrm>
          <a:prstGeom prst="rect">
            <a:avLst/>
          </a:prstGeom>
          <a:solidFill>
            <a:srgbClr val="B7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10173462" y="3703320"/>
            <a:ext cx="422808" cy="96011"/>
          </a:xfrm>
          <a:prstGeom prst="rect">
            <a:avLst/>
          </a:prstGeom>
          <a:solidFill>
            <a:srgbClr val="C99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Rectangle 266"/>
          <p:cNvSpPr/>
          <p:nvPr/>
        </p:nvSpPr>
        <p:spPr>
          <a:xfrm>
            <a:off x="10632846" y="3703320"/>
            <a:ext cx="422808" cy="96011"/>
          </a:xfrm>
          <a:prstGeom prst="rect">
            <a:avLst/>
          </a:prstGeom>
          <a:solidFill>
            <a:srgbClr val="CE7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11092230" y="3703320"/>
            <a:ext cx="422808" cy="96011"/>
          </a:xfrm>
          <a:prstGeom prst="rect">
            <a:avLst/>
          </a:prstGeom>
          <a:solidFill>
            <a:srgbClr val="CE7C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6402171" y="3813048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Ayres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7417155" y="3826763"/>
            <a:ext cx="422808" cy="96011"/>
          </a:xfrm>
          <a:prstGeom prst="rect">
            <a:avLst/>
          </a:prstGeom>
          <a:solidFill>
            <a:srgbClr val="CA9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Rectangle 270"/>
          <p:cNvSpPr/>
          <p:nvPr/>
        </p:nvSpPr>
        <p:spPr>
          <a:xfrm>
            <a:off x="7876540" y="3826763"/>
            <a:ext cx="422808" cy="96011"/>
          </a:xfrm>
          <a:prstGeom prst="rect">
            <a:avLst/>
          </a:prstGeom>
          <a:solidFill>
            <a:srgbClr val="C9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8335924" y="3826763"/>
            <a:ext cx="422808" cy="96011"/>
          </a:xfrm>
          <a:prstGeom prst="rect">
            <a:avLst/>
          </a:prstGeom>
          <a:solidFill>
            <a:srgbClr val="82A0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8795308" y="3826763"/>
            <a:ext cx="422808" cy="96011"/>
          </a:xfrm>
          <a:prstGeom prst="rect">
            <a:avLst/>
          </a:prstGeom>
          <a:solidFill>
            <a:srgbClr val="BC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9254693" y="3826763"/>
            <a:ext cx="422808" cy="96011"/>
          </a:xfrm>
          <a:prstGeom prst="rect">
            <a:avLst/>
          </a:prstGeom>
          <a:solidFill>
            <a:srgbClr val="D2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Rectangle 274"/>
          <p:cNvSpPr/>
          <p:nvPr/>
        </p:nvSpPr>
        <p:spPr>
          <a:xfrm>
            <a:off x="9714077" y="3826763"/>
            <a:ext cx="422808" cy="96011"/>
          </a:xfrm>
          <a:prstGeom prst="rect">
            <a:avLst/>
          </a:prstGeom>
          <a:solidFill>
            <a:srgbClr val="A8A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Rectangle 275"/>
          <p:cNvSpPr/>
          <p:nvPr/>
        </p:nvSpPr>
        <p:spPr>
          <a:xfrm>
            <a:off x="10173462" y="3826763"/>
            <a:ext cx="422808" cy="96011"/>
          </a:xfrm>
          <a:prstGeom prst="rect">
            <a:avLst/>
          </a:prstGeom>
          <a:solidFill>
            <a:srgbClr val="D25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Rectangle 276"/>
          <p:cNvSpPr/>
          <p:nvPr/>
        </p:nvSpPr>
        <p:spPr>
          <a:xfrm>
            <a:off x="10632846" y="3826763"/>
            <a:ext cx="422808" cy="96011"/>
          </a:xfrm>
          <a:prstGeom prst="rect">
            <a:avLst/>
          </a:prstGeom>
          <a:solidFill>
            <a:srgbClr val="CF7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11092230" y="3826763"/>
            <a:ext cx="422808" cy="96011"/>
          </a:xfrm>
          <a:prstGeom prst="rect">
            <a:avLst/>
          </a:prstGeom>
          <a:solidFill>
            <a:srgbClr val="C3A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6402171" y="3936491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El</a:t>
            </a:r>
          </a:p>
        </p:txBody>
      </p:sp>
      <p:sp>
        <p:nvSpPr>
          <p:cNvPr id="280" name="Rectangle 279"/>
          <p:cNvSpPr/>
          <p:nvPr/>
        </p:nvSpPr>
        <p:spPr>
          <a:xfrm>
            <a:off x="7417155" y="3950207"/>
            <a:ext cx="422808" cy="96011"/>
          </a:xfrm>
          <a:prstGeom prst="rect">
            <a:avLst/>
          </a:prstGeom>
          <a:solidFill>
            <a:srgbClr val="B2A1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Rectangle 280"/>
          <p:cNvSpPr/>
          <p:nvPr/>
        </p:nvSpPr>
        <p:spPr>
          <a:xfrm>
            <a:off x="7876540" y="3950207"/>
            <a:ext cx="422808" cy="96011"/>
          </a:xfrm>
          <a:prstGeom prst="rect">
            <a:avLst/>
          </a:prstGeom>
          <a:solidFill>
            <a:srgbClr val="CF7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Rectangle 281"/>
          <p:cNvSpPr/>
          <p:nvPr/>
        </p:nvSpPr>
        <p:spPr>
          <a:xfrm>
            <a:off x="8335924" y="3950207"/>
            <a:ext cx="422808" cy="96011"/>
          </a:xfrm>
          <a:prstGeom prst="rect">
            <a:avLst/>
          </a:prstGeom>
          <a:solidFill>
            <a:srgbClr val="D16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Rectangle 282"/>
          <p:cNvSpPr/>
          <p:nvPr/>
        </p:nvSpPr>
        <p:spPr>
          <a:xfrm>
            <a:off x="8795308" y="3950207"/>
            <a:ext cx="422808" cy="96011"/>
          </a:xfrm>
          <a:prstGeom prst="rect">
            <a:avLst/>
          </a:prstGeom>
          <a:solidFill>
            <a:srgbClr val="CE7C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9254693" y="3950207"/>
            <a:ext cx="422808" cy="96011"/>
          </a:xfrm>
          <a:prstGeom prst="rect">
            <a:avLst/>
          </a:prstGeom>
          <a:solidFill>
            <a:srgbClr val="D35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Rectangle 284"/>
          <p:cNvSpPr/>
          <p:nvPr/>
        </p:nvSpPr>
        <p:spPr>
          <a:xfrm>
            <a:off x="9714077" y="3950207"/>
            <a:ext cx="422808" cy="96011"/>
          </a:xfrm>
          <a:prstGeom prst="rect">
            <a:avLst/>
          </a:prstGeom>
          <a:solidFill>
            <a:srgbClr val="D06F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Rectangle 285"/>
          <p:cNvSpPr/>
          <p:nvPr/>
        </p:nvSpPr>
        <p:spPr>
          <a:xfrm>
            <a:off x="10173462" y="3950207"/>
            <a:ext cx="422808" cy="96011"/>
          </a:xfrm>
          <a:prstGeom prst="rect">
            <a:avLst/>
          </a:prstGeom>
          <a:solidFill>
            <a:srgbClr val="86A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Rectangle 286"/>
          <p:cNvSpPr/>
          <p:nvPr/>
        </p:nvSpPr>
        <p:spPr>
          <a:xfrm>
            <a:off x="10632846" y="3950207"/>
            <a:ext cx="422808" cy="96011"/>
          </a:xfrm>
          <a:prstGeom prst="rect">
            <a:avLst/>
          </a:prstGeom>
          <a:solidFill>
            <a:srgbClr val="3A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Rectangle 287"/>
          <p:cNvSpPr/>
          <p:nvPr/>
        </p:nvSpPr>
        <p:spPr>
          <a:xfrm>
            <a:off x="11092230" y="3950207"/>
            <a:ext cx="422808" cy="96011"/>
          </a:xfrm>
          <a:prstGeom prst="rect">
            <a:avLst/>
          </a:prstGeom>
          <a:solidFill>
            <a:srgbClr val="9AA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TextBox 288"/>
          <p:cNvSpPr txBox="1"/>
          <p:nvPr/>
        </p:nvSpPr>
        <p:spPr>
          <a:xfrm>
            <a:off x="6402171" y="4059935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290" name="Rectangle 289"/>
          <p:cNvSpPr/>
          <p:nvPr/>
        </p:nvSpPr>
        <p:spPr>
          <a:xfrm>
            <a:off x="7417155" y="4073651"/>
            <a:ext cx="422808" cy="96011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Rectangle 290"/>
          <p:cNvSpPr/>
          <p:nvPr/>
        </p:nvSpPr>
        <p:spPr>
          <a:xfrm>
            <a:off x="7876540" y="4073651"/>
            <a:ext cx="422808" cy="96011"/>
          </a:xfrm>
          <a:prstGeom prst="rect">
            <a:avLst/>
          </a:prstGeom>
          <a:solidFill>
            <a:srgbClr val="CC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Rectangle 291"/>
          <p:cNvSpPr/>
          <p:nvPr/>
        </p:nvSpPr>
        <p:spPr>
          <a:xfrm>
            <a:off x="8335924" y="4073651"/>
            <a:ext cx="422808" cy="96011"/>
          </a:xfrm>
          <a:prstGeom prst="rect">
            <a:avLst/>
          </a:prstGeom>
          <a:solidFill>
            <a:srgbClr val="CE7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8795308" y="4073651"/>
            <a:ext cx="422808" cy="96011"/>
          </a:xfrm>
          <a:prstGeom prst="rect">
            <a:avLst/>
          </a:prstGeom>
          <a:solidFill>
            <a:srgbClr val="C99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Rectangle 293"/>
          <p:cNvSpPr/>
          <p:nvPr/>
        </p:nvSpPr>
        <p:spPr>
          <a:xfrm>
            <a:off x="9254693" y="4073651"/>
            <a:ext cx="422808" cy="96011"/>
          </a:xfrm>
          <a:prstGeom prst="rect">
            <a:avLst/>
          </a:prstGeom>
          <a:solidFill>
            <a:srgbClr val="C9A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Rectangle 294"/>
          <p:cNvSpPr/>
          <p:nvPr/>
        </p:nvSpPr>
        <p:spPr>
          <a:xfrm>
            <a:off x="9714077" y="4073651"/>
            <a:ext cx="422808" cy="96011"/>
          </a:xfrm>
          <a:prstGeom prst="rect">
            <a:avLst/>
          </a:prstGeom>
          <a:solidFill>
            <a:srgbClr val="BFA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Rectangle 295"/>
          <p:cNvSpPr/>
          <p:nvPr/>
        </p:nvSpPr>
        <p:spPr>
          <a:xfrm>
            <a:off x="10173462" y="4073651"/>
            <a:ext cx="422808" cy="96011"/>
          </a:xfrm>
          <a:prstGeom prst="rect">
            <a:avLst/>
          </a:prstGeom>
          <a:solidFill>
            <a:srgbClr val="CE7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Rectangle 296"/>
          <p:cNvSpPr/>
          <p:nvPr/>
        </p:nvSpPr>
        <p:spPr>
          <a:xfrm>
            <a:off x="10632846" y="4073651"/>
            <a:ext cx="422808" cy="96011"/>
          </a:xfrm>
          <a:prstGeom prst="rect">
            <a:avLst/>
          </a:prstGeom>
          <a:solidFill>
            <a:srgbClr val="D25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Rectangle 297"/>
          <p:cNvSpPr/>
          <p:nvPr/>
        </p:nvSpPr>
        <p:spPr>
          <a:xfrm>
            <a:off x="11092230" y="4073651"/>
            <a:ext cx="422808" cy="96011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TextBox 298"/>
          <p:cNvSpPr txBox="1"/>
          <p:nvPr/>
        </p:nvSpPr>
        <p:spPr>
          <a:xfrm>
            <a:off x="6402171" y="4183380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Colina</a:t>
            </a:r>
          </a:p>
        </p:txBody>
      </p:sp>
      <p:sp>
        <p:nvSpPr>
          <p:cNvPr id="300" name="Rectangle 299"/>
          <p:cNvSpPr/>
          <p:nvPr/>
        </p:nvSpPr>
        <p:spPr>
          <a:xfrm>
            <a:off x="7417155" y="4197096"/>
            <a:ext cx="422808" cy="96011"/>
          </a:xfrm>
          <a:prstGeom prst="rect">
            <a:avLst/>
          </a:prstGeom>
          <a:solidFill>
            <a:srgbClr val="CD8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Rectangle 300"/>
          <p:cNvSpPr/>
          <p:nvPr/>
        </p:nvSpPr>
        <p:spPr>
          <a:xfrm>
            <a:off x="7876540" y="4197096"/>
            <a:ext cx="422808" cy="96011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Rectangle 301"/>
          <p:cNvSpPr/>
          <p:nvPr/>
        </p:nvSpPr>
        <p:spPr>
          <a:xfrm>
            <a:off x="8335924" y="4197096"/>
            <a:ext cx="422808" cy="96011"/>
          </a:xfrm>
          <a:prstGeom prst="rect">
            <a:avLst/>
          </a:prstGeom>
          <a:solidFill>
            <a:srgbClr val="C9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Rectangle 302"/>
          <p:cNvSpPr/>
          <p:nvPr/>
        </p:nvSpPr>
        <p:spPr>
          <a:xfrm>
            <a:off x="8795308" y="4197096"/>
            <a:ext cx="422808" cy="96011"/>
          </a:xfrm>
          <a:prstGeom prst="rect">
            <a:avLst/>
          </a:prstGeom>
          <a:solidFill>
            <a:srgbClr val="5F9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Rectangle 303"/>
          <p:cNvSpPr/>
          <p:nvPr/>
        </p:nvSpPr>
        <p:spPr>
          <a:xfrm>
            <a:off x="9254693" y="4197096"/>
            <a:ext cx="422808" cy="96011"/>
          </a:xfrm>
          <a:prstGeom prst="rect">
            <a:avLst/>
          </a:prstGeom>
          <a:solidFill>
            <a:srgbClr val="D35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Rectangle 304"/>
          <p:cNvSpPr/>
          <p:nvPr/>
        </p:nvSpPr>
        <p:spPr>
          <a:xfrm>
            <a:off x="9714077" y="4197096"/>
            <a:ext cx="422808" cy="96011"/>
          </a:xfrm>
          <a:prstGeom prst="rect">
            <a:avLst/>
          </a:prstGeom>
          <a:solidFill>
            <a:srgbClr val="CD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Rectangle 305"/>
          <p:cNvSpPr/>
          <p:nvPr/>
        </p:nvSpPr>
        <p:spPr>
          <a:xfrm>
            <a:off x="10173462" y="4197096"/>
            <a:ext cx="422808" cy="96011"/>
          </a:xfrm>
          <a:prstGeom prst="rect">
            <a:avLst/>
          </a:prstGeom>
          <a:solidFill>
            <a:srgbClr val="CF7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Rectangle 306"/>
          <p:cNvSpPr/>
          <p:nvPr/>
        </p:nvSpPr>
        <p:spPr>
          <a:xfrm>
            <a:off x="10632846" y="4197096"/>
            <a:ext cx="422808" cy="96011"/>
          </a:xfrm>
          <a:prstGeom prst="rect">
            <a:avLst/>
          </a:prstGeom>
          <a:solidFill>
            <a:srgbClr val="CC8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Rectangle 307"/>
          <p:cNvSpPr/>
          <p:nvPr/>
        </p:nvSpPr>
        <p:spPr>
          <a:xfrm>
            <a:off x="11092230" y="4197096"/>
            <a:ext cx="422808" cy="96011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TextBox 308"/>
          <p:cNvSpPr txBox="1"/>
          <p:nvPr/>
        </p:nvSpPr>
        <p:spPr>
          <a:xfrm>
            <a:off x="658368" y="4498848"/>
            <a:ext cx="10874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E6A64"/>
                </a:solidFill>
                <a:latin typeface="Helvetica Neue"/>
              </a:rPr>
              <a:t>Con el tren  </a:t>
            </a:r>
            <a:r>
              <a:rPr sz="1300" b="1">
                <a:solidFill>
                  <a:srgbClr val="B07D24"/>
                </a:solidFill>
                <a:latin typeface="Helvetica Neue"/>
              </a:rPr>
              <a:t>Est. Colina 5º→1º</a:t>
            </a:r>
            <a:r>
              <a:rPr sz="1200" b="0">
                <a:solidFill>
                  <a:srgbClr val="6E6A64"/>
                </a:solidFill>
                <a:latin typeface="Helvetica Neue"/>
              </a:rPr>
              <a:t>  y  </a:t>
            </a:r>
            <a:r>
              <a:rPr sz="1300" b="1">
                <a:solidFill>
                  <a:srgbClr val="B07D24"/>
                </a:solidFill>
                <a:latin typeface="Helvetica Neue"/>
              </a:rPr>
              <a:t>Batuco 11º→2º</a:t>
            </a:r>
            <a:r>
              <a:rPr sz="1200" b="0">
                <a:solidFill>
                  <a:srgbClr val="6E6A64"/>
                </a:solidFill>
                <a:latin typeface="Helvetica Neue"/>
              </a:rPr>
              <a:t>      con la Orbital  </a:t>
            </a:r>
            <a:r>
              <a:rPr sz="1300" b="1">
                <a:solidFill>
                  <a:srgbClr val="B07D24"/>
                </a:solidFill>
                <a:latin typeface="Helvetica Neue"/>
              </a:rPr>
              <a:t>Batuco 11º→3º en auto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Rectangle 310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TextBox 311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313" name="TextBox 312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El transporte público de nuestros proyectos pasa de rojo a verde con el tren; la Orbital hace lo mismo con Batuco en auto. Ambas obras ya están en construcción.</a:t>
            </a:r>
          </a:p>
        </p:txBody>
      </p:sp>
      <p:cxnSp>
        <p:nvCxnSpPr>
          <p:cNvPr id="314" name="Connector 313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5" name="TextBox 314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316" name="TextBox 315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04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CUÁNTO VALE · SOBREPRECIO, TODAS CON TODAS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spc="-10">
                <a:solidFill>
                  <a:srgbClr val="161616"/>
                </a:solidFill>
                <a:latin typeface="Helvetica Neue"/>
              </a:rPr>
              <a:t>Cuánto más —o menos— puede pedir cada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spc="-10">
                <a:solidFill>
                  <a:srgbClr val="161616"/>
                </a:solidFill>
                <a:latin typeface="Helvetica Neue"/>
              </a:rPr>
              <a:t>zona que otra, en UF de conectividad.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24328" y="2121408"/>
            <a:ext cx="636357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E6A64"/>
                </a:solidFill>
                <a:latin typeface="Helvetica Neue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60685" y="2121408"/>
            <a:ext cx="636357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E6A64"/>
                </a:solidFill>
                <a:latin typeface="Helvetica Ne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97042" y="2121408"/>
            <a:ext cx="636357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E6A64"/>
                </a:solidFill>
                <a:latin typeface="Helvetica Neue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3399" y="2121408"/>
            <a:ext cx="636357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E6A64"/>
                </a:solidFill>
                <a:latin typeface="Helvetica Neue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69756" y="2121408"/>
            <a:ext cx="636357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E6A64"/>
                </a:solidFill>
                <a:latin typeface="Helvetica Neue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06113" y="2121408"/>
            <a:ext cx="636357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E6A64"/>
                </a:solidFill>
                <a:latin typeface="Helvetica Neue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2470" y="2121408"/>
            <a:ext cx="636357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E6A64"/>
                </a:solidFill>
                <a:latin typeface="Helvetica Neue"/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78827" y="2121408"/>
            <a:ext cx="636357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E6A64"/>
                </a:solidFill>
                <a:latin typeface="Helvetica Neue"/>
              </a:rPr>
              <a:t>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15184" y="2121408"/>
            <a:ext cx="636357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E6A64"/>
                </a:solidFill>
                <a:latin typeface="Helvetica Neue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51541" y="2121408"/>
            <a:ext cx="636357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E6A64"/>
                </a:solidFill>
                <a:latin typeface="Helvetica Neue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87898" y="2121408"/>
            <a:ext cx="636357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E6A64"/>
                </a:solidFill>
                <a:latin typeface="Helvetica Neue"/>
              </a:rPr>
              <a:t>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24255" y="2121408"/>
            <a:ext cx="636357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E6A64"/>
                </a:solidFill>
                <a:latin typeface="Helvetica Neue"/>
              </a:rPr>
              <a:t>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60613" y="2121408"/>
            <a:ext cx="636357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E6A64"/>
                </a:solidFill>
                <a:latin typeface="Helvetica Neue"/>
              </a:rPr>
              <a:t>13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96970" y="2121408"/>
            <a:ext cx="636357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E6A64"/>
                </a:solidFill>
                <a:latin typeface="Helvetica Neue"/>
              </a:rPr>
              <a:t>14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2359152"/>
            <a:ext cx="1856231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35300" y="2370124"/>
            <a:ext cx="614411" cy="155709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71657" y="2370124"/>
            <a:ext cx="614411" cy="155709"/>
          </a:xfrm>
          <a:prstGeom prst="rect">
            <a:avLst/>
          </a:prstGeom>
          <a:solidFill>
            <a:srgbClr val="F2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60685" y="2359152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908014" y="2370124"/>
            <a:ext cx="614411" cy="155709"/>
          </a:xfrm>
          <a:prstGeom prst="rect">
            <a:avLst/>
          </a:prstGeom>
          <a:solidFill>
            <a:srgbClr val="E0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97042" y="2359152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+84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44372" y="2370124"/>
            <a:ext cx="614411" cy="155709"/>
          </a:xfrm>
          <a:prstGeom prst="rect">
            <a:avLst/>
          </a:prstGeom>
          <a:solidFill>
            <a:srgbClr val="A0C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33399" y="2359152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+592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80729" y="2370124"/>
            <a:ext cx="614411" cy="155709"/>
          </a:xfrm>
          <a:prstGeom prst="rect">
            <a:avLst/>
          </a:prstGeom>
          <a:solidFill>
            <a:srgbClr val="98CB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69756" y="2359152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+667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17086" y="2370124"/>
            <a:ext cx="614411" cy="155709"/>
          </a:xfrm>
          <a:prstGeom prst="rect">
            <a:avLst/>
          </a:prstGeom>
          <a:solidFill>
            <a:srgbClr val="93C9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06113" y="2359152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+718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53443" y="2370124"/>
            <a:ext cx="614411" cy="155709"/>
          </a:xfrm>
          <a:prstGeom prst="rect">
            <a:avLst/>
          </a:prstGeom>
          <a:solidFill>
            <a:srgbClr val="85C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42470" y="2359152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+869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089800" y="2370124"/>
            <a:ext cx="614411" cy="155709"/>
          </a:xfrm>
          <a:prstGeom prst="rect">
            <a:avLst/>
          </a:prstGeom>
          <a:solidFill>
            <a:srgbClr val="7CB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78827" y="2359152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+970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26157" y="2370124"/>
            <a:ext cx="614411" cy="155709"/>
          </a:xfrm>
          <a:prstGeom prst="rect">
            <a:avLst/>
          </a:prstGeom>
          <a:solidFill>
            <a:srgbClr val="78B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15184" y="2359152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+1014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362514" y="2370124"/>
            <a:ext cx="614411" cy="155709"/>
          </a:xfrm>
          <a:prstGeom prst="rect">
            <a:avLst/>
          </a:prstGeom>
          <a:solidFill>
            <a:srgbClr val="66B6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51541" y="2359152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+1222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998871" y="2370124"/>
            <a:ext cx="614411" cy="155709"/>
          </a:xfrm>
          <a:prstGeom prst="rect">
            <a:avLst/>
          </a:prstGeom>
          <a:solidFill>
            <a:srgbClr val="64B5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987898" y="2359152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+1258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35228" y="2370124"/>
            <a:ext cx="614411" cy="155709"/>
          </a:xfrm>
          <a:prstGeom prst="rect">
            <a:avLst/>
          </a:prstGeom>
          <a:solidFill>
            <a:srgbClr val="56AF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624255" y="2359152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+1427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271585" y="2370124"/>
            <a:ext cx="614411" cy="155709"/>
          </a:xfrm>
          <a:prstGeom prst="rect">
            <a:avLst/>
          </a:prstGeom>
          <a:solidFill>
            <a:srgbClr val="4CA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260613" y="2359152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+1557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907942" y="2370124"/>
            <a:ext cx="614411" cy="155709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896970" y="2359152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+1954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4088" y="2536806"/>
            <a:ext cx="1856231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2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35300" y="2547779"/>
            <a:ext cx="614411" cy="155709"/>
          </a:xfrm>
          <a:prstGeom prst="rect">
            <a:avLst/>
          </a:prstGeom>
          <a:solidFill>
            <a:srgbClr val="F5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624328" y="253680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-10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71657" y="2547779"/>
            <a:ext cx="614411" cy="155709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908014" y="2547779"/>
            <a:ext cx="614411" cy="155709"/>
          </a:xfrm>
          <a:prstGeom prst="rect">
            <a:avLst/>
          </a:prstGeom>
          <a:solidFill>
            <a:srgbClr val="E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897042" y="253680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+75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44372" y="2547779"/>
            <a:ext cx="614411" cy="155709"/>
          </a:xfrm>
          <a:prstGeom prst="rect">
            <a:avLst/>
          </a:prstGeom>
          <a:solidFill>
            <a:srgbClr val="A1C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533399" y="253680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+582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180729" y="2547779"/>
            <a:ext cx="614411" cy="155709"/>
          </a:xfrm>
          <a:prstGeom prst="rect">
            <a:avLst/>
          </a:prstGeom>
          <a:solidFill>
            <a:srgbClr val="99CC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169756" y="253680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+658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817086" y="2547779"/>
            <a:ext cx="614411" cy="155709"/>
          </a:xfrm>
          <a:prstGeom prst="rect">
            <a:avLst/>
          </a:prstGeom>
          <a:solidFill>
            <a:srgbClr val="94CA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806113" y="253680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+709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53443" y="2547779"/>
            <a:ext cx="614411" cy="155709"/>
          </a:xfrm>
          <a:prstGeom prst="rect">
            <a:avLst/>
          </a:prstGeom>
          <a:solidFill>
            <a:srgbClr val="86C4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42470" y="253680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+859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089800" y="2547779"/>
            <a:ext cx="614411" cy="155709"/>
          </a:xfrm>
          <a:prstGeom prst="rect">
            <a:avLst/>
          </a:prstGeom>
          <a:solidFill>
            <a:srgbClr val="7DC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078827" y="253680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+960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726157" y="2547779"/>
            <a:ext cx="614411" cy="155709"/>
          </a:xfrm>
          <a:prstGeom prst="rect">
            <a:avLst/>
          </a:prstGeom>
          <a:solidFill>
            <a:srgbClr val="79B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715184" y="253680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+1005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362514" y="2547779"/>
            <a:ext cx="614411" cy="155709"/>
          </a:xfrm>
          <a:prstGeom prst="rect">
            <a:avLst/>
          </a:prstGeom>
          <a:solidFill>
            <a:srgbClr val="67B6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51541" y="253680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+1213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998871" y="2547779"/>
            <a:ext cx="614411" cy="155709"/>
          </a:xfrm>
          <a:prstGeom prst="rect">
            <a:avLst/>
          </a:prstGeom>
          <a:solidFill>
            <a:srgbClr val="64B5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987898" y="253680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+1249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635228" y="2547779"/>
            <a:ext cx="614411" cy="155709"/>
          </a:xfrm>
          <a:prstGeom prst="rect">
            <a:avLst/>
          </a:prstGeom>
          <a:solidFill>
            <a:srgbClr val="57A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624255" y="253680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+1417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271585" y="2547779"/>
            <a:ext cx="614411" cy="155709"/>
          </a:xfrm>
          <a:prstGeom prst="rect">
            <a:avLst/>
          </a:prstGeom>
          <a:solidFill>
            <a:srgbClr val="4DA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260613" y="253680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+1547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907942" y="2547779"/>
            <a:ext cx="614411" cy="155709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0896970" y="253680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+1944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04088" y="2714461"/>
            <a:ext cx="1856231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3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635300" y="2725434"/>
            <a:ext cx="614411" cy="155709"/>
          </a:xfrm>
          <a:prstGeom prst="rect">
            <a:avLst/>
          </a:prstGeom>
          <a:solidFill>
            <a:srgbClr val="F0E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624328" y="271446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-84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271657" y="2725434"/>
            <a:ext cx="614411" cy="155709"/>
          </a:xfrm>
          <a:prstGeom prst="rect">
            <a:avLst/>
          </a:prstGeom>
          <a:solidFill>
            <a:srgbClr val="F1E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260685" y="271446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-75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908014" y="2725434"/>
            <a:ext cx="614411" cy="155709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544372" y="2725434"/>
            <a:ext cx="614411" cy="155709"/>
          </a:xfrm>
          <a:prstGeom prst="rect">
            <a:avLst/>
          </a:prstGeom>
          <a:solidFill>
            <a:srgbClr val="A9D3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533399" y="271446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+507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180729" y="2725434"/>
            <a:ext cx="614411" cy="155709"/>
          </a:xfrm>
          <a:prstGeom prst="rect">
            <a:avLst/>
          </a:prstGeom>
          <a:solidFill>
            <a:srgbClr val="A1C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169756" y="271446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+583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817086" y="2725434"/>
            <a:ext cx="614411" cy="155709"/>
          </a:xfrm>
          <a:prstGeom prst="rect">
            <a:avLst/>
          </a:prstGeom>
          <a:solidFill>
            <a:srgbClr val="9CC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806113" y="271446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+634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453443" y="2725434"/>
            <a:ext cx="614411" cy="155709"/>
          </a:xfrm>
          <a:prstGeom prst="rect">
            <a:avLst/>
          </a:prstGeom>
          <a:solidFill>
            <a:srgbClr val="8DC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442470" y="271446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+785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089800" y="2725434"/>
            <a:ext cx="614411" cy="155709"/>
          </a:xfrm>
          <a:prstGeom prst="rect">
            <a:avLst/>
          </a:prstGeom>
          <a:solidFill>
            <a:srgbClr val="84C3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078827" y="271446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+886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726157" y="2725434"/>
            <a:ext cx="614411" cy="155709"/>
          </a:xfrm>
          <a:prstGeom prst="rect">
            <a:avLst/>
          </a:prstGeom>
          <a:solidFill>
            <a:srgbClr val="80C1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7715184" y="271446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+930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362514" y="2725434"/>
            <a:ext cx="614411" cy="155709"/>
          </a:xfrm>
          <a:prstGeom prst="rect">
            <a:avLst/>
          </a:prstGeom>
          <a:solidFill>
            <a:srgbClr val="6EB9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351541" y="271446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+1138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998871" y="2725434"/>
            <a:ext cx="614411" cy="155709"/>
          </a:xfrm>
          <a:prstGeom prst="rect">
            <a:avLst/>
          </a:prstGeom>
          <a:solidFill>
            <a:srgbClr val="6AB8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987898" y="271446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+1174</a:t>
            </a:r>
          </a:p>
        </p:txBody>
      </p:sp>
      <p:sp>
        <p:nvSpPr>
          <p:cNvPr id="97" name="Rectangle 96"/>
          <p:cNvSpPr/>
          <p:nvPr/>
        </p:nvSpPr>
        <p:spPr>
          <a:xfrm>
            <a:off x="9635228" y="2725434"/>
            <a:ext cx="614411" cy="155709"/>
          </a:xfrm>
          <a:prstGeom prst="rect">
            <a:avLst/>
          </a:prstGeom>
          <a:solidFill>
            <a:srgbClr val="5DB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9624255" y="271446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+1343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0271585" y="2725434"/>
            <a:ext cx="614411" cy="155709"/>
          </a:xfrm>
          <a:prstGeom prst="rect">
            <a:avLst/>
          </a:prstGeom>
          <a:solidFill>
            <a:srgbClr val="52A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0260613" y="271446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+1472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0907942" y="2725434"/>
            <a:ext cx="614411" cy="155709"/>
          </a:xfrm>
          <a:prstGeom prst="rect">
            <a:avLst/>
          </a:prstGeom>
          <a:solidFill>
            <a:srgbClr val="35A0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896970" y="271446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+1870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58368" y="2899431"/>
            <a:ext cx="1920240" cy="163024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704088" y="2892116"/>
            <a:ext cx="1856231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4  </a:t>
            </a:r>
            <a:r>
              <a:rPr sz="8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2635300" y="2903089"/>
            <a:ext cx="614411" cy="155709"/>
          </a:xfrm>
          <a:prstGeom prst="rect">
            <a:avLst/>
          </a:prstGeom>
          <a:solidFill>
            <a:srgbClr val="DFA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2624328" y="289211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-592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3271657" y="2903089"/>
            <a:ext cx="614411" cy="155709"/>
          </a:xfrm>
          <a:prstGeom prst="rect">
            <a:avLst/>
          </a:prstGeom>
          <a:solidFill>
            <a:srgbClr val="DFA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3260685" y="289211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-582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3908014" y="2903089"/>
            <a:ext cx="614411" cy="155709"/>
          </a:xfrm>
          <a:prstGeom prst="rect">
            <a:avLst/>
          </a:prstGeom>
          <a:solidFill>
            <a:srgbClr val="E1B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897042" y="289211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-507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4544372" y="2903089"/>
            <a:ext cx="614411" cy="155709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5180729" y="2903089"/>
            <a:ext cx="614411" cy="155709"/>
          </a:xfrm>
          <a:prstGeom prst="rect">
            <a:avLst/>
          </a:prstGeom>
          <a:solidFill>
            <a:srgbClr val="E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69756" y="289211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+76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5817086" y="2903089"/>
            <a:ext cx="614411" cy="155709"/>
          </a:xfrm>
          <a:prstGeom prst="rect">
            <a:avLst/>
          </a:prstGeom>
          <a:solidFill>
            <a:srgbClr val="D9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806113" y="289211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+127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453443" y="2903089"/>
            <a:ext cx="614411" cy="155709"/>
          </a:xfrm>
          <a:prstGeom prst="rect">
            <a:avLst/>
          </a:prstGeom>
          <a:solidFill>
            <a:srgbClr val="C3DE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6442470" y="289211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+278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7089800" y="2903089"/>
            <a:ext cx="614411" cy="155709"/>
          </a:xfrm>
          <a:prstGeom prst="rect">
            <a:avLst/>
          </a:prstGeom>
          <a:solidFill>
            <a:srgbClr val="B7D9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7078827" y="289211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+379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726157" y="2903089"/>
            <a:ext cx="614411" cy="155709"/>
          </a:xfrm>
          <a:prstGeom prst="rect">
            <a:avLst/>
          </a:prstGeom>
          <a:solidFill>
            <a:srgbClr val="B2D7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715184" y="289211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+423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362514" y="2903089"/>
            <a:ext cx="614411" cy="155709"/>
          </a:xfrm>
          <a:prstGeom prst="rect">
            <a:avLst/>
          </a:prstGeom>
          <a:solidFill>
            <a:srgbClr val="9CC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351541" y="289211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+631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8998871" y="2903089"/>
            <a:ext cx="614411" cy="155709"/>
          </a:xfrm>
          <a:prstGeom prst="rect">
            <a:avLst/>
          </a:prstGeom>
          <a:solidFill>
            <a:srgbClr val="98CC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987898" y="289211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+667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635228" y="2903089"/>
            <a:ext cx="614411" cy="155709"/>
          </a:xfrm>
          <a:prstGeom prst="rect">
            <a:avLst/>
          </a:prstGeom>
          <a:solidFill>
            <a:srgbClr val="88C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624255" y="289211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+836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10271585" y="2903089"/>
            <a:ext cx="614411" cy="155709"/>
          </a:xfrm>
          <a:prstGeom prst="rect">
            <a:avLst/>
          </a:prstGeom>
          <a:solidFill>
            <a:srgbClr val="7CB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10260613" y="289211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+965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10907942" y="2903089"/>
            <a:ext cx="614411" cy="155709"/>
          </a:xfrm>
          <a:prstGeom prst="rect">
            <a:avLst/>
          </a:prstGeom>
          <a:solidFill>
            <a:srgbClr val="5BB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0896970" y="289211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+1363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04088" y="3069771"/>
            <a:ext cx="1856231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5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2635300" y="3080744"/>
            <a:ext cx="614411" cy="155709"/>
          </a:xfrm>
          <a:prstGeom prst="rect">
            <a:avLst/>
          </a:prstGeom>
          <a:solidFill>
            <a:srgbClr val="DDA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2624328" y="306977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-667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3271657" y="3080744"/>
            <a:ext cx="614411" cy="155709"/>
          </a:xfrm>
          <a:prstGeom prst="rect">
            <a:avLst/>
          </a:prstGeom>
          <a:solidFill>
            <a:srgbClr val="DDA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3260685" y="306977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-658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3908014" y="3080744"/>
            <a:ext cx="614411" cy="155709"/>
          </a:xfrm>
          <a:prstGeom prst="rect">
            <a:avLst/>
          </a:prstGeom>
          <a:solidFill>
            <a:srgbClr val="DFA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3897042" y="306977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-583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4544372" y="3080744"/>
            <a:ext cx="614411" cy="155709"/>
          </a:xfrm>
          <a:prstGeom prst="rect">
            <a:avLst/>
          </a:prstGeom>
          <a:solidFill>
            <a:srgbClr val="F1E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4533399" y="306977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-76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5180729" y="3080744"/>
            <a:ext cx="614411" cy="155709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5817086" y="3080744"/>
            <a:ext cx="614411" cy="155709"/>
          </a:xfrm>
          <a:prstGeom prst="rect">
            <a:avLst/>
          </a:prstGeom>
          <a:solidFill>
            <a:srgbClr val="E7E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806113" y="306977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+51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453443" y="3080744"/>
            <a:ext cx="614411" cy="155709"/>
          </a:xfrm>
          <a:prstGeom prst="rect">
            <a:avLst/>
          </a:prstGeom>
          <a:solidFill>
            <a:srgbClr val="CE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6442470" y="306977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+202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7089800" y="3080744"/>
            <a:ext cx="614411" cy="155709"/>
          </a:xfrm>
          <a:prstGeom prst="rect">
            <a:avLst/>
          </a:prstGeom>
          <a:solidFill>
            <a:srgbClr val="C0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7078827" y="306977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+303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726157" y="3080744"/>
            <a:ext cx="614411" cy="155709"/>
          </a:xfrm>
          <a:prstGeom prst="rect">
            <a:avLst/>
          </a:prstGeom>
          <a:solidFill>
            <a:srgbClr val="BBDB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7715184" y="306977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+347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8362514" y="3080744"/>
            <a:ext cx="614411" cy="155709"/>
          </a:xfrm>
          <a:prstGeom prst="rect">
            <a:avLst/>
          </a:prstGeom>
          <a:solidFill>
            <a:srgbClr val="A4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8351541" y="306977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+555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8998871" y="3080744"/>
            <a:ext cx="614411" cy="155709"/>
          </a:xfrm>
          <a:prstGeom prst="rect">
            <a:avLst/>
          </a:prstGeom>
          <a:solidFill>
            <a:srgbClr val="A0C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987898" y="306977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+591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9635228" y="3080744"/>
            <a:ext cx="614411" cy="155709"/>
          </a:xfrm>
          <a:prstGeom prst="rect">
            <a:avLst/>
          </a:prstGeom>
          <a:solidFill>
            <a:srgbClr val="8FC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9624255" y="306977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+760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10271585" y="3080744"/>
            <a:ext cx="614411" cy="155709"/>
          </a:xfrm>
          <a:prstGeom prst="rect">
            <a:avLst/>
          </a:prstGeom>
          <a:solidFill>
            <a:srgbClr val="83C2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10260613" y="306977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+889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10907942" y="3080744"/>
            <a:ext cx="614411" cy="155709"/>
          </a:xfrm>
          <a:prstGeom prst="rect">
            <a:avLst/>
          </a:prstGeom>
          <a:solidFill>
            <a:srgbClr val="61B4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10896970" y="306977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+1287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04088" y="3247426"/>
            <a:ext cx="1856231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6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NOS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2635300" y="3258399"/>
            <a:ext cx="614411" cy="155709"/>
          </a:xfrm>
          <a:prstGeom prst="rect">
            <a:avLst/>
          </a:prstGeom>
          <a:solidFill>
            <a:srgbClr val="DBA3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2624328" y="324742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-718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3271657" y="3258399"/>
            <a:ext cx="614411" cy="155709"/>
          </a:xfrm>
          <a:prstGeom prst="rect">
            <a:avLst/>
          </a:prstGeom>
          <a:solidFill>
            <a:srgbClr val="DBA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3260685" y="324742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-709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3908014" y="3258399"/>
            <a:ext cx="614411" cy="155709"/>
          </a:xfrm>
          <a:prstGeom prst="rect">
            <a:avLst/>
          </a:prstGeom>
          <a:solidFill>
            <a:srgbClr val="DDA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3897042" y="324742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-634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4544372" y="3258399"/>
            <a:ext cx="614411" cy="155709"/>
          </a:xfrm>
          <a:prstGeom prst="rect">
            <a:avLst/>
          </a:prstGeom>
          <a:solidFill>
            <a:srgbClr val="EE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33399" y="324742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-127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5180729" y="3258399"/>
            <a:ext cx="614411" cy="155709"/>
          </a:xfrm>
          <a:prstGeom prst="rect">
            <a:avLst/>
          </a:prstGeom>
          <a:solidFill>
            <a:srgbClr val="F2E8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5169756" y="324742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-51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5817086" y="3258399"/>
            <a:ext cx="614411" cy="155709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6453443" y="3258399"/>
            <a:ext cx="614411" cy="155709"/>
          </a:xfrm>
          <a:prstGeom prst="rect">
            <a:avLst/>
          </a:prstGeom>
          <a:solidFill>
            <a:srgbClr val="D5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6442470" y="324742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+151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7089800" y="3258399"/>
            <a:ext cx="614411" cy="155709"/>
          </a:xfrm>
          <a:prstGeom prst="rect">
            <a:avLst/>
          </a:prstGeom>
          <a:solidFill>
            <a:srgbClr val="C7E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7078827" y="324742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+252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7726157" y="3258399"/>
            <a:ext cx="614411" cy="155709"/>
          </a:xfrm>
          <a:prstGeom prst="rect">
            <a:avLst/>
          </a:prstGeom>
          <a:solidFill>
            <a:srgbClr val="C1DD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7715184" y="324742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+296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362514" y="3258399"/>
            <a:ext cx="614411" cy="155709"/>
          </a:xfrm>
          <a:prstGeom prst="rect">
            <a:avLst/>
          </a:prstGeom>
          <a:solidFill>
            <a:srgbClr val="A9D3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351541" y="324742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+504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8998871" y="3258399"/>
            <a:ext cx="614411" cy="155709"/>
          </a:xfrm>
          <a:prstGeom prst="rect">
            <a:avLst/>
          </a:prstGeom>
          <a:solidFill>
            <a:srgbClr val="A5D1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8987898" y="324742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+540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9635228" y="3258399"/>
            <a:ext cx="614411" cy="155709"/>
          </a:xfrm>
          <a:prstGeom prst="rect">
            <a:avLst/>
          </a:prstGeom>
          <a:solidFill>
            <a:srgbClr val="94CA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9624255" y="324742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+709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10271585" y="3258399"/>
            <a:ext cx="614411" cy="155709"/>
          </a:xfrm>
          <a:prstGeom prst="rect">
            <a:avLst/>
          </a:prstGeom>
          <a:solidFill>
            <a:srgbClr val="88C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10260613" y="324742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+838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10907942" y="3258399"/>
            <a:ext cx="614411" cy="155709"/>
          </a:xfrm>
          <a:prstGeom prst="rect">
            <a:avLst/>
          </a:prstGeom>
          <a:solidFill>
            <a:srgbClr val="65B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10896970" y="324742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+1236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704088" y="3425081"/>
            <a:ext cx="1856231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7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Santa Elena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2635300" y="3436053"/>
            <a:ext cx="614411" cy="155709"/>
          </a:xfrm>
          <a:prstGeom prst="rect">
            <a:avLst/>
          </a:prstGeom>
          <a:solidFill>
            <a:srgbClr val="D797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2624328" y="342508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-869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271657" y="3436053"/>
            <a:ext cx="614411" cy="155709"/>
          </a:xfrm>
          <a:prstGeom prst="rect">
            <a:avLst/>
          </a:prstGeom>
          <a:solidFill>
            <a:srgbClr val="D89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3260685" y="342508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-859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3908014" y="3436053"/>
            <a:ext cx="614411" cy="155709"/>
          </a:xfrm>
          <a:prstGeom prst="rect">
            <a:avLst/>
          </a:prstGeom>
          <a:solidFill>
            <a:srgbClr val="D99E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3897042" y="342508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-785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4544372" y="3436053"/>
            <a:ext cx="614411" cy="155709"/>
          </a:xfrm>
          <a:prstGeom prst="rect">
            <a:avLst/>
          </a:prstGeom>
          <a:solidFill>
            <a:srgbClr val="E8C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4533399" y="342508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-278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5180729" y="3436053"/>
            <a:ext cx="614411" cy="155709"/>
          </a:xfrm>
          <a:prstGeom prst="rect">
            <a:avLst/>
          </a:prstGeom>
          <a:solidFill>
            <a:srgbClr val="EBD3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5169756" y="342508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-202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5817086" y="3436053"/>
            <a:ext cx="614411" cy="155709"/>
          </a:xfrm>
          <a:prstGeom prst="rect">
            <a:avLst/>
          </a:prstGeom>
          <a:solidFill>
            <a:srgbClr val="EDD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5806113" y="342508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-151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6453443" y="3436053"/>
            <a:ext cx="614411" cy="155709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7089800" y="3436053"/>
            <a:ext cx="614411" cy="155709"/>
          </a:xfrm>
          <a:prstGeom prst="rect">
            <a:avLst/>
          </a:prstGeom>
          <a:solidFill>
            <a:srgbClr val="DD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TextBox 202"/>
          <p:cNvSpPr txBox="1"/>
          <p:nvPr/>
        </p:nvSpPr>
        <p:spPr>
          <a:xfrm>
            <a:off x="7078827" y="342508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+101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7726157" y="3436053"/>
            <a:ext cx="614411" cy="155709"/>
          </a:xfrm>
          <a:prstGeom prst="rect">
            <a:avLst/>
          </a:prstGeom>
          <a:solidFill>
            <a:srgbClr val="D6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7715184" y="342508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+145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8362514" y="3436053"/>
            <a:ext cx="614411" cy="155709"/>
          </a:xfrm>
          <a:prstGeom prst="rect">
            <a:avLst/>
          </a:prstGeom>
          <a:solidFill>
            <a:srgbClr val="BAD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TextBox 206"/>
          <p:cNvSpPr txBox="1"/>
          <p:nvPr/>
        </p:nvSpPr>
        <p:spPr>
          <a:xfrm>
            <a:off x="8351541" y="342508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+353</a:t>
            </a:r>
          </a:p>
        </p:txBody>
      </p:sp>
      <p:sp>
        <p:nvSpPr>
          <p:cNvPr id="208" name="Rectangle 207"/>
          <p:cNvSpPr/>
          <p:nvPr/>
        </p:nvSpPr>
        <p:spPr>
          <a:xfrm>
            <a:off x="8998871" y="3436053"/>
            <a:ext cx="614411" cy="155709"/>
          </a:xfrm>
          <a:prstGeom prst="rect">
            <a:avLst/>
          </a:prstGeom>
          <a:solidFill>
            <a:srgbClr val="B6D8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8987898" y="342508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+389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9635228" y="3436053"/>
            <a:ext cx="614411" cy="155709"/>
          </a:xfrm>
          <a:prstGeom prst="rect">
            <a:avLst/>
          </a:prstGeom>
          <a:solidFill>
            <a:srgbClr val="A3D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9624255" y="342508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+558</a:t>
            </a:r>
          </a:p>
        </p:txBody>
      </p:sp>
      <p:sp>
        <p:nvSpPr>
          <p:cNvPr id="212" name="Rectangle 211"/>
          <p:cNvSpPr/>
          <p:nvPr/>
        </p:nvSpPr>
        <p:spPr>
          <a:xfrm>
            <a:off x="10271585" y="3436053"/>
            <a:ext cx="614411" cy="155709"/>
          </a:xfrm>
          <a:prstGeom prst="rect">
            <a:avLst/>
          </a:prstGeom>
          <a:solidFill>
            <a:srgbClr val="96CB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10260613" y="342508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+688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10907942" y="3436053"/>
            <a:ext cx="614411" cy="155709"/>
          </a:xfrm>
          <a:prstGeom prst="rect">
            <a:avLst/>
          </a:prstGeom>
          <a:solidFill>
            <a:srgbClr val="72BB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10896970" y="342508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+1085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704088" y="3602736"/>
            <a:ext cx="1856231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8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2635300" y="3613708"/>
            <a:ext cx="614411" cy="155709"/>
          </a:xfrm>
          <a:prstGeom prst="rect">
            <a:avLst/>
          </a:prstGeom>
          <a:solidFill>
            <a:srgbClr val="D59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2624328" y="360273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-970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3271657" y="3613708"/>
            <a:ext cx="614411" cy="155709"/>
          </a:xfrm>
          <a:prstGeom prst="rect">
            <a:avLst/>
          </a:prstGeom>
          <a:solidFill>
            <a:srgbClr val="D591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3260685" y="360273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-960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3908014" y="3613708"/>
            <a:ext cx="614411" cy="155709"/>
          </a:xfrm>
          <a:prstGeom prst="rect">
            <a:avLst/>
          </a:prstGeom>
          <a:solidFill>
            <a:srgbClr val="D796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3897042" y="360273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-886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4544372" y="3613708"/>
            <a:ext cx="614411" cy="155709"/>
          </a:xfrm>
          <a:prstGeom prst="rect">
            <a:avLst/>
          </a:prstGeom>
          <a:solidFill>
            <a:srgbClr val="E5C1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4533399" y="360273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-379</a:t>
            </a:r>
          </a:p>
        </p:txBody>
      </p:sp>
      <p:sp>
        <p:nvSpPr>
          <p:cNvPr id="225" name="Rectangle 224"/>
          <p:cNvSpPr/>
          <p:nvPr/>
        </p:nvSpPr>
        <p:spPr>
          <a:xfrm>
            <a:off x="5180729" y="3613708"/>
            <a:ext cx="614411" cy="155709"/>
          </a:xfrm>
          <a:prstGeom prst="rect">
            <a:avLst/>
          </a:prstGeom>
          <a:solidFill>
            <a:srgbClr val="E8C8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5169756" y="360273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-303</a:t>
            </a:r>
          </a:p>
        </p:txBody>
      </p:sp>
      <p:sp>
        <p:nvSpPr>
          <p:cNvPr id="227" name="Rectangle 226"/>
          <p:cNvSpPr/>
          <p:nvPr/>
        </p:nvSpPr>
        <p:spPr>
          <a:xfrm>
            <a:off x="5817086" y="3613708"/>
            <a:ext cx="614411" cy="155709"/>
          </a:xfrm>
          <a:prstGeom prst="rect">
            <a:avLst/>
          </a:prstGeom>
          <a:solidFill>
            <a:srgbClr val="E9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5806113" y="360273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-252</a:t>
            </a:r>
          </a:p>
        </p:txBody>
      </p:sp>
      <p:sp>
        <p:nvSpPr>
          <p:cNvPr id="229" name="Rectangle 228"/>
          <p:cNvSpPr/>
          <p:nvPr/>
        </p:nvSpPr>
        <p:spPr>
          <a:xfrm>
            <a:off x="6453443" y="3613708"/>
            <a:ext cx="614411" cy="155709"/>
          </a:xfrm>
          <a:prstGeom prst="rect">
            <a:avLst/>
          </a:prstGeom>
          <a:solidFill>
            <a:srgbClr val="F0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6442470" y="360273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-101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7089800" y="3613708"/>
            <a:ext cx="614411" cy="155709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7726157" y="3613708"/>
            <a:ext cx="614411" cy="155709"/>
          </a:xfrm>
          <a:prstGeom prst="rect">
            <a:avLst/>
          </a:prstGeom>
          <a:solidFill>
            <a:srgbClr val="E8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7715184" y="360273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+44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8362514" y="3613708"/>
            <a:ext cx="614411" cy="155709"/>
          </a:xfrm>
          <a:prstGeom prst="rect">
            <a:avLst/>
          </a:prstGeom>
          <a:solidFill>
            <a:srgbClr val="C7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8351541" y="360273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+252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8998871" y="3613708"/>
            <a:ext cx="614411" cy="155709"/>
          </a:xfrm>
          <a:prstGeom prst="rect">
            <a:avLst/>
          </a:prstGeom>
          <a:solidFill>
            <a:srgbClr val="C2DE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8987898" y="360273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+288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9635228" y="3613708"/>
            <a:ext cx="614411" cy="155709"/>
          </a:xfrm>
          <a:prstGeom prst="rect">
            <a:avLst/>
          </a:prstGeom>
          <a:solidFill>
            <a:srgbClr val="AE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9624255" y="360273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+457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10271585" y="3613708"/>
            <a:ext cx="614411" cy="155709"/>
          </a:xfrm>
          <a:prstGeom prst="rect">
            <a:avLst/>
          </a:prstGeom>
          <a:solidFill>
            <a:srgbClr val="A0C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10260613" y="360273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+587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10907942" y="3613708"/>
            <a:ext cx="614411" cy="155709"/>
          </a:xfrm>
          <a:prstGeom prst="rect">
            <a:avLst/>
          </a:prstGeom>
          <a:solidFill>
            <a:srgbClr val="7BB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10896970" y="360273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+984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04088" y="3780390"/>
            <a:ext cx="1856231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9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245" name="Rectangle 244"/>
          <p:cNvSpPr/>
          <p:nvPr/>
        </p:nvSpPr>
        <p:spPr>
          <a:xfrm>
            <a:off x="2635300" y="3791363"/>
            <a:ext cx="614411" cy="155709"/>
          </a:xfrm>
          <a:prstGeom prst="rect">
            <a:avLst/>
          </a:prstGeom>
          <a:solidFill>
            <a:srgbClr val="D48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2624328" y="378039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-1014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3271657" y="3791363"/>
            <a:ext cx="614411" cy="155709"/>
          </a:xfrm>
          <a:prstGeom prst="rect">
            <a:avLst/>
          </a:prstGeom>
          <a:solidFill>
            <a:srgbClr val="D48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3260685" y="378039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-1005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3908014" y="3791363"/>
            <a:ext cx="614411" cy="155709"/>
          </a:xfrm>
          <a:prstGeom prst="rect">
            <a:avLst/>
          </a:prstGeom>
          <a:solidFill>
            <a:srgbClr val="D69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3897042" y="378039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-930</a:t>
            </a:r>
          </a:p>
        </p:txBody>
      </p:sp>
      <p:sp>
        <p:nvSpPr>
          <p:cNvPr id="251" name="Rectangle 250"/>
          <p:cNvSpPr/>
          <p:nvPr/>
        </p:nvSpPr>
        <p:spPr>
          <a:xfrm>
            <a:off x="4544372" y="3791363"/>
            <a:ext cx="614411" cy="155709"/>
          </a:xfrm>
          <a:prstGeom prst="rect">
            <a:avLst/>
          </a:prstGeom>
          <a:solidFill>
            <a:srgbClr val="E4BC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4533399" y="378039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-423</a:t>
            </a:r>
          </a:p>
        </p:txBody>
      </p:sp>
      <p:sp>
        <p:nvSpPr>
          <p:cNvPr id="253" name="Rectangle 252"/>
          <p:cNvSpPr/>
          <p:nvPr/>
        </p:nvSpPr>
        <p:spPr>
          <a:xfrm>
            <a:off x="5180729" y="3791363"/>
            <a:ext cx="614411" cy="155709"/>
          </a:xfrm>
          <a:prstGeom prst="rect">
            <a:avLst/>
          </a:prstGeom>
          <a:solidFill>
            <a:srgbClr val="E6C4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5169756" y="378039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-347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5817086" y="3791363"/>
            <a:ext cx="614411" cy="155709"/>
          </a:xfrm>
          <a:prstGeom prst="rect">
            <a:avLst/>
          </a:prstGeom>
          <a:solidFill>
            <a:srgbClr val="E8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5806113" y="378039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-296</a:t>
            </a:r>
          </a:p>
        </p:txBody>
      </p:sp>
      <p:sp>
        <p:nvSpPr>
          <p:cNvPr id="257" name="Rectangle 256"/>
          <p:cNvSpPr/>
          <p:nvPr/>
        </p:nvSpPr>
        <p:spPr>
          <a:xfrm>
            <a:off x="6453443" y="3791363"/>
            <a:ext cx="614411" cy="155709"/>
          </a:xfrm>
          <a:prstGeom prst="rect">
            <a:avLst/>
          </a:prstGeom>
          <a:solidFill>
            <a:srgbClr val="EED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6442470" y="378039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-145</a:t>
            </a:r>
          </a:p>
        </p:txBody>
      </p:sp>
      <p:sp>
        <p:nvSpPr>
          <p:cNvPr id="259" name="Rectangle 258"/>
          <p:cNvSpPr/>
          <p:nvPr/>
        </p:nvSpPr>
        <p:spPr>
          <a:xfrm>
            <a:off x="7089800" y="3791363"/>
            <a:ext cx="614411" cy="155709"/>
          </a:xfrm>
          <a:prstGeom prst="rect">
            <a:avLst/>
          </a:prstGeom>
          <a:solidFill>
            <a:srgbClr val="F3E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7078827" y="378039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-44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7726157" y="3791363"/>
            <a:ext cx="614411" cy="155709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8362514" y="3791363"/>
            <a:ext cx="614411" cy="155709"/>
          </a:xfrm>
          <a:prstGeom prst="rect">
            <a:avLst/>
          </a:prstGeom>
          <a:solidFill>
            <a:srgbClr val="CD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TextBox 262"/>
          <p:cNvSpPr txBox="1"/>
          <p:nvPr/>
        </p:nvSpPr>
        <p:spPr>
          <a:xfrm>
            <a:off x="8351541" y="378039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+208</a:t>
            </a:r>
          </a:p>
        </p:txBody>
      </p:sp>
      <p:sp>
        <p:nvSpPr>
          <p:cNvPr id="264" name="Rectangle 263"/>
          <p:cNvSpPr/>
          <p:nvPr/>
        </p:nvSpPr>
        <p:spPr>
          <a:xfrm>
            <a:off x="8998871" y="3791363"/>
            <a:ext cx="614411" cy="155709"/>
          </a:xfrm>
          <a:prstGeom prst="rect">
            <a:avLst/>
          </a:prstGeom>
          <a:solidFill>
            <a:srgbClr val="C8E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8987898" y="378039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+244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9635228" y="3791363"/>
            <a:ext cx="614411" cy="155709"/>
          </a:xfrm>
          <a:prstGeom prst="rect">
            <a:avLst/>
          </a:prstGeom>
          <a:solidFill>
            <a:srgbClr val="B3D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9624255" y="378039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+413</a:t>
            </a:r>
          </a:p>
        </p:txBody>
      </p:sp>
      <p:sp>
        <p:nvSpPr>
          <p:cNvPr id="268" name="Rectangle 267"/>
          <p:cNvSpPr/>
          <p:nvPr/>
        </p:nvSpPr>
        <p:spPr>
          <a:xfrm>
            <a:off x="10271585" y="3791363"/>
            <a:ext cx="614411" cy="155709"/>
          </a:xfrm>
          <a:prstGeom prst="rect">
            <a:avLst/>
          </a:prstGeom>
          <a:solidFill>
            <a:srgbClr val="A5D1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10260613" y="378039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+542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10907942" y="3791363"/>
            <a:ext cx="614411" cy="155709"/>
          </a:xfrm>
          <a:prstGeom prst="rect">
            <a:avLst/>
          </a:prstGeom>
          <a:solidFill>
            <a:srgbClr val="7FC0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TextBox 270"/>
          <p:cNvSpPr txBox="1"/>
          <p:nvPr/>
        </p:nvSpPr>
        <p:spPr>
          <a:xfrm>
            <a:off x="10896970" y="378039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+940</a:t>
            </a:r>
          </a:p>
        </p:txBody>
      </p:sp>
      <p:sp>
        <p:nvSpPr>
          <p:cNvPr id="272" name="TextBox 271"/>
          <p:cNvSpPr txBox="1"/>
          <p:nvPr/>
        </p:nvSpPr>
        <p:spPr>
          <a:xfrm>
            <a:off x="704088" y="3958045"/>
            <a:ext cx="1856231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10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273" name="Rectangle 272"/>
          <p:cNvSpPr/>
          <p:nvPr/>
        </p:nvSpPr>
        <p:spPr>
          <a:xfrm>
            <a:off x="2635300" y="3969018"/>
            <a:ext cx="614411" cy="155709"/>
          </a:xfrm>
          <a:prstGeom prst="rect">
            <a:avLst/>
          </a:prstGeom>
          <a:solidFill>
            <a:srgbClr val="CF7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TextBox 273"/>
          <p:cNvSpPr txBox="1"/>
          <p:nvPr/>
        </p:nvSpPr>
        <p:spPr>
          <a:xfrm>
            <a:off x="2624328" y="395804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-1222</a:t>
            </a:r>
          </a:p>
        </p:txBody>
      </p:sp>
      <p:sp>
        <p:nvSpPr>
          <p:cNvPr id="275" name="Rectangle 274"/>
          <p:cNvSpPr/>
          <p:nvPr/>
        </p:nvSpPr>
        <p:spPr>
          <a:xfrm>
            <a:off x="3271657" y="3969018"/>
            <a:ext cx="614411" cy="155709"/>
          </a:xfrm>
          <a:prstGeom prst="rect">
            <a:avLst/>
          </a:prstGeom>
          <a:solidFill>
            <a:srgbClr val="CF7F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TextBox 275"/>
          <p:cNvSpPr txBox="1"/>
          <p:nvPr/>
        </p:nvSpPr>
        <p:spPr>
          <a:xfrm>
            <a:off x="3260685" y="395804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-1213</a:t>
            </a:r>
          </a:p>
        </p:txBody>
      </p:sp>
      <p:sp>
        <p:nvSpPr>
          <p:cNvPr id="277" name="Rectangle 276"/>
          <p:cNvSpPr/>
          <p:nvPr/>
        </p:nvSpPr>
        <p:spPr>
          <a:xfrm>
            <a:off x="3908014" y="3969018"/>
            <a:ext cx="614411" cy="155709"/>
          </a:xfrm>
          <a:prstGeom prst="rect">
            <a:avLst/>
          </a:prstGeom>
          <a:solidFill>
            <a:srgbClr val="D18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TextBox 277"/>
          <p:cNvSpPr txBox="1"/>
          <p:nvPr/>
        </p:nvSpPr>
        <p:spPr>
          <a:xfrm>
            <a:off x="3897042" y="395804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-1138</a:t>
            </a:r>
          </a:p>
        </p:txBody>
      </p:sp>
      <p:sp>
        <p:nvSpPr>
          <p:cNvPr id="279" name="Rectangle 278"/>
          <p:cNvSpPr/>
          <p:nvPr/>
        </p:nvSpPr>
        <p:spPr>
          <a:xfrm>
            <a:off x="4544372" y="3969018"/>
            <a:ext cx="614411" cy="155709"/>
          </a:xfrm>
          <a:prstGeom prst="rect">
            <a:avLst/>
          </a:prstGeom>
          <a:solidFill>
            <a:srgbClr val="DEA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TextBox 279"/>
          <p:cNvSpPr txBox="1"/>
          <p:nvPr/>
        </p:nvSpPr>
        <p:spPr>
          <a:xfrm>
            <a:off x="4533399" y="395804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-631</a:t>
            </a:r>
          </a:p>
        </p:txBody>
      </p:sp>
      <p:sp>
        <p:nvSpPr>
          <p:cNvPr id="281" name="Rectangle 280"/>
          <p:cNvSpPr/>
          <p:nvPr/>
        </p:nvSpPr>
        <p:spPr>
          <a:xfrm>
            <a:off x="5180729" y="3969018"/>
            <a:ext cx="614411" cy="155709"/>
          </a:xfrm>
          <a:prstGeom prst="rect">
            <a:avLst/>
          </a:prstGeom>
          <a:solidFill>
            <a:srgbClr val="E0B1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TextBox 281"/>
          <p:cNvSpPr txBox="1"/>
          <p:nvPr/>
        </p:nvSpPr>
        <p:spPr>
          <a:xfrm>
            <a:off x="5169756" y="395804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-555</a:t>
            </a:r>
          </a:p>
        </p:txBody>
      </p:sp>
      <p:sp>
        <p:nvSpPr>
          <p:cNvPr id="283" name="Rectangle 282"/>
          <p:cNvSpPr/>
          <p:nvPr/>
        </p:nvSpPr>
        <p:spPr>
          <a:xfrm>
            <a:off x="5817086" y="3969018"/>
            <a:ext cx="614411" cy="155709"/>
          </a:xfrm>
          <a:prstGeom prst="rect">
            <a:avLst/>
          </a:prstGeom>
          <a:solidFill>
            <a:srgbClr val="E1B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TextBox 283"/>
          <p:cNvSpPr txBox="1"/>
          <p:nvPr/>
        </p:nvSpPr>
        <p:spPr>
          <a:xfrm>
            <a:off x="5806113" y="395804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-504</a:t>
            </a:r>
          </a:p>
        </p:txBody>
      </p:sp>
      <p:sp>
        <p:nvSpPr>
          <p:cNvPr id="285" name="Rectangle 284"/>
          <p:cNvSpPr/>
          <p:nvPr/>
        </p:nvSpPr>
        <p:spPr>
          <a:xfrm>
            <a:off x="6453443" y="3969018"/>
            <a:ext cx="614411" cy="155709"/>
          </a:xfrm>
          <a:prstGeom prst="rect">
            <a:avLst/>
          </a:prstGeom>
          <a:solidFill>
            <a:srgbClr val="E6C3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TextBox 285"/>
          <p:cNvSpPr txBox="1"/>
          <p:nvPr/>
        </p:nvSpPr>
        <p:spPr>
          <a:xfrm>
            <a:off x="6442470" y="395804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-353</a:t>
            </a:r>
          </a:p>
        </p:txBody>
      </p:sp>
      <p:sp>
        <p:nvSpPr>
          <p:cNvPr id="287" name="Rectangle 286"/>
          <p:cNvSpPr/>
          <p:nvPr/>
        </p:nvSpPr>
        <p:spPr>
          <a:xfrm>
            <a:off x="7089800" y="3969018"/>
            <a:ext cx="614411" cy="155709"/>
          </a:xfrm>
          <a:prstGeom prst="rect">
            <a:avLst/>
          </a:prstGeom>
          <a:solidFill>
            <a:srgbClr val="E9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TextBox 287"/>
          <p:cNvSpPr txBox="1"/>
          <p:nvPr/>
        </p:nvSpPr>
        <p:spPr>
          <a:xfrm>
            <a:off x="7078827" y="395804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-252</a:t>
            </a:r>
          </a:p>
        </p:txBody>
      </p:sp>
      <p:sp>
        <p:nvSpPr>
          <p:cNvPr id="289" name="Rectangle 288"/>
          <p:cNvSpPr/>
          <p:nvPr/>
        </p:nvSpPr>
        <p:spPr>
          <a:xfrm>
            <a:off x="7726157" y="3969018"/>
            <a:ext cx="614411" cy="155709"/>
          </a:xfrm>
          <a:prstGeom prst="rect">
            <a:avLst/>
          </a:prstGeom>
          <a:solidFill>
            <a:srgbClr val="EBD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TextBox 289"/>
          <p:cNvSpPr txBox="1"/>
          <p:nvPr/>
        </p:nvSpPr>
        <p:spPr>
          <a:xfrm>
            <a:off x="7715184" y="395804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-208</a:t>
            </a:r>
          </a:p>
        </p:txBody>
      </p:sp>
      <p:sp>
        <p:nvSpPr>
          <p:cNvPr id="291" name="Rectangle 290"/>
          <p:cNvSpPr/>
          <p:nvPr/>
        </p:nvSpPr>
        <p:spPr>
          <a:xfrm>
            <a:off x="8362514" y="3969018"/>
            <a:ext cx="614411" cy="155709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Rectangle 291"/>
          <p:cNvSpPr/>
          <p:nvPr/>
        </p:nvSpPr>
        <p:spPr>
          <a:xfrm>
            <a:off x="8998871" y="3969018"/>
            <a:ext cx="614411" cy="155709"/>
          </a:xfrm>
          <a:prstGeom prst="rect">
            <a:avLst/>
          </a:prstGeom>
          <a:solidFill>
            <a:srgbClr val="EA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TextBox 292"/>
          <p:cNvSpPr txBox="1"/>
          <p:nvPr/>
        </p:nvSpPr>
        <p:spPr>
          <a:xfrm>
            <a:off x="8987898" y="395804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+36</a:t>
            </a:r>
          </a:p>
        </p:txBody>
      </p:sp>
      <p:sp>
        <p:nvSpPr>
          <p:cNvPr id="294" name="Rectangle 293"/>
          <p:cNvSpPr/>
          <p:nvPr/>
        </p:nvSpPr>
        <p:spPr>
          <a:xfrm>
            <a:off x="9635228" y="3969018"/>
            <a:ext cx="614411" cy="155709"/>
          </a:xfrm>
          <a:prstGeom prst="rect">
            <a:avLst/>
          </a:prstGeom>
          <a:solidFill>
            <a:srgbClr val="C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TextBox 294"/>
          <p:cNvSpPr txBox="1"/>
          <p:nvPr/>
        </p:nvSpPr>
        <p:spPr>
          <a:xfrm>
            <a:off x="9624255" y="395804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+205</a:t>
            </a:r>
          </a:p>
        </p:txBody>
      </p:sp>
      <p:sp>
        <p:nvSpPr>
          <p:cNvPr id="296" name="Rectangle 295"/>
          <p:cNvSpPr/>
          <p:nvPr/>
        </p:nvSpPr>
        <p:spPr>
          <a:xfrm>
            <a:off x="10271585" y="3969018"/>
            <a:ext cx="614411" cy="155709"/>
          </a:xfrm>
          <a:prstGeom prst="rect">
            <a:avLst/>
          </a:prstGeom>
          <a:solidFill>
            <a:srgbClr val="BCD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TextBox 296"/>
          <p:cNvSpPr txBox="1"/>
          <p:nvPr/>
        </p:nvSpPr>
        <p:spPr>
          <a:xfrm>
            <a:off x="10260613" y="395804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+334</a:t>
            </a:r>
          </a:p>
        </p:txBody>
      </p:sp>
      <p:sp>
        <p:nvSpPr>
          <p:cNvPr id="298" name="Rectangle 297"/>
          <p:cNvSpPr/>
          <p:nvPr/>
        </p:nvSpPr>
        <p:spPr>
          <a:xfrm>
            <a:off x="10907942" y="3969018"/>
            <a:ext cx="614411" cy="155709"/>
          </a:xfrm>
          <a:prstGeom prst="rect">
            <a:avLst/>
          </a:prstGeom>
          <a:solidFill>
            <a:srgbClr val="92C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TextBox 298"/>
          <p:cNvSpPr txBox="1"/>
          <p:nvPr/>
        </p:nvSpPr>
        <p:spPr>
          <a:xfrm>
            <a:off x="10896970" y="395804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+732</a:t>
            </a:r>
          </a:p>
        </p:txBody>
      </p:sp>
      <p:sp>
        <p:nvSpPr>
          <p:cNvPr id="300" name="Rectangle 299"/>
          <p:cNvSpPr/>
          <p:nvPr/>
        </p:nvSpPr>
        <p:spPr>
          <a:xfrm>
            <a:off x="658368" y="4143015"/>
            <a:ext cx="1920240" cy="163024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TextBox 300"/>
          <p:cNvSpPr txBox="1"/>
          <p:nvPr/>
        </p:nvSpPr>
        <p:spPr>
          <a:xfrm>
            <a:off x="704088" y="4135700"/>
            <a:ext cx="1856231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11  </a:t>
            </a:r>
            <a:r>
              <a:rPr sz="80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302" name="Rectangle 301"/>
          <p:cNvSpPr/>
          <p:nvPr/>
        </p:nvSpPr>
        <p:spPr>
          <a:xfrm>
            <a:off x="2635300" y="4146673"/>
            <a:ext cx="614411" cy="155709"/>
          </a:xfrm>
          <a:prstGeom prst="rect">
            <a:avLst/>
          </a:prstGeom>
          <a:solidFill>
            <a:srgbClr val="CE7C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TextBox 302"/>
          <p:cNvSpPr txBox="1"/>
          <p:nvPr/>
        </p:nvSpPr>
        <p:spPr>
          <a:xfrm>
            <a:off x="2624328" y="413570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-1258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3271657" y="4146673"/>
            <a:ext cx="614411" cy="155709"/>
          </a:xfrm>
          <a:prstGeom prst="rect">
            <a:avLst/>
          </a:prstGeom>
          <a:solidFill>
            <a:srgbClr val="CE7D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TextBox 304"/>
          <p:cNvSpPr txBox="1"/>
          <p:nvPr/>
        </p:nvSpPr>
        <p:spPr>
          <a:xfrm>
            <a:off x="3260685" y="413570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-1249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3908014" y="4146673"/>
            <a:ext cx="614411" cy="155709"/>
          </a:xfrm>
          <a:prstGeom prst="rect">
            <a:avLst/>
          </a:prstGeom>
          <a:solidFill>
            <a:srgbClr val="D08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TextBox 306"/>
          <p:cNvSpPr txBox="1"/>
          <p:nvPr/>
        </p:nvSpPr>
        <p:spPr>
          <a:xfrm>
            <a:off x="3897042" y="413570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-1174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544372" y="4146673"/>
            <a:ext cx="614411" cy="155709"/>
          </a:xfrm>
          <a:prstGeom prst="rect">
            <a:avLst/>
          </a:prstGeom>
          <a:solidFill>
            <a:srgbClr val="DDA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TextBox 308"/>
          <p:cNvSpPr txBox="1"/>
          <p:nvPr/>
        </p:nvSpPr>
        <p:spPr>
          <a:xfrm>
            <a:off x="4533399" y="413570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-667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5180729" y="4146673"/>
            <a:ext cx="614411" cy="155709"/>
          </a:xfrm>
          <a:prstGeom prst="rect">
            <a:avLst/>
          </a:prstGeom>
          <a:solidFill>
            <a:srgbClr val="DFA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TextBox 310"/>
          <p:cNvSpPr txBox="1"/>
          <p:nvPr/>
        </p:nvSpPr>
        <p:spPr>
          <a:xfrm>
            <a:off x="5169756" y="413570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-591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5817086" y="4146673"/>
            <a:ext cx="614411" cy="155709"/>
          </a:xfrm>
          <a:prstGeom prst="rect">
            <a:avLst/>
          </a:prstGeom>
          <a:solidFill>
            <a:srgbClr val="E0B2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TextBox 312"/>
          <p:cNvSpPr txBox="1"/>
          <p:nvPr/>
        </p:nvSpPr>
        <p:spPr>
          <a:xfrm>
            <a:off x="5806113" y="413570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-540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6453443" y="4146673"/>
            <a:ext cx="614411" cy="155709"/>
          </a:xfrm>
          <a:prstGeom prst="rect">
            <a:avLst/>
          </a:prstGeom>
          <a:solidFill>
            <a:srgbClr val="E5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TextBox 314"/>
          <p:cNvSpPr txBox="1"/>
          <p:nvPr/>
        </p:nvSpPr>
        <p:spPr>
          <a:xfrm>
            <a:off x="6442470" y="413570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-389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7089800" y="4146673"/>
            <a:ext cx="614411" cy="155709"/>
          </a:xfrm>
          <a:prstGeom prst="rect">
            <a:avLst/>
          </a:prstGeom>
          <a:solidFill>
            <a:srgbClr val="E8CA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TextBox 316"/>
          <p:cNvSpPr txBox="1"/>
          <p:nvPr/>
        </p:nvSpPr>
        <p:spPr>
          <a:xfrm>
            <a:off x="7078827" y="413570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-288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7726157" y="4146673"/>
            <a:ext cx="614411" cy="155709"/>
          </a:xfrm>
          <a:prstGeom prst="rect">
            <a:avLst/>
          </a:prstGeom>
          <a:solidFill>
            <a:srgbClr val="EA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TextBox 318"/>
          <p:cNvSpPr txBox="1"/>
          <p:nvPr/>
        </p:nvSpPr>
        <p:spPr>
          <a:xfrm>
            <a:off x="7715184" y="413570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-244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8362514" y="4146673"/>
            <a:ext cx="614411" cy="155709"/>
          </a:xfrm>
          <a:prstGeom prst="rect">
            <a:avLst/>
          </a:prstGeom>
          <a:solidFill>
            <a:srgbClr val="F3E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TextBox 320"/>
          <p:cNvSpPr txBox="1"/>
          <p:nvPr/>
        </p:nvSpPr>
        <p:spPr>
          <a:xfrm>
            <a:off x="8351541" y="413570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-36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8998871" y="4146673"/>
            <a:ext cx="614411" cy="155709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Rectangle 322"/>
          <p:cNvSpPr/>
          <p:nvPr/>
        </p:nvSpPr>
        <p:spPr>
          <a:xfrm>
            <a:off x="9635228" y="4146673"/>
            <a:ext cx="614411" cy="155709"/>
          </a:xfrm>
          <a:prstGeom prst="rect">
            <a:avLst/>
          </a:prstGeom>
          <a:solidFill>
            <a:srgbClr val="D3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TextBox 323"/>
          <p:cNvSpPr txBox="1"/>
          <p:nvPr/>
        </p:nvSpPr>
        <p:spPr>
          <a:xfrm>
            <a:off x="9624255" y="413570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+169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10271585" y="4146673"/>
            <a:ext cx="614411" cy="155709"/>
          </a:xfrm>
          <a:prstGeom prst="rect">
            <a:avLst/>
          </a:prstGeom>
          <a:solidFill>
            <a:srgbClr val="C1DD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TextBox 325"/>
          <p:cNvSpPr txBox="1"/>
          <p:nvPr/>
        </p:nvSpPr>
        <p:spPr>
          <a:xfrm>
            <a:off x="10260613" y="413570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+298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10907942" y="4146673"/>
            <a:ext cx="614411" cy="155709"/>
          </a:xfrm>
          <a:prstGeom prst="rect">
            <a:avLst/>
          </a:prstGeom>
          <a:solidFill>
            <a:srgbClr val="95CA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TextBox 327"/>
          <p:cNvSpPr txBox="1"/>
          <p:nvPr/>
        </p:nvSpPr>
        <p:spPr>
          <a:xfrm>
            <a:off x="10896970" y="413570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+696</a:t>
            </a:r>
          </a:p>
        </p:txBody>
      </p:sp>
      <p:sp>
        <p:nvSpPr>
          <p:cNvPr id="329" name="TextBox 328"/>
          <p:cNvSpPr txBox="1"/>
          <p:nvPr/>
        </p:nvSpPr>
        <p:spPr>
          <a:xfrm>
            <a:off x="704088" y="4313355"/>
            <a:ext cx="1856231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12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Ayres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2635300" y="4324328"/>
            <a:ext cx="614411" cy="155709"/>
          </a:xfrm>
          <a:prstGeom prst="rect">
            <a:avLst/>
          </a:prstGeom>
          <a:solidFill>
            <a:srgbClr val="CA7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TextBox 330"/>
          <p:cNvSpPr txBox="1"/>
          <p:nvPr/>
        </p:nvSpPr>
        <p:spPr>
          <a:xfrm>
            <a:off x="2624328" y="431335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-1427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3271657" y="4324328"/>
            <a:ext cx="614411" cy="155709"/>
          </a:xfrm>
          <a:prstGeom prst="rect">
            <a:avLst/>
          </a:prstGeom>
          <a:solidFill>
            <a:srgbClr val="CB72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TextBox 332"/>
          <p:cNvSpPr txBox="1"/>
          <p:nvPr/>
        </p:nvSpPr>
        <p:spPr>
          <a:xfrm>
            <a:off x="3260685" y="431335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-1417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3908014" y="4324328"/>
            <a:ext cx="614411" cy="155709"/>
          </a:xfrm>
          <a:prstGeom prst="rect">
            <a:avLst/>
          </a:prstGeom>
          <a:solidFill>
            <a:srgbClr val="CC7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TextBox 334"/>
          <p:cNvSpPr txBox="1"/>
          <p:nvPr/>
        </p:nvSpPr>
        <p:spPr>
          <a:xfrm>
            <a:off x="3897042" y="431335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-1343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4544372" y="4324328"/>
            <a:ext cx="614411" cy="155709"/>
          </a:xfrm>
          <a:prstGeom prst="rect">
            <a:avLst/>
          </a:prstGeom>
          <a:solidFill>
            <a:srgbClr val="D89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TextBox 336"/>
          <p:cNvSpPr txBox="1"/>
          <p:nvPr/>
        </p:nvSpPr>
        <p:spPr>
          <a:xfrm>
            <a:off x="4533399" y="431335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-836</a:t>
            </a:r>
          </a:p>
        </p:txBody>
      </p:sp>
      <p:sp>
        <p:nvSpPr>
          <p:cNvPr id="338" name="Rectangle 337"/>
          <p:cNvSpPr/>
          <p:nvPr/>
        </p:nvSpPr>
        <p:spPr>
          <a:xfrm>
            <a:off x="5180729" y="4324328"/>
            <a:ext cx="614411" cy="155709"/>
          </a:xfrm>
          <a:prstGeom prst="rect">
            <a:avLst/>
          </a:prstGeom>
          <a:solidFill>
            <a:srgbClr val="DAA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TextBox 338"/>
          <p:cNvSpPr txBox="1"/>
          <p:nvPr/>
        </p:nvSpPr>
        <p:spPr>
          <a:xfrm>
            <a:off x="5169756" y="431335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-760</a:t>
            </a:r>
          </a:p>
        </p:txBody>
      </p:sp>
      <p:sp>
        <p:nvSpPr>
          <p:cNvPr id="340" name="Rectangle 339"/>
          <p:cNvSpPr/>
          <p:nvPr/>
        </p:nvSpPr>
        <p:spPr>
          <a:xfrm>
            <a:off x="5817086" y="4324328"/>
            <a:ext cx="614411" cy="155709"/>
          </a:xfrm>
          <a:prstGeom prst="rect">
            <a:avLst/>
          </a:prstGeom>
          <a:solidFill>
            <a:srgbClr val="DBA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TextBox 340"/>
          <p:cNvSpPr txBox="1"/>
          <p:nvPr/>
        </p:nvSpPr>
        <p:spPr>
          <a:xfrm>
            <a:off x="5806113" y="431335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-709</a:t>
            </a:r>
          </a:p>
        </p:txBody>
      </p:sp>
      <p:sp>
        <p:nvSpPr>
          <p:cNvPr id="342" name="Rectangle 341"/>
          <p:cNvSpPr/>
          <p:nvPr/>
        </p:nvSpPr>
        <p:spPr>
          <a:xfrm>
            <a:off x="6453443" y="4324328"/>
            <a:ext cx="614411" cy="155709"/>
          </a:xfrm>
          <a:prstGeom prst="rect">
            <a:avLst/>
          </a:prstGeom>
          <a:solidFill>
            <a:srgbClr val="E0B0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TextBox 342"/>
          <p:cNvSpPr txBox="1"/>
          <p:nvPr/>
        </p:nvSpPr>
        <p:spPr>
          <a:xfrm>
            <a:off x="6442470" y="431335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-558</a:t>
            </a:r>
          </a:p>
        </p:txBody>
      </p:sp>
      <p:sp>
        <p:nvSpPr>
          <p:cNvPr id="344" name="Rectangle 343"/>
          <p:cNvSpPr/>
          <p:nvPr/>
        </p:nvSpPr>
        <p:spPr>
          <a:xfrm>
            <a:off x="7089800" y="4324328"/>
            <a:ext cx="614411" cy="155709"/>
          </a:xfrm>
          <a:prstGeom prst="rect">
            <a:avLst/>
          </a:prstGeom>
          <a:solidFill>
            <a:srgbClr val="E3B9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TextBox 344"/>
          <p:cNvSpPr txBox="1"/>
          <p:nvPr/>
        </p:nvSpPr>
        <p:spPr>
          <a:xfrm>
            <a:off x="7078827" y="431335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-457</a:t>
            </a:r>
          </a:p>
        </p:txBody>
      </p:sp>
      <p:sp>
        <p:nvSpPr>
          <p:cNvPr id="346" name="Rectangle 345"/>
          <p:cNvSpPr/>
          <p:nvPr/>
        </p:nvSpPr>
        <p:spPr>
          <a:xfrm>
            <a:off x="7726157" y="4324328"/>
            <a:ext cx="614411" cy="155709"/>
          </a:xfrm>
          <a:prstGeom prst="rect">
            <a:avLst/>
          </a:prstGeom>
          <a:solidFill>
            <a:srgbClr val="E4B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TextBox 346"/>
          <p:cNvSpPr txBox="1"/>
          <p:nvPr/>
        </p:nvSpPr>
        <p:spPr>
          <a:xfrm>
            <a:off x="7715184" y="431335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-413</a:t>
            </a:r>
          </a:p>
        </p:txBody>
      </p:sp>
      <p:sp>
        <p:nvSpPr>
          <p:cNvPr id="348" name="Rectangle 347"/>
          <p:cNvSpPr/>
          <p:nvPr/>
        </p:nvSpPr>
        <p:spPr>
          <a:xfrm>
            <a:off x="8362514" y="4324328"/>
            <a:ext cx="614411" cy="155709"/>
          </a:xfrm>
          <a:prstGeom prst="rect">
            <a:avLst/>
          </a:prstGeom>
          <a:solidFill>
            <a:srgbClr val="EBD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TextBox 348"/>
          <p:cNvSpPr txBox="1"/>
          <p:nvPr/>
        </p:nvSpPr>
        <p:spPr>
          <a:xfrm>
            <a:off x="8351541" y="431335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-205</a:t>
            </a:r>
          </a:p>
        </p:txBody>
      </p:sp>
      <p:sp>
        <p:nvSpPr>
          <p:cNvPr id="350" name="Rectangle 349"/>
          <p:cNvSpPr/>
          <p:nvPr/>
        </p:nvSpPr>
        <p:spPr>
          <a:xfrm>
            <a:off x="8998871" y="4324328"/>
            <a:ext cx="614411" cy="155709"/>
          </a:xfrm>
          <a:prstGeom prst="rect">
            <a:avLst/>
          </a:prstGeom>
          <a:solidFill>
            <a:srgbClr val="EDD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TextBox 350"/>
          <p:cNvSpPr txBox="1"/>
          <p:nvPr/>
        </p:nvSpPr>
        <p:spPr>
          <a:xfrm>
            <a:off x="8987898" y="431335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-169</a:t>
            </a:r>
          </a:p>
        </p:txBody>
      </p:sp>
      <p:sp>
        <p:nvSpPr>
          <p:cNvPr id="352" name="Rectangle 351"/>
          <p:cNvSpPr/>
          <p:nvPr/>
        </p:nvSpPr>
        <p:spPr>
          <a:xfrm>
            <a:off x="9635228" y="4324328"/>
            <a:ext cx="614411" cy="155709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10271585" y="4324328"/>
            <a:ext cx="614411" cy="155709"/>
          </a:xfrm>
          <a:prstGeom prst="rect">
            <a:avLst/>
          </a:prstGeom>
          <a:solidFill>
            <a:srgbClr val="D9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TextBox 353"/>
          <p:cNvSpPr txBox="1"/>
          <p:nvPr/>
        </p:nvSpPr>
        <p:spPr>
          <a:xfrm>
            <a:off x="10260613" y="431335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+130</a:t>
            </a:r>
          </a:p>
        </p:txBody>
      </p:sp>
      <p:sp>
        <p:nvSpPr>
          <p:cNvPr id="355" name="Rectangle 354"/>
          <p:cNvSpPr/>
          <p:nvPr/>
        </p:nvSpPr>
        <p:spPr>
          <a:xfrm>
            <a:off x="10907942" y="4324328"/>
            <a:ext cx="614411" cy="155709"/>
          </a:xfrm>
          <a:prstGeom prst="rect">
            <a:avLst/>
          </a:prstGeom>
          <a:solidFill>
            <a:srgbClr val="A7D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10896970" y="431335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+527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704088" y="4491010"/>
            <a:ext cx="1856231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13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Colina Norte</a:t>
            </a:r>
          </a:p>
        </p:txBody>
      </p:sp>
      <p:sp>
        <p:nvSpPr>
          <p:cNvPr id="358" name="Rectangle 357"/>
          <p:cNvSpPr/>
          <p:nvPr/>
        </p:nvSpPr>
        <p:spPr>
          <a:xfrm>
            <a:off x="2635300" y="4501983"/>
            <a:ext cx="614411" cy="155709"/>
          </a:xfrm>
          <a:prstGeom prst="rect">
            <a:avLst/>
          </a:prstGeom>
          <a:solidFill>
            <a:srgbClr val="C86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TextBox 358"/>
          <p:cNvSpPr txBox="1"/>
          <p:nvPr/>
        </p:nvSpPr>
        <p:spPr>
          <a:xfrm>
            <a:off x="2624328" y="449101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-1557</a:t>
            </a:r>
          </a:p>
        </p:txBody>
      </p:sp>
      <p:sp>
        <p:nvSpPr>
          <p:cNvPr id="360" name="Rectangle 359"/>
          <p:cNvSpPr/>
          <p:nvPr/>
        </p:nvSpPr>
        <p:spPr>
          <a:xfrm>
            <a:off x="3271657" y="4501983"/>
            <a:ext cx="614411" cy="155709"/>
          </a:xfrm>
          <a:prstGeom prst="rect">
            <a:avLst/>
          </a:prstGeom>
          <a:solidFill>
            <a:srgbClr val="C86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TextBox 360"/>
          <p:cNvSpPr txBox="1"/>
          <p:nvPr/>
        </p:nvSpPr>
        <p:spPr>
          <a:xfrm>
            <a:off x="3260685" y="449101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-1547</a:t>
            </a:r>
          </a:p>
        </p:txBody>
      </p:sp>
      <p:sp>
        <p:nvSpPr>
          <p:cNvPr id="362" name="Rectangle 361"/>
          <p:cNvSpPr/>
          <p:nvPr/>
        </p:nvSpPr>
        <p:spPr>
          <a:xfrm>
            <a:off x="3908014" y="4501983"/>
            <a:ext cx="614411" cy="155709"/>
          </a:xfrm>
          <a:prstGeom prst="rect">
            <a:avLst/>
          </a:prstGeom>
          <a:solidFill>
            <a:srgbClr val="C96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TextBox 362"/>
          <p:cNvSpPr txBox="1"/>
          <p:nvPr/>
        </p:nvSpPr>
        <p:spPr>
          <a:xfrm>
            <a:off x="3897042" y="449101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-1472</a:t>
            </a:r>
          </a:p>
        </p:txBody>
      </p:sp>
      <p:sp>
        <p:nvSpPr>
          <p:cNvPr id="364" name="Rectangle 363"/>
          <p:cNvSpPr/>
          <p:nvPr/>
        </p:nvSpPr>
        <p:spPr>
          <a:xfrm>
            <a:off x="4544372" y="4501983"/>
            <a:ext cx="614411" cy="155709"/>
          </a:xfrm>
          <a:prstGeom prst="rect">
            <a:avLst/>
          </a:prstGeom>
          <a:solidFill>
            <a:srgbClr val="D59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TextBox 364"/>
          <p:cNvSpPr txBox="1"/>
          <p:nvPr/>
        </p:nvSpPr>
        <p:spPr>
          <a:xfrm>
            <a:off x="4533399" y="449101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-965</a:t>
            </a:r>
          </a:p>
        </p:txBody>
      </p:sp>
      <p:sp>
        <p:nvSpPr>
          <p:cNvPr id="366" name="Rectangle 365"/>
          <p:cNvSpPr/>
          <p:nvPr/>
        </p:nvSpPr>
        <p:spPr>
          <a:xfrm>
            <a:off x="5180729" y="4501983"/>
            <a:ext cx="614411" cy="155709"/>
          </a:xfrm>
          <a:prstGeom prst="rect">
            <a:avLst/>
          </a:prstGeom>
          <a:solidFill>
            <a:srgbClr val="D796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TextBox 366"/>
          <p:cNvSpPr txBox="1"/>
          <p:nvPr/>
        </p:nvSpPr>
        <p:spPr>
          <a:xfrm>
            <a:off x="5169756" y="449101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-889</a:t>
            </a:r>
          </a:p>
        </p:txBody>
      </p:sp>
      <p:sp>
        <p:nvSpPr>
          <p:cNvPr id="368" name="Rectangle 367"/>
          <p:cNvSpPr/>
          <p:nvPr/>
        </p:nvSpPr>
        <p:spPr>
          <a:xfrm>
            <a:off x="5817086" y="4501983"/>
            <a:ext cx="614411" cy="155709"/>
          </a:xfrm>
          <a:prstGeom prst="rect">
            <a:avLst/>
          </a:prstGeom>
          <a:solidFill>
            <a:srgbClr val="D89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TextBox 368"/>
          <p:cNvSpPr txBox="1"/>
          <p:nvPr/>
        </p:nvSpPr>
        <p:spPr>
          <a:xfrm>
            <a:off x="5806113" y="449101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-838</a:t>
            </a:r>
          </a:p>
        </p:txBody>
      </p:sp>
      <p:sp>
        <p:nvSpPr>
          <p:cNvPr id="370" name="Rectangle 369"/>
          <p:cNvSpPr/>
          <p:nvPr/>
        </p:nvSpPr>
        <p:spPr>
          <a:xfrm>
            <a:off x="6453443" y="4501983"/>
            <a:ext cx="614411" cy="155709"/>
          </a:xfrm>
          <a:prstGeom prst="rect">
            <a:avLst/>
          </a:prstGeom>
          <a:solidFill>
            <a:srgbClr val="DCA6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TextBox 370"/>
          <p:cNvSpPr txBox="1"/>
          <p:nvPr/>
        </p:nvSpPr>
        <p:spPr>
          <a:xfrm>
            <a:off x="6442470" y="449101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-688</a:t>
            </a:r>
          </a:p>
        </p:txBody>
      </p:sp>
      <p:sp>
        <p:nvSpPr>
          <p:cNvPr id="372" name="Rectangle 371"/>
          <p:cNvSpPr/>
          <p:nvPr/>
        </p:nvSpPr>
        <p:spPr>
          <a:xfrm>
            <a:off x="7089800" y="4501983"/>
            <a:ext cx="614411" cy="155709"/>
          </a:xfrm>
          <a:prstGeom prst="rect">
            <a:avLst/>
          </a:prstGeom>
          <a:solidFill>
            <a:srgbClr val="DFA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TextBox 372"/>
          <p:cNvSpPr txBox="1"/>
          <p:nvPr/>
        </p:nvSpPr>
        <p:spPr>
          <a:xfrm>
            <a:off x="7078827" y="449101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-587</a:t>
            </a:r>
          </a:p>
        </p:txBody>
      </p:sp>
      <p:sp>
        <p:nvSpPr>
          <p:cNvPr id="374" name="Rectangle 373"/>
          <p:cNvSpPr/>
          <p:nvPr/>
        </p:nvSpPr>
        <p:spPr>
          <a:xfrm>
            <a:off x="7726157" y="4501983"/>
            <a:ext cx="614411" cy="155709"/>
          </a:xfrm>
          <a:prstGeom prst="rect">
            <a:avLst/>
          </a:prstGeom>
          <a:solidFill>
            <a:srgbClr val="E0B2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TextBox 374"/>
          <p:cNvSpPr txBox="1"/>
          <p:nvPr/>
        </p:nvSpPr>
        <p:spPr>
          <a:xfrm>
            <a:off x="7715184" y="449101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-542</a:t>
            </a:r>
          </a:p>
        </p:txBody>
      </p:sp>
      <p:sp>
        <p:nvSpPr>
          <p:cNvPr id="376" name="Rectangle 375"/>
          <p:cNvSpPr/>
          <p:nvPr/>
        </p:nvSpPr>
        <p:spPr>
          <a:xfrm>
            <a:off x="8362514" y="4501983"/>
            <a:ext cx="614411" cy="155709"/>
          </a:xfrm>
          <a:prstGeom prst="rect">
            <a:avLst/>
          </a:prstGeom>
          <a:solidFill>
            <a:srgbClr val="E7C5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TextBox 376"/>
          <p:cNvSpPr txBox="1"/>
          <p:nvPr/>
        </p:nvSpPr>
        <p:spPr>
          <a:xfrm>
            <a:off x="8351541" y="449101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-334</a:t>
            </a:r>
          </a:p>
        </p:txBody>
      </p:sp>
      <p:sp>
        <p:nvSpPr>
          <p:cNvPr id="378" name="Rectangle 377"/>
          <p:cNvSpPr/>
          <p:nvPr/>
        </p:nvSpPr>
        <p:spPr>
          <a:xfrm>
            <a:off x="8998871" y="4501983"/>
            <a:ext cx="614411" cy="155709"/>
          </a:xfrm>
          <a:prstGeom prst="rect">
            <a:avLst/>
          </a:prstGeom>
          <a:solidFill>
            <a:srgbClr val="E8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TextBox 378"/>
          <p:cNvSpPr txBox="1"/>
          <p:nvPr/>
        </p:nvSpPr>
        <p:spPr>
          <a:xfrm>
            <a:off x="8987898" y="449101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-298</a:t>
            </a:r>
          </a:p>
        </p:txBody>
      </p:sp>
      <p:sp>
        <p:nvSpPr>
          <p:cNvPr id="380" name="Rectangle 379"/>
          <p:cNvSpPr/>
          <p:nvPr/>
        </p:nvSpPr>
        <p:spPr>
          <a:xfrm>
            <a:off x="9635228" y="4501983"/>
            <a:ext cx="614411" cy="155709"/>
          </a:xfrm>
          <a:prstGeom prst="rect">
            <a:avLst/>
          </a:prstGeom>
          <a:solidFill>
            <a:srgbClr val="EE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TextBox 380"/>
          <p:cNvSpPr txBox="1"/>
          <p:nvPr/>
        </p:nvSpPr>
        <p:spPr>
          <a:xfrm>
            <a:off x="9624255" y="449101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-130</a:t>
            </a:r>
          </a:p>
        </p:txBody>
      </p:sp>
      <p:sp>
        <p:nvSpPr>
          <p:cNvPr id="382" name="Rectangle 381"/>
          <p:cNvSpPr/>
          <p:nvPr/>
        </p:nvSpPr>
        <p:spPr>
          <a:xfrm>
            <a:off x="10271585" y="4501983"/>
            <a:ext cx="614411" cy="155709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10907942" y="4501983"/>
            <a:ext cx="614411" cy="155709"/>
          </a:xfrm>
          <a:prstGeom prst="rect">
            <a:avLst/>
          </a:prstGeom>
          <a:solidFill>
            <a:srgbClr val="B5D8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TextBox 383"/>
          <p:cNvSpPr txBox="1"/>
          <p:nvPr/>
        </p:nvSpPr>
        <p:spPr>
          <a:xfrm>
            <a:off x="10896970" y="449101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+398</a:t>
            </a:r>
          </a:p>
        </p:txBody>
      </p:sp>
      <p:sp>
        <p:nvSpPr>
          <p:cNvPr id="385" name="TextBox 384"/>
          <p:cNvSpPr txBox="1"/>
          <p:nvPr/>
        </p:nvSpPr>
        <p:spPr>
          <a:xfrm>
            <a:off x="704088" y="4668665"/>
            <a:ext cx="1856231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14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386" name="Rectangle 385"/>
          <p:cNvSpPr/>
          <p:nvPr/>
        </p:nvSpPr>
        <p:spPr>
          <a:xfrm>
            <a:off x="2635300" y="4679637"/>
            <a:ext cx="614411" cy="155709"/>
          </a:xfrm>
          <a:prstGeom prst="rect">
            <a:avLst/>
          </a:prstGeom>
          <a:solidFill>
            <a:srgbClr val="C05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TextBox 386"/>
          <p:cNvSpPr txBox="1"/>
          <p:nvPr/>
        </p:nvSpPr>
        <p:spPr>
          <a:xfrm>
            <a:off x="2624328" y="466866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-1954</a:t>
            </a:r>
          </a:p>
        </p:txBody>
      </p:sp>
      <p:sp>
        <p:nvSpPr>
          <p:cNvPr id="388" name="Rectangle 387"/>
          <p:cNvSpPr/>
          <p:nvPr/>
        </p:nvSpPr>
        <p:spPr>
          <a:xfrm>
            <a:off x="3271657" y="4679637"/>
            <a:ext cx="614411" cy="155709"/>
          </a:xfrm>
          <a:prstGeom prst="rect">
            <a:avLst/>
          </a:prstGeom>
          <a:solidFill>
            <a:srgbClr val="C05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TextBox 388"/>
          <p:cNvSpPr txBox="1"/>
          <p:nvPr/>
        </p:nvSpPr>
        <p:spPr>
          <a:xfrm>
            <a:off x="3260685" y="466866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-1944</a:t>
            </a:r>
          </a:p>
        </p:txBody>
      </p:sp>
      <p:sp>
        <p:nvSpPr>
          <p:cNvPr id="390" name="Rectangle 389"/>
          <p:cNvSpPr/>
          <p:nvPr/>
        </p:nvSpPr>
        <p:spPr>
          <a:xfrm>
            <a:off x="3908014" y="4679637"/>
            <a:ext cx="614411" cy="155709"/>
          </a:xfrm>
          <a:prstGeom prst="rect">
            <a:avLst/>
          </a:prstGeom>
          <a:solidFill>
            <a:srgbClr val="C15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TextBox 390"/>
          <p:cNvSpPr txBox="1"/>
          <p:nvPr/>
        </p:nvSpPr>
        <p:spPr>
          <a:xfrm>
            <a:off x="3897042" y="466866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-1870</a:t>
            </a:r>
          </a:p>
        </p:txBody>
      </p:sp>
      <p:sp>
        <p:nvSpPr>
          <p:cNvPr id="392" name="Rectangle 391"/>
          <p:cNvSpPr/>
          <p:nvPr/>
        </p:nvSpPr>
        <p:spPr>
          <a:xfrm>
            <a:off x="4544372" y="4679637"/>
            <a:ext cx="614411" cy="155709"/>
          </a:xfrm>
          <a:prstGeom prst="rect">
            <a:avLst/>
          </a:prstGeom>
          <a:solidFill>
            <a:srgbClr val="CC7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TextBox 392"/>
          <p:cNvSpPr txBox="1"/>
          <p:nvPr/>
        </p:nvSpPr>
        <p:spPr>
          <a:xfrm>
            <a:off x="4533399" y="466866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-1363</a:t>
            </a:r>
          </a:p>
        </p:txBody>
      </p:sp>
      <p:sp>
        <p:nvSpPr>
          <p:cNvPr id="394" name="Rectangle 393"/>
          <p:cNvSpPr/>
          <p:nvPr/>
        </p:nvSpPr>
        <p:spPr>
          <a:xfrm>
            <a:off x="5180729" y="4679637"/>
            <a:ext cx="614411" cy="155709"/>
          </a:xfrm>
          <a:prstGeom prst="rect">
            <a:avLst/>
          </a:prstGeom>
          <a:solidFill>
            <a:srgbClr val="CD7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TextBox 394"/>
          <p:cNvSpPr txBox="1"/>
          <p:nvPr/>
        </p:nvSpPr>
        <p:spPr>
          <a:xfrm>
            <a:off x="5169756" y="466866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-1287</a:t>
            </a:r>
          </a:p>
        </p:txBody>
      </p:sp>
      <p:sp>
        <p:nvSpPr>
          <p:cNvPr id="396" name="Rectangle 395"/>
          <p:cNvSpPr/>
          <p:nvPr/>
        </p:nvSpPr>
        <p:spPr>
          <a:xfrm>
            <a:off x="5817086" y="4679637"/>
            <a:ext cx="614411" cy="155709"/>
          </a:xfrm>
          <a:prstGeom prst="rect">
            <a:avLst/>
          </a:prstGeom>
          <a:solidFill>
            <a:srgbClr val="CF7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TextBox 396"/>
          <p:cNvSpPr txBox="1"/>
          <p:nvPr/>
        </p:nvSpPr>
        <p:spPr>
          <a:xfrm>
            <a:off x="5806113" y="466866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-1236</a:t>
            </a:r>
          </a:p>
        </p:txBody>
      </p:sp>
      <p:sp>
        <p:nvSpPr>
          <p:cNvPr id="398" name="Rectangle 397"/>
          <p:cNvSpPr/>
          <p:nvPr/>
        </p:nvSpPr>
        <p:spPr>
          <a:xfrm>
            <a:off x="6453443" y="4679637"/>
            <a:ext cx="614411" cy="155709"/>
          </a:xfrm>
          <a:prstGeom prst="rect">
            <a:avLst/>
          </a:prstGeom>
          <a:solidFill>
            <a:srgbClr val="D28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TextBox 398"/>
          <p:cNvSpPr txBox="1"/>
          <p:nvPr/>
        </p:nvSpPr>
        <p:spPr>
          <a:xfrm>
            <a:off x="6442470" y="466866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-1085</a:t>
            </a:r>
          </a:p>
        </p:txBody>
      </p:sp>
      <p:sp>
        <p:nvSpPr>
          <p:cNvPr id="400" name="Rectangle 399"/>
          <p:cNvSpPr/>
          <p:nvPr/>
        </p:nvSpPr>
        <p:spPr>
          <a:xfrm>
            <a:off x="7089800" y="4679637"/>
            <a:ext cx="614411" cy="155709"/>
          </a:xfrm>
          <a:prstGeom prst="rect">
            <a:avLst/>
          </a:prstGeom>
          <a:solidFill>
            <a:srgbClr val="D48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TextBox 400"/>
          <p:cNvSpPr txBox="1"/>
          <p:nvPr/>
        </p:nvSpPr>
        <p:spPr>
          <a:xfrm>
            <a:off x="7078827" y="466866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-984</a:t>
            </a:r>
          </a:p>
        </p:txBody>
      </p:sp>
      <p:sp>
        <p:nvSpPr>
          <p:cNvPr id="402" name="Rectangle 401"/>
          <p:cNvSpPr/>
          <p:nvPr/>
        </p:nvSpPr>
        <p:spPr>
          <a:xfrm>
            <a:off x="7726157" y="4679637"/>
            <a:ext cx="614411" cy="155709"/>
          </a:xfrm>
          <a:prstGeom prst="rect">
            <a:avLst/>
          </a:prstGeom>
          <a:solidFill>
            <a:srgbClr val="D692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TextBox 402"/>
          <p:cNvSpPr txBox="1"/>
          <p:nvPr/>
        </p:nvSpPr>
        <p:spPr>
          <a:xfrm>
            <a:off x="7715184" y="466866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-940</a:t>
            </a:r>
          </a:p>
        </p:txBody>
      </p:sp>
      <p:sp>
        <p:nvSpPr>
          <p:cNvPr id="404" name="Rectangle 403"/>
          <p:cNvSpPr/>
          <p:nvPr/>
        </p:nvSpPr>
        <p:spPr>
          <a:xfrm>
            <a:off x="8362514" y="4679637"/>
            <a:ext cx="614411" cy="155709"/>
          </a:xfrm>
          <a:prstGeom prst="rect">
            <a:avLst/>
          </a:prstGeom>
          <a:solidFill>
            <a:srgbClr val="DBA2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TextBox 404"/>
          <p:cNvSpPr txBox="1"/>
          <p:nvPr/>
        </p:nvSpPr>
        <p:spPr>
          <a:xfrm>
            <a:off x="8351541" y="466866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-732</a:t>
            </a:r>
          </a:p>
        </p:txBody>
      </p:sp>
      <p:sp>
        <p:nvSpPr>
          <p:cNvPr id="406" name="Rectangle 405"/>
          <p:cNvSpPr/>
          <p:nvPr/>
        </p:nvSpPr>
        <p:spPr>
          <a:xfrm>
            <a:off x="8998871" y="4679637"/>
            <a:ext cx="614411" cy="155709"/>
          </a:xfrm>
          <a:prstGeom prst="rect">
            <a:avLst/>
          </a:prstGeom>
          <a:solidFill>
            <a:srgbClr val="DC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TextBox 406"/>
          <p:cNvSpPr txBox="1"/>
          <p:nvPr/>
        </p:nvSpPr>
        <p:spPr>
          <a:xfrm>
            <a:off x="8987898" y="466866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-696</a:t>
            </a:r>
          </a:p>
        </p:txBody>
      </p:sp>
      <p:sp>
        <p:nvSpPr>
          <p:cNvPr id="408" name="Rectangle 407"/>
          <p:cNvSpPr/>
          <p:nvPr/>
        </p:nvSpPr>
        <p:spPr>
          <a:xfrm>
            <a:off x="9635228" y="4679637"/>
            <a:ext cx="614411" cy="155709"/>
          </a:xfrm>
          <a:prstGeom prst="rect">
            <a:avLst/>
          </a:prstGeom>
          <a:solidFill>
            <a:srgbClr val="E1B3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TextBox 408"/>
          <p:cNvSpPr txBox="1"/>
          <p:nvPr/>
        </p:nvSpPr>
        <p:spPr>
          <a:xfrm>
            <a:off x="9624255" y="466866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-527</a:t>
            </a:r>
          </a:p>
        </p:txBody>
      </p:sp>
      <p:sp>
        <p:nvSpPr>
          <p:cNvPr id="410" name="Rectangle 409"/>
          <p:cNvSpPr/>
          <p:nvPr/>
        </p:nvSpPr>
        <p:spPr>
          <a:xfrm>
            <a:off x="10271585" y="4679637"/>
            <a:ext cx="614411" cy="155709"/>
          </a:xfrm>
          <a:prstGeom prst="rect">
            <a:avLst/>
          </a:prstGeom>
          <a:solidFill>
            <a:srgbClr val="E4B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TextBox 410"/>
          <p:cNvSpPr txBox="1"/>
          <p:nvPr/>
        </p:nvSpPr>
        <p:spPr>
          <a:xfrm>
            <a:off x="10260613" y="466866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-398</a:t>
            </a:r>
          </a:p>
        </p:txBody>
      </p:sp>
      <p:sp>
        <p:nvSpPr>
          <p:cNvPr id="412" name="Rectangle 411"/>
          <p:cNvSpPr/>
          <p:nvPr/>
        </p:nvSpPr>
        <p:spPr>
          <a:xfrm>
            <a:off x="10907942" y="4679637"/>
            <a:ext cx="614411" cy="155709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TextBox 412"/>
          <p:cNvSpPr txBox="1"/>
          <p:nvPr/>
        </p:nvSpPr>
        <p:spPr>
          <a:xfrm>
            <a:off x="658368" y="4956048"/>
            <a:ext cx="10607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958C"/>
                </a:solidFill>
                <a:latin typeface="Helvetica Neue"/>
              </a:rPr>
              <a:t>Cada celda: UF que la vivienda de la FILA justifica por sobre la de la COLUMNA (tiempo + costo de auto ahorrados). Verde = puede pedir más; rojo = debe pedir menos.</a:t>
            </a:r>
          </a:p>
        </p:txBody>
      </p:sp>
      <p:sp>
        <p:nvSpPr>
          <p:cNvPr id="414" name="Rectangle 413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Rectangle 414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TextBox 415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417" name="TextBox 416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Ser justos: manejar desde Batuco es caro, así que su sobreprecio por auto es acotado — no puede pedir más UF que Valle Grande ni Chicauma. Su ventaja real no está en esta tabla, sino en el tren.</a:t>
            </a:r>
          </a:p>
        </p:txBody>
      </p:sp>
      <p:cxnSp>
        <p:nvCxnSpPr>
          <p:cNvPr id="418" name="Connector 417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9" name="TextBox 418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420" name="TextBox 419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05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LA RECOMENDACIÓN · INTEGRAR A 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La palanca que depende de nosotros: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integrar Batuco y Colina a RED.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0" y="222199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E6A64"/>
                </a:solidFill>
                <a:latin typeface="Helvetica Neue"/>
              </a:rPr>
              <a:t>Hoy · pagan por tramo (sin RED)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0" y="2514600"/>
            <a:ext cx="4937760" cy="457200"/>
          </a:xfrm>
          <a:prstGeom prst="rect">
            <a:avLst/>
          </a:prstGeom>
          <a:solidFill>
            <a:srgbClr val="C05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82528" y="2569464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~$103k/mes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309067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E6A64"/>
                </a:solidFill>
                <a:latin typeface="Helvetica Neue"/>
              </a:rPr>
              <a:t>Integrado a RED (bip!)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0" y="3383280"/>
            <a:ext cx="1750747" cy="457200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95515" y="3438144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F9E6E"/>
                </a:solidFill>
                <a:latin typeface="Helvetica Neue"/>
              </a:rPr>
              <a:t>~$37k/mes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448056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F9E6E"/>
                </a:solidFill>
                <a:latin typeface="Helvetica Neue"/>
              </a:rPr>
              <a:t>−</a:t>
            </a:r>
            <a:r>
              <a:rPr sz="2600" b="1">
                <a:solidFill>
                  <a:srgbClr val="2F9E6E"/>
                </a:solidFill>
                <a:latin typeface="Helvetica Neue"/>
              </a:rPr>
              <a:t>65%</a:t>
            </a:r>
            <a:r>
              <a:rPr sz="1400" b="0">
                <a:solidFill>
                  <a:srgbClr val="6E6A64"/>
                </a:solidFill>
                <a:latin typeface="Helvetica Neue"/>
              </a:rPr>
              <a:t>  en el costo de transporte público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395728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00">
                <a:solidFill>
                  <a:srgbClr val="B07D24"/>
                </a:solidFill>
                <a:latin typeface="Helvetica Neue"/>
              </a:rPr>
              <a:t>NO ES UNA OBRA · ES GESTIÓN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724912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E6A64"/>
                </a:solidFill>
                <a:latin typeface="Helvetica Neue"/>
              </a:rPr>
              <a:t>Batuco y Estación Colina quedan a un trámite de tarifa integrada. Gestionar su incorporación a RED con el Ministerio de Transportes y EFE completa su ventaja competitiva — y no depende de esperar a 2030.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Es la recomendación central: gestionar la integración a RED. Baja el costo, sube el atractivo, y está bajo nuestra influencia — no la de una autopista por construir.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06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CONCLUSIONES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¿Cuánto vale la conectividad? Lo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suficiente para decidir el portafolio.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19456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219456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Dónde somos fuertes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1728" y="219456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Estación Colina ya es central hoy; ambos proyectos justifican sobreprecio en UF.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69748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269748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Qué cambia con el tren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1728" y="269748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El transporte público se reordena: Estación Colina pasa a 1º y Batuco a 2º del set.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2004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20040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Qué cambia con la Orbital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1728" y="320040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Batuco sube del 11º al 3º en auto — la mayor palanca vial del estudio.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7033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370332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Dónde somos débiles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1728" y="370332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Batuco es caro en auto, y ninguno es RED: hoy pagan tarifa por tramo.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206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" y="420624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07D24"/>
                </a:solidFill>
                <a:latin typeface="Helvetica Neue"/>
              </a:rPr>
              <a:t>El paso inmediato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1728" y="420624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B07D24"/>
                </a:solidFill>
                <a:latin typeface="Helvetica Neue"/>
              </a:rPr>
              <a:t>Gestionar la integración de Batuco y Estación Colina a RED: baja el costo y depende de nosotros.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70916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470916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Cuánto vale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81728" y="470916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El ahorro de tiempo y de costo se capitaliza en UF y en capacidad de compra.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Competitivos hoy, y de los más competitivos del norte con la infraestructura que viene. La decisión que no depende de nadie más: integrarlos a RED.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