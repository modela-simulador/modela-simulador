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9A958C"/>
                </a:solidFill>
                <a:latin typeface="Helvetica Neue"/>
              </a:rPr>
              <a:t>MODELA  ·  DESARROLLO URBANO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161616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E6A64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ese efecto, zona por zona.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más que puede cobrar Estación Colina frente a la competencia peor conectada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hoy, Estación Colina está en la mitad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más rápida; Batuco es 11º de 14.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en auto es la debilidad precisa que la Autopista corrige: de 11º a 3º de 14.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costo de manejar limita a Batuco: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alto hacia la mayoría de los destinos.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(bencina + peajes TAG), en miles de pesos. Verde = barato, rojo = caro.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 las 14 zonas. Su argumento económico es el tren, no el auto.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POSICIONAMIENTO EN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Estación Colina combina velocidad y costo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medio; Batuco es lejano y caro de manejar.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93392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Cada punto es una zona. El eje horizontal mide el tiempo promedio en auto a los 9 destinos; el vertical, el costo mensual de manejar. El cuadrante inferior izquierdo combina ambas ventajas.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61288" y="4098163"/>
            <a:ext cx="4341611" cy="711580"/>
          </a:xfrm>
          <a:prstGeom prst="rect">
            <a:avLst/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02899" y="2798064"/>
            <a:ext cx="5161747" cy="1300099"/>
          </a:xfrm>
          <a:prstGeom prst="rect">
            <a:avLst/>
          </a:prstGeom>
          <a:solidFill>
            <a:srgbClr val="F6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502899" y="2798064"/>
            <a:ext cx="0" cy="201168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" y="4098163"/>
            <a:ext cx="9503359" cy="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57763" y="277977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tiempo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0207" y="3928999"/>
            <a:ext cx="12344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costo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61288" y="4809744"/>
            <a:ext cx="9503359" cy="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61288" y="2798064"/>
            <a:ext cx="0" cy="201168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61288" y="4882896"/>
            <a:ext cx="95033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523744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608576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286207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RÁPIDA, PERO CARA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1527" y="4608576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LENTA, PERO BARATA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1527" y="2862072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B06A5E"/>
                </a:solidFill>
                <a:latin typeface="Helvetica Neue"/>
              </a:rPr>
              <a:t>LENTA Y CARA</a:t>
            </a:r>
          </a:p>
        </p:txBody>
      </p:sp>
      <p:sp>
        <p:nvSpPr>
          <p:cNvPr id="20" name="Oval 19"/>
          <p:cNvSpPr/>
          <p:nvPr/>
        </p:nvSpPr>
        <p:spPr>
          <a:xfrm>
            <a:off x="1884140" y="4411210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62448" y="4392922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22" name="Oval 21"/>
          <p:cNvSpPr/>
          <p:nvPr/>
        </p:nvSpPr>
        <p:spPr>
          <a:xfrm>
            <a:off x="3173468" y="455005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1776" y="4531771"/>
            <a:ext cx="5157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24" name="Oval 23"/>
          <p:cNvSpPr/>
          <p:nvPr/>
        </p:nvSpPr>
        <p:spPr>
          <a:xfrm>
            <a:off x="3941270" y="317891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9578" y="3160625"/>
            <a:ext cx="4023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26" name="Oval 25"/>
          <p:cNvSpPr/>
          <p:nvPr/>
        </p:nvSpPr>
        <p:spPr>
          <a:xfrm>
            <a:off x="4115112" y="377365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3420" y="3755367"/>
            <a:ext cx="7424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28" name="Oval 27"/>
          <p:cNvSpPr/>
          <p:nvPr/>
        </p:nvSpPr>
        <p:spPr>
          <a:xfrm>
            <a:off x="4187546" y="45902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5854" y="4571923"/>
            <a:ext cx="79918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30" name="Oval 29"/>
          <p:cNvSpPr/>
          <p:nvPr/>
        </p:nvSpPr>
        <p:spPr>
          <a:xfrm>
            <a:off x="4377416" y="4065535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6984" y="4074679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2" name="Oval 31"/>
          <p:cNvSpPr/>
          <p:nvPr/>
        </p:nvSpPr>
        <p:spPr>
          <a:xfrm>
            <a:off x="5230597" y="37527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08905" y="3734443"/>
            <a:ext cx="9692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34" name="Oval 33"/>
          <p:cNvSpPr/>
          <p:nvPr/>
        </p:nvSpPr>
        <p:spPr>
          <a:xfrm>
            <a:off x="5443463" y="408216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21771" y="4063878"/>
            <a:ext cx="2889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36" name="Oval 35"/>
          <p:cNvSpPr/>
          <p:nvPr/>
        </p:nvSpPr>
        <p:spPr>
          <a:xfrm>
            <a:off x="6012886" y="32846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1194" y="3266315"/>
            <a:ext cx="108264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8" name="Oval 37"/>
          <p:cNvSpPr/>
          <p:nvPr/>
        </p:nvSpPr>
        <p:spPr>
          <a:xfrm>
            <a:off x="6679280" y="29520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7588" y="2933801"/>
            <a:ext cx="34564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40" name="Oval 39"/>
          <p:cNvSpPr/>
          <p:nvPr/>
        </p:nvSpPr>
        <p:spPr>
          <a:xfrm>
            <a:off x="6970559" y="3678050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12875" y="368719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2" name="Oval 41"/>
          <p:cNvSpPr/>
          <p:nvPr/>
        </p:nvSpPr>
        <p:spPr>
          <a:xfrm>
            <a:off x="7302214" y="434935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80522" y="4331063"/>
            <a:ext cx="62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44" name="Oval 43"/>
          <p:cNvSpPr/>
          <p:nvPr/>
        </p:nvSpPr>
        <p:spPr>
          <a:xfrm>
            <a:off x="8692949" y="41981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71257" y="4303291"/>
            <a:ext cx="91257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46" name="Oval 45"/>
          <p:cNvSpPr/>
          <p:nvPr/>
        </p:nvSpPr>
        <p:spPr>
          <a:xfrm>
            <a:off x="9562159" y="40387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40467" y="4020439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Chicauma, Urbanya y Valle Grande ocupan hoy el cuadrante rápido y barato. Estación Colina queda al borde; Batuco, lejos: es la zona que más necesita el salto de infraestructura.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reordena el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nuestros proyectos pasan a 1º y 2º.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34930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Santiago-Batuco recorta 45 minutos de viaje desde Estación Colina y 67 desde Batuco. Cada proyecto cuenta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el tren, Estación Colina queda primera y Batuco segundo entre las 14 zonas en transporte público. Ninguna zona sin estación nueva puede igualar ese cambio.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Autopista Orbital Norponiente acerca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Batuco: 28 minutos menos en auto.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Autopista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950208"/>
            <a:ext cx="5120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promedio desde Batuco a los 9 destinos, puerta a puerta.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07D24"/>
                </a:solidFill>
                <a:latin typeface="Helvetica Neue"/>
              </a:rPr>
              <a:t>28 min menos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10">
                <a:solidFill>
                  <a:srgbClr val="134E48"/>
                </a:solidFill>
                <a:latin typeface="Helvetica Neue"/>
              </a:rPr>
              <a:t>EL EFECTO DEL CORREDOR NORPONIENTE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cruza el terreno de Batuco, con enlace a 7 minutos. Es la diferencia entre una zona periférica y una de las más rápidas en 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propio argumento.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cada proyecto con su obra: la Autopista es el argumento vial de Batuco; Estación Colina no la necesita.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POR TIEMPO Y COSTO DE AUTO AHORRADOS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8368" y="326257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58368" y="428670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Verde = puede cobrar más que esa columna; rojo = debe cobrar menos. Orden: de la que más sobreprecio justifica a la que menos.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La lámina siguiente muestra dónde recupera esa diferencia.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DIFERENCIAL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diferencial del tren, en UF: solo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con estación nueva lo capturan.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SOLO POR EL TIEMPO QUE EL TREN LE AHORRA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82366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AED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9A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96C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7D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5AB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47A8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+811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3CA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+882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3AA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+896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35A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34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339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+948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319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-228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C9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80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5FB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+668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58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+702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5A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+720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53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50A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+749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" y="3116275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DDA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EC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BF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70B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6D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+570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+623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63B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60B3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EA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F3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C4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73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+537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71B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69B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+593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63B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-254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E7C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-157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8BC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+400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89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+414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83C2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81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7F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7DC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7AB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CB7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-690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-364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-344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+121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B6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+192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+206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C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AD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A8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+270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A2D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C66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-811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-583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-328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-121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6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+72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2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C9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+120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C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C4DE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+149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BD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+167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C35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-882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CD7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-654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18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-557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D28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-537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D99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-400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5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-192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-72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C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DE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DB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D8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+77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C3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-896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CC7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-668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-570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D2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D89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-206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4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E3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DD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+64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D3E5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+81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15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-930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B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-702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-605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D795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-448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2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-241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-120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F1E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DF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15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-939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A7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-711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-613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0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-593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69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1B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-249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9C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-128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F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-57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F0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-43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+21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E2E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15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-948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A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-720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-623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CF8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-603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-466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E1B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-258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F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F4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EE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05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-960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A6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-731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E7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-634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-614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-477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-149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-64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F2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F3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-21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F4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  <a:r>
              <a:rPr sz="650" b="0">
                <a:solidFill>
                  <a:srgbClr val="9A958C"/>
                </a:solidFill>
                <a:latin typeface="Helvetica Neue"/>
              </a:rPr>
              <a:t>  · ya tiene tren hoy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-977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96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-749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D79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-652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E7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-632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D4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-495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DFA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-287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-167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ECD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-95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EDD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-81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F1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F2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El tiempo ahorrado se valoriza al VTC de MIDESO y se capitaliza (lámina anterior). NOS ya cuenta con tren hoy: su ventaja ferroviaria está en sus tiempos actuales, no en este diferencial.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Frente a las zonas sin estación nueva, el tren agrega cerca de 977 UF a Batuco y 652 a Estación Colina. Es el argumento de precio que responde al costo del auto de Batuco.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recomendación central: gestionar la integración a RED. Baja el costo, sube el atractivo y depende de nosotros, no de una obra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y Estación Colina: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posición en cada indicador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967227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Autopista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6E6A6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387851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80847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22910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64972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Perfiles complementarios: Batuco es el que más gana con la infraestructura en construcción; Estación Colina ya es competitiva hoy sin depender de obra alguna.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Capturar el diferencial en UF, o mantener precio competitivo y convertirlo en velocidad de venta.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