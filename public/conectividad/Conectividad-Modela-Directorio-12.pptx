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9A958C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161616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E6A64"/>
                </a:solidFill>
                <a:latin typeface="Helvetica Neue"/>
              </a:rPr>
              <a:t>Cómo la accesibilidad vial y ferroviaria se traduce en valor inmobiliario — y por qué Batuco y Estación Colina compiten hoy,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 — y el veredicto para el portafolio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Orbital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−1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que recorta el tren a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+1.686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mayor valor — Est.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+1.019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 son competitivos hoy y de los más competitivos del norte con la infraestructura que ya está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no hay una sola distancia: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destino tiene su zona más cercana.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En auto y hoy, Estación Colina ya es de las más centrales; Batuco es el más lejano del set. Por eso la palanca de Batuco es la Orbital, no el volante de hoy.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 — EL REPARO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reparo honesto: manejar desde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es caro hacia casi todos lados.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—bencina + peajes TAG— en miles de pesos. Verde = barato, rojo = caro.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del set. Por eso su ventaja real es el tren, no el volante.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En transporte público, el tren lleva a nuestros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proyectos de los últimos a los primeros lugares.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Santiago–Batuco recorta 45 min de viaje a Estación Colina y 67 a Batuco — cada uno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El tren reordena el transporte público del corredor: Estación Colina queda primera del set y Batuco segundo. Es el cambio que ninguna zona sin estación puede igualar.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Orbital acerca a Batuco en auto —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mayor palanca vial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Orbital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07D24"/>
                </a:solidFill>
                <a:latin typeface="Helvetica Neue"/>
              </a:rPr>
              <a:t>−</a:t>
            </a:r>
            <a:r>
              <a:rPr sz="3000" b="1">
                <a:solidFill>
                  <a:srgbClr val="B07D24"/>
                </a:solidFill>
                <a:latin typeface="Helvetica Neue"/>
              </a:rPr>
              <a:t>28 min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30">
                <a:solidFill>
                  <a:srgbClr val="134E48"/>
                </a:solidFill>
                <a:latin typeface="Helvetica Neue"/>
              </a:rPr>
              <a:t>SÓLO EL CORREDOR NORPONIENTE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Orbital Norponiente cruza el terreno de Batuco: enlace a 7 minutos. Es la diferencia entre una zona periférica y una de las más rápidas del set en auto.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propia palanca.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“con la Orbital” no es un detalle de ingeniería: es el argumento vial de Batuco.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DIRECTORIO · 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zona, ubicada por tiempo y costo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manejar. El ideal: rápida y barata.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207007" y="3908769"/>
            <a:ext cx="4489692" cy="754670"/>
          </a:xfrm>
          <a:prstGeom prst="rect">
            <a:avLst/>
          </a:prstGeom>
          <a:solidFill>
            <a:srgbClr val="EF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696700" y="2514600"/>
            <a:ext cx="0" cy="214884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07007" y="3908769"/>
            <a:ext cx="95948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07007" y="4718303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← más rápido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7247" y="471830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más lento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" y="225856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↑ más caro de manejar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43525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40">
                <a:solidFill>
                  <a:srgbClr val="2F9E6E"/>
                </a:solidFill>
                <a:latin typeface="Helvetica Neue"/>
              </a:rPr>
              <a:t>RÁPIDA Y BARATA ✓</a:t>
            </a:r>
          </a:p>
        </p:txBody>
      </p:sp>
      <p:sp>
        <p:nvSpPr>
          <p:cNvPr id="12" name="Oval 11"/>
          <p:cNvSpPr/>
          <p:nvPr/>
        </p:nvSpPr>
        <p:spPr>
          <a:xfrm>
            <a:off x="7315529" y="3419108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4129" y="3400820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Oval 13"/>
          <p:cNvSpPr/>
          <p:nvPr/>
        </p:nvSpPr>
        <p:spPr>
          <a:xfrm>
            <a:off x="4462590" y="3882145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1190" y="3863857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Oval 15"/>
          <p:cNvSpPr/>
          <p:nvPr/>
        </p:nvSpPr>
        <p:spPr>
          <a:xfrm>
            <a:off x="4260093" y="45129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86807" y="42250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25919" y="42990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989144" y="2826443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80402" y="35371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73167" y="385390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16875" y="40443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01465" y="255539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68307" y="295274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44419" y="446493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07644" y="351214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41836" y="3905814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cae en la mitad rápida y de costo medio; Batuco es rápido con la Orbital, pero caro de manejar. Dos perfiles, dos argumentos de venta distintos.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SOBREPRECIO, TODAS CON TODAS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Cuánto más —o menos— puede pedir cada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zona que otra, en UF de conectividad.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4328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0685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7042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3399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9756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13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2470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8827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5184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41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7898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4255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0613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96970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359152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35300" y="237012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1657" y="2370124"/>
            <a:ext cx="614411" cy="155709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0685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08014" y="2370124"/>
            <a:ext cx="614411" cy="155709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7042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44372" y="2370124"/>
            <a:ext cx="614411" cy="155709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3399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0729" y="2370124"/>
            <a:ext cx="614411" cy="155709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756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+667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7086" y="2370124"/>
            <a:ext cx="614411" cy="155709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113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53443" y="2370124"/>
            <a:ext cx="614411" cy="155709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2470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9800" y="2370124"/>
            <a:ext cx="614411" cy="155709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78827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157" y="2370124"/>
            <a:ext cx="614411" cy="155709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15184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2514" y="2370124"/>
            <a:ext cx="614411" cy="155709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1541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98871" y="2370124"/>
            <a:ext cx="614411" cy="155709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7898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35228" y="2370124"/>
            <a:ext cx="614411" cy="155709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24255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71585" y="2370124"/>
            <a:ext cx="614411" cy="155709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0613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07942" y="2370124"/>
            <a:ext cx="614411" cy="1557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96970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253680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35300" y="2547779"/>
            <a:ext cx="614411" cy="155709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4328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1657" y="254777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8014" y="2547779"/>
            <a:ext cx="614411" cy="155709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7042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44372" y="2547779"/>
            <a:ext cx="614411" cy="155709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33399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0729" y="2547779"/>
            <a:ext cx="614411" cy="155709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9756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+658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17086" y="2547779"/>
            <a:ext cx="614411" cy="155709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06113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+709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3443" y="2547779"/>
            <a:ext cx="614411" cy="155709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2470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89800" y="2547779"/>
            <a:ext cx="614411" cy="155709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78827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26157" y="2547779"/>
            <a:ext cx="614411" cy="155709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15184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+1005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2514" y="2547779"/>
            <a:ext cx="614411" cy="155709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1541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98871" y="2547779"/>
            <a:ext cx="614411" cy="155709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87898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35228" y="2547779"/>
            <a:ext cx="614411" cy="155709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4255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1585" y="2547779"/>
            <a:ext cx="614411" cy="155709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60613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907942" y="2547779"/>
            <a:ext cx="614411" cy="1557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96970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8" y="271446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35300" y="2725434"/>
            <a:ext cx="614411" cy="155709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24328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71657" y="2725434"/>
            <a:ext cx="614411" cy="155709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60685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08014" y="272543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44372" y="2725434"/>
            <a:ext cx="614411" cy="155709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3399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+507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180729" y="2725434"/>
            <a:ext cx="614411" cy="155709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169756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17086" y="2725434"/>
            <a:ext cx="614411" cy="155709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06113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+634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53443" y="2725434"/>
            <a:ext cx="614411" cy="155709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42470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+785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89800" y="2725434"/>
            <a:ext cx="614411" cy="155709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78827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+886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26157" y="2725434"/>
            <a:ext cx="614411" cy="155709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15184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+930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62514" y="2725434"/>
            <a:ext cx="614411" cy="155709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51541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98871" y="2725434"/>
            <a:ext cx="614411" cy="155709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7898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35228" y="2725434"/>
            <a:ext cx="614411" cy="155709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24255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1585" y="2725434"/>
            <a:ext cx="614411" cy="155709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260613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907942" y="2725434"/>
            <a:ext cx="614411" cy="155709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896970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2899431"/>
            <a:ext cx="1920240" cy="163024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04088" y="289211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635300" y="2903089"/>
            <a:ext cx="614411" cy="155709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624328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-592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71657" y="2903089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260685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08014" y="2903089"/>
            <a:ext cx="614411" cy="155709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7042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-507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544372" y="290308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180729" y="2903089"/>
            <a:ext cx="614411" cy="155709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69756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817086" y="2903089"/>
            <a:ext cx="614411" cy="155709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06113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53443" y="2903089"/>
            <a:ext cx="614411" cy="155709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42470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+278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089800" y="2903089"/>
            <a:ext cx="614411" cy="155709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078827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+379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157" y="2903089"/>
            <a:ext cx="614411" cy="155709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15184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62514" y="2903089"/>
            <a:ext cx="614411" cy="155709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51541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+631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998871" y="2903089"/>
            <a:ext cx="614411" cy="155709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987898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+667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635228" y="2903089"/>
            <a:ext cx="614411" cy="155709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24255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1585" y="2903089"/>
            <a:ext cx="614411" cy="155709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60613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+965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907942" y="2903089"/>
            <a:ext cx="614411" cy="155709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896970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4088" y="306977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635300" y="3080744"/>
            <a:ext cx="614411" cy="155709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624328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-667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71657" y="3080744"/>
            <a:ext cx="614411" cy="155709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60685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-658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908014" y="3080744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897042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44372" y="3080744"/>
            <a:ext cx="614411" cy="155709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33399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80729" y="308074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817086" y="3080744"/>
            <a:ext cx="614411" cy="155709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06113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53443" y="3080744"/>
            <a:ext cx="614411" cy="155709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42470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9800" y="3080744"/>
            <a:ext cx="614411" cy="155709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078827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+303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726157" y="3080744"/>
            <a:ext cx="614411" cy="155709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15184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+347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362514" y="3080744"/>
            <a:ext cx="614411" cy="155709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51541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+555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998871" y="3080744"/>
            <a:ext cx="614411" cy="155709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987898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+591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635228" y="3080744"/>
            <a:ext cx="614411" cy="155709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624255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+760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71585" y="3080744"/>
            <a:ext cx="614411" cy="155709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60613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+889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907942" y="3080744"/>
            <a:ext cx="614411" cy="155709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896970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4088" y="324742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635300" y="3258399"/>
            <a:ext cx="614411" cy="155709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624328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271657" y="3258399"/>
            <a:ext cx="614411" cy="155709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260685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-709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908014" y="3258399"/>
            <a:ext cx="614411" cy="155709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897042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-634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544372" y="3258399"/>
            <a:ext cx="614411" cy="155709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33399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-127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180729" y="3258399"/>
            <a:ext cx="614411" cy="155709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169756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086" y="325839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453443" y="3258399"/>
            <a:ext cx="614411" cy="155709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442470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+151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089800" y="3258399"/>
            <a:ext cx="614411" cy="155709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078827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+252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726157" y="3258399"/>
            <a:ext cx="614411" cy="155709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15184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+296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362514" y="3258399"/>
            <a:ext cx="614411" cy="155709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351541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+504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998871" y="3258399"/>
            <a:ext cx="614411" cy="155709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987898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+540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635228" y="3258399"/>
            <a:ext cx="614411" cy="155709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624255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+709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271585" y="3258399"/>
            <a:ext cx="614411" cy="155709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260613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+838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907942" y="3258399"/>
            <a:ext cx="614411" cy="155709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896970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" y="342508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35300" y="3436053"/>
            <a:ext cx="614411" cy="155709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624328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-869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271657" y="3436053"/>
            <a:ext cx="614411" cy="155709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260685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-859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908014" y="3436053"/>
            <a:ext cx="614411" cy="155709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897042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544372" y="3436053"/>
            <a:ext cx="614411" cy="155709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33399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-278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180729" y="3436053"/>
            <a:ext cx="614411" cy="155709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169756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-202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817086" y="3436053"/>
            <a:ext cx="614411" cy="155709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806113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-151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453443" y="343605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089800" y="3436053"/>
            <a:ext cx="614411" cy="155709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78827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+101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726157" y="3436053"/>
            <a:ext cx="614411" cy="155709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715184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+145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362514" y="3436053"/>
            <a:ext cx="614411" cy="155709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8351541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+353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98871" y="3436053"/>
            <a:ext cx="614411" cy="155709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987898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+389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635228" y="3436053"/>
            <a:ext cx="614411" cy="155709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624255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+558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271585" y="3436053"/>
            <a:ext cx="614411" cy="155709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260613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+688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907942" y="3436053"/>
            <a:ext cx="614411" cy="155709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896970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04088" y="360273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635300" y="3613708"/>
            <a:ext cx="614411" cy="155709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624328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-970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271657" y="3613708"/>
            <a:ext cx="614411" cy="155709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260685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-960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908014" y="3613708"/>
            <a:ext cx="614411" cy="155709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897042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-886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4544372" y="3613708"/>
            <a:ext cx="614411" cy="155709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4533399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-379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180729" y="3613708"/>
            <a:ext cx="614411" cy="155709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169756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-303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817086" y="3613708"/>
            <a:ext cx="614411" cy="155709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806113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-252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6453443" y="3613708"/>
            <a:ext cx="614411" cy="155709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442470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-101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089800" y="361370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726157" y="3613708"/>
            <a:ext cx="614411" cy="155709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15184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8362514" y="3613708"/>
            <a:ext cx="614411" cy="155709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351541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+252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998871" y="3613708"/>
            <a:ext cx="614411" cy="155709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987898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+288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9635228" y="3613708"/>
            <a:ext cx="614411" cy="155709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624255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271585" y="3613708"/>
            <a:ext cx="614411" cy="155709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260613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907942" y="3613708"/>
            <a:ext cx="614411" cy="155709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896970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+984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04088" y="378039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635300" y="3791363"/>
            <a:ext cx="614411" cy="155709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624328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-1014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271657" y="3791363"/>
            <a:ext cx="614411" cy="155709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60685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-1005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908014" y="3791363"/>
            <a:ext cx="614411" cy="155709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897042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-930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544372" y="3791363"/>
            <a:ext cx="614411" cy="155709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4533399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-423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80729" y="3791363"/>
            <a:ext cx="614411" cy="155709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169756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-347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817086" y="3791363"/>
            <a:ext cx="614411" cy="155709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806113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-296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453443" y="3791363"/>
            <a:ext cx="614411" cy="155709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442470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-145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089800" y="3791363"/>
            <a:ext cx="614411" cy="155709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7078827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726157" y="379136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62514" y="3791363"/>
            <a:ext cx="614411" cy="155709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8351541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+208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8998871" y="3791363"/>
            <a:ext cx="614411" cy="155709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987898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+244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9635228" y="3791363"/>
            <a:ext cx="614411" cy="155709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9624255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+413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271585" y="3791363"/>
            <a:ext cx="614411" cy="155709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260613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+542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907942" y="3791363"/>
            <a:ext cx="614411" cy="155709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896970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+940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04088" y="395804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2635300" y="3969018"/>
            <a:ext cx="614411" cy="155709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624328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3271657" y="3969018"/>
            <a:ext cx="614411" cy="155709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3260685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908014" y="3969018"/>
            <a:ext cx="614411" cy="155709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897042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4544372" y="3969018"/>
            <a:ext cx="614411" cy="155709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4533399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-631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180729" y="3969018"/>
            <a:ext cx="614411" cy="155709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5169756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-555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17086" y="3969018"/>
            <a:ext cx="614411" cy="155709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806113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-504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6453443" y="3969018"/>
            <a:ext cx="614411" cy="155709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442470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-353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089800" y="3969018"/>
            <a:ext cx="614411" cy="155709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7078827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-252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726157" y="3969018"/>
            <a:ext cx="614411" cy="155709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715184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8362514" y="396901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998871" y="3969018"/>
            <a:ext cx="614411" cy="155709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8987898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+36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635228" y="3969018"/>
            <a:ext cx="614411" cy="155709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9624255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+205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0271585" y="3969018"/>
            <a:ext cx="614411" cy="155709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260613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+334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907942" y="3969018"/>
            <a:ext cx="614411" cy="155709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896970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+732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658368" y="4143015"/>
            <a:ext cx="1920240" cy="163024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04088" y="413570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146673"/>
            <a:ext cx="614411" cy="155709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146673"/>
            <a:ext cx="614411" cy="155709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146673"/>
            <a:ext cx="614411" cy="155709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146673"/>
            <a:ext cx="614411" cy="155709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-667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146673"/>
            <a:ext cx="614411" cy="155709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-591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146673"/>
            <a:ext cx="614411" cy="155709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-540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146673"/>
            <a:ext cx="614411" cy="155709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-389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146673"/>
            <a:ext cx="614411" cy="155709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-288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146673"/>
            <a:ext cx="614411" cy="155709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-244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146673"/>
            <a:ext cx="614411" cy="155709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14667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146673"/>
            <a:ext cx="614411" cy="155709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+169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146673"/>
            <a:ext cx="614411" cy="155709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+298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146673"/>
            <a:ext cx="614411" cy="155709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+696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31335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324328"/>
            <a:ext cx="614411" cy="155709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324328"/>
            <a:ext cx="614411" cy="155709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324328"/>
            <a:ext cx="614411" cy="155709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324328"/>
            <a:ext cx="614411" cy="155709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-836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324328"/>
            <a:ext cx="614411" cy="155709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-760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324328"/>
            <a:ext cx="614411" cy="155709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-709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324328"/>
            <a:ext cx="614411" cy="155709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-558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324328"/>
            <a:ext cx="614411" cy="155709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-457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324328"/>
            <a:ext cx="614411" cy="155709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-413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324328"/>
            <a:ext cx="614411" cy="155709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-205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324328"/>
            <a:ext cx="614411" cy="155709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-169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32432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324328"/>
            <a:ext cx="614411" cy="155709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+130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324328"/>
            <a:ext cx="614411" cy="155709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+527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49101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Norte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01983"/>
            <a:ext cx="614411" cy="155709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01983"/>
            <a:ext cx="614411" cy="155709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01983"/>
            <a:ext cx="614411" cy="155709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01983"/>
            <a:ext cx="614411" cy="155709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-965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01983"/>
            <a:ext cx="614411" cy="155709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-889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01983"/>
            <a:ext cx="614411" cy="155709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-838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01983"/>
            <a:ext cx="614411" cy="155709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-688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01983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01983"/>
            <a:ext cx="614411" cy="155709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-542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01983"/>
            <a:ext cx="614411" cy="155709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-334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01983"/>
            <a:ext cx="614411" cy="155709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-298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01983"/>
            <a:ext cx="614411" cy="155709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-130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0198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01983"/>
            <a:ext cx="614411" cy="155709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+398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66866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679637"/>
            <a:ext cx="614411" cy="155709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679637"/>
            <a:ext cx="614411" cy="155709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679637"/>
            <a:ext cx="614411" cy="155709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679637"/>
            <a:ext cx="614411" cy="155709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679637"/>
            <a:ext cx="614411" cy="155709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679637"/>
            <a:ext cx="614411" cy="155709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679637"/>
            <a:ext cx="614411" cy="155709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679637"/>
            <a:ext cx="614411" cy="155709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-984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679637"/>
            <a:ext cx="614411" cy="155709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-940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679637"/>
            <a:ext cx="614411" cy="155709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-732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679637"/>
            <a:ext cx="614411" cy="155709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-696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679637"/>
            <a:ext cx="614411" cy="155709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-527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679637"/>
            <a:ext cx="614411" cy="155709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-398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679637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vivienda de la FILA justifica por sobre la de la COLUMNA (tiempo + costo de auto ahorrados). Verde = puede pedir más; rojo = debe pedir menos.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Ser justos: manejar desde Batuco es caro, así que su sobreprecio por auto es acotado — no puede pedir más UF que Valle Grande ni Chicauma. Su ventaja real no está en esta tabla, sino en el tren.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PREMIO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El tren agrega un valor que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sin estación nueva no pueden ofrecer.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65376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UF DE MAYOR VALOR — SOLO POR EL TIEMPO QUE AHORRA EL TREN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2140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12140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139696"/>
            <a:ext cx="6366967" cy="114299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20679" y="21122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+977 UF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308860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0886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27148"/>
            <a:ext cx="4881138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34850" y="229971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+749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496312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9631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14600"/>
            <a:ext cx="4246030" cy="114299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9742" y="2487168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+652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683764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268376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2702052"/>
            <a:ext cx="4116454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70166" y="267462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+632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871215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2871215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2889503"/>
            <a:ext cx="3224848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8560" y="286207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+495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05866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05866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3076956"/>
            <a:ext cx="1872380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092" y="304952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+287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246120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324612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0560" y="3264408"/>
            <a:ext cx="1085122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38834" y="323697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+167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433571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3433571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0" y="3451859"/>
            <a:ext cx="619249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2961" y="3424427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+95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621023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" y="3621023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60" y="3639311"/>
            <a:ext cx="529974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3686" y="3611879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+81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808476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" y="380847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3826763"/>
            <a:ext cx="305245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8957" y="3799331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99592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" y="399592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80560" y="4014215"/>
            <a:ext cx="250834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4546" y="3986783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183380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" y="41833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80560" y="4201668"/>
            <a:ext cx="190406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44118" y="4174235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370832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552" y="437083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Colina Norte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80560" y="4389120"/>
            <a:ext cx="116127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69839" y="4361688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558284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7552" y="455828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80560" y="4576572"/>
            <a:ext cx="13716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67428" y="454914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4846320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Gris = zonas sin estación nueva: su transporte público no cambia con el tren, y no capturan este ahorro.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En auto Batuco es de las más caras y su sobreprecio es acotado; el tren se lo da vuelta: le suma ~977 UF de valor —y ~652 a Estación Colina— que ninguna zona sin estación puede igualar. Ese es su argumento de precio.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palanca que depende de nosotros: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integrar Batuco y Colina 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4937760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6946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~$103k/mes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750747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5515" y="34381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9E6E"/>
                </a:solidFill>
                <a:latin typeface="Helvetica Neue"/>
              </a:rPr>
              <a:t>~$37k/mes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9E6E"/>
                </a:solidFill>
                <a:latin typeface="Helvetica Neue"/>
              </a:rPr>
              <a:t>−</a:t>
            </a:r>
            <a:r>
              <a:rPr sz="2600" b="1">
                <a:solidFill>
                  <a:srgbClr val="2F9E6E"/>
                </a:solidFill>
                <a:latin typeface="Helvetica Neue"/>
              </a:rPr>
              <a:t>65%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 — y no depende de esperar a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gestionar la integración a RED. Baja el costo, sube el atractivo, y está bajo nuestra influencia — no la de una autopista por construir.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y Estación Colina: cómo se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posicionan en cada frente.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78892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20954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630168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050792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47141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es el que más gana con la infraestructura futura; Estación Colina ya está mejor posicionada hoy. Dos fortalezas distintas, las dos válidas.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 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suficiente para decidir el portafolio.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fuertes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Estación Colina ya es central hoy; ambos proyectos justifican sobreprecio en UF.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el 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transporte público se reordena: Estación Colina pasa a 1º y Batuco a 2º del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sube del 11º al 3º en auto — la mayor palanca vial del estudio.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débiles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es caro en auto, y ninguno es RED: hoy pagan tarifa por tramo.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El paso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Gestionar la integración de Batuco y Estación Colina a RED: baja el costo y depende de nosotros.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Cuánto vale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ahorro de tiempo y de costo se capitaliza en UF y en capacidad de compra.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hoy, y de los más competitivos del norte con la infraestructura que viene. La decisión que no depende de nadie más: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