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822960"/>
            <a:ext cx="822960" cy="41148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0515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220">
                <a:solidFill>
                  <a:srgbClr val="9A958C"/>
                </a:solidFill>
                <a:latin typeface="Helvetica Neue"/>
              </a:rPr>
              <a:t>MODELA  ·  DESARROLLO INMOBILIARIO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31720"/>
            <a:ext cx="10874959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0" b="1" spc="-20">
                <a:solidFill>
                  <a:srgbClr val="161616"/>
                </a:solidFill>
                <a:latin typeface="Helvetica Neue"/>
              </a:rPr>
              <a:t>¿Cuánto vale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0" b="1" spc="-20">
                <a:solidFill>
                  <a:srgbClr val="B07D24"/>
                </a:solidFill>
                <a:latin typeface="Helvetica Neue"/>
              </a:rPr>
              <a:t>la conectividad?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4434840"/>
            <a:ext cx="8412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6E6A64"/>
                </a:solidFill>
                <a:latin typeface="Helvetica Neue"/>
              </a:rPr>
              <a:t>Cómo la accesibilidad vial y ferroviaria se traduce en valor inmobiliario — y por qué Batuco y Estación Colina compiten hoy, y lideran mañana.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9893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60">
                <a:solidFill>
                  <a:srgbClr val="9A958C"/>
                </a:solidFill>
                <a:latin typeface="Helvetica Neue"/>
              </a:rPr>
              <a:t>Evaluación de accesibilidad · Región Metropolitana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90127" y="59893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60">
                <a:solidFill>
                  <a:srgbClr val="9A958C"/>
                </a:solidFill>
                <a:latin typeface="Helvetica Neue"/>
              </a:rPr>
              <a:t>Documento de directorio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01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LA 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-10">
                <a:solidFill>
                  <a:srgbClr val="161616"/>
                </a:solidFill>
                <a:latin typeface="Helvetica Neue"/>
              </a:rPr>
              <a:t>La conectividad no es un atributo: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-10">
                <a:solidFill>
                  <a:srgbClr val="161616"/>
                </a:solidFill>
                <a:latin typeface="Helvetica Neue"/>
              </a:rPr>
              <a:t>es valor inmobiliario medible.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7495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E6A64"/>
                </a:solidFill>
                <a:latin typeface="Helvetica Neue"/>
              </a:rPr>
              <a:t>Menos tiempo y menos costo de traslado se capitalizan en cuánto puede pagar una familia por su vivienda. Medimos esa conexión, zona por zona — y el veredicto para el portafolio es claro.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063240"/>
            <a:ext cx="2651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spc="-20">
                <a:solidFill>
                  <a:srgbClr val="161616"/>
                </a:solidFill>
                <a:latin typeface="Helvetica Neue"/>
              </a:rPr>
              <a:t>3º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776472"/>
            <a:ext cx="2651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61616"/>
                </a:solidFill>
                <a:latin typeface="Helvetica Neue"/>
              </a:rPr>
              <a:t>Batuco en auto, con la Orbital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43484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6A64"/>
                </a:solidFill>
                <a:latin typeface="Helvetica Neue"/>
              </a:rPr>
              <a:t>hoy 11º de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47287" y="3063240"/>
            <a:ext cx="2651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spc="-20">
                <a:solidFill>
                  <a:srgbClr val="B07D24"/>
                </a:solidFill>
                <a:latin typeface="Helvetica Neue"/>
              </a:rPr>
              <a:t>1º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47287" y="3776472"/>
            <a:ext cx="2651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61616"/>
                </a:solidFill>
                <a:latin typeface="Helvetica Neue"/>
              </a:rPr>
              <a:t>Estación Colina en transporte público, con el tren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47287" y="443484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6A64"/>
                </a:solidFill>
                <a:latin typeface="Helvetica Neue"/>
              </a:rPr>
              <a:t>hoy 5º de 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6207" y="3063240"/>
            <a:ext cx="2651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spc="-20">
                <a:solidFill>
                  <a:srgbClr val="161616"/>
                </a:solidFill>
                <a:latin typeface="Helvetica Neue"/>
              </a:rPr>
              <a:t>−1 h 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6207" y="3776472"/>
            <a:ext cx="2651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61616"/>
                </a:solidFill>
                <a:latin typeface="Helvetica Neue"/>
              </a:rPr>
              <a:t>que recorta el tren a Batuco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6207" y="443484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6A64"/>
                </a:solidFill>
                <a:latin typeface="Helvetica Neue"/>
              </a:rPr>
              <a:t>de 2h17 a 1h10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25128" y="3063240"/>
            <a:ext cx="2468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spc="-20">
                <a:solidFill>
                  <a:srgbClr val="B07D24"/>
                </a:solidFill>
                <a:latin typeface="Helvetica Neue"/>
              </a:rPr>
              <a:t>+1.686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25128" y="3776472"/>
            <a:ext cx="2468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61616"/>
                </a:solidFill>
                <a:latin typeface="Helvetica Neue"/>
              </a:rPr>
              <a:t>UF de mayor valor — Est. Colina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25128" y="4434840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6A64"/>
                </a:solidFill>
                <a:latin typeface="Helvetica Neue"/>
              </a:rPr>
              <a:t>Batuco, +1.019 UF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2EFE8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Batuco y Estación Colina son competitivos hoy y de los más competitivos del norte con la infraestructura que ya está en construcción.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02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AUTO · TIEMPO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En auto, la cercanía define quién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llega rápido a cada destino.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41448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Tobalaba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51656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Centro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61865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Industrial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72074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Cd. Empr.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82283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Univ.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2492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Aerop.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2700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Hospital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12909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Clínica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23118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C. Comercial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245059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Chicauma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59736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41448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69944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51656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153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61865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90362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72074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00571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2283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10780" y="2464308"/>
            <a:ext cx="973632" cy="141732"/>
          </a:xfrm>
          <a:prstGeom prst="rect">
            <a:avLst/>
          </a:prstGeom>
          <a:solidFill>
            <a:srgbClr val="5B9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2492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20988" y="2464308"/>
            <a:ext cx="973632" cy="141732"/>
          </a:xfrm>
          <a:prstGeom prst="rect">
            <a:avLst/>
          </a:prstGeom>
          <a:solidFill>
            <a:srgbClr val="88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02700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31197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12909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541406" y="2464308"/>
            <a:ext cx="973632" cy="141732"/>
          </a:xfrm>
          <a:prstGeom prst="rect">
            <a:avLst/>
          </a:prstGeom>
          <a:solidFill>
            <a:srgbClr val="85A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23118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232" y="2619756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Urbanya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459736" y="2633472"/>
            <a:ext cx="973632" cy="141732"/>
          </a:xfrm>
          <a:prstGeom prst="rect">
            <a:avLst/>
          </a:prstGeom>
          <a:solidFill>
            <a:srgbClr val="7CA0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441448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1:09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69944" y="2633472"/>
            <a:ext cx="973632" cy="141732"/>
          </a:xfrm>
          <a:prstGeom prst="rect">
            <a:avLst/>
          </a:prstGeom>
          <a:solidFill>
            <a:srgbClr val="5C9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51656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80153" y="2633472"/>
            <a:ext cx="973632" cy="141732"/>
          </a:xfrm>
          <a:prstGeom prst="rect">
            <a:avLst/>
          </a:prstGeom>
          <a:solidFill>
            <a:srgbClr val="649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61865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90362" y="2633472"/>
            <a:ext cx="973632" cy="141732"/>
          </a:xfrm>
          <a:prstGeom prst="rect">
            <a:avLst/>
          </a:prstGeom>
          <a:solidFill>
            <a:srgbClr val="669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72074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1:06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00571" y="2633472"/>
            <a:ext cx="973632" cy="141732"/>
          </a:xfrm>
          <a:prstGeom prst="rect">
            <a:avLst/>
          </a:prstGeom>
          <a:solidFill>
            <a:srgbClr val="93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82283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510780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92492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28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520988" y="2633472"/>
            <a:ext cx="973632" cy="141732"/>
          </a:xfrm>
          <a:prstGeom prst="rect">
            <a:avLst/>
          </a:prstGeom>
          <a:solidFill>
            <a:srgbClr val="6A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502700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46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531197" y="2633472"/>
            <a:ext cx="973632" cy="141732"/>
          </a:xfrm>
          <a:prstGeom prst="rect">
            <a:avLst/>
          </a:prstGeom>
          <a:solidFill>
            <a:srgbClr val="85A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512909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41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541406" y="2633472"/>
            <a:ext cx="973632" cy="141732"/>
          </a:xfrm>
          <a:prstGeom prst="rect">
            <a:avLst/>
          </a:prstGeom>
          <a:solidFill>
            <a:srgbClr val="C8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523118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3232" y="2788920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Ayres de Chicureo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59736" y="2802636"/>
            <a:ext cx="973632" cy="141732"/>
          </a:xfrm>
          <a:prstGeom prst="rect">
            <a:avLst/>
          </a:prstGeom>
          <a:solidFill>
            <a:srgbClr val="5B9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441448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469944" y="2802636"/>
            <a:ext cx="973632" cy="141732"/>
          </a:xfrm>
          <a:prstGeom prst="rect">
            <a:avLst/>
          </a:prstGeom>
          <a:solidFill>
            <a:srgbClr val="609F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451656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1:01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480153" y="2802636"/>
            <a:ext cx="973632" cy="141732"/>
          </a:xfrm>
          <a:prstGeom prst="rect">
            <a:avLst/>
          </a:prstGeom>
          <a:solidFill>
            <a:srgbClr val="95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461865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47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490362" y="2802636"/>
            <a:ext cx="973632" cy="141732"/>
          </a:xfrm>
          <a:prstGeom prst="rect">
            <a:avLst/>
          </a:prstGeom>
          <a:solidFill>
            <a:srgbClr val="699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72074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500571" y="2802636"/>
            <a:ext cx="973632" cy="141732"/>
          </a:xfrm>
          <a:prstGeom prst="rect">
            <a:avLst/>
          </a:prstGeom>
          <a:solidFill>
            <a:srgbClr val="779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82283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60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510780" y="2802636"/>
            <a:ext cx="973632" cy="141732"/>
          </a:xfrm>
          <a:prstGeom prst="rect">
            <a:avLst/>
          </a:prstGeom>
          <a:solidFill>
            <a:srgbClr val="A6A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492492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520988" y="2802636"/>
            <a:ext cx="973632" cy="141732"/>
          </a:xfrm>
          <a:prstGeom prst="rect">
            <a:avLst/>
          </a:prstGeom>
          <a:solidFill>
            <a:srgbClr val="C99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502700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1:07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531197" y="2802636"/>
            <a:ext cx="973632" cy="141732"/>
          </a:xfrm>
          <a:prstGeom prst="rect">
            <a:avLst/>
          </a:prstGeom>
          <a:solidFill>
            <a:srgbClr val="729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512909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38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0541406" y="2802636"/>
            <a:ext cx="973632" cy="141732"/>
          </a:xfrm>
          <a:prstGeom prst="rect">
            <a:avLst/>
          </a:prstGeom>
          <a:solidFill>
            <a:srgbClr val="C8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523118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3232" y="2958083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Santa Elena de Chicureo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59736" y="2971799"/>
            <a:ext cx="973632" cy="141732"/>
          </a:xfrm>
          <a:prstGeom prst="rect">
            <a:avLst/>
          </a:prstGeom>
          <a:solidFill>
            <a:srgbClr val="629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41448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1:02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69944" y="2971799"/>
            <a:ext cx="973632" cy="141732"/>
          </a:xfrm>
          <a:prstGeom prst="rect">
            <a:avLst/>
          </a:prstGeom>
          <a:solidFill>
            <a:srgbClr val="679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451656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1:03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480153" y="2971799"/>
            <a:ext cx="973632" cy="141732"/>
          </a:xfrm>
          <a:prstGeom prst="rect">
            <a:avLst/>
          </a:prstGeom>
          <a:solidFill>
            <a:srgbClr val="74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461865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39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490362" y="2971799"/>
            <a:ext cx="973632" cy="141732"/>
          </a:xfrm>
          <a:prstGeom prst="rect">
            <a:avLst/>
          </a:prstGeom>
          <a:solidFill>
            <a:srgbClr val="6F9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472074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1:09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500571" y="2971799"/>
            <a:ext cx="973632" cy="141732"/>
          </a:xfrm>
          <a:prstGeom prst="rect">
            <a:avLst/>
          </a:prstGeom>
          <a:solidFill>
            <a:srgbClr val="7DA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482283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1:01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510780" y="2971799"/>
            <a:ext cx="973632" cy="141732"/>
          </a:xfrm>
          <a:prstGeom prst="rect">
            <a:avLst/>
          </a:prstGeom>
          <a:solidFill>
            <a:srgbClr val="A6A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492492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1:03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520988" y="2971799"/>
            <a:ext cx="973632" cy="141732"/>
          </a:xfrm>
          <a:prstGeom prst="rect">
            <a:avLst/>
          </a:prstGeom>
          <a:solidFill>
            <a:srgbClr val="CC8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502700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1:14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531197" y="2971799"/>
            <a:ext cx="973632" cy="141732"/>
          </a:xfrm>
          <a:prstGeom prst="rect">
            <a:avLst/>
          </a:prstGeom>
          <a:solidFill>
            <a:srgbClr val="7FA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512909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41406" y="2971799"/>
            <a:ext cx="973632" cy="141732"/>
          </a:xfrm>
          <a:prstGeom prst="rect">
            <a:avLst/>
          </a:prstGeom>
          <a:solidFill>
            <a:srgbClr val="CB9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23118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47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13232" y="3127248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459736" y="3140964"/>
            <a:ext cx="973632" cy="141732"/>
          </a:xfrm>
          <a:prstGeom prst="rect">
            <a:avLst/>
          </a:prstGeom>
          <a:solidFill>
            <a:srgbClr val="87A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441448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1:12</a:t>
            </a:r>
          </a:p>
        </p:txBody>
      </p:sp>
      <p:sp>
        <p:nvSpPr>
          <p:cNvPr id="93" name="Rectangle 92"/>
          <p:cNvSpPr/>
          <p:nvPr/>
        </p:nvSpPr>
        <p:spPr>
          <a:xfrm>
            <a:off x="3469944" y="3140964"/>
            <a:ext cx="973632" cy="141732"/>
          </a:xfrm>
          <a:prstGeom prst="rect">
            <a:avLst/>
          </a:prstGeom>
          <a:solidFill>
            <a:srgbClr val="75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451656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1:07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480153" y="3140964"/>
            <a:ext cx="973632" cy="141732"/>
          </a:xfrm>
          <a:prstGeom prst="rect">
            <a:avLst/>
          </a:prstGeom>
          <a:solidFill>
            <a:srgbClr val="6C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461865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490362" y="3140964"/>
            <a:ext cx="973632" cy="141732"/>
          </a:xfrm>
          <a:prstGeom prst="rect">
            <a:avLst/>
          </a:prstGeom>
          <a:solidFill>
            <a:srgbClr val="6F9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472074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1:09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500571" y="3140964"/>
            <a:ext cx="973632" cy="141732"/>
          </a:xfrm>
          <a:prstGeom prst="rect">
            <a:avLst/>
          </a:prstGeom>
          <a:solidFill>
            <a:srgbClr val="88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482283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1:03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510780" y="3140964"/>
            <a:ext cx="973632" cy="141732"/>
          </a:xfrm>
          <a:prstGeom prst="rect">
            <a:avLst/>
          </a:prstGeom>
          <a:solidFill>
            <a:srgbClr val="9CA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492492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60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8520988" y="3140964"/>
            <a:ext cx="973632" cy="141732"/>
          </a:xfrm>
          <a:prstGeom prst="rect">
            <a:avLst/>
          </a:prstGeom>
          <a:solidFill>
            <a:srgbClr val="CB8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502700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1:11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9531197" y="3140964"/>
            <a:ext cx="973632" cy="141732"/>
          </a:xfrm>
          <a:prstGeom prst="rect">
            <a:avLst/>
          </a:prstGeom>
          <a:solidFill>
            <a:srgbClr val="9DA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9512909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45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0541406" y="3140964"/>
            <a:ext cx="973632" cy="141732"/>
          </a:xfrm>
          <a:prstGeom prst="rect">
            <a:avLst/>
          </a:prstGeom>
          <a:solidFill>
            <a:srgbClr val="ADA1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0523118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39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58368" y="3305555"/>
            <a:ext cx="1737360" cy="150876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713232" y="329641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2459736" y="3310127"/>
            <a:ext cx="973632" cy="141732"/>
          </a:xfrm>
          <a:prstGeom prst="rect">
            <a:avLst/>
          </a:prstGeom>
          <a:solidFill>
            <a:srgbClr val="8EA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2441448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1:14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469944" y="3310127"/>
            <a:ext cx="973632" cy="141732"/>
          </a:xfrm>
          <a:prstGeom prst="rect">
            <a:avLst/>
          </a:prstGeom>
          <a:solidFill>
            <a:srgbClr val="7CA0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451656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1:09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4480153" y="3310127"/>
            <a:ext cx="973632" cy="141732"/>
          </a:xfrm>
          <a:prstGeom prst="rect">
            <a:avLst/>
          </a:prstGeom>
          <a:solidFill>
            <a:srgbClr val="74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4461865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39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5490362" y="3310127"/>
            <a:ext cx="973632" cy="141732"/>
          </a:xfrm>
          <a:prstGeom prst="rect">
            <a:avLst/>
          </a:prstGeom>
          <a:solidFill>
            <a:srgbClr val="75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5472074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1:11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6500571" y="3310127"/>
            <a:ext cx="973632" cy="141732"/>
          </a:xfrm>
          <a:prstGeom prst="rect">
            <a:avLst/>
          </a:prstGeom>
          <a:solidFill>
            <a:srgbClr val="93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6482283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1:05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7510780" y="3310127"/>
            <a:ext cx="973632" cy="141732"/>
          </a:xfrm>
          <a:prstGeom prst="rect">
            <a:avLst/>
          </a:prstGeom>
          <a:solidFill>
            <a:srgbClr val="A3A1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7492492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1:02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8520988" y="3310127"/>
            <a:ext cx="973632" cy="141732"/>
          </a:xfrm>
          <a:prstGeom prst="rect">
            <a:avLst/>
          </a:prstGeom>
          <a:solidFill>
            <a:srgbClr val="CC8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8502700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1:13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9531197" y="3310127"/>
            <a:ext cx="973632" cy="141732"/>
          </a:xfrm>
          <a:prstGeom prst="rect">
            <a:avLst/>
          </a:prstGeom>
          <a:solidFill>
            <a:srgbClr val="97A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9512909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44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10541406" y="3310127"/>
            <a:ext cx="973632" cy="141732"/>
          </a:xfrm>
          <a:prstGeom prst="rect">
            <a:avLst/>
          </a:prstGeom>
          <a:solidFill>
            <a:srgbClr val="BA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10523118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13232" y="3465575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Hacienda Batuco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2459736" y="3479291"/>
            <a:ext cx="973632" cy="141732"/>
          </a:xfrm>
          <a:prstGeom prst="rect">
            <a:avLst/>
          </a:prstGeom>
          <a:solidFill>
            <a:srgbClr val="8EA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2441448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1:14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469944" y="3479291"/>
            <a:ext cx="973632" cy="141732"/>
          </a:xfrm>
          <a:prstGeom prst="rect">
            <a:avLst/>
          </a:prstGeom>
          <a:solidFill>
            <a:srgbClr val="98A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451656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1:17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80153" y="3479291"/>
            <a:ext cx="973632" cy="141732"/>
          </a:xfrm>
          <a:prstGeom prst="rect">
            <a:avLst/>
          </a:prstGeom>
          <a:solidFill>
            <a:srgbClr val="91A0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61865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46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490362" y="3479291"/>
            <a:ext cx="973632" cy="141732"/>
          </a:xfrm>
          <a:prstGeom prst="rect">
            <a:avLst/>
          </a:prstGeom>
          <a:solidFill>
            <a:srgbClr val="8FA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472074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1:20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500571" y="3479291"/>
            <a:ext cx="973632" cy="141732"/>
          </a:xfrm>
          <a:prstGeom prst="rect">
            <a:avLst/>
          </a:prstGeom>
          <a:solidFill>
            <a:srgbClr val="BB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482283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1:12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7510780" y="3479291"/>
            <a:ext cx="973632" cy="141732"/>
          </a:xfrm>
          <a:prstGeom prst="rect">
            <a:avLst/>
          </a:prstGeom>
          <a:solidFill>
            <a:srgbClr val="BB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7492492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1:09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8520988" y="3479291"/>
            <a:ext cx="973632" cy="141732"/>
          </a:xfrm>
          <a:prstGeom prst="rect">
            <a:avLst/>
          </a:prstGeom>
          <a:solidFill>
            <a:srgbClr val="D06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8502700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9531197" y="3479291"/>
            <a:ext cx="973632" cy="141732"/>
          </a:xfrm>
          <a:prstGeom prst="rect">
            <a:avLst/>
          </a:prstGeom>
          <a:solidFill>
            <a:srgbClr val="C2A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9512909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51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10541406" y="3479291"/>
            <a:ext cx="973632" cy="141732"/>
          </a:xfrm>
          <a:prstGeom prst="rect">
            <a:avLst/>
          </a:prstGeom>
          <a:solidFill>
            <a:srgbClr val="C99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10523118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44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713232" y="3634739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NOS · Laguna Cóndores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2459736" y="3648456"/>
            <a:ext cx="973632" cy="141732"/>
          </a:xfrm>
          <a:prstGeom prst="rect">
            <a:avLst/>
          </a:prstGeom>
          <a:solidFill>
            <a:srgbClr val="7A9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2441448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1:09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3469944" y="3648456"/>
            <a:ext cx="973632" cy="141732"/>
          </a:xfrm>
          <a:prstGeom prst="rect">
            <a:avLst/>
          </a:prstGeom>
          <a:solidFill>
            <a:srgbClr val="8DA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3451656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1:14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4480153" y="3648456"/>
            <a:ext cx="973632" cy="141732"/>
          </a:xfrm>
          <a:prstGeom prst="rect">
            <a:avLst/>
          </a:prstGeom>
          <a:solidFill>
            <a:srgbClr val="B9A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4461865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56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5490362" y="3648456"/>
            <a:ext cx="973632" cy="141732"/>
          </a:xfrm>
          <a:prstGeom prst="rect">
            <a:avLst/>
          </a:prstGeom>
          <a:solidFill>
            <a:srgbClr val="CC8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72074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1:55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6500571" y="3648456"/>
            <a:ext cx="973632" cy="141732"/>
          </a:xfrm>
          <a:prstGeom prst="rect">
            <a:avLst/>
          </a:prstGeom>
          <a:solidFill>
            <a:srgbClr val="C9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482283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1:15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7510780" y="3648456"/>
            <a:ext cx="973632" cy="141732"/>
          </a:xfrm>
          <a:prstGeom prst="rect">
            <a:avLst/>
          </a:prstGeom>
          <a:solidFill>
            <a:srgbClr val="CF7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7492492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1:35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8520988" y="364845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8502700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34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9531197" y="3648456"/>
            <a:ext cx="973632" cy="141732"/>
          </a:xfrm>
          <a:prstGeom prst="rect">
            <a:avLst/>
          </a:prstGeom>
          <a:solidFill>
            <a:srgbClr val="D355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9512909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1:12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10541406" y="364845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10523118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13232" y="3803904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Colina · Reina Norte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2459736" y="3817620"/>
            <a:ext cx="973632" cy="141732"/>
          </a:xfrm>
          <a:prstGeom prst="rect">
            <a:avLst/>
          </a:prstGeom>
          <a:solidFill>
            <a:srgbClr val="A0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2441448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1:19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3469944" y="3817620"/>
            <a:ext cx="973632" cy="141732"/>
          </a:xfrm>
          <a:prstGeom prst="rect">
            <a:avLst/>
          </a:prstGeom>
          <a:solidFill>
            <a:srgbClr val="94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3451656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1:16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4480153" y="3817620"/>
            <a:ext cx="973632" cy="141732"/>
          </a:xfrm>
          <a:prstGeom prst="rect">
            <a:avLst/>
          </a:prstGeom>
          <a:solidFill>
            <a:srgbClr val="C99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4461865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1:02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5490362" y="3817620"/>
            <a:ext cx="973632" cy="141732"/>
          </a:xfrm>
          <a:prstGeom prst="rect">
            <a:avLst/>
          </a:prstGeom>
          <a:solidFill>
            <a:srgbClr val="A4A1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5472074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1:27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6500571" y="3817620"/>
            <a:ext cx="973632" cy="141732"/>
          </a:xfrm>
          <a:prstGeom prst="rect">
            <a:avLst/>
          </a:prstGeom>
          <a:solidFill>
            <a:srgbClr val="C0A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6482283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1:13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7510780" y="3817620"/>
            <a:ext cx="973632" cy="141732"/>
          </a:xfrm>
          <a:prstGeom prst="rect">
            <a:avLst/>
          </a:prstGeom>
          <a:solidFill>
            <a:srgbClr val="CB8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7492492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1:22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8520988" y="3817620"/>
            <a:ext cx="973632" cy="141732"/>
          </a:xfrm>
          <a:prstGeom prst="rect">
            <a:avLst/>
          </a:prstGeom>
          <a:solidFill>
            <a:srgbClr val="D25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8502700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1:28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9531197" y="3817620"/>
            <a:ext cx="973632" cy="141732"/>
          </a:xfrm>
          <a:prstGeom prst="rect">
            <a:avLst/>
          </a:prstGeom>
          <a:solidFill>
            <a:srgbClr val="C2A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9512909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51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10541406" y="3817620"/>
            <a:ext cx="973632" cy="141732"/>
          </a:xfrm>
          <a:prstGeom prst="rect">
            <a:avLst/>
          </a:prstGeom>
          <a:solidFill>
            <a:srgbClr val="CD8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10523118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51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13232" y="3973068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2459736" y="3986783"/>
            <a:ext cx="973632" cy="141732"/>
          </a:xfrm>
          <a:prstGeom prst="rect">
            <a:avLst/>
          </a:prstGeom>
          <a:solidFill>
            <a:srgbClr val="CD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2441448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1:45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469944" y="3986783"/>
            <a:ext cx="973632" cy="141732"/>
          </a:xfrm>
          <a:prstGeom prst="rect">
            <a:avLst/>
          </a:prstGeom>
          <a:solidFill>
            <a:srgbClr val="C9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3451656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1:31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4480153" y="3986783"/>
            <a:ext cx="973632" cy="141732"/>
          </a:xfrm>
          <a:prstGeom prst="rect">
            <a:avLst/>
          </a:prstGeom>
          <a:solidFill>
            <a:srgbClr val="A6A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461865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51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5490362" y="3986783"/>
            <a:ext cx="973632" cy="141732"/>
          </a:xfrm>
          <a:prstGeom prst="rect">
            <a:avLst/>
          </a:prstGeom>
          <a:solidFill>
            <a:srgbClr val="CD7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5472074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1:59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6500571" y="3986783"/>
            <a:ext cx="973632" cy="141732"/>
          </a:xfrm>
          <a:prstGeom prst="rect">
            <a:avLst/>
          </a:prstGeom>
          <a:solidFill>
            <a:srgbClr val="AAA1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6482283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1:09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7510780" y="3986783"/>
            <a:ext cx="973632" cy="141732"/>
          </a:xfrm>
          <a:prstGeom prst="rect">
            <a:avLst/>
          </a:prstGeom>
          <a:solidFill>
            <a:srgbClr val="CC87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7492492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1:26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8520988" y="3986783"/>
            <a:ext cx="973632" cy="141732"/>
          </a:xfrm>
          <a:prstGeom prst="rect">
            <a:avLst/>
          </a:prstGeom>
          <a:solidFill>
            <a:srgbClr val="C99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8502700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1:06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9531197" y="3986783"/>
            <a:ext cx="973632" cy="141732"/>
          </a:xfrm>
          <a:prstGeom prst="rect">
            <a:avLst/>
          </a:prstGeom>
          <a:solidFill>
            <a:srgbClr val="D16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9512909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1:09</a:t>
            </a:r>
          </a:p>
        </p:txBody>
      </p:sp>
      <p:sp>
        <p:nvSpPr>
          <p:cNvPr id="203" name="Rectangle 202"/>
          <p:cNvSpPr/>
          <p:nvPr/>
        </p:nvSpPr>
        <p:spPr>
          <a:xfrm>
            <a:off x="10541406" y="3986783"/>
            <a:ext cx="973632" cy="141732"/>
          </a:xfrm>
          <a:prstGeom prst="rect">
            <a:avLst/>
          </a:prstGeom>
          <a:solidFill>
            <a:srgbClr val="ADA1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10523118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39</a:t>
            </a:r>
          </a:p>
        </p:txBody>
      </p:sp>
      <p:sp>
        <p:nvSpPr>
          <p:cNvPr id="205" name="Rectangle 204"/>
          <p:cNvSpPr/>
          <p:nvPr/>
        </p:nvSpPr>
        <p:spPr>
          <a:xfrm>
            <a:off x="658368" y="4151375"/>
            <a:ext cx="1737360" cy="150876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713232" y="414223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207" name="Rectangle 206"/>
          <p:cNvSpPr/>
          <p:nvPr/>
        </p:nvSpPr>
        <p:spPr>
          <a:xfrm>
            <a:off x="2459736" y="4155947"/>
            <a:ext cx="973632" cy="141732"/>
          </a:xfrm>
          <a:prstGeom prst="rect">
            <a:avLst/>
          </a:prstGeom>
          <a:solidFill>
            <a:srgbClr val="C9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TextBox 207"/>
          <p:cNvSpPr txBox="1"/>
          <p:nvPr/>
        </p:nvSpPr>
        <p:spPr>
          <a:xfrm>
            <a:off x="2441448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1:30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3469944" y="4155947"/>
            <a:ext cx="973632" cy="141732"/>
          </a:xfrm>
          <a:prstGeom prst="rect">
            <a:avLst/>
          </a:prstGeom>
          <a:solidFill>
            <a:srgbClr val="C99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3451656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1:34</a:t>
            </a:r>
          </a:p>
        </p:txBody>
      </p:sp>
      <p:sp>
        <p:nvSpPr>
          <p:cNvPr id="211" name="Rectangle 210"/>
          <p:cNvSpPr/>
          <p:nvPr/>
        </p:nvSpPr>
        <p:spPr>
          <a:xfrm>
            <a:off x="4480153" y="4155947"/>
            <a:ext cx="973632" cy="141732"/>
          </a:xfrm>
          <a:prstGeom prst="rect">
            <a:avLst/>
          </a:prstGeom>
          <a:solidFill>
            <a:srgbClr val="C99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4461865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1:01</a:t>
            </a:r>
          </a:p>
        </p:txBody>
      </p:sp>
      <p:sp>
        <p:nvSpPr>
          <p:cNvPr id="213" name="Rectangle 212"/>
          <p:cNvSpPr/>
          <p:nvPr/>
        </p:nvSpPr>
        <p:spPr>
          <a:xfrm>
            <a:off x="5490362" y="4155947"/>
            <a:ext cx="973632" cy="141732"/>
          </a:xfrm>
          <a:prstGeom prst="rect">
            <a:avLst/>
          </a:prstGeom>
          <a:solidFill>
            <a:srgbClr val="C99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TextBox 213"/>
          <p:cNvSpPr txBox="1"/>
          <p:nvPr/>
        </p:nvSpPr>
        <p:spPr>
          <a:xfrm>
            <a:off x="5472074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1:42</a:t>
            </a:r>
          </a:p>
        </p:txBody>
      </p:sp>
      <p:sp>
        <p:nvSpPr>
          <p:cNvPr id="215" name="Rectangle 214"/>
          <p:cNvSpPr/>
          <p:nvPr/>
        </p:nvSpPr>
        <p:spPr>
          <a:xfrm>
            <a:off x="6500571" y="4155947"/>
            <a:ext cx="973632" cy="141732"/>
          </a:xfrm>
          <a:prstGeom prst="rect">
            <a:avLst/>
          </a:prstGeom>
          <a:solidFill>
            <a:srgbClr val="CF7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TextBox 215"/>
          <p:cNvSpPr txBox="1"/>
          <p:nvPr/>
        </p:nvSpPr>
        <p:spPr>
          <a:xfrm>
            <a:off x="6482283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1:28</a:t>
            </a:r>
          </a:p>
        </p:txBody>
      </p:sp>
      <p:sp>
        <p:nvSpPr>
          <p:cNvPr id="217" name="Rectangle 216"/>
          <p:cNvSpPr/>
          <p:nvPr/>
        </p:nvSpPr>
        <p:spPr>
          <a:xfrm>
            <a:off x="7510780" y="4155947"/>
            <a:ext cx="973632" cy="141732"/>
          </a:xfrm>
          <a:prstGeom prst="rect">
            <a:avLst/>
          </a:prstGeom>
          <a:solidFill>
            <a:srgbClr val="BEA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TextBox 217"/>
          <p:cNvSpPr txBox="1"/>
          <p:nvPr/>
        </p:nvSpPr>
        <p:spPr>
          <a:xfrm>
            <a:off x="7492492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1:10</a:t>
            </a:r>
          </a:p>
        </p:txBody>
      </p:sp>
      <p:sp>
        <p:nvSpPr>
          <p:cNvPr id="219" name="Rectangle 218"/>
          <p:cNvSpPr/>
          <p:nvPr/>
        </p:nvSpPr>
        <p:spPr>
          <a:xfrm>
            <a:off x="8520988" y="4155947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8502700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1:36</a:t>
            </a:r>
          </a:p>
        </p:txBody>
      </p:sp>
      <p:sp>
        <p:nvSpPr>
          <p:cNvPr id="221" name="Rectangle 220"/>
          <p:cNvSpPr/>
          <p:nvPr/>
        </p:nvSpPr>
        <p:spPr>
          <a:xfrm>
            <a:off x="9531197" y="4155947"/>
            <a:ext cx="973632" cy="141732"/>
          </a:xfrm>
          <a:prstGeom prst="rect">
            <a:avLst/>
          </a:prstGeom>
          <a:solidFill>
            <a:srgbClr val="CF7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9512909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1:05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10541406" y="4155947"/>
            <a:ext cx="973632" cy="141732"/>
          </a:xfrm>
          <a:prstGeom prst="rect">
            <a:avLst/>
          </a:prstGeom>
          <a:solidFill>
            <a:srgbClr val="CD8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10523118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51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13232" y="4311396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Larapinta</a:t>
            </a:r>
          </a:p>
        </p:txBody>
      </p:sp>
      <p:sp>
        <p:nvSpPr>
          <p:cNvPr id="226" name="Rectangle 225"/>
          <p:cNvSpPr/>
          <p:nvPr/>
        </p:nvSpPr>
        <p:spPr>
          <a:xfrm>
            <a:off x="2459736" y="4325112"/>
            <a:ext cx="973632" cy="141732"/>
          </a:xfrm>
          <a:prstGeom prst="rect">
            <a:avLst/>
          </a:prstGeom>
          <a:solidFill>
            <a:srgbClr val="CC87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2441448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1:42</a:t>
            </a:r>
          </a:p>
        </p:txBody>
      </p:sp>
      <p:sp>
        <p:nvSpPr>
          <p:cNvPr id="228" name="Rectangle 227"/>
          <p:cNvSpPr/>
          <p:nvPr/>
        </p:nvSpPr>
        <p:spPr>
          <a:xfrm>
            <a:off x="3469944" y="4325112"/>
            <a:ext cx="973632" cy="141732"/>
          </a:xfrm>
          <a:prstGeom prst="rect">
            <a:avLst/>
          </a:prstGeom>
          <a:solidFill>
            <a:srgbClr val="CB9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TextBox 228"/>
          <p:cNvSpPr txBox="1"/>
          <p:nvPr/>
        </p:nvSpPr>
        <p:spPr>
          <a:xfrm>
            <a:off x="3451656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1:39</a:t>
            </a:r>
          </a:p>
        </p:txBody>
      </p:sp>
      <p:sp>
        <p:nvSpPr>
          <p:cNvPr id="230" name="Rectangle 229"/>
          <p:cNvSpPr/>
          <p:nvPr/>
        </p:nvSpPr>
        <p:spPr>
          <a:xfrm>
            <a:off x="4480153" y="4325112"/>
            <a:ext cx="973632" cy="141732"/>
          </a:xfrm>
          <a:prstGeom prst="rect">
            <a:avLst/>
          </a:prstGeom>
          <a:solidFill>
            <a:srgbClr val="CA9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TextBox 230"/>
          <p:cNvSpPr txBox="1"/>
          <p:nvPr/>
        </p:nvSpPr>
        <p:spPr>
          <a:xfrm>
            <a:off x="4461865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1:04</a:t>
            </a:r>
          </a:p>
        </p:txBody>
      </p:sp>
      <p:sp>
        <p:nvSpPr>
          <p:cNvPr id="232" name="Rectangle 231"/>
          <p:cNvSpPr/>
          <p:nvPr/>
        </p:nvSpPr>
        <p:spPr>
          <a:xfrm>
            <a:off x="5490362" y="4325112"/>
            <a:ext cx="973632" cy="141732"/>
          </a:xfrm>
          <a:prstGeom prst="rect">
            <a:avLst/>
          </a:prstGeom>
          <a:solidFill>
            <a:srgbClr val="C99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TextBox 232"/>
          <p:cNvSpPr txBox="1"/>
          <p:nvPr/>
        </p:nvSpPr>
        <p:spPr>
          <a:xfrm>
            <a:off x="5472074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1:41</a:t>
            </a:r>
          </a:p>
        </p:txBody>
      </p:sp>
      <p:sp>
        <p:nvSpPr>
          <p:cNvPr id="234" name="Rectangle 233"/>
          <p:cNvSpPr/>
          <p:nvPr/>
        </p:nvSpPr>
        <p:spPr>
          <a:xfrm>
            <a:off x="6500571" y="4325112"/>
            <a:ext cx="973632" cy="141732"/>
          </a:xfrm>
          <a:prstGeom prst="rect">
            <a:avLst/>
          </a:prstGeom>
          <a:solidFill>
            <a:srgbClr val="D16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TextBox 234"/>
          <p:cNvSpPr txBox="1"/>
          <p:nvPr/>
        </p:nvSpPr>
        <p:spPr>
          <a:xfrm>
            <a:off x="6482283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1:32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7510780" y="4325112"/>
            <a:ext cx="973632" cy="141732"/>
          </a:xfrm>
          <a:prstGeom prst="rect">
            <a:avLst/>
          </a:prstGeom>
          <a:solidFill>
            <a:srgbClr val="99A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7492492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59</a:t>
            </a:r>
          </a:p>
        </p:txBody>
      </p:sp>
      <p:sp>
        <p:nvSpPr>
          <p:cNvPr id="238" name="Rectangle 237"/>
          <p:cNvSpPr/>
          <p:nvPr/>
        </p:nvSpPr>
        <p:spPr>
          <a:xfrm>
            <a:off x="8520988" y="4325112"/>
            <a:ext cx="973632" cy="141732"/>
          </a:xfrm>
          <a:prstGeom prst="rect">
            <a:avLst/>
          </a:prstGeom>
          <a:solidFill>
            <a:srgbClr val="CE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8502700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1:18</a:t>
            </a:r>
          </a:p>
        </p:txBody>
      </p:sp>
      <p:sp>
        <p:nvSpPr>
          <p:cNvPr id="240" name="Rectangle 239"/>
          <p:cNvSpPr/>
          <p:nvPr/>
        </p:nvSpPr>
        <p:spPr>
          <a:xfrm>
            <a:off x="9531197" y="4325112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9512909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1:17</a:t>
            </a:r>
          </a:p>
        </p:txBody>
      </p:sp>
      <p:sp>
        <p:nvSpPr>
          <p:cNvPr id="242" name="Rectangle 241"/>
          <p:cNvSpPr/>
          <p:nvPr/>
        </p:nvSpPr>
        <p:spPr>
          <a:xfrm>
            <a:off x="10541406" y="4325112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TextBox 242"/>
          <p:cNvSpPr txBox="1"/>
          <p:nvPr/>
        </p:nvSpPr>
        <p:spPr>
          <a:xfrm>
            <a:off x="10523118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1:06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13232" y="4480559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Laguna del Sol</a:t>
            </a:r>
          </a:p>
        </p:txBody>
      </p:sp>
      <p:sp>
        <p:nvSpPr>
          <p:cNvPr id="245" name="Rectangle 244"/>
          <p:cNvSpPr/>
          <p:nvPr/>
        </p:nvSpPr>
        <p:spPr>
          <a:xfrm>
            <a:off x="2459736" y="4494275"/>
            <a:ext cx="973632" cy="141732"/>
          </a:xfrm>
          <a:prstGeom prst="rect">
            <a:avLst/>
          </a:prstGeom>
          <a:solidFill>
            <a:srgbClr val="D44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TextBox 245"/>
          <p:cNvSpPr txBox="1"/>
          <p:nvPr/>
        </p:nvSpPr>
        <p:spPr>
          <a:xfrm>
            <a:off x="2441448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2:08</a:t>
            </a:r>
          </a:p>
        </p:txBody>
      </p:sp>
      <p:sp>
        <p:nvSpPr>
          <p:cNvPr id="247" name="Rectangle 246"/>
          <p:cNvSpPr/>
          <p:nvPr/>
        </p:nvSpPr>
        <p:spPr>
          <a:xfrm>
            <a:off x="3469944" y="4494275"/>
            <a:ext cx="973632" cy="141732"/>
          </a:xfrm>
          <a:prstGeom prst="rect">
            <a:avLst/>
          </a:prstGeom>
          <a:solidFill>
            <a:srgbClr val="CE7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3451656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1:51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4480153" y="4494275"/>
            <a:ext cx="973632" cy="141732"/>
          </a:xfrm>
          <a:prstGeom prst="rect">
            <a:avLst/>
          </a:prstGeom>
          <a:solidFill>
            <a:srgbClr val="D16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4461865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1:25</a:t>
            </a:r>
          </a:p>
        </p:txBody>
      </p:sp>
      <p:sp>
        <p:nvSpPr>
          <p:cNvPr id="251" name="Rectangle 250"/>
          <p:cNvSpPr/>
          <p:nvPr/>
        </p:nvSpPr>
        <p:spPr>
          <a:xfrm>
            <a:off x="5490362" y="4494275"/>
            <a:ext cx="973632" cy="141732"/>
          </a:xfrm>
          <a:prstGeom prst="rect">
            <a:avLst/>
          </a:prstGeom>
          <a:solidFill>
            <a:srgbClr val="D16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TextBox 251"/>
          <p:cNvSpPr txBox="1"/>
          <p:nvPr/>
        </p:nvSpPr>
        <p:spPr>
          <a:xfrm>
            <a:off x="5472074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2:12</a:t>
            </a:r>
          </a:p>
        </p:txBody>
      </p:sp>
      <p:sp>
        <p:nvSpPr>
          <p:cNvPr id="253" name="Rectangle 252"/>
          <p:cNvSpPr/>
          <p:nvPr/>
        </p:nvSpPr>
        <p:spPr>
          <a:xfrm>
            <a:off x="6500571" y="4494275"/>
            <a:ext cx="973632" cy="141732"/>
          </a:xfrm>
          <a:prstGeom prst="rect">
            <a:avLst/>
          </a:prstGeom>
          <a:solidFill>
            <a:srgbClr val="CF7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TextBox 253"/>
          <p:cNvSpPr txBox="1"/>
          <p:nvPr/>
        </p:nvSpPr>
        <p:spPr>
          <a:xfrm>
            <a:off x="6482283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1:29</a:t>
            </a:r>
          </a:p>
        </p:txBody>
      </p:sp>
      <p:sp>
        <p:nvSpPr>
          <p:cNvPr id="255" name="Rectangle 254"/>
          <p:cNvSpPr/>
          <p:nvPr/>
        </p:nvSpPr>
        <p:spPr>
          <a:xfrm>
            <a:off x="7510780" y="4494275"/>
            <a:ext cx="973632" cy="141732"/>
          </a:xfrm>
          <a:prstGeom prst="rect">
            <a:avLst/>
          </a:prstGeom>
          <a:solidFill>
            <a:srgbClr val="CE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TextBox 255"/>
          <p:cNvSpPr txBox="1"/>
          <p:nvPr/>
        </p:nvSpPr>
        <p:spPr>
          <a:xfrm>
            <a:off x="7492492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1:32</a:t>
            </a:r>
          </a:p>
        </p:txBody>
      </p:sp>
      <p:sp>
        <p:nvSpPr>
          <p:cNvPr id="257" name="Rectangle 256"/>
          <p:cNvSpPr/>
          <p:nvPr/>
        </p:nvSpPr>
        <p:spPr>
          <a:xfrm>
            <a:off x="8520988" y="4494275"/>
            <a:ext cx="973632" cy="141732"/>
          </a:xfrm>
          <a:prstGeom prst="rect">
            <a:avLst/>
          </a:prstGeom>
          <a:solidFill>
            <a:srgbClr val="CB8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8502700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1:11</a:t>
            </a:r>
          </a:p>
        </p:txBody>
      </p:sp>
      <p:sp>
        <p:nvSpPr>
          <p:cNvPr id="259" name="Rectangle 258"/>
          <p:cNvSpPr/>
          <p:nvPr/>
        </p:nvSpPr>
        <p:spPr>
          <a:xfrm>
            <a:off x="9531197" y="4494275"/>
            <a:ext cx="973632" cy="141732"/>
          </a:xfrm>
          <a:prstGeom prst="rect">
            <a:avLst/>
          </a:prstGeom>
          <a:solidFill>
            <a:srgbClr val="D357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TextBox 259"/>
          <p:cNvSpPr txBox="1"/>
          <p:nvPr/>
        </p:nvSpPr>
        <p:spPr>
          <a:xfrm>
            <a:off x="9512909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1:12</a:t>
            </a:r>
          </a:p>
        </p:txBody>
      </p:sp>
      <p:sp>
        <p:nvSpPr>
          <p:cNvPr id="261" name="Rectangle 260"/>
          <p:cNvSpPr/>
          <p:nvPr/>
        </p:nvSpPr>
        <p:spPr>
          <a:xfrm>
            <a:off x="10541406" y="4494275"/>
            <a:ext cx="973632" cy="141732"/>
          </a:xfrm>
          <a:prstGeom prst="rect">
            <a:avLst/>
          </a:prstGeom>
          <a:solidFill>
            <a:srgbClr val="CF7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TextBox 261"/>
          <p:cNvSpPr txBox="1"/>
          <p:nvPr/>
        </p:nvSpPr>
        <p:spPr>
          <a:xfrm>
            <a:off x="10523118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54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713232" y="4649723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El Peñón</a:t>
            </a:r>
          </a:p>
        </p:txBody>
      </p:sp>
      <p:sp>
        <p:nvSpPr>
          <p:cNvPr id="264" name="Rectangle 263"/>
          <p:cNvSpPr/>
          <p:nvPr/>
        </p:nvSpPr>
        <p:spPr>
          <a:xfrm>
            <a:off x="2459736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TextBox 264"/>
          <p:cNvSpPr txBox="1"/>
          <p:nvPr/>
        </p:nvSpPr>
        <p:spPr>
          <a:xfrm>
            <a:off x="2441448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2:12</a:t>
            </a:r>
          </a:p>
        </p:txBody>
      </p:sp>
      <p:sp>
        <p:nvSpPr>
          <p:cNvPr id="266" name="Rectangle 265"/>
          <p:cNvSpPr/>
          <p:nvPr/>
        </p:nvSpPr>
        <p:spPr>
          <a:xfrm>
            <a:off x="3469944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TextBox 266"/>
          <p:cNvSpPr txBox="1"/>
          <p:nvPr/>
        </p:nvSpPr>
        <p:spPr>
          <a:xfrm>
            <a:off x="3451656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2:15</a:t>
            </a:r>
          </a:p>
        </p:txBody>
      </p:sp>
      <p:sp>
        <p:nvSpPr>
          <p:cNvPr id="268" name="Rectangle 267"/>
          <p:cNvSpPr/>
          <p:nvPr/>
        </p:nvSpPr>
        <p:spPr>
          <a:xfrm>
            <a:off x="4480153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TextBox 268"/>
          <p:cNvSpPr txBox="1"/>
          <p:nvPr/>
        </p:nvSpPr>
        <p:spPr>
          <a:xfrm>
            <a:off x="4461865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1:37</a:t>
            </a:r>
          </a:p>
        </p:txBody>
      </p:sp>
      <p:sp>
        <p:nvSpPr>
          <p:cNvPr id="270" name="Rectangle 269"/>
          <p:cNvSpPr/>
          <p:nvPr/>
        </p:nvSpPr>
        <p:spPr>
          <a:xfrm>
            <a:off x="5490362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TextBox 270"/>
          <p:cNvSpPr txBox="1"/>
          <p:nvPr/>
        </p:nvSpPr>
        <p:spPr>
          <a:xfrm>
            <a:off x="5472074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2:32</a:t>
            </a:r>
          </a:p>
        </p:txBody>
      </p:sp>
      <p:sp>
        <p:nvSpPr>
          <p:cNvPr id="272" name="Rectangle 271"/>
          <p:cNvSpPr/>
          <p:nvPr/>
        </p:nvSpPr>
        <p:spPr>
          <a:xfrm>
            <a:off x="6500571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TextBox 272"/>
          <p:cNvSpPr txBox="1"/>
          <p:nvPr/>
        </p:nvSpPr>
        <p:spPr>
          <a:xfrm>
            <a:off x="6482283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1:42</a:t>
            </a:r>
          </a:p>
        </p:txBody>
      </p:sp>
      <p:sp>
        <p:nvSpPr>
          <p:cNvPr id="274" name="Rectangle 273"/>
          <p:cNvSpPr/>
          <p:nvPr/>
        </p:nvSpPr>
        <p:spPr>
          <a:xfrm>
            <a:off x="7510780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TextBox 274"/>
          <p:cNvSpPr txBox="1"/>
          <p:nvPr/>
        </p:nvSpPr>
        <p:spPr>
          <a:xfrm>
            <a:off x="7492492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1:58</a:t>
            </a:r>
          </a:p>
        </p:txBody>
      </p:sp>
      <p:sp>
        <p:nvSpPr>
          <p:cNvPr id="276" name="Rectangle 275"/>
          <p:cNvSpPr/>
          <p:nvPr/>
        </p:nvSpPr>
        <p:spPr>
          <a:xfrm>
            <a:off x="8520988" y="4663439"/>
            <a:ext cx="973632" cy="141732"/>
          </a:xfrm>
          <a:prstGeom prst="rect">
            <a:avLst/>
          </a:prstGeom>
          <a:solidFill>
            <a:srgbClr val="6A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TextBox 276"/>
          <p:cNvSpPr txBox="1"/>
          <p:nvPr/>
        </p:nvSpPr>
        <p:spPr>
          <a:xfrm>
            <a:off x="8502700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46</a:t>
            </a:r>
          </a:p>
        </p:txBody>
      </p:sp>
      <p:sp>
        <p:nvSpPr>
          <p:cNvPr id="278" name="Rectangle 277"/>
          <p:cNvSpPr/>
          <p:nvPr/>
        </p:nvSpPr>
        <p:spPr>
          <a:xfrm>
            <a:off x="9531197" y="4663439"/>
            <a:ext cx="973632" cy="141732"/>
          </a:xfrm>
          <a:prstGeom prst="rect">
            <a:avLst/>
          </a:prstGeom>
          <a:solidFill>
            <a:srgbClr val="D44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TextBox 278"/>
          <p:cNvSpPr txBox="1"/>
          <p:nvPr/>
        </p:nvSpPr>
        <p:spPr>
          <a:xfrm>
            <a:off x="9512909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1:15</a:t>
            </a:r>
          </a:p>
        </p:txBody>
      </p:sp>
      <p:sp>
        <p:nvSpPr>
          <p:cNvPr id="280" name="Rectangle 279"/>
          <p:cNvSpPr/>
          <p:nvPr/>
        </p:nvSpPr>
        <p:spPr>
          <a:xfrm>
            <a:off x="10541406" y="4663439"/>
            <a:ext cx="973632" cy="141732"/>
          </a:xfrm>
          <a:prstGeom prst="rect">
            <a:avLst/>
          </a:prstGeom>
          <a:solidFill>
            <a:srgbClr val="A0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TextBox 280"/>
          <p:cNvSpPr txBox="1"/>
          <p:nvPr/>
        </p:nvSpPr>
        <p:spPr>
          <a:xfrm>
            <a:off x="10523118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37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658368" y="4901184"/>
            <a:ext cx="1005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A958C"/>
                </a:solidFill>
                <a:latin typeface="Helvetica Neue"/>
              </a:rPr>
              <a:t>Minutos puerta a puerta (h:mm). Color por columna: verde = la más cercana a ese destino, rojo = la más lejana.</a:t>
            </a:r>
          </a:p>
        </p:txBody>
      </p:sp>
      <p:sp>
        <p:nvSpPr>
          <p:cNvPr id="283" name="Rectangle 282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2EFE8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TextBox 284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Las zonas de Lampa y Chicureo llegan rápido a casi todo. Estación Colina ya es central; Batuco es el más lejano — y ahí entra la Orbital.</a:t>
            </a:r>
          </a:p>
        </p:txBody>
      </p:sp>
      <p:cxnSp>
        <p:nvCxnSpPr>
          <p:cNvPr id="287" name="Connector 286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8" name="TextBox 287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03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AUTO · COSTO — EL REPARO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El reparo honesto: manejar desde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Batuco es caro hacia casi todos lados.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41448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Tobalaba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51656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Centro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61865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Industrial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72074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Cd. Empr.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82283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Univ.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2492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Aerop.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2700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Hospital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12909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Clínica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23118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C. Comercial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245059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59736" y="2464308"/>
            <a:ext cx="973632" cy="141732"/>
          </a:xfrm>
          <a:prstGeom prst="rect">
            <a:avLst/>
          </a:prstGeom>
          <a:solidFill>
            <a:srgbClr val="A3A1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41448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367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69944" y="2464308"/>
            <a:ext cx="973632" cy="141732"/>
          </a:xfrm>
          <a:prstGeom prst="rect">
            <a:avLst/>
          </a:prstGeom>
          <a:solidFill>
            <a:srgbClr val="38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51656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265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153" y="2464308"/>
            <a:ext cx="973632" cy="141732"/>
          </a:xfrm>
          <a:prstGeom prst="rect">
            <a:avLst/>
          </a:prstGeom>
          <a:solidFill>
            <a:srgbClr val="789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61865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107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90362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72074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290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00571" y="2464308"/>
            <a:ext cx="973632" cy="141732"/>
          </a:xfrm>
          <a:prstGeom prst="rect">
            <a:avLst/>
          </a:prstGeom>
          <a:solidFill>
            <a:srgbClr val="6B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2283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233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10780" y="2464308"/>
            <a:ext cx="973632" cy="141732"/>
          </a:xfrm>
          <a:prstGeom prst="rect">
            <a:avLst/>
          </a:prstGeom>
          <a:solidFill>
            <a:srgbClr val="36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2492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85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20988" y="2464308"/>
            <a:ext cx="973632" cy="141732"/>
          </a:xfrm>
          <a:prstGeom prst="rect">
            <a:avLst/>
          </a:prstGeom>
          <a:solidFill>
            <a:srgbClr val="9EA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02700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266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31197" y="2464308"/>
            <a:ext cx="973632" cy="141732"/>
          </a:xfrm>
          <a:prstGeom prst="rect">
            <a:avLst/>
          </a:prstGeom>
          <a:solidFill>
            <a:srgbClr val="339E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12909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541406" y="2464308"/>
            <a:ext cx="973632" cy="141732"/>
          </a:xfrm>
          <a:prstGeom prst="rect">
            <a:avLst/>
          </a:prstGeom>
          <a:solidFill>
            <a:srgbClr val="3B9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23118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232" y="2619756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Urbanya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459736" y="2633472"/>
            <a:ext cx="973632" cy="141732"/>
          </a:xfrm>
          <a:prstGeom prst="rect">
            <a:avLst/>
          </a:prstGeom>
          <a:solidFill>
            <a:srgbClr val="CA97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441448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462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69944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51656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256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80153" y="2633472"/>
            <a:ext cx="973632" cy="141732"/>
          </a:xfrm>
          <a:prstGeom prst="rect">
            <a:avLst/>
          </a:prstGeom>
          <a:solidFill>
            <a:srgbClr val="699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61865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94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90362" y="2633472"/>
            <a:ext cx="973632" cy="141732"/>
          </a:xfrm>
          <a:prstGeom prst="rect">
            <a:avLst/>
          </a:prstGeom>
          <a:solidFill>
            <a:srgbClr val="549E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72074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385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00571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82283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94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510780" y="2633472"/>
            <a:ext cx="973632" cy="141732"/>
          </a:xfrm>
          <a:prstGeom prst="rect">
            <a:avLst/>
          </a:prstGeom>
          <a:solidFill>
            <a:srgbClr val="339E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92492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80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520988" y="2633472"/>
            <a:ext cx="973632" cy="141732"/>
          </a:xfrm>
          <a:prstGeom prst="rect">
            <a:avLst/>
          </a:prstGeom>
          <a:solidFill>
            <a:srgbClr val="689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502700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148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531197" y="2633472"/>
            <a:ext cx="973632" cy="141732"/>
          </a:xfrm>
          <a:prstGeom prst="rect">
            <a:avLst/>
          </a:prstGeom>
          <a:solidFill>
            <a:srgbClr val="649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512909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137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541406" y="2633472"/>
            <a:ext cx="973632" cy="141732"/>
          </a:xfrm>
          <a:prstGeom prst="rect">
            <a:avLst/>
          </a:prstGeom>
          <a:solidFill>
            <a:srgbClr val="9BA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523118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115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3232" y="2788920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Chicauma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59736" y="2802636"/>
            <a:ext cx="973632" cy="141732"/>
          </a:xfrm>
          <a:prstGeom prst="rect">
            <a:avLst/>
          </a:prstGeom>
          <a:solidFill>
            <a:srgbClr val="A3A1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441448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368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469944" y="2802636"/>
            <a:ext cx="973632" cy="141732"/>
          </a:xfrm>
          <a:prstGeom prst="rect">
            <a:avLst/>
          </a:prstGeom>
          <a:solidFill>
            <a:srgbClr val="38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451656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266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480153" y="2802636"/>
            <a:ext cx="973632" cy="141732"/>
          </a:xfrm>
          <a:prstGeom prst="rect">
            <a:avLst/>
          </a:prstGeom>
          <a:solidFill>
            <a:srgbClr val="789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461865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107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490362" y="2802636"/>
            <a:ext cx="973632" cy="141732"/>
          </a:xfrm>
          <a:prstGeom prst="rect">
            <a:avLst/>
          </a:prstGeom>
          <a:solidFill>
            <a:srgbClr val="309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72074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293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500571" y="2802636"/>
            <a:ext cx="973632" cy="141732"/>
          </a:xfrm>
          <a:prstGeom prst="rect">
            <a:avLst/>
          </a:prstGeom>
          <a:solidFill>
            <a:srgbClr val="6B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82283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233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510780" y="2802636"/>
            <a:ext cx="973632" cy="141732"/>
          </a:xfrm>
          <a:prstGeom prst="rect">
            <a:avLst/>
          </a:prstGeom>
          <a:solidFill>
            <a:srgbClr val="9AA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492492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289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520988" y="2802636"/>
            <a:ext cx="973632" cy="141732"/>
          </a:xfrm>
          <a:prstGeom prst="rect">
            <a:avLst/>
          </a:prstGeom>
          <a:solidFill>
            <a:srgbClr val="9EA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502700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266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531197" y="280263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512909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0541406" y="2802636"/>
            <a:ext cx="973632" cy="141732"/>
          </a:xfrm>
          <a:prstGeom prst="rect">
            <a:avLst/>
          </a:prstGeom>
          <a:solidFill>
            <a:srgbClr val="A9A1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523118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128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3232" y="2958083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Larapinta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59736" y="2971799"/>
            <a:ext cx="973632" cy="141732"/>
          </a:xfrm>
          <a:prstGeom prst="rect">
            <a:avLst/>
          </a:prstGeom>
          <a:solidFill>
            <a:srgbClr val="C99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41448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447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69944" y="2971799"/>
            <a:ext cx="973632" cy="141732"/>
          </a:xfrm>
          <a:prstGeom prst="rect">
            <a:avLst/>
          </a:prstGeom>
          <a:solidFill>
            <a:srgbClr val="8A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451656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346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480153" y="2971799"/>
            <a:ext cx="973632" cy="141732"/>
          </a:xfrm>
          <a:prstGeom prst="rect">
            <a:avLst/>
          </a:prstGeom>
          <a:solidFill>
            <a:srgbClr val="8A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461865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123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490362" y="2971799"/>
            <a:ext cx="973632" cy="141732"/>
          </a:xfrm>
          <a:prstGeom prst="rect">
            <a:avLst/>
          </a:prstGeom>
          <a:solidFill>
            <a:srgbClr val="4E9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472074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370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500571" y="2971799"/>
            <a:ext cx="973632" cy="141732"/>
          </a:xfrm>
          <a:prstGeom prst="rect">
            <a:avLst/>
          </a:prstGeom>
          <a:solidFill>
            <a:srgbClr val="8EA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482283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313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510780" y="2971799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492492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71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520988" y="2971799"/>
            <a:ext cx="973632" cy="141732"/>
          </a:xfrm>
          <a:prstGeom prst="rect">
            <a:avLst/>
          </a:prstGeom>
          <a:solidFill>
            <a:srgbClr val="75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502700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175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531197" y="2971799"/>
            <a:ext cx="973632" cy="141732"/>
          </a:xfrm>
          <a:prstGeom prst="rect">
            <a:avLst/>
          </a:prstGeom>
          <a:solidFill>
            <a:srgbClr val="75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512909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163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41406" y="2971799"/>
            <a:ext cx="973632" cy="141732"/>
          </a:xfrm>
          <a:prstGeom prst="rect">
            <a:avLst/>
          </a:prstGeom>
          <a:solidFill>
            <a:srgbClr val="8A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23118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100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13232" y="3127248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Laguna del Sol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459736" y="3140964"/>
            <a:ext cx="973632" cy="141732"/>
          </a:xfrm>
          <a:prstGeom prst="rect">
            <a:avLst/>
          </a:prstGeom>
          <a:solidFill>
            <a:srgbClr val="C6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441448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427</a:t>
            </a:r>
          </a:p>
        </p:txBody>
      </p:sp>
      <p:sp>
        <p:nvSpPr>
          <p:cNvPr id="93" name="Rectangle 92"/>
          <p:cNvSpPr/>
          <p:nvPr/>
        </p:nvSpPr>
        <p:spPr>
          <a:xfrm>
            <a:off x="3469944" y="3140964"/>
            <a:ext cx="973632" cy="141732"/>
          </a:xfrm>
          <a:prstGeom prst="rect">
            <a:avLst/>
          </a:prstGeom>
          <a:solidFill>
            <a:srgbClr val="4F9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451656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288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480153" y="3140964"/>
            <a:ext cx="973632" cy="141732"/>
          </a:xfrm>
          <a:prstGeom prst="rect">
            <a:avLst/>
          </a:prstGeom>
          <a:solidFill>
            <a:srgbClr val="CF7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461865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250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490362" y="3140964"/>
            <a:ext cx="973632" cy="141732"/>
          </a:xfrm>
          <a:prstGeom prst="rect">
            <a:avLst/>
          </a:prstGeom>
          <a:solidFill>
            <a:srgbClr val="8A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472074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519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500571" y="3140964"/>
            <a:ext cx="973632" cy="141732"/>
          </a:xfrm>
          <a:prstGeom prst="rect">
            <a:avLst/>
          </a:prstGeom>
          <a:solidFill>
            <a:srgbClr val="6C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482283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236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510780" y="3140964"/>
            <a:ext cx="973632" cy="141732"/>
          </a:xfrm>
          <a:prstGeom prst="rect">
            <a:avLst/>
          </a:prstGeom>
          <a:solidFill>
            <a:srgbClr val="B4A1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492492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342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8520988" y="3140964"/>
            <a:ext cx="973632" cy="141732"/>
          </a:xfrm>
          <a:prstGeom prst="rect">
            <a:avLst/>
          </a:prstGeom>
          <a:solidFill>
            <a:srgbClr val="489E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502700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77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9531197" y="3140964"/>
            <a:ext cx="973632" cy="141732"/>
          </a:xfrm>
          <a:prstGeom prst="rect">
            <a:avLst/>
          </a:prstGeom>
          <a:solidFill>
            <a:srgbClr val="74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9512909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162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0541406" y="3140964"/>
            <a:ext cx="973632" cy="141732"/>
          </a:xfrm>
          <a:prstGeom prst="rect">
            <a:avLst/>
          </a:prstGeom>
          <a:solidFill>
            <a:srgbClr val="609F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0523118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62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58368" y="3305555"/>
            <a:ext cx="1737360" cy="150876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713232" y="329641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2459736" y="3310127"/>
            <a:ext cx="973632" cy="141732"/>
          </a:xfrm>
          <a:prstGeom prst="rect">
            <a:avLst/>
          </a:prstGeom>
          <a:solidFill>
            <a:srgbClr val="C8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2441448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431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469944" y="3310127"/>
            <a:ext cx="973632" cy="141732"/>
          </a:xfrm>
          <a:prstGeom prst="rect">
            <a:avLst/>
          </a:prstGeom>
          <a:solidFill>
            <a:srgbClr val="789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451656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328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4480153" y="3310127"/>
            <a:ext cx="973632" cy="141732"/>
          </a:xfrm>
          <a:prstGeom prst="rect">
            <a:avLst/>
          </a:prstGeom>
          <a:solidFill>
            <a:srgbClr val="BEA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4461865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170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5490362" y="3310127"/>
            <a:ext cx="973632" cy="141732"/>
          </a:xfrm>
          <a:prstGeom prst="rect">
            <a:avLst/>
          </a:prstGeom>
          <a:solidFill>
            <a:srgbClr val="499E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5472074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356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6500571" y="3310127"/>
            <a:ext cx="973632" cy="141732"/>
          </a:xfrm>
          <a:prstGeom prst="rect">
            <a:avLst/>
          </a:prstGeom>
          <a:solidFill>
            <a:srgbClr val="86A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6482283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295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7510780" y="3310127"/>
            <a:ext cx="973632" cy="141732"/>
          </a:xfrm>
          <a:prstGeom prst="rect">
            <a:avLst/>
          </a:prstGeom>
          <a:solidFill>
            <a:srgbClr val="B9A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7492492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352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8520988" y="3310127"/>
            <a:ext cx="973632" cy="141732"/>
          </a:xfrm>
          <a:prstGeom prst="rect">
            <a:avLst/>
          </a:prstGeom>
          <a:solidFill>
            <a:srgbClr val="BB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8502700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329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9531197" y="3310127"/>
            <a:ext cx="973632" cy="141732"/>
          </a:xfrm>
          <a:prstGeom prst="rect">
            <a:avLst/>
          </a:prstGeom>
          <a:solidFill>
            <a:srgbClr val="539E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9512909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110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10541406" y="3310127"/>
            <a:ext cx="973632" cy="141732"/>
          </a:xfrm>
          <a:prstGeom prst="rect">
            <a:avLst/>
          </a:prstGeom>
          <a:solidFill>
            <a:srgbClr val="CA9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10523118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169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13232" y="3465575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NOS · Laguna Cóndores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2459736" y="3479291"/>
            <a:ext cx="973632" cy="141732"/>
          </a:xfrm>
          <a:prstGeom prst="rect">
            <a:avLst/>
          </a:prstGeom>
          <a:solidFill>
            <a:srgbClr val="CE7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2441448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541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469944" y="3479291"/>
            <a:ext cx="973632" cy="141732"/>
          </a:xfrm>
          <a:prstGeom prst="rect">
            <a:avLst/>
          </a:prstGeom>
          <a:solidFill>
            <a:srgbClr val="C3A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451656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402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80153" y="3479291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61865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41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490362" y="3479291"/>
            <a:ext cx="973632" cy="141732"/>
          </a:xfrm>
          <a:prstGeom prst="rect">
            <a:avLst/>
          </a:prstGeom>
          <a:solidFill>
            <a:srgbClr val="B7A1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472074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633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500571" y="3479291"/>
            <a:ext cx="973632" cy="141732"/>
          </a:xfrm>
          <a:prstGeom prst="rect">
            <a:avLst/>
          </a:prstGeom>
          <a:solidFill>
            <a:srgbClr val="559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482283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184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7510780" y="3479291"/>
            <a:ext cx="973632" cy="141732"/>
          </a:xfrm>
          <a:prstGeom prst="rect">
            <a:avLst/>
          </a:prstGeom>
          <a:solidFill>
            <a:srgbClr val="CF7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7492492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539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8520988" y="3479291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8502700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21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9531197" y="3479291"/>
            <a:ext cx="973632" cy="141732"/>
          </a:xfrm>
          <a:prstGeom prst="rect">
            <a:avLst/>
          </a:prstGeom>
          <a:solidFill>
            <a:srgbClr val="80A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9512909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181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10541406" y="3479291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10523118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18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713232" y="3634739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El Peñón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2459736" y="364845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2441448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168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3469944" y="3648456"/>
            <a:ext cx="973632" cy="141732"/>
          </a:xfrm>
          <a:prstGeom prst="rect">
            <a:avLst/>
          </a:prstGeom>
          <a:solidFill>
            <a:srgbClr val="C7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3451656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406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4480153" y="3648456"/>
            <a:ext cx="973632" cy="141732"/>
          </a:xfrm>
          <a:prstGeom prst="rect">
            <a:avLst/>
          </a:prstGeom>
          <a:solidFill>
            <a:srgbClr val="CD8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4461865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223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5490362" y="3648456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72074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1066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6500571" y="3648456"/>
            <a:ext cx="973632" cy="141732"/>
          </a:xfrm>
          <a:prstGeom prst="rect">
            <a:avLst/>
          </a:prstGeom>
          <a:solidFill>
            <a:srgbClr val="2F9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482283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96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7510780" y="3648456"/>
            <a:ext cx="973632" cy="141732"/>
          </a:xfrm>
          <a:prstGeom prst="rect">
            <a:avLst/>
          </a:prstGeom>
          <a:solidFill>
            <a:srgbClr val="CF7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7492492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540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8520988" y="3648456"/>
            <a:ext cx="973632" cy="141732"/>
          </a:xfrm>
          <a:prstGeom prst="rect">
            <a:avLst/>
          </a:prstGeom>
          <a:solidFill>
            <a:srgbClr val="37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8502700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39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9531197" y="3648456"/>
            <a:ext cx="973632" cy="141732"/>
          </a:xfrm>
          <a:prstGeom prst="rect">
            <a:avLst/>
          </a:prstGeom>
          <a:solidFill>
            <a:srgbClr val="35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9512909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64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10541406" y="3648456"/>
            <a:ext cx="973632" cy="141732"/>
          </a:xfrm>
          <a:prstGeom prst="rect">
            <a:avLst/>
          </a:prstGeom>
          <a:solidFill>
            <a:srgbClr val="3D9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10523118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13232" y="3803904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Santa Elena de Chicureo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2459736" y="3817620"/>
            <a:ext cx="973632" cy="141732"/>
          </a:xfrm>
          <a:prstGeom prst="rect">
            <a:avLst/>
          </a:prstGeom>
          <a:solidFill>
            <a:srgbClr val="B0A1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2441448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390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3469944" y="3817620"/>
            <a:ext cx="973632" cy="141732"/>
          </a:xfrm>
          <a:prstGeom prst="rect">
            <a:avLst/>
          </a:prstGeom>
          <a:solidFill>
            <a:srgbClr val="CA9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3451656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428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4480153" y="3817620"/>
            <a:ext cx="973632" cy="141732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4461865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217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5490362" y="3817620"/>
            <a:ext cx="973632" cy="141732"/>
          </a:xfrm>
          <a:prstGeom prst="rect">
            <a:avLst/>
          </a:prstGeom>
          <a:solidFill>
            <a:srgbClr val="38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5472074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313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6500571" y="3817620"/>
            <a:ext cx="973632" cy="141732"/>
          </a:xfrm>
          <a:prstGeom prst="rect">
            <a:avLst/>
          </a:prstGeom>
          <a:solidFill>
            <a:srgbClr val="C99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6482283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466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7510780" y="3817620"/>
            <a:ext cx="973632" cy="141732"/>
          </a:xfrm>
          <a:prstGeom prst="rect">
            <a:avLst/>
          </a:prstGeom>
          <a:solidFill>
            <a:srgbClr val="CA9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7492492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415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8520988" y="3817620"/>
            <a:ext cx="973632" cy="141732"/>
          </a:xfrm>
          <a:prstGeom prst="rect">
            <a:avLst/>
          </a:prstGeom>
          <a:solidFill>
            <a:srgbClr val="CB8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8502700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432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9531197" y="3817620"/>
            <a:ext cx="973632" cy="141732"/>
          </a:xfrm>
          <a:prstGeom prst="rect">
            <a:avLst/>
          </a:prstGeom>
          <a:solidFill>
            <a:srgbClr val="5C9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9512909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124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10541406" y="3817620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10523118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294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13232" y="3973068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Hacienda Batuco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2459736" y="3986783"/>
            <a:ext cx="973632" cy="141732"/>
          </a:xfrm>
          <a:prstGeom prst="rect">
            <a:avLst/>
          </a:prstGeom>
          <a:solidFill>
            <a:srgbClr val="CC8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2441448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495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469944" y="3986783"/>
            <a:ext cx="973632" cy="141732"/>
          </a:xfrm>
          <a:prstGeom prst="rect">
            <a:avLst/>
          </a:prstGeom>
          <a:solidFill>
            <a:srgbClr val="B9A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3451656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392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4480153" y="3986783"/>
            <a:ext cx="973632" cy="141732"/>
          </a:xfrm>
          <a:prstGeom prst="rect">
            <a:avLst/>
          </a:prstGeom>
          <a:solidFill>
            <a:srgbClr val="CE7D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461865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234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5490362" y="3986783"/>
            <a:ext cx="973632" cy="141732"/>
          </a:xfrm>
          <a:prstGeom prst="rect">
            <a:avLst/>
          </a:prstGeom>
          <a:solidFill>
            <a:srgbClr val="629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5472074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420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6500571" y="3986783"/>
            <a:ext cx="973632" cy="141732"/>
          </a:xfrm>
          <a:prstGeom prst="rect">
            <a:avLst/>
          </a:prstGeom>
          <a:solidFill>
            <a:srgbClr val="A2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6482283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359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7510780" y="3986783"/>
            <a:ext cx="973632" cy="141732"/>
          </a:xfrm>
          <a:prstGeom prst="rect">
            <a:avLst/>
          </a:prstGeom>
          <a:solidFill>
            <a:srgbClr val="CA9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7492492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416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8520988" y="3986783"/>
            <a:ext cx="973632" cy="141732"/>
          </a:xfrm>
          <a:prstGeom prst="rect">
            <a:avLst/>
          </a:prstGeom>
          <a:solidFill>
            <a:srgbClr val="CA9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8502700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393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9531197" y="3986783"/>
            <a:ext cx="973632" cy="141732"/>
          </a:xfrm>
          <a:prstGeom prst="rect">
            <a:avLst/>
          </a:prstGeom>
          <a:solidFill>
            <a:srgbClr val="7CA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9512909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174</a:t>
            </a:r>
          </a:p>
        </p:txBody>
      </p:sp>
      <p:sp>
        <p:nvSpPr>
          <p:cNvPr id="203" name="Rectangle 202"/>
          <p:cNvSpPr/>
          <p:nvPr/>
        </p:nvSpPr>
        <p:spPr>
          <a:xfrm>
            <a:off x="10541406" y="3986783"/>
            <a:ext cx="973632" cy="141732"/>
          </a:xfrm>
          <a:prstGeom prst="rect">
            <a:avLst/>
          </a:prstGeom>
          <a:solidFill>
            <a:srgbClr val="D06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10523118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233</a:t>
            </a:r>
          </a:p>
        </p:txBody>
      </p:sp>
      <p:sp>
        <p:nvSpPr>
          <p:cNvPr id="205" name="Rectangle 204"/>
          <p:cNvSpPr/>
          <p:nvPr/>
        </p:nvSpPr>
        <p:spPr>
          <a:xfrm>
            <a:off x="658368" y="4151375"/>
            <a:ext cx="1737360" cy="150876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713232" y="414223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207" name="Rectangle 206"/>
          <p:cNvSpPr/>
          <p:nvPr/>
        </p:nvSpPr>
        <p:spPr>
          <a:xfrm>
            <a:off x="2459736" y="4155947"/>
            <a:ext cx="973632" cy="141732"/>
          </a:xfrm>
          <a:prstGeom prst="rect">
            <a:avLst/>
          </a:prstGeom>
          <a:solidFill>
            <a:srgbClr val="CC8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TextBox 207"/>
          <p:cNvSpPr txBox="1"/>
          <p:nvPr/>
        </p:nvSpPr>
        <p:spPr>
          <a:xfrm>
            <a:off x="2441448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503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3469944" y="4155947"/>
            <a:ext cx="973632" cy="141732"/>
          </a:xfrm>
          <a:prstGeom prst="rect">
            <a:avLst/>
          </a:prstGeom>
          <a:solidFill>
            <a:srgbClr val="C2A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3451656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401</a:t>
            </a:r>
          </a:p>
        </p:txBody>
      </p:sp>
      <p:sp>
        <p:nvSpPr>
          <p:cNvPr id="211" name="Rectangle 210"/>
          <p:cNvSpPr/>
          <p:nvPr/>
        </p:nvSpPr>
        <p:spPr>
          <a:xfrm>
            <a:off x="4480153" y="4155947"/>
            <a:ext cx="973632" cy="141732"/>
          </a:xfrm>
          <a:prstGeom prst="rect">
            <a:avLst/>
          </a:prstGeom>
          <a:solidFill>
            <a:srgbClr val="CE7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4461865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243</a:t>
            </a:r>
          </a:p>
        </p:txBody>
      </p:sp>
      <p:sp>
        <p:nvSpPr>
          <p:cNvPr id="213" name="Rectangle 212"/>
          <p:cNvSpPr/>
          <p:nvPr/>
        </p:nvSpPr>
        <p:spPr>
          <a:xfrm>
            <a:off x="5490362" y="4155947"/>
            <a:ext cx="973632" cy="141732"/>
          </a:xfrm>
          <a:prstGeom prst="rect">
            <a:avLst/>
          </a:prstGeom>
          <a:solidFill>
            <a:srgbClr val="669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TextBox 213"/>
          <p:cNvSpPr txBox="1"/>
          <p:nvPr/>
        </p:nvSpPr>
        <p:spPr>
          <a:xfrm>
            <a:off x="5472074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429</a:t>
            </a:r>
          </a:p>
        </p:txBody>
      </p:sp>
      <p:sp>
        <p:nvSpPr>
          <p:cNvPr id="215" name="Rectangle 214"/>
          <p:cNvSpPr/>
          <p:nvPr/>
        </p:nvSpPr>
        <p:spPr>
          <a:xfrm>
            <a:off x="6500571" y="4155947"/>
            <a:ext cx="973632" cy="141732"/>
          </a:xfrm>
          <a:prstGeom prst="rect">
            <a:avLst/>
          </a:prstGeom>
          <a:solidFill>
            <a:srgbClr val="A6A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TextBox 215"/>
          <p:cNvSpPr txBox="1"/>
          <p:nvPr/>
        </p:nvSpPr>
        <p:spPr>
          <a:xfrm>
            <a:off x="6482283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368</a:t>
            </a:r>
          </a:p>
        </p:txBody>
      </p:sp>
      <p:sp>
        <p:nvSpPr>
          <p:cNvPr id="217" name="Rectangle 216"/>
          <p:cNvSpPr/>
          <p:nvPr/>
        </p:nvSpPr>
        <p:spPr>
          <a:xfrm>
            <a:off x="7510780" y="4155947"/>
            <a:ext cx="973632" cy="141732"/>
          </a:xfrm>
          <a:prstGeom prst="rect">
            <a:avLst/>
          </a:prstGeom>
          <a:solidFill>
            <a:srgbClr val="CA9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TextBox 217"/>
          <p:cNvSpPr txBox="1"/>
          <p:nvPr/>
        </p:nvSpPr>
        <p:spPr>
          <a:xfrm>
            <a:off x="7492492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425</a:t>
            </a:r>
          </a:p>
        </p:txBody>
      </p:sp>
      <p:sp>
        <p:nvSpPr>
          <p:cNvPr id="219" name="Rectangle 218"/>
          <p:cNvSpPr/>
          <p:nvPr/>
        </p:nvSpPr>
        <p:spPr>
          <a:xfrm>
            <a:off x="8520988" y="4155947"/>
            <a:ext cx="973632" cy="141732"/>
          </a:xfrm>
          <a:prstGeom prst="rect">
            <a:avLst/>
          </a:prstGeom>
          <a:solidFill>
            <a:srgbClr val="CA9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8502700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402</a:t>
            </a:r>
          </a:p>
        </p:txBody>
      </p:sp>
      <p:sp>
        <p:nvSpPr>
          <p:cNvPr id="221" name="Rectangle 220"/>
          <p:cNvSpPr/>
          <p:nvPr/>
        </p:nvSpPr>
        <p:spPr>
          <a:xfrm>
            <a:off x="9531197" y="4155947"/>
            <a:ext cx="973632" cy="141732"/>
          </a:xfrm>
          <a:prstGeom prst="rect">
            <a:avLst/>
          </a:prstGeom>
          <a:solidFill>
            <a:srgbClr val="81A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9512909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183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10541406" y="4155947"/>
            <a:ext cx="973632" cy="141732"/>
          </a:xfrm>
          <a:prstGeom prst="rect">
            <a:avLst/>
          </a:prstGeom>
          <a:solidFill>
            <a:srgbClr val="D16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10523118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242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13232" y="4311396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Colina · Reina Norte</a:t>
            </a:r>
          </a:p>
        </p:txBody>
      </p:sp>
      <p:sp>
        <p:nvSpPr>
          <p:cNvPr id="226" name="Rectangle 225"/>
          <p:cNvSpPr/>
          <p:nvPr/>
        </p:nvSpPr>
        <p:spPr>
          <a:xfrm>
            <a:off x="2459736" y="4325112"/>
            <a:ext cx="973632" cy="141732"/>
          </a:xfrm>
          <a:prstGeom prst="rect">
            <a:avLst/>
          </a:prstGeom>
          <a:solidFill>
            <a:srgbClr val="CB9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2441448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473</a:t>
            </a:r>
          </a:p>
        </p:txBody>
      </p:sp>
      <p:sp>
        <p:nvSpPr>
          <p:cNvPr id="228" name="Rectangle 227"/>
          <p:cNvSpPr/>
          <p:nvPr/>
        </p:nvSpPr>
        <p:spPr>
          <a:xfrm>
            <a:off x="3469944" y="4325112"/>
            <a:ext cx="973632" cy="141732"/>
          </a:xfrm>
          <a:prstGeom prst="rect">
            <a:avLst/>
          </a:prstGeom>
          <a:solidFill>
            <a:srgbClr val="D16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TextBox 228"/>
          <p:cNvSpPr txBox="1"/>
          <p:nvPr/>
        </p:nvSpPr>
        <p:spPr>
          <a:xfrm>
            <a:off x="3451656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509</a:t>
            </a:r>
          </a:p>
        </p:txBody>
      </p:sp>
      <p:sp>
        <p:nvSpPr>
          <p:cNvPr id="230" name="Rectangle 229"/>
          <p:cNvSpPr/>
          <p:nvPr/>
        </p:nvSpPr>
        <p:spPr>
          <a:xfrm>
            <a:off x="4480153" y="4325112"/>
            <a:ext cx="973632" cy="141732"/>
          </a:xfrm>
          <a:prstGeom prst="rect">
            <a:avLst/>
          </a:prstGeom>
          <a:solidFill>
            <a:srgbClr val="D451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TextBox 230"/>
          <p:cNvSpPr txBox="1"/>
          <p:nvPr/>
        </p:nvSpPr>
        <p:spPr>
          <a:xfrm>
            <a:off x="4461865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299</a:t>
            </a:r>
          </a:p>
        </p:txBody>
      </p:sp>
      <p:sp>
        <p:nvSpPr>
          <p:cNvPr id="232" name="Rectangle 231"/>
          <p:cNvSpPr/>
          <p:nvPr/>
        </p:nvSpPr>
        <p:spPr>
          <a:xfrm>
            <a:off x="5490362" y="4325112"/>
            <a:ext cx="973632" cy="141732"/>
          </a:xfrm>
          <a:prstGeom prst="rect">
            <a:avLst/>
          </a:prstGeom>
          <a:solidFill>
            <a:srgbClr val="599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TextBox 232"/>
          <p:cNvSpPr txBox="1"/>
          <p:nvPr/>
        </p:nvSpPr>
        <p:spPr>
          <a:xfrm>
            <a:off x="5472074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396</a:t>
            </a:r>
          </a:p>
        </p:txBody>
      </p:sp>
      <p:sp>
        <p:nvSpPr>
          <p:cNvPr id="234" name="Rectangle 233"/>
          <p:cNvSpPr/>
          <p:nvPr/>
        </p:nvSpPr>
        <p:spPr>
          <a:xfrm>
            <a:off x="6500571" y="4325112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TextBox 234"/>
          <p:cNvSpPr txBox="1"/>
          <p:nvPr/>
        </p:nvSpPr>
        <p:spPr>
          <a:xfrm>
            <a:off x="6482283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803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7510780" y="4325112"/>
            <a:ext cx="973632" cy="141732"/>
          </a:xfrm>
          <a:prstGeom prst="rect">
            <a:avLst/>
          </a:prstGeom>
          <a:solidFill>
            <a:srgbClr val="CD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7492492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496</a:t>
            </a:r>
          </a:p>
        </p:txBody>
      </p:sp>
      <p:sp>
        <p:nvSpPr>
          <p:cNvPr id="238" name="Rectangle 237"/>
          <p:cNvSpPr/>
          <p:nvPr/>
        </p:nvSpPr>
        <p:spPr>
          <a:xfrm>
            <a:off x="8520988" y="4325112"/>
            <a:ext cx="973632" cy="141732"/>
          </a:xfrm>
          <a:prstGeom prst="rect">
            <a:avLst/>
          </a:prstGeom>
          <a:solidFill>
            <a:srgbClr val="CB8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8502700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427</a:t>
            </a:r>
          </a:p>
        </p:txBody>
      </p:sp>
      <p:sp>
        <p:nvSpPr>
          <p:cNvPr id="240" name="Rectangle 239"/>
          <p:cNvSpPr/>
          <p:nvPr/>
        </p:nvSpPr>
        <p:spPr>
          <a:xfrm>
            <a:off x="9531197" y="4325112"/>
            <a:ext cx="973632" cy="141732"/>
          </a:xfrm>
          <a:prstGeom prst="rect">
            <a:avLst/>
          </a:prstGeom>
          <a:solidFill>
            <a:srgbClr val="91A0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9512909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207</a:t>
            </a:r>
          </a:p>
        </p:txBody>
      </p:sp>
      <p:sp>
        <p:nvSpPr>
          <p:cNvPr id="242" name="Rectangle 241"/>
          <p:cNvSpPr/>
          <p:nvPr/>
        </p:nvSpPr>
        <p:spPr>
          <a:xfrm>
            <a:off x="10541406" y="4325112"/>
            <a:ext cx="973632" cy="141732"/>
          </a:xfrm>
          <a:prstGeom prst="rect">
            <a:avLst/>
          </a:prstGeom>
          <a:solidFill>
            <a:srgbClr val="D54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TextBox 242"/>
          <p:cNvSpPr txBox="1"/>
          <p:nvPr/>
        </p:nvSpPr>
        <p:spPr>
          <a:xfrm>
            <a:off x="10523118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293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13232" y="4480559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Ayres de Chicureo</a:t>
            </a:r>
          </a:p>
        </p:txBody>
      </p:sp>
      <p:sp>
        <p:nvSpPr>
          <p:cNvPr id="245" name="Rectangle 244"/>
          <p:cNvSpPr/>
          <p:nvPr/>
        </p:nvSpPr>
        <p:spPr>
          <a:xfrm>
            <a:off x="2459736" y="4494275"/>
            <a:ext cx="973632" cy="141732"/>
          </a:xfrm>
          <a:prstGeom prst="rect">
            <a:avLst/>
          </a:prstGeom>
          <a:solidFill>
            <a:srgbClr val="CA97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TextBox 245"/>
          <p:cNvSpPr txBox="1"/>
          <p:nvPr/>
        </p:nvSpPr>
        <p:spPr>
          <a:xfrm>
            <a:off x="2441448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461</a:t>
            </a:r>
          </a:p>
        </p:txBody>
      </p:sp>
      <p:sp>
        <p:nvSpPr>
          <p:cNvPr id="247" name="Rectangle 246"/>
          <p:cNvSpPr/>
          <p:nvPr/>
        </p:nvSpPr>
        <p:spPr>
          <a:xfrm>
            <a:off x="3469944" y="4494275"/>
            <a:ext cx="973632" cy="141732"/>
          </a:xfrm>
          <a:prstGeom prst="rect">
            <a:avLst/>
          </a:prstGeom>
          <a:solidFill>
            <a:srgbClr val="D069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3451656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500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4480153" y="4494275"/>
            <a:ext cx="973632" cy="141732"/>
          </a:xfrm>
          <a:prstGeom prst="rect">
            <a:avLst/>
          </a:prstGeom>
          <a:solidFill>
            <a:srgbClr val="D358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4461865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288</a:t>
            </a:r>
          </a:p>
        </p:txBody>
      </p:sp>
      <p:sp>
        <p:nvSpPr>
          <p:cNvPr id="251" name="Rectangle 250"/>
          <p:cNvSpPr/>
          <p:nvPr/>
        </p:nvSpPr>
        <p:spPr>
          <a:xfrm>
            <a:off x="5490362" y="4494275"/>
            <a:ext cx="973632" cy="141732"/>
          </a:xfrm>
          <a:prstGeom prst="rect">
            <a:avLst/>
          </a:prstGeom>
          <a:solidFill>
            <a:srgbClr val="549E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TextBox 251"/>
          <p:cNvSpPr txBox="1"/>
          <p:nvPr/>
        </p:nvSpPr>
        <p:spPr>
          <a:xfrm>
            <a:off x="5472074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384</a:t>
            </a:r>
          </a:p>
        </p:txBody>
      </p:sp>
      <p:sp>
        <p:nvSpPr>
          <p:cNvPr id="253" name="Rectangle 252"/>
          <p:cNvSpPr/>
          <p:nvPr/>
        </p:nvSpPr>
        <p:spPr>
          <a:xfrm>
            <a:off x="6500571" y="4494275"/>
            <a:ext cx="973632" cy="141732"/>
          </a:xfrm>
          <a:prstGeom prst="rect">
            <a:avLst/>
          </a:prstGeom>
          <a:solidFill>
            <a:srgbClr val="D54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TextBox 253"/>
          <p:cNvSpPr txBox="1"/>
          <p:nvPr/>
        </p:nvSpPr>
        <p:spPr>
          <a:xfrm>
            <a:off x="6482283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790</a:t>
            </a:r>
          </a:p>
        </p:txBody>
      </p:sp>
      <p:sp>
        <p:nvSpPr>
          <p:cNvPr id="255" name="Rectangle 254"/>
          <p:cNvSpPr/>
          <p:nvPr/>
        </p:nvSpPr>
        <p:spPr>
          <a:xfrm>
            <a:off x="7510780" y="4494275"/>
            <a:ext cx="973632" cy="141732"/>
          </a:xfrm>
          <a:prstGeom prst="rect">
            <a:avLst/>
          </a:prstGeom>
          <a:solidFill>
            <a:srgbClr val="CD8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TextBox 255"/>
          <p:cNvSpPr txBox="1"/>
          <p:nvPr/>
        </p:nvSpPr>
        <p:spPr>
          <a:xfrm>
            <a:off x="7492492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485</a:t>
            </a:r>
          </a:p>
        </p:txBody>
      </p:sp>
      <p:sp>
        <p:nvSpPr>
          <p:cNvPr id="257" name="Rectangle 256"/>
          <p:cNvSpPr/>
          <p:nvPr/>
        </p:nvSpPr>
        <p:spPr>
          <a:xfrm>
            <a:off x="8520988" y="4494275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8502700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698</a:t>
            </a:r>
          </a:p>
        </p:txBody>
      </p:sp>
      <p:sp>
        <p:nvSpPr>
          <p:cNvPr id="259" name="Rectangle 258"/>
          <p:cNvSpPr/>
          <p:nvPr/>
        </p:nvSpPr>
        <p:spPr>
          <a:xfrm>
            <a:off x="9531197" y="4494275"/>
            <a:ext cx="973632" cy="141732"/>
          </a:xfrm>
          <a:prstGeom prst="rect">
            <a:avLst/>
          </a:prstGeom>
          <a:solidFill>
            <a:srgbClr val="8A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TextBox 259"/>
          <p:cNvSpPr txBox="1"/>
          <p:nvPr/>
        </p:nvSpPr>
        <p:spPr>
          <a:xfrm>
            <a:off x="9512909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196</a:t>
            </a:r>
          </a:p>
        </p:txBody>
      </p:sp>
      <p:sp>
        <p:nvSpPr>
          <p:cNvPr id="261" name="Rectangle 260"/>
          <p:cNvSpPr/>
          <p:nvPr/>
        </p:nvSpPr>
        <p:spPr>
          <a:xfrm>
            <a:off x="10541406" y="4494275"/>
            <a:ext cx="973632" cy="141732"/>
          </a:xfrm>
          <a:prstGeom prst="rect">
            <a:avLst/>
          </a:prstGeom>
          <a:solidFill>
            <a:srgbClr val="D44E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TextBox 261"/>
          <p:cNvSpPr txBox="1"/>
          <p:nvPr/>
        </p:nvSpPr>
        <p:spPr>
          <a:xfrm>
            <a:off x="10523118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280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713232" y="4649723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264" name="Rectangle 263"/>
          <p:cNvSpPr/>
          <p:nvPr/>
        </p:nvSpPr>
        <p:spPr>
          <a:xfrm>
            <a:off x="2459736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TextBox 264"/>
          <p:cNvSpPr txBox="1"/>
          <p:nvPr/>
        </p:nvSpPr>
        <p:spPr>
          <a:xfrm>
            <a:off x="2441448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696</a:t>
            </a:r>
          </a:p>
        </p:txBody>
      </p:sp>
      <p:sp>
        <p:nvSpPr>
          <p:cNvPr id="266" name="Rectangle 265"/>
          <p:cNvSpPr/>
          <p:nvPr/>
        </p:nvSpPr>
        <p:spPr>
          <a:xfrm>
            <a:off x="3469944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TextBox 266"/>
          <p:cNvSpPr txBox="1"/>
          <p:nvPr/>
        </p:nvSpPr>
        <p:spPr>
          <a:xfrm>
            <a:off x="3451656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559</a:t>
            </a:r>
          </a:p>
        </p:txBody>
      </p:sp>
      <p:sp>
        <p:nvSpPr>
          <p:cNvPr id="268" name="Rectangle 267"/>
          <p:cNvSpPr/>
          <p:nvPr/>
        </p:nvSpPr>
        <p:spPr>
          <a:xfrm>
            <a:off x="4480153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TextBox 268"/>
          <p:cNvSpPr txBox="1"/>
          <p:nvPr/>
        </p:nvSpPr>
        <p:spPr>
          <a:xfrm>
            <a:off x="4461865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318</a:t>
            </a:r>
          </a:p>
        </p:txBody>
      </p:sp>
      <p:sp>
        <p:nvSpPr>
          <p:cNvPr id="270" name="Rectangle 269"/>
          <p:cNvSpPr/>
          <p:nvPr/>
        </p:nvSpPr>
        <p:spPr>
          <a:xfrm>
            <a:off x="5490362" y="4663439"/>
            <a:ext cx="973632" cy="141732"/>
          </a:xfrm>
          <a:prstGeom prst="rect">
            <a:avLst/>
          </a:prstGeom>
          <a:solidFill>
            <a:srgbClr val="CC87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TextBox 270"/>
          <p:cNvSpPr txBox="1"/>
          <p:nvPr/>
        </p:nvSpPr>
        <p:spPr>
          <a:xfrm>
            <a:off x="5472074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790</a:t>
            </a:r>
          </a:p>
        </p:txBody>
      </p:sp>
      <p:sp>
        <p:nvSpPr>
          <p:cNvPr id="272" name="Rectangle 271"/>
          <p:cNvSpPr/>
          <p:nvPr/>
        </p:nvSpPr>
        <p:spPr>
          <a:xfrm>
            <a:off x="6500571" y="4663439"/>
            <a:ext cx="973632" cy="141732"/>
          </a:xfrm>
          <a:prstGeom prst="rect">
            <a:avLst/>
          </a:prstGeom>
          <a:solidFill>
            <a:srgbClr val="CC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TextBox 272"/>
          <p:cNvSpPr txBox="1"/>
          <p:nvPr/>
        </p:nvSpPr>
        <p:spPr>
          <a:xfrm>
            <a:off x="6482283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537</a:t>
            </a:r>
          </a:p>
        </p:txBody>
      </p:sp>
      <p:sp>
        <p:nvSpPr>
          <p:cNvPr id="274" name="Rectangle 273"/>
          <p:cNvSpPr/>
          <p:nvPr/>
        </p:nvSpPr>
        <p:spPr>
          <a:xfrm>
            <a:off x="7510780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TextBox 274"/>
          <p:cNvSpPr txBox="1"/>
          <p:nvPr/>
        </p:nvSpPr>
        <p:spPr>
          <a:xfrm>
            <a:off x="7492492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696</a:t>
            </a:r>
          </a:p>
        </p:txBody>
      </p:sp>
      <p:sp>
        <p:nvSpPr>
          <p:cNvPr id="276" name="Rectangle 275"/>
          <p:cNvSpPr/>
          <p:nvPr/>
        </p:nvSpPr>
        <p:spPr>
          <a:xfrm>
            <a:off x="8520988" y="4663439"/>
            <a:ext cx="973632" cy="141732"/>
          </a:xfrm>
          <a:prstGeom prst="rect">
            <a:avLst/>
          </a:prstGeom>
          <a:solidFill>
            <a:srgbClr val="93A0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TextBox 276"/>
          <p:cNvSpPr txBox="1"/>
          <p:nvPr/>
        </p:nvSpPr>
        <p:spPr>
          <a:xfrm>
            <a:off x="8502700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242</a:t>
            </a:r>
          </a:p>
        </p:txBody>
      </p:sp>
      <p:sp>
        <p:nvSpPr>
          <p:cNvPr id="278" name="Rectangle 277"/>
          <p:cNvSpPr/>
          <p:nvPr/>
        </p:nvSpPr>
        <p:spPr>
          <a:xfrm>
            <a:off x="9531197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TextBox 278"/>
          <p:cNvSpPr txBox="1"/>
          <p:nvPr/>
        </p:nvSpPr>
        <p:spPr>
          <a:xfrm>
            <a:off x="9512909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535</a:t>
            </a:r>
          </a:p>
        </p:txBody>
      </p:sp>
      <p:sp>
        <p:nvSpPr>
          <p:cNvPr id="280" name="Rectangle 279"/>
          <p:cNvSpPr/>
          <p:nvPr/>
        </p:nvSpPr>
        <p:spPr>
          <a:xfrm>
            <a:off x="10541406" y="4663439"/>
            <a:ext cx="973632" cy="141732"/>
          </a:xfrm>
          <a:prstGeom prst="rect">
            <a:avLst/>
          </a:prstGeom>
          <a:solidFill>
            <a:srgbClr val="82A0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TextBox 280"/>
          <p:cNvSpPr txBox="1"/>
          <p:nvPr/>
        </p:nvSpPr>
        <p:spPr>
          <a:xfrm>
            <a:off x="10523118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93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658368" y="4901184"/>
            <a:ext cx="1005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A958C"/>
                </a:solidFill>
                <a:latin typeface="Helvetica Neue"/>
              </a:rPr>
              <a:t>Costo mensual de manejar —bencina + peajes TAG— en miles de pesos. Verde = barato, rojo = caro.</a:t>
            </a:r>
          </a:p>
        </p:txBody>
      </p:sp>
      <p:sp>
        <p:nvSpPr>
          <p:cNvPr id="283" name="Rectangle 282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2EFE8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TextBox 284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Batuco cruza autopistas concesionadas hacia el oriente y el centro: su costo en auto está entre los más altos del set. Por eso su ventaja real es el tren, no el volante.</a:t>
            </a:r>
          </a:p>
        </p:txBody>
      </p:sp>
      <p:cxnSp>
        <p:nvCxnSpPr>
          <p:cNvPr id="287" name="Connector 286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8" name="TextBox 287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04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TRANSPORTE PÚBLICO · EL TREN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Los tiempos en transporte público: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el mismo mapa, hoy y con el tren.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148840"/>
            <a:ext cx="518601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40">
                <a:solidFill>
                  <a:srgbClr val="6E6A64"/>
                </a:solidFill>
                <a:latin typeface="Helvetica Neue"/>
              </a:rPr>
              <a:t>HOY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47307" y="2148840"/>
            <a:ext cx="518601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40">
                <a:solidFill>
                  <a:srgbClr val="134E48"/>
                </a:solidFill>
                <a:latin typeface="Helvetica Neue"/>
              </a:rPr>
              <a:t>CON EL TREN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09928" y="2395728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Tobalaba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69312" y="2395728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Centro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28696" y="2395728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Industrial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88081" y="2395728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Cd. Empr.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7465" y="2395728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Univ.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06850" y="2395728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Aerop.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66234" y="2395728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Hospital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25618" y="2395728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Clínica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85003" y="2395728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C. Comercial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2642615"/>
            <a:ext cx="1005839" cy="124750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2633472"/>
            <a:ext cx="905255" cy="1430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B07D24"/>
                </a:solidFill>
                <a:latin typeface="Helvetica Neue"/>
              </a:rPr>
              <a:t>Estación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728216" y="2647188"/>
            <a:ext cx="422808" cy="115606"/>
          </a:xfrm>
          <a:prstGeom prst="rect">
            <a:avLst/>
          </a:prstGeom>
          <a:solidFill>
            <a:srgbClr val="CB9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187600" y="2647188"/>
            <a:ext cx="422808" cy="115606"/>
          </a:xfrm>
          <a:prstGeom prst="rect">
            <a:avLst/>
          </a:prstGeom>
          <a:solidFill>
            <a:srgbClr val="CA9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646984" y="2647188"/>
            <a:ext cx="422808" cy="115606"/>
          </a:xfrm>
          <a:prstGeom prst="rect">
            <a:avLst/>
          </a:prstGeom>
          <a:solidFill>
            <a:srgbClr val="629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106369" y="2647188"/>
            <a:ext cx="422808" cy="115606"/>
          </a:xfrm>
          <a:prstGeom prst="rect">
            <a:avLst/>
          </a:prstGeom>
          <a:solidFill>
            <a:srgbClr val="4E9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65753" y="2647188"/>
            <a:ext cx="422808" cy="115606"/>
          </a:xfrm>
          <a:prstGeom prst="rect">
            <a:avLst/>
          </a:prstGeom>
          <a:solidFill>
            <a:srgbClr val="B0A1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025138" y="2647188"/>
            <a:ext cx="422808" cy="115606"/>
          </a:xfrm>
          <a:prstGeom prst="rect">
            <a:avLst/>
          </a:prstGeom>
          <a:solidFill>
            <a:srgbClr val="9F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484522" y="2647188"/>
            <a:ext cx="422808" cy="115606"/>
          </a:xfrm>
          <a:prstGeom prst="rect">
            <a:avLst/>
          </a:prstGeom>
          <a:solidFill>
            <a:srgbClr val="D16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943906" y="2647188"/>
            <a:ext cx="422808" cy="115606"/>
          </a:xfrm>
          <a:prstGeom prst="rect">
            <a:avLst/>
          </a:prstGeom>
          <a:solidFill>
            <a:srgbClr val="CB8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03291" y="2647188"/>
            <a:ext cx="422808" cy="115606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8368" y="2785654"/>
            <a:ext cx="1005839" cy="124750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3232" y="2776510"/>
            <a:ext cx="905255" cy="1430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728216" y="2790226"/>
            <a:ext cx="422808" cy="115606"/>
          </a:xfrm>
          <a:prstGeom prst="rect">
            <a:avLst/>
          </a:prstGeom>
          <a:solidFill>
            <a:srgbClr val="CD8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187600" y="2790226"/>
            <a:ext cx="422808" cy="115606"/>
          </a:xfrm>
          <a:prstGeom prst="rect">
            <a:avLst/>
          </a:prstGeom>
          <a:solidFill>
            <a:srgbClr val="CD8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646984" y="2790226"/>
            <a:ext cx="422808" cy="115606"/>
          </a:xfrm>
          <a:prstGeom prst="rect">
            <a:avLst/>
          </a:prstGeom>
          <a:solidFill>
            <a:srgbClr val="C9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06369" y="2790226"/>
            <a:ext cx="422808" cy="115606"/>
          </a:xfrm>
          <a:prstGeom prst="rect">
            <a:avLst/>
          </a:prstGeom>
          <a:solidFill>
            <a:srgbClr val="CA9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565753" y="2790226"/>
            <a:ext cx="422808" cy="115606"/>
          </a:xfrm>
          <a:prstGeom prst="rect">
            <a:avLst/>
          </a:prstGeom>
          <a:solidFill>
            <a:srgbClr val="CA97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025138" y="2790226"/>
            <a:ext cx="422808" cy="115606"/>
          </a:xfrm>
          <a:prstGeom prst="rect">
            <a:avLst/>
          </a:prstGeom>
          <a:solidFill>
            <a:srgbClr val="C99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484522" y="2790226"/>
            <a:ext cx="422808" cy="115606"/>
          </a:xfrm>
          <a:prstGeom prst="rect">
            <a:avLst/>
          </a:prstGeom>
          <a:solidFill>
            <a:srgbClr val="D452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943906" y="2790226"/>
            <a:ext cx="422808" cy="115606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403291" y="2790226"/>
            <a:ext cx="422808" cy="115606"/>
          </a:xfrm>
          <a:prstGeom prst="rect">
            <a:avLst/>
          </a:prstGeom>
          <a:solidFill>
            <a:srgbClr val="D16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13232" y="2919548"/>
            <a:ext cx="905255" cy="1430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Valle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728216" y="2933264"/>
            <a:ext cx="422808" cy="115606"/>
          </a:xfrm>
          <a:prstGeom prst="rect">
            <a:avLst/>
          </a:prstGeom>
          <a:solidFill>
            <a:srgbClr val="74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187600" y="2933264"/>
            <a:ext cx="422808" cy="115606"/>
          </a:xfrm>
          <a:prstGeom prst="rect">
            <a:avLst/>
          </a:prstGeom>
          <a:solidFill>
            <a:srgbClr val="719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646984" y="2933264"/>
            <a:ext cx="422808" cy="115606"/>
          </a:xfrm>
          <a:prstGeom prst="rect">
            <a:avLst/>
          </a:prstGeom>
          <a:solidFill>
            <a:srgbClr val="4C9E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106369" y="2933264"/>
            <a:ext cx="422808" cy="115606"/>
          </a:xfrm>
          <a:prstGeom prst="rect">
            <a:avLst/>
          </a:prstGeom>
          <a:solidFill>
            <a:srgbClr val="B1A1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565753" y="2933264"/>
            <a:ext cx="422808" cy="115606"/>
          </a:xfrm>
          <a:prstGeom prst="rect">
            <a:avLst/>
          </a:prstGeom>
          <a:solidFill>
            <a:srgbClr val="BA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025138" y="2933264"/>
            <a:ext cx="422808" cy="115606"/>
          </a:xfrm>
          <a:prstGeom prst="rect">
            <a:avLst/>
          </a:prstGeom>
          <a:solidFill>
            <a:srgbClr val="83A0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484522" y="2933264"/>
            <a:ext cx="422808" cy="115606"/>
          </a:xfrm>
          <a:prstGeom prst="rect">
            <a:avLst/>
          </a:prstGeom>
          <a:solidFill>
            <a:srgbClr val="C99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943906" y="2933264"/>
            <a:ext cx="422808" cy="115606"/>
          </a:xfrm>
          <a:prstGeom prst="rect">
            <a:avLst/>
          </a:prstGeom>
          <a:solidFill>
            <a:srgbClr val="A8A1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403291" y="2933264"/>
            <a:ext cx="422808" cy="115606"/>
          </a:xfrm>
          <a:prstGeom prst="rect">
            <a:avLst/>
          </a:prstGeom>
          <a:solidFill>
            <a:srgbClr val="469E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13232" y="3062586"/>
            <a:ext cx="905255" cy="1430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NOS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728216" y="3076302"/>
            <a:ext cx="422808" cy="115606"/>
          </a:xfrm>
          <a:prstGeom prst="rect">
            <a:avLst/>
          </a:prstGeom>
          <a:solidFill>
            <a:srgbClr val="6D9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187600" y="3076302"/>
            <a:ext cx="422808" cy="115606"/>
          </a:xfrm>
          <a:prstGeom prst="rect">
            <a:avLst/>
          </a:prstGeom>
          <a:solidFill>
            <a:srgbClr val="C6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646984" y="3076302"/>
            <a:ext cx="422808" cy="115606"/>
          </a:xfrm>
          <a:prstGeom prst="rect">
            <a:avLst/>
          </a:prstGeom>
          <a:solidFill>
            <a:srgbClr val="6A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106369" y="3076302"/>
            <a:ext cx="422808" cy="115606"/>
          </a:xfrm>
          <a:prstGeom prst="rect">
            <a:avLst/>
          </a:prstGeom>
          <a:solidFill>
            <a:srgbClr val="BEA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565753" y="3076302"/>
            <a:ext cx="422808" cy="115606"/>
          </a:xfrm>
          <a:prstGeom prst="rect">
            <a:avLst/>
          </a:prstGeom>
          <a:solidFill>
            <a:srgbClr val="8BA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025138" y="3076302"/>
            <a:ext cx="422808" cy="115606"/>
          </a:xfrm>
          <a:prstGeom prst="rect">
            <a:avLst/>
          </a:prstGeom>
          <a:solidFill>
            <a:srgbClr val="A1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484522" y="3076302"/>
            <a:ext cx="422808" cy="115606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943906" y="3076302"/>
            <a:ext cx="422808" cy="115606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403291" y="3076302"/>
            <a:ext cx="422808" cy="115606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13232" y="3205625"/>
            <a:ext cx="905255" cy="1430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Hacienda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728216" y="3219341"/>
            <a:ext cx="422808" cy="115606"/>
          </a:xfrm>
          <a:prstGeom prst="rect">
            <a:avLst/>
          </a:prstGeom>
          <a:solidFill>
            <a:srgbClr val="CE7C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2187600" y="3219341"/>
            <a:ext cx="422808" cy="115606"/>
          </a:xfrm>
          <a:prstGeom prst="rect">
            <a:avLst/>
          </a:prstGeom>
          <a:solidFill>
            <a:srgbClr val="CF7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646984" y="3219341"/>
            <a:ext cx="422808" cy="115606"/>
          </a:xfrm>
          <a:prstGeom prst="rect">
            <a:avLst/>
          </a:prstGeom>
          <a:solidFill>
            <a:srgbClr val="C99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3106369" y="3219341"/>
            <a:ext cx="422808" cy="115606"/>
          </a:xfrm>
          <a:prstGeom prst="rect">
            <a:avLst/>
          </a:prstGeom>
          <a:solidFill>
            <a:srgbClr val="CB8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565753" y="3219341"/>
            <a:ext cx="422808" cy="115606"/>
          </a:xfrm>
          <a:prstGeom prst="rect">
            <a:avLst/>
          </a:prstGeom>
          <a:solidFill>
            <a:srgbClr val="CB9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025138" y="3219341"/>
            <a:ext cx="422808" cy="115606"/>
          </a:xfrm>
          <a:prstGeom prst="rect">
            <a:avLst/>
          </a:prstGeom>
          <a:solidFill>
            <a:srgbClr val="CA9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484522" y="3219341"/>
            <a:ext cx="422808" cy="115606"/>
          </a:xfrm>
          <a:prstGeom prst="rect">
            <a:avLst/>
          </a:prstGeom>
          <a:solidFill>
            <a:srgbClr val="D54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943906" y="3219341"/>
            <a:ext cx="422808" cy="115606"/>
          </a:xfrm>
          <a:prstGeom prst="rect">
            <a:avLst/>
          </a:prstGeom>
          <a:solidFill>
            <a:srgbClr val="D354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403291" y="3219341"/>
            <a:ext cx="422808" cy="115606"/>
          </a:xfrm>
          <a:prstGeom prst="rect">
            <a:avLst/>
          </a:prstGeom>
          <a:solidFill>
            <a:srgbClr val="D25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13232" y="3348663"/>
            <a:ext cx="905255" cy="1430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Urbanya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728216" y="3362379"/>
            <a:ext cx="422808" cy="115606"/>
          </a:xfrm>
          <a:prstGeom prst="rect">
            <a:avLst/>
          </a:prstGeom>
          <a:solidFill>
            <a:srgbClr val="CB8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2187600" y="3362379"/>
            <a:ext cx="422808" cy="115606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2646984" y="3362379"/>
            <a:ext cx="422808" cy="115606"/>
          </a:xfrm>
          <a:prstGeom prst="rect">
            <a:avLst/>
          </a:prstGeom>
          <a:solidFill>
            <a:srgbClr val="539E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3106369" y="3362379"/>
            <a:ext cx="422808" cy="115606"/>
          </a:xfrm>
          <a:prstGeom prst="rect">
            <a:avLst/>
          </a:prstGeom>
          <a:solidFill>
            <a:srgbClr val="CC8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3565753" y="3362379"/>
            <a:ext cx="422808" cy="115606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025138" y="3362379"/>
            <a:ext cx="422808" cy="115606"/>
          </a:xfrm>
          <a:prstGeom prst="rect">
            <a:avLst/>
          </a:prstGeom>
          <a:solidFill>
            <a:srgbClr val="509E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484522" y="3362379"/>
            <a:ext cx="422808" cy="115606"/>
          </a:xfrm>
          <a:prstGeom prst="rect">
            <a:avLst/>
          </a:prstGeom>
          <a:solidFill>
            <a:srgbClr val="A1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4943906" y="3362379"/>
            <a:ext cx="422808" cy="115606"/>
          </a:xfrm>
          <a:prstGeom prst="rect">
            <a:avLst/>
          </a:prstGeom>
          <a:solidFill>
            <a:srgbClr val="659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5403291" y="3362379"/>
            <a:ext cx="422808" cy="115606"/>
          </a:xfrm>
          <a:prstGeom prst="rect">
            <a:avLst/>
          </a:prstGeom>
          <a:solidFill>
            <a:srgbClr val="8CA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13232" y="3491701"/>
            <a:ext cx="905255" cy="1430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728216" y="3505417"/>
            <a:ext cx="422808" cy="115606"/>
          </a:xfrm>
          <a:prstGeom prst="rect">
            <a:avLst/>
          </a:prstGeom>
          <a:solidFill>
            <a:srgbClr val="639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2187600" y="3505417"/>
            <a:ext cx="422808" cy="115606"/>
          </a:xfrm>
          <a:prstGeom prst="rect">
            <a:avLst/>
          </a:prstGeom>
          <a:solidFill>
            <a:srgbClr val="91A0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2646984" y="3505417"/>
            <a:ext cx="422808" cy="115606"/>
          </a:xfrm>
          <a:prstGeom prst="rect">
            <a:avLst/>
          </a:prstGeom>
          <a:solidFill>
            <a:srgbClr val="98A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3106369" y="3505417"/>
            <a:ext cx="422808" cy="115606"/>
          </a:xfrm>
          <a:prstGeom prst="rect">
            <a:avLst/>
          </a:prstGeom>
          <a:solidFill>
            <a:srgbClr val="C99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565753" y="3505417"/>
            <a:ext cx="422808" cy="115606"/>
          </a:xfrm>
          <a:prstGeom prst="rect">
            <a:avLst/>
          </a:prstGeom>
          <a:solidFill>
            <a:srgbClr val="B6A1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4025138" y="3505417"/>
            <a:ext cx="422808" cy="115606"/>
          </a:xfrm>
          <a:prstGeom prst="rect">
            <a:avLst/>
          </a:prstGeom>
          <a:solidFill>
            <a:srgbClr val="C8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4484522" y="3505417"/>
            <a:ext cx="422808" cy="115606"/>
          </a:xfrm>
          <a:prstGeom prst="rect">
            <a:avLst/>
          </a:prstGeom>
          <a:solidFill>
            <a:srgbClr val="8DA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4943906" y="3505417"/>
            <a:ext cx="422808" cy="115606"/>
          </a:xfrm>
          <a:prstGeom prst="rect">
            <a:avLst/>
          </a:prstGeom>
          <a:solidFill>
            <a:srgbClr val="679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5403291" y="3505417"/>
            <a:ext cx="422808" cy="115606"/>
          </a:xfrm>
          <a:prstGeom prst="rect">
            <a:avLst/>
          </a:prstGeom>
          <a:solidFill>
            <a:srgbClr val="73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13232" y="3634740"/>
            <a:ext cx="905255" cy="1430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Chicauma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728216" y="3648456"/>
            <a:ext cx="422808" cy="115606"/>
          </a:xfrm>
          <a:prstGeom prst="rect">
            <a:avLst/>
          </a:prstGeom>
          <a:solidFill>
            <a:srgbClr val="CD8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2187600" y="3648456"/>
            <a:ext cx="422808" cy="115606"/>
          </a:xfrm>
          <a:prstGeom prst="rect">
            <a:avLst/>
          </a:prstGeom>
          <a:solidFill>
            <a:srgbClr val="CD8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2646984" y="3648456"/>
            <a:ext cx="422808" cy="115606"/>
          </a:xfrm>
          <a:prstGeom prst="rect">
            <a:avLst/>
          </a:prstGeom>
          <a:solidFill>
            <a:srgbClr val="A2A1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3106369" y="3648456"/>
            <a:ext cx="422808" cy="115606"/>
          </a:xfrm>
          <a:prstGeom prst="rect">
            <a:avLst/>
          </a:prstGeom>
          <a:solidFill>
            <a:srgbClr val="CB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565753" y="3648456"/>
            <a:ext cx="422808" cy="115606"/>
          </a:xfrm>
          <a:prstGeom prst="rect">
            <a:avLst/>
          </a:prstGeom>
          <a:solidFill>
            <a:srgbClr val="CE7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4025138" y="3648456"/>
            <a:ext cx="422808" cy="115606"/>
          </a:xfrm>
          <a:prstGeom prst="rect">
            <a:avLst/>
          </a:prstGeom>
          <a:solidFill>
            <a:srgbClr val="CA97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484522" y="3648456"/>
            <a:ext cx="422808" cy="115606"/>
          </a:xfrm>
          <a:prstGeom prst="rect">
            <a:avLst/>
          </a:prstGeom>
          <a:solidFill>
            <a:srgbClr val="D16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4943906" y="3648456"/>
            <a:ext cx="422808" cy="115606"/>
          </a:xfrm>
          <a:prstGeom prst="rect">
            <a:avLst/>
          </a:prstGeom>
          <a:solidFill>
            <a:srgbClr val="CA9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5403291" y="3648456"/>
            <a:ext cx="422808" cy="115606"/>
          </a:xfrm>
          <a:prstGeom prst="rect">
            <a:avLst/>
          </a:prstGeom>
          <a:solidFill>
            <a:srgbClr val="CA97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713232" y="3777778"/>
            <a:ext cx="905255" cy="1430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Laguna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728216" y="3791494"/>
            <a:ext cx="422808" cy="115606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2187600" y="3791494"/>
            <a:ext cx="422808" cy="115606"/>
          </a:xfrm>
          <a:prstGeom prst="rect">
            <a:avLst/>
          </a:prstGeom>
          <a:solidFill>
            <a:srgbClr val="D54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2646984" y="3791494"/>
            <a:ext cx="422808" cy="115606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3106369" y="3791494"/>
            <a:ext cx="422808" cy="115606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3565753" y="3791494"/>
            <a:ext cx="422808" cy="115606"/>
          </a:xfrm>
          <a:prstGeom prst="rect">
            <a:avLst/>
          </a:prstGeom>
          <a:solidFill>
            <a:srgbClr val="D06B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4025138" y="3791494"/>
            <a:ext cx="422808" cy="115606"/>
          </a:xfrm>
          <a:prstGeom prst="rect">
            <a:avLst/>
          </a:prstGeom>
          <a:solidFill>
            <a:srgbClr val="CE7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4484522" y="3791494"/>
            <a:ext cx="422808" cy="115606"/>
          </a:xfrm>
          <a:prstGeom prst="rect">
            <a:avLst/>
          </a:prstGeom>
          <a:solidFill>
            <a:srgbClr val="CB8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4943906" y="3791494"/>
            <a:ext cx="422808" cy="115606"/>
          </a:xfrm>
          <a:prstGeom prst="rect">
            <a:avLst/>
          </a:prstGeom>
          <a:solidFill>
            <a:srgbClr val="97A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5403291" y="3791494"/>
            <a:ext cx="422808" cy="115606"/>
          </a:xfrm>
          <a:prstGeom prst="rect">
            <a:avLst/>
          </a:prstGeom>
          <a:solidFill>
            <a:srgbClr val="C1A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713232" y="3920816"/>
            <a:ext cx="905255" cy="1430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Santa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1728216" y="3934532"/>
            <a:ext cx="422808" cy="115606"/>
          </a:xfrm>
          <a:prstGeom prst="rect">
            <a:avLst/>
          </a:prstGeom>
          <a:solidFill>
            <a:srgbClr val="CF7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2187600" y="3934532"/>
            <a:ext cx="422808" cy="115606"/>
          </a:xfrm>
          <a:prstGeom prst="rect">
            <a:avLst/>
          </a:prstGeom>
          <a:solidFill>
            <a:srgbClr val="CF7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2646984" y="3934532"/>
            <a:ext cx="422808" cy="115606"/>
          </a:xfrm>
          <a:prstGeom prst="rect">
            <a:avLst/>
          </a:prstGeom>
          <a:solidFill>
            <a:srgbClr val="7EA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3106369" y="3934532"/>
            <a:ext cx="422808" cy="115606"/>
          </a:xfrm>
          <a:prstGeom prst="rect">
            <a:avLst/>
          </a:prstGeom>
          <a:solidFill>
            <a:srgbClr val="719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3565753" y="3934532"/>
            <a:ext cx="422808" cy="115606"/>
          </a:xfrm>
          <a:prstGeom prst="rect">
            <a:avLst/>
          </a:prstGeom>
          <a:solidFill>
            <a:srgbClr val="CA9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4025138" y="3934532"/>
            <a:ext cx="422808" cy="115606"/>
          </a:xfrm>
          <a:prstGeom prst="rect">
            <a:avLst/>
          </a:prstGeom>
          <a:solidFill>
            <a:srgbClr val="B7A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4484522" y="3934532"/>
            <a:ext cx="422808" cy="115606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4943906" y="3934532"/>
            <a:ext cx="422808" cy="115606"/>
          </a:xfrm>
          <a:prstGeom prst="rect">
            <a:avLst/>
          </a:prstGeom>
          <a:solidFill>
            <a:srgbClr val="CE7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5403291" y="3934532"/>
            <a:ext cx="422808" cy="115606"/>
          </a:xfrm>
          <a:prstGeom prst="rect">
            <a:avLst/>
          </a:prstGeom>
          <a:solidFill>
            <a:srgbClr val="CF7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713232" y="4063854"/>
            <a:ext cx="905255" cy="1430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Ayres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1728216" y="4077570"/>
            <a:ext cx="422808" cy="115606"/>
          </a:xfrm>
          <a:prstGeom prst="rect">
            <a:avLst/>
          </a:prstGeom>
          <a:solidFill>
            <a:srgbClr val="CA9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2187600" y="4077570"/>
            <a:ext cx="422808" cy="115606"/>
          </a:xfrm>
          <a:prstGeom prst="rect">
            <a:avLst/>
          </a:prstGeom>
          <a:solidFill>
            <a:srgbClr val="C99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2646984" y="4077570"/>
            <a:ext cx="422808" cy="115606"/>
          </a:xfrm>
          <a:prstGeom prst="rect">
            <a:avLst/>
          </a:prstGeom>
          <a:solidFill>
            <a:srgbClr val="82A0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3106369" y="4077570"/>
            <a:ext cx="422808" cy="115606"/>
          </a:xfrm>
          <a:prstGeom prst="rect">
            <a:avLst/>
          </a:prstGeom>
          <a:solidFill>
            <a:srgbClr val="BC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3565753" y="4077570"/>
            <a:ext cx="422808" cy="115606"/>
          </a:xfrm>
          <a:prstGeom prst="rect">
            <a:avLst/>
          </a:prstGeom>
          <a:solidFill>
            <a:srgbClr val="D545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4025138" y="4077570"/>
            <a:ext cx="422808" cy="115606"/>
          </a:xfrm>
          <a:prstGeom prst="rect">
            <a:avLst/>
          </a:prstGeom>
          <a:solidFill>
            <a:srgbClr val="A8A1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4484522" y="4077570"/>
            <a:ext cx="422808" cy="115606"/>
          </a:xfrm>
          <a:prstGeom prst="rect">
            <a:avLst/>
          </a:prstGeom>
          <a:solidFill>
            <a:srgbClr val="D25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4943906" y="4077570"/>
            <a:ext cx="422808" cy="115606"/>
          </a:xfrm>
          <a:prstGeom prst="rect">
            <a:avLst/>
          </a:prstGeom>
          <a:solidFill>
            <a:srgbClr val="CF7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5403291" y="4077570"/>
            <a:ext cx="422808" cy="115606"/>
          </a:xfrm>
          <a:prstGeom prst="rect">
            <a:avLst/>
          </a:prstGeom>
          <a:solidFill>
            <a:srgbClr val="C3A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713232" y="4206893"/>
            <a:ext cx="905255" cy="1430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El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1728216" y="4220609"/>
            <a:ext cx="422808" cy="115606"/>
          </a:xfrm>
          <a:prstGeom prst="rect">
            <a:avLst/>
          </a:prstGeom>
          <a:solidFill>
            <a:srgbClr val="B2A1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2187600" y="4220609"/>
            <a:ext cx="422808" cy="115606"/>
          </a:xfrm>
          <a:prstGeom prst="rect">
            <a:avLst/>
          </a:prstGeom>
          <a:solidFill>
            <a:srgbClr val="CF7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2646984" y="4220609"/>
            <a:ext cx="422808" cy="115606"/>
          </a:xfrm>
          <a:prstGeom prst="rect">
            <a:avLst/>
          </a:prstGeom>
          <a:solidFill>
            <a:srgbClr val="D25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3106369" y="4220609"/>
            <a:ext cx="422808" cy="115606"/>
          </a:xfrm>
          <a:prstGeom prst="rect">
            <a:avLst/>
          </a:prstGeom>
          <a:solidFill>
            <a:srgbClr val="CE7C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3565753" y="4220609"/>
            <a:ext cx="422808" cy="115606"/>
          </a:xfrm>
          <a:prstGeom prst="rect">
            <a:avLst/>
          </a:prstGeom>
          <a:solidFill>
            <a:srgbClr val="D54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4025138" y="4220609"/>
            <a:ext cx="422808" cy="115606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4484522" y="4220609"/>
            <a:ext cx="422808" cy="115606"/>
          </a:xfrm>
          <a:prstGeom prst="rect">
            <a:avLst/>
          </a:prstGeom>
          <a:solidFill>
            <a:srgbClr val="86A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4943906" y="4220609"/>
            <a:ext cx="422808" cy="115606"/>
          </a:xfrm>
          <a:prstGeom prst="rect">
            <a:avLst/>
          </a:prstGeom>
          <a:solidFill>
            <a:srgbClr val="3A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5403291" y="4220609"/>
            <a:ext cx="422808" cy="115606"/>
          </a:xfrm>
          <a:prstGeom prst="rect">
            <a:avLst/>
          </a:prstGeom>
          <a:solidFill>
            <a:srgbClr val="A5A1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713232" y="4349931"/>
            <a:ext cx="905255" cy="1430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Larapinta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1728216" y="4363647"/>
            <a:ext cx="422808" cy="115606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2187600" y="4363647"/>
            <a:ext cx="422808" cy="115606"/>
          </a:xfrm>
          <a:prstGeom prst="rect">
            <a:avLst/>
          </a:prstGeom>
          <a:solidFill>
            <a:srgbClr val="CC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2646984" y="4363647"/>
            <a:ext cx="422808" cy="115606"/>
          </a:xfrm>
          <a:prstGeom prst="rect">
            <a:avLst/>
          </a:prstGeom>
          <a:solidFill>
            <a:srgbClr val="CE7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3106369" y="4363647"/>
            <a:ext cx="422808" cy="115606"/>
          </a:xfrm>
          <a:prstGeom prst="rect">
            <a:avLst/>
          </a:prstGeom>
          <a:solidFill>
            <a:srgbClr val="C99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3565753" y="4363647"/>
            <a:ext cx="422808" cy="115606"/>
          </a:xfrm>
          <a:prstGeom prst="rect">
            <a:avLst/>
          </a:prstGeom>
          <a:solidFill>
            <a:srgbClr val="CA9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4025138" y="4363647"/>
            <a:ext cx="422808" cy="115606"/>
          </a:xfrm>
          <a:prstGeom prst="rect">
            <a:avLst/>
          </a:prstGeom>
          <a:solidFill>
            <a:srgbClr val="BFA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4484522" y="4363647"/>
            <a:ext cx="422808" cy="115606"/>
          </a:xfrm>
          <a:prstGeom prst="rect">
            <a:avLst/>
          </a:prstGeom>
          <a:solidFill>
            <a:srgbClr val="D354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4943906" y="4363647"/>
            <a:ext cx="422808" cy="115606"/>
          </a:xfrm>
          <a:prstGeom prst="rect">
            <a:avLst/>
          </a:prstGeom>
          <a:solidFill>
            <a:srgbClr val="D25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5403291" y="4363647"/>
            <a:ext cx="422808" cy="115606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713232" y="4492969"/>
            <a:ext cx="905255" cy="1430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Colina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1728216" y="4506685"/>
            <a:ext cx="422808" cy="115606"/>
          </a:xfrm>
          <a:prstGeom prst="rect">
            <a:avLst/>
          </a:prstGeom>
          <a:solidFill>
            <a:srgbClr val="CD8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2187600" y="4506685"/>
            <a:ext cx="422808" cy="115606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2646984" y="4506685"/>
            <a:ext cx="422808" cy="115606"/>
          </a:xfrm>
          <a:prstGeom prst="rect">
            <a:avLst/>
          </a:prstGeom>
          <a:solidFill>
            <a:srgbClr val="C99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3106369" y="4506685"/>
            <a:ext cx="422808" cy="115606"/>
          </a:xfrm>
          <a:prstGeom prst="rect">
            <a:avLst/>
          </a:prstGeom>
          <a:solidFill>
            <a:srgbClr val="5F9F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3565753" y="4506685"/>
            <a:ext cx="422808" cy="115606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4025138" y="4506685"/>
            <a:ext cx="422808" cy="115606"/>
          </a:xfrm>
          <a:prstGeom prst="rect">
            <a:avLst/>
          </a:prstGeom>
          <a:solidFill>
            <a:srgbClr val="CD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4484522" y="4506685"/>
            <a:ext cx="422808" cy="115606"/>
          </a:xfrm>
          <a:prstGeom prst="rect">
            <a:avLst/>
          </a:prstGeom>
          <a:solidFill>
            <a:srgbClr val="CF7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4943906" y="4506685"/>
            <a:ext cx="422808" cy="115606"/>
          </a:xfrm>
          <a:prstGeom prst="rect">
            <a:avLst/>
          </a:prstGeom>
          <a:solidFill>
            <a:srgbClr val="CC8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5403291" y="4506685"/>
            <a:ext cx="422808" cy="115606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7398867" y="2395728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Tobalaba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858252" y="2395728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Centro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17636" y="2395728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Industrial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77020" y="2395728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Cd. Empr.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236405" y="2395728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Univ.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9695789" y="2395728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Aerop.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155174" y="2395728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Hospital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0614558" y="2395728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Clínica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1073942" y="2395728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C. Comercial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6347307" y="2642615"/>
            <a:ext cx="1005839" cy="124750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6402171" y="2633472"/>
            <a:ext cx="905255" cy="1430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B07D24"/>
                </a:solidFill>
                <a:latin typeface="Helvetica Neue"/>
              </a:rPr>
              <a:t>Estación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7417155" y="2647188"/>
            <a:ext cx="422808" cy="115606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7876540" y="2647188"/>
            <a:ext cx="422808" cy="115606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8335924" y="2647188"/>
            <a:ext cx="422808" cy="115606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8795308" y="2647188"/>
            <a:ext cx="422808" cy="115606"/>
          </a:xfrm>
          <a:prstGeom prst="rect">
            <a:avLst/>
          </a:prstGeom>
          <a:solidFill>
            <a:srgbClr val="4E9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9254693" y="2647188"/>
            <a:ext cx="422808" cy="115606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9714077" y="2647188"/>
            <a:ext cx="422808" cy="115606"/>
          </a:xfrm>
          <a:prstGeom prst="rect">
            <a:avLst/>
          </a:prstGeom>
          <a:solidFill>
            <a:srgbClr val="519E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10173462" y="2647188"/>
            <a:ext cx="422808" cy="115606"/>
          </a:xfrm>
          <a:prstGeom prst="rect">
            <a:avLst/>
          </a:prstGeom>
          <a:solidFill>
            <a:srgbClr val="459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10632846" y="2647188"/>
            <a:ext cx="422808" cy="115606"/>
          </a:xfrm>
          <a:prstGeom prst="rect">
            <a:avLst/>
          </a:prstGeom>
          <a:solidFill>
            <a:srgbClr val="AAA1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11092230" y="2647188"/>
            <a:ext cx="422808" cy="115606"/>
          </a:xfrm>
          <a:prstGeom prst="rect">
            <a:avLst/>
          </a:prstGeom>
          <a:solidFill>
            <a:srgbClr val="339E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6347307" y="2785654"/>
            <a:ext cx="1005839" cy="124750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402171" y="2776510"/>
            <a:ext cx="905255" cy="1430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7417155" y="2790226"/>
            <a:ext cx="422808" cy="115606"/>
          </a:xfrm>
          <a:prstGeom prst="rect">
            <a:avLst/>
          </a:prstGeom>
          <a:solidFill>
            <a:srgbClr val="409E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7876540" y="2790226"/>
            <a:ext cx="422808" cy="115606"/>
          </a:xfrm>
          <a:prstGeom prst="rect">
            <a:avLst/>
          </a:prstGeom>
          <a:solidFill>
            <a:srgbClr val="439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8335924" y="2790226"/>
            <a:ext cx="422808" cy="115606"/>
          </a:xfrm>
          <a:prstGeom prst="rect">
            <a:avLst/>
          </a:prstGeom>
          <a:solidFill>
            <a:srgbClr val="3A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8795308" y="2790226"/>
            <a:ext cx="422808" cy="115606"/>
          </a:xfrm>
          <a:prstGeom prst="rect">
            <a:avLst/>
          </a:prstGeom>
          <a:solidFill>
            <a:srgbClr val="7A9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9254693" y="2790226"/>
            <a:ext cx="422808" cy="115606"/>
          </a:xfrm>
          <a:prstGeom prst="rect">
            <a:avLst/>
          </a:prstGeom>
          <a:solidFill>
            <a:srgbClr val="3A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9714077" y="2790226"/>
            <a:ext cx="422808" cy="115606"/>
          </a:xfrm>
          <a:prstGeom prst="rect">
            <a:avLst/>
          </a:prstGeom>
          <a:solidFill>
            <a:srgbClr val="5A9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10173462" y="2790226"/>
            <a:ext cx="422808" cy="115606"/>
          </a:xfrm>
          <a:prstGeom prst="rect">
            <a:avLst/>
          </a:prstGeom>
          <a:solidFill>
            <a:srgbClr val="539E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10632846" y="2790226"/>
            <a:ext cx="422808" cy="115606"/>
          </a:xfrm>
          <a:prstGeom prst="rect">
            <a:avLst/>
          </a:prstGeom>
          <a:solidFill>
            <a:srgbClr val="B8A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11092230" y="2790226"/>
            <a:ext cx="422808" cy="115606"/>
          </a:xfrm>
          <a:prstGeom prst="rect">
            <a:avLst/>
          </a:prstGeom>
          <a:solidFill>
            <a:srgbClr val="429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402171" y="2919548"/>
            <a:ext cx="905255" cy="1430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Valle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7417155" y="2933264"/>
            <a:ext cx="422808" cy="115606"/>
          </a:xfrm>
          <a:prstGeom prst="rect">
            <a:avLst/>
          </a:prstGeom>
          <a:solidFill>
            <a:srgbClr val="5C9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7876540" y="2933264"/>
            <a:ext cx="422808" cy="115606"/>
          </a:xfrm>
          <a:prstGeom prst="rect">
            <a:avLst/>
          </a:prstGeom>
          <a:solidFill>
            <a:srgbClr val="669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8335924" y="2933264"/>
            <a:ext cx="422808" cy="115606"/>
          </a:xfrm>
          <a:prstGeom prst="rect">
            <a:avLst/>
          </a:prstGeom>
          <a:solidFill>
            <a:srgbClr val="4C9E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8795308" y="2933264"/>
            <a:ext cx="422808" cy="115606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9254693" y="2933264"/>
            <a:ext cx="422808" cy="115606"/>
          </a:xfrm>
          <a:prstGeom prst="rect">
            <a:avLst/>
          </a:prstGeom>
          <a:solidFill>
            <a:srgbClr val="4D9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9714077" y="2933264"/>
            <a:ext cx="422808" cy="115606"/>
          </a:xfrm>
          <a:prstGeom prst="rect">
            <a:avLst/>
          </a:prstGeom>
          <a:solidFill>
            <a:srgbClr val="6D9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10173462" y="2933264"/>
            <a:ext cx="422808" cy="115606"/>
          </a:xfrm>
          <a:prstGeom prst="rect">
            <a:avLst/>
          </a:prstGeom>
          <a:solidFill>
            <a:srgbClr val="6A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10632846" y="2933264"/>
            <a:ext cx="422808" cy="115606"/>
          </a:xfrm>
          <a:prstGeom prst="rect">
            <a:avLst/>
          </a:prstGeom>
          <a:solidFill>
            <a:srgbClr val="A8A1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11092230" y="2933264"/>
            <a:ext cx="422808" cy="115606"/>
          </a:xfrm>
          <a:prstGeom prst="rect">
            <a:avLst/>
          </a:prstGeom>
          <a:solidFill>
            <a:srgbClr val="469E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6402171" y="3062586"/>
            <a:ext cx="905255" cy="1430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NOS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7417155" y="3076302"/>
            <a:ext cx="422808" cy="115606"/>
          </a:xfrm>
          <a:prstGeom prst="rect">
            <a:avLst/>
          </a:prstGeom>
          <a:solidFill>
            <a:srgbClr val="6D9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7876540" y="3076302"/>
            <a:ext cx="422808" cy="115606"/>
          </a:xfrm>
          <a:prstGeom prst="rect">
            <a:avLst/>
          </a:prstGeom>
          <a:solidFill>
            <a:srgbClr val="C6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8335924" y="3076302"/>
            <a:ext cx="422808" cy="115606"/>
          </a:xfrm>
          <a:prstGeom prst="rect">
            <a:avLst/>
          </a:prstGeom>
          <a:solidFill>
            <a:srgbClr val="6A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8795308" y="3076302"/>
            <a:ext cx="422808" cy="115606"/>
          </a:xfrm>
          <a:prstGeom prst="rect">
            <a:avLst/>
          </a:prstGeom>
          <a:solidFill>
            <a:srgbClr val="BEA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9254693" y="3076302"/>
            <a:ext cx="422808" cy="115606"/>
          </a:xfrm>
          <a:prstGeom prst="rect">
            <a:avLst/>
          </a:prstGeom>
          <a:solidFill>
            <a:srgbClr val="8BA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9714077" y="3076302"/>
            <a:ext cx="422808" cy="115606"/>
          </a:xfrm>
          <a:prstGeom prst="rect">
            <a:avLst/>
          </a:prstGeom>
          <a:solidFill>
            <a:srgbClr val="A1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10173462" y="3076302"/>
            <a:ext cx="422808" cy="115606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10632846" y="3076302"/>
            <a:ext cx="422808" cy="115606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11092230" y="3076302"/>
            <a:ext cx="422808" cy="115606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TextBox 208"/>
          <p:cNvSpPr txBox="1"/>
          <p:nvPr/>
        </p:nvSpPr>
        <p:spPr>
          <a:xfrm>
            <a:off x="6402171" y="3205625"/>
            <a:ext cx="905255" cy="1430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Hacienda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7417155" y="3219341"/>
            <a:ext cx="422808" cy="115606"/>
          </a:xfrm>
          <a:prstGeom prst="rect">
            <a:avLst/>
          </a:prstGeom>
          <a:solidFill>
            <a:srgbClr val="7DA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7876540" y="3219341"/>
            <a:ext cx="422808" cy="115606"/>
          </a:xfrm>
          <a:prstGeom prst="rect">
            <a:avLst/>
          </a:prstGeom>
          <a:solidFill>
            <a:srgbClr val="8CA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8335924" y="3219341"/>
            <a:ext cx="422808" cy="115606"/>
          </a:xfrm>
          <a:prstGeom prst="rect">
            <a:avLst/>
          </a:prstGeom>
          <a:solidFill>
            <a:srgbClr val="619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8795308" y="3219341"/>
            <a:ext cx="422808" cy="115606"/>
          </a:xfrm>
          <a:prstGeom prst="rect">
            <a:avLst/>
          </a:prstGeom>
          <a:solidFill>
            <a:srgbClr val="9EA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9254693" y="3219341"/>
            <a:ext cx="422808" cy="115606"/>
          </a:xfrm>
          <a:prstGeom prst="rect">
            <a:avLst/>
          </a:prstGeom>
          <a:solidFill>
            <a:srgbClr val="639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9714077" y="3219341"/>
            <a:ext cx="422808" cy="115606"/>
          </a:xfrm>
          <a:prstGeom prst="rect">
            <a:avLst/>
          </a:prstGeom>
          <a:solidFill>
            <a:srgbClr val="7A9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10173462" y="3219341"/>
            <a:ext cx="422808" cy="115606"/>
          </a:xfrm>
          <a:prstGeom prst="rect">
            <a:avLst/>
          </a:prstGeom>
          <a:solidFill>
            <a:srgbClr val="84A0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10632846" y="3219341"/>
            <a:ext cx="422808" cy="115606"/>
          </a:xfrm>
          <a:prstGeom prst="rect">
            <a:avLst/>
          </a:prstGeom>
          <a:solidFill>
            <a:srgbClr val="CB8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11092230" y="3219341"/>
            <a:ext cx="422808" cy="115606"/>
          </a:xfrm>
          <a:prstGeom prst="rect">
            <a:avLst/>
          </a:prstGeom>
          <a:solidFill>
            <a:srgbClr val="769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TextBox 218"/>
          <p:cNvSpPr txBox="1"/>
          <p:nvPr/>
        </p:nvSpPr>
        <p:spPr>
          <a:xfrm>
            <a:off x="6402171" y="3348663"/>
            <a:ext cx="905255" cy="1430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Urbanya</a:t>
            </a:r>
          </a:p>
        </p:txBody>
      </p:sp>
      <p:sp>
        <p:nvSpPr>
          <p:cNvPr id="220" name="Rectangle 219"/>
          <p:cNvSpPr/>
          <p:nvPr/>
        </p:nvSpPr>
        <p:spPr>
          <a:xfrm>
            <a:off x="7417155" y="3362379"/>
            <a:ext cx="422808" cy="115606"/>
          </a:xfrm>
          <a:prstGeom prst="rect">
            <a:avLst/>
          </a:prstGeom>
          <a:solidFill>
            <a:srgbClr val="CB8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Rectangle 220"/>
          <p:cNvSpPr/>
          <p:nvPr/>
        </p:nvSpPr>
        <p:spPr>
          <a:xfrm>
            <a:off x="7876540" y="3362379"/>
            <a:ext cx="422808" cy="115606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Rectangle 221"/>
          <p:cNvSpPr/>
          <p:nvPr/>
        </p:nvSpPr>
        <p:spPr>
          <a:xfrm>
            <a:off x="8335924" y="3362379"/>
            <a:ext cx="422808" cy="115606"/>
          </a:xfrm>
          <a:prstGeom prst="rect">
            <a:avLst/>
          </a:prstGeom>
          <a:solidFill>
            <a:srgbClr val="539E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Rectangle 222"/>
          <p:cNvSpPr/>
          <p:nvPr/>
        </p:nvSpPr>
        <p:spPr>
          <a:xfrm>
            <a:off x="8795308" y="3362379"/>
            <a:ext cx="422808" cy="115606"/>
          </a:xfrm>
          <a:prstGeom prst="rect">
            <a:avLst/>
          </a:prstGeom>
          <a:solidFill>
            <a:srgbClr val="C99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Rectangle 223"/>
          <p:cNvSpPr/>
          <p:nvPr/>
        </p:nvSpPr>
        <p:spPr>
          <a:xfrm>
            <a:off x="9254693" y="3362379"/>
            <a:ext cx="422808" cy="115606"/>
          </a:xfrm>
          <a:prstGeom prst="rect">
            <a:avLst/>
          </a:prstGeom>
          <a:solidFill>
            <a:srgbClr val="C1A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Rectangle 224"/>
          <p:cNvSpPr/>
          <p:nvPr/>
        </p:nvSpPr>
        <p:spPr>
          <a:xfrm>
            <a:off x="9714077" y="3362379"/>
            <a:ext cx="422808" cy="115606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Rectangle 225"/>
          <p:cNvSpPr/>
          <p:nvPr/>
        </p:nvSpPr>
        <p:spPr>
          <a:xfrm>
            <a:off x="10173462" y="3362379"/>
            <a:ext cx="422808" cy="115606"/>
          </a:xfrm>
          <a:prstGeom prst="rect">
            <a:avLst/>
          </a:prstGeom>
          <a:solidFill>
            <a:srgbClr val="99A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Rectangle 226"/>
          <p:cNvSpPr/>
          <p:nvPr/>
        </p:nvSpPr>
        <p:spPr>
          <a:xfrm>
            <a:off x="10632846" y="3362379"/>
            <a:ext cx="422808" cy="115606"/>
          </a:xfrm>
          <a:prstGeom prst="rect">
            <a:avLst/>
          </a:prstGeom>
          <a:solidFill>
            <a:srgbClr val="659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Rectangle 227"/>
          <p:cNvSpPr/>
          <p:nvPr/>
        </p:nvSpPr>
        <p:spPr>
          <a:xfrm>
            <a:off x="11092230" y="3362379"/>
            <a:ext cx="422808" cy="115606"/>
          </a:xfrm>
          <a:prstGeom prst="rect">
            <a:avLst/>
          </a:prstGeom>
          <a:solidFill>
            <a:srgbClr val="7FA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TextBox 228"/>
          <p:cNvSpPr txBox="1"/>
          <p:nvPr/>
        </p:nvSpPr>
        <p:spPr>
          <a:xfrm>
            <a:off x="6402171" y="3491701"/>
            <a:ext cx="905255" cy="1430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230" name="Rectangle 229"/>
          <p:cNvSpPr/>
          <p:nvPr/>
        </p:nvSpPr>
        <p:spPr>
          <a:xfrm>
            <a:off x="7417155" y="3505417"/>
            <a:ext cx="422808" cy="115606"/>
          </a:xfrm>
          <a:prstGeom prst="rect">
            <a:avLst/>
          </a:prstGeom>
          <a:solidFill>
            <a:srgbClr val="639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Rectangle 230"/>
          <p:cNvSpPr/>
          <p:nvPr/>
        </p:nvSpPr>
        <p:spPr>
          <a:xfrm>
            <a:off x="7876540" y="3505417"/>
            <a:ext cx="422808" cy="115606"/>
          </a:xfrm>
          <a:prstGeom prst="rect">
            <a:avLst/>
          </a:prstGeom>
          <a:solidFill>
            <a:srgbClr val="91A0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Rectangle 231"/>
          <p:cNvSpPr/>
          <p:nvPr/>
        </p:nvSpPr>
        <p:spPr>
          <a:xfrm>
            <a:off x="8335924" y="3505417"/>
            <a:ext cx="422808" cy="115606"/>
          </a:xfrm>
          <a:prstGeom prst="rect">
            <a:avLst/>
          </a:prstGeom>
          <a:solidFill>
            <a:srgbClr val="98A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Rectangle 232"/>
          <p:cNvSpPr/>
          <p:nvPr/>
        </p:nvSpPr>
        <p:spPr>
          <a:xfrm>
            <a:off x="8795308" y="3505417"/>
            <a:ext cx="422808" cy="115606"/>
          </a:xfrm>
          <a:prstGeom prst="rect">
            <a:avLst/>
          </a:prstGeom>
          <a:solidFill>
            <a:srgbClr val="BB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Rectangle 233"/>
          <p:cNvSpPr/>
          <p:nvPr/>
        </p:nvSpPr>
        <p:spPr>
          <a:xfrm>
            <a:off x="9254693" y="3505417"/>
            <a:ext cx="422808" cy="115606"/>
          </a:xfrm>
          <a:prstGeom prst="rect">
            <a:avLst/>
          </a:prstGeom>
          <a:solidFill>
            <a:srgbClr val="B6A1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Rectangle 234"/>
          <p:cNvSpPr/>
          <p:nvPr/>
        </p:nvSpPr>
        <p:spPr>
          <a:xfrm>
            <a:off x="9714077" y="3505417"/>
            <a:ext cx="422808" cy="115606"/>
          </a:xfrm>
          <a:prstGeom prst="rect">
            <a:avLst/>
          </a:prstGeom>
          <a:solidFill>
            <a:srgbClr val="AEA1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Rectangle 235"/>
          <p:cNvSpPr/>
          <p:nvPr/>
        </p:nvSpPr>
        <p:spPr>
          <a:xfrm>
            <a:off x="10173462" y="3505417"/>
            <a:ext cx="422808" cy="115606"/>
          </a:xfrm>
          <a:prstGeom prst="rect">
            <a:avLst/>
          </a:prstGeom>
          <a:solidFill>
            <a:srgbClr val="8DA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Rectangle 236"/>
          <p:cNvSpPr/>
          <p:nvPr/>
        </p:nvSpPr>
        <p:spPr>
          <a:xfrm>
            <a:off x="10632846" y="3505417"/>
            <a:ext cx="422808" cy="115606"/>
          </a:xfrm>
          <a:prstGeom prst="rect">
            <a:avLst/>
          </a:prstGeom>
          <a:solidFill>
            <a:srgbClr val="679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Rectangle 237"/>
          <p:cNvSpPr/>
          <p:nvPr/>
        </p:nvSpPr>
        <p:spPr>
          <a:xfrm>
            <a:off x="11092230" y="3505417"/>
            <a:ext cx="422808" cy="115606"/>
          </a:xfrm>
          <a:prstGeom prst="rect">
            <a:avLst/>
          </a:prstGeom>
          <a:solidFill>
            <a:srgbClr val="73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6402171" y="3634740"/>
            <a:ext cx="905255" cy="1430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Chicauma</a:t>
            </a:r>
          </a:p>
        </p:txBody>
      </p:sp>
      <p:sp>
        <p:nvSpPr>
          <p:cNvPr id="240" name="Rectangle 239"/>
          <p:cNvSpPr/>
          <p:nvPr/>
        </p:nvSpPr>
        <p:spPr>
          <a:xfrm>
            <a:off x="7417155" y="3648456"/>
            <a:ext cx="422808" cy="115606"/>
          </a:xfrm>
          <a:prstGeom prst="rect">
            <a:avLst/>
          </a:prstGeom>
          <a:solidFill>
            <a:srgbClr val="A4A1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Rectangle 240"/>
          <p:cNvSpPr/>
          <p:nvPr/>
        </p:nvSpPr>
        <p:spPr>
          <a:xfrm>
            <a:off x="7876540" y="3648456"/>
            <a:ext cx="422808" cy="115606"/>
          </a:xfrm>
          <a:prstGeom prst="rect">
            <a:avLst/>
          </a:prstGeom>
          <a:solidFill>
            <a:srgbClr val="BB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Rectangle 241"/>
          <p:cNvSpPr/>
          <p:nvPr/>
        </p:nvSpPr>
        <p:spPr>
          <a:xfrm>
            <a:off x="8335924" y="3648456"/>
            <a:ext cx="422808" cy="115606"/>
          </a:xfrm>
          <a:prstGeom prst="rect">
            <a:avLst/>
          </a:prstGeom>
          <a:solidFill>
            <a:srgbClr val="5B9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Rectangle 242"/>
          <p:cNvSpPr/>
          <p:nvPr/>
        </p:nvSpPr>
        <p:spPr>
          <a:xfrm>
            <a:off x="8795308" y="3648456"/>
            <a:ext cx="422808" cy="115606"/>
          </a:xfrm>
          <a:prstGeom prst="rect">
            <a:avLst/>
          </a:prstGeom>
          <a:solidFill>
            <a:srgbClr val="609F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Rectangle 243"/>
          <p:cNvSpPr/>
          <p:nvPr/>
        </p:nvSpPr>
        <p:spPr>
          <a:xfrm>
            <a:off x="9254693" y="3648456"/>
            <a:ext cx="422808" cy="115606"/>
          </a:xfrm>
          <a:prstGeom prst="rect">
            <a:avLst/>
          </a:prstGeom>
          <a:solidFill>
            <a:srgbClr val="7DA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Rectangle 244"/>
          <p:cNvSpPr/>
          <p:nvPr/>
        </p:nvSpPr>
        <p:spPr>
          <a:xfrm>
            <a:off x="9714077" y="3648456"/>
            <a:ext cx="422808" cy="115606"/>
          </a:xfrm>
          <a:prstGeom prst="rect">
            <a:avLst/>
          </a:prstGeom>
          <a:solidFill>
            <a:srgbClr val="9AA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Rectangle 245"/>
          <p:cNvSpPr/>
          <p:nvPr/>
        </p:nvSpPr>
        <p:spPr>
          <a:xfrm>
            <a:off x="10173462" y="3648456"/>
            <a:ext cx="422808" cy="115606"/>
          </a:xfrm>
          <a:prstGeom prst="rect">
            <a:avLst/>
          </a:prstGeom>
          <a:solidFill>
            <a:srgbClr val="A4A1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Rectangle 246"/>
          <p:cNvSpPr/>
          <p:nvPr/>
        </p:nvSpPr>
        <p:spPr>
          <a:xfrm>
            <a:off x="10632846" y="3648456"/>
            <a:ext cx="422808" cy="115606"/>
          </a:xfrm>
          <a:prstGeom prst="rect">
            <a:avLst/>
          </a:prstGeom>
          <a:solidFill>
            <a:srgbClr val="CA9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Rectangle 247"/>
          <p:cNvSpPr/>
          <p:nvPr/>
        </p:nvSpPr>
        <p:spPr>
          <a:xfrm>
            <a:off x="11092230" y="3648456"/>
            <a:ext cx="422808" cy="115606"/>
          </a:xfrm>
          <a:prstGeom prst="rect">
            <a:avLst/>
          </a:prstGeom>
          <a:solidFill>
            <a:srgbClr val="C2A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TextBox 248"/>
          <p:cNvSpPr txBox="1"/>
          <p:nvPr/>
        </p:nvSpPr>
        <p:spPr>
          <a:xfrm>
            <a:off x="6402171" y="3777778"/>
            <a:ext cx="905255" cy="1430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Laguna</a:t>
            </a:r>
          </a:p>
        </p:txBody>
      </p:sp>
      <p:sp>
        <p:nvSpPr>
          <p:cNvPr id="250" name="Rectangle 249"/>
          <p:cNvSpPr/>
          <p:nvPr/>
        </p:nvSpPr>
        <p:spPr>
          <a:xfrm>
            <a:off x="7417155" y="3791494"/>
            <a:ext cx="422808" cy="115606"/>
          </a:xfrm>
          <a:prstGeom prst="rect">
            <a:avLst/>
          </a:prstGeom>
          <a:solidFill>
            <a:srgbClr val="91A0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Rectangle 250"/>
          <p:cNvSpPr/>
          <p:nvPr/>
        </p:nvSpPr>
        <p:spPr>
          <a:xfrm>
            <a:off x="7876540" y="3791494"/>
            <a:ext cx="422808" cy="115606"/>
          </a:xfrm>
          <a:prstGeom prst="rect">
            <a:avLst/>
          </a:prstGeom>
          <a:solidFill>
            <a:srgbClr val="B9A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Rectangle 251"/>
          <p:cNvSpPr/>
          <p:nvPr/>
        </p:nvSpPr>
        <p:spPr>
          <a:xfrm>
            <a:off x="8335924" y="3791494"/>
            <a:ext cx="422808" cy="115606"/>
          </a:xfrm>
          <a:prstGeom prst="rect">
            <a:avLst/>
          </a:prstGeom>
          <a:solidFill>
            <a:srgbClr val="CD8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Rectangle 252"/>
          <p:cNvSpPr/>
          <p:nvPr/>
        </p:nvSpPr>
        <p:spPr>
          <a:xfrm>
            <a:off x="8795308" y="3791494"/>
            <a:ext cx="422808" cy="115606"/>
          </a:xfrm>
          <a:prstGeom prst="rect">
            <a:avLst/>
          </a:prstGeom>
          <a:solidFill>
            <a:srgbClr val="C1A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Rectangle 253"/>
          <p:cNvSpPr/>
          <p:nvPr/>
        </p:nvSpPr>
        <p:spPr>
          <a:xfrm>
            <a:off x="9254693" y="3791494"/>
            <a:ext cx="422808" cy="115606"/>
          </a:xfrm>
          <a:prstGeom prst="rect">
            <a:avLst/>
          </a:prstGeom>
          <a:solidFill>
            <a:srgbClr val="6D9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Rectangle 254"/>
          <p:cNvSpPr/>
          <p:nvPr/>
        </p:nvSpPr>
        <p:spPr>
          <a:xfrm>
            <a:off x="9714077" y="3791494"/>
            <a:ext cx="422808" cy="115606"/>
          </a:xfrm>
          <a:prstGeom prst="rect">
            <a:avLst/>
          </a:prstGeom>
          <a:solidFill>
            <a:srgbClr val="B4A1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Rectangle 255"/>
          <p:cNvSpPr/>
          <p:nvPr/>
        </p:nvSpPr>
        <p:spPr>
          <a:xfrm>
            <a:off x="10173462" y="3791494"/>
            <a:ext cx="422808" cy="115606"/>
          </a:xfrm>
          <a:prstGeom prst="rect">
            <a:avLst/>
          </a:prstGeom>
          <a:solidFill>
            <a:srgbClr val="AEA1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Rectangle 256"/>
          <p:cNvSpPr/>
          <p:nvPr/>
        </p:nvSpPr>
        <p:spPr>
          <a:xfrm>
            <a:off x="10632846" y="3791494"/>
            <a:ext cx="422808" cy="115606"/>
          </a:xfrm>
          <a:prstGeom prst="rect">
            <a:avLst/>
          </a:prstGeom>
          <a:solidFill>
            <a:srgbClr val="92A0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Rectangle 257"/>
          <p:cNvSpPr/>
          <p:nvPr/>
        </p:nvSpPr>
        <p:spPr>
          <a:xfrm>
            <a:off x="11092230" y="3791494"/>
            <a:ext cx="422808" cy="115606"/>
          </a:xfrm>
          <a:prstGeom prst="rect">
            <a:avLst/>
          </a:prstGeom>
          <a:solidFill>
            <a:srgbClr val="C1A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TextBox 258"/>
          <p:cNvSpPr txBox="1"/>
          <p:nvPr/>
        </p:nvSpPr>
        <p:spPr>
          <a:xfrm>
            <a:off x="6402171" y="3920816"/>
            <a:ext cx="905255" cy="1430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Santa</a:t>
            </a:r>
          </a:p>
        </p:txBody>
      </p:sp>
      <p:sp>
        <p:nvSpPr>
          <p:cNvPr id="260" name="Rectangle 259"/>
          <p:cNvSpPr/>
          <p:nvPr/>
        </p:nvSpPr>
        <p:spPr>
          <a:xfrm>
            <a:off x="7417155" y="3934532"/>
            <a:ext cx="422808" cy="115606"/>
          </a:xfrm>
          <a:prstGeom prst="rect">
            <a:avLst/>
          </a:prstGeom>
          <a:solidFill>
            <a:srgbClr val="CA9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Rectangle 260"/>
          <p:cNvSpPr/>
          <p:nvPr/>
        </p:nvSpPr>
        <p:spPr>
          <a:xfrm>
            <a:off x="7876540" y="3934532"/>
            <a:ext cx="422808" cy="115606"/>
          </a:xfrm>
          <a:prstGeom prst="rect">
            <a:avLst/>
          </a:prstGeom>
          <a:solidFill>
            <a:srgbClr val="CD8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Rectangle 261"/>
          <p:cNvSpPr/>
          <p:nvPr/>
        </p:nvSpPr>
        <p:spPr>
          <a:xfrm>
            <a:off x="8335924" y="3934532"/>
            <a:ext cx="422808" cy="115606"/>
          </a:xfrm>
          <a:prstGeom prst="rect">
            <a:avLst/>
          </a:prstGeom>
          <a:solidFill>
            <a:srgbClr val="7EA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Rectangle 262"/>
          <p:cNvSpPr/>
          <p:nvPr/>
        </p:nvSpPr>
        <p:spPr>
          <a:xfrm>
            <a:off x="8795308" y="3934532"/>
            <a:ext cx="422808" cy="115606"/>
          </a:xfrm>
          <a:prstGeom prst="rect">
            <a:avLst/>
          </a:prstGeom>
          <a:solidFill>
            <a:srgbClr val="719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Rectangle 263"/>
          <p:cNvSpPr/>
          <p:nvPr/>
        </p:nvSpPr>
        <p:spPr>
          <a:xfrm>
            <a:off x="9254693" y="3934532"/>
            <a:ext cx="422808" cy="115606"/>
          </a:xfrm>
          <a:prstGeom prst="rect">
            <a:avLst/>
          </a:prstGeom>
          <a:solidFill>
            <a:srgbClr val="B8A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Rectangle 264"/>
          <p:cNvSpPr/>
          <p:nvPr/>
        </p:nvSpPr>
        <p:spPr>
          <a:xfrm>
            <a:off x="9714077" y="3934532"/>
            <a:ext cx="422808" cy="115606"/>
          </a:xfrm>
          <a:prstGeom prst="rect">
            <a:avLst/>
          </a:prstGeom>
          <a:solidFill>
            <a:srgbClr val="B7A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Rectangle 265"/>
          <p:cNvSpPr/>
          <p:nvPr/>
        </p:nvSpPr>
        <p:spPr>
          <a:xfrm>
            <a:off x="10173462" y="3934532"/>
            <a:ext cx="422808" cy="115606"/>
          </a:xfrm>
          <a:prstGeom prst="rect">
            <a:avLst/>
          </a:prstGeom>
          <a:solidFill>
            <a:srgbClr val="C99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Rectangle 266"/>
          <p:cNvSpPr/>
          <p:nvPr/>
        </p:nvSpPr>
        <p:spPr>
          <a:xfrm>
            <a:off x="10632846" y="3934532"/>
            <a:ext cx="422808" cy="115606"/>
          </a:xfrm>
          <a:prstGeom prst="rect">
            <a:avLst/>
          </a:prstGeom>
          <a:solidFill>
            <a:srgbClr val="CE7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Rectangle 267"/>
          <p:cNvSpPr/>
          <p:nvPr/>
        </p:nvSpPr>
        <p:spPr>
          <a:xfrm>
            <a:off x="11092230" y="3934532"/>
            <a:ext cx="422808" cy="115606"/>
          </a:xfrm>
          <a:prstGeom prst="rect">
            <a:avLst/>
          </a:prstGeom>
          <a:solidFill>
            <a:srgbClr val="CE7C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TextBox 268"/>
          <p:cNvSpPr txBox="1"/>
          <p:nvPr/>
        </p:nvSpPr>
        <p:spPr>
          <a:xfrm>
            <a:off x="6402171" y="4063854"/>
            <a:ext cx="905255" cy="1430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Ayres</a:t>
            </a:r>
          </a:p>
        </p:txBody>
      </p:sp>
      <p:sp>
        <p:nvSpPr>
          <p:cNvPr id="270" name="Rectangle 269"/>
          <p:cNvSpPr/>
          <p:nvPr/>
        </p:nvSpPr>
        <p:spPr>
          <a:xfrm>
            <a:off x="7417155" y="4077570"/>
            <a:ext cx="422808" cy="115606"/>
          </a:xfrm>
          <a:prstGeom prst="rect">
            <a:avLst/>
          </a:prstGeom>
          <a:solidFill>
            <a:srgbClr val="CA9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Rectangle 270"/>
          <p:cNvSpPr/>
          <p:nvPr/>
        </p:nvSpPr>
        <p:spPr>
          <a:xfrm>
            <a:off x="7876540" y="4077570"/>
            <a:ext cx="422808" cy="115606"/>
          </a:xfrm>
          <a:prstGeom prst="rect">
            <a:avLst/>
          </a:prstGeom>
          <a:solidFill>
            <a:srgbClr val="C99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Rectangle 271"/>
          <p:cNvSpPr/>
          <p:nvPr/>
        </p:nvSpPr>
        <p:spPr>
          <a:xfrm>
            <a:off x="8335924" y="4077570"/>
            <a:ext cx="422808" cy="115606"/>
          </a:xfrm>
          <a:prstGeom prst="rect">
            <a:avLst/>
          </a:prstGeom>
          <a:solidFill>
            <a:srgbClr val="82A0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Rectangle 272"/>
          <p:cNvSpPr/>
          <p:nvPr/>
        </p:nvSpPr>
        <p:spPr>
          <a:xfrm>
            <a:off x="8795308" y="4077570"/>
            <a:ext cx="422808" cy="115606"/>
          </a:xfrm>
          <a:prstGeom prst="rect">
            <a:avLst/>
          </a:prstGeom>
          <a:solidFill>
            <a:srgbClr val="BC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Rectangle 273"/>
          <p:cNvSpPr/>
          <p:nvPr/>
        </p:nvSpPr>
        <p:spPr>
          <a:xfrm>
            <a:off x="9254693" y="4077570"/>
            <a:ext cx="422808" cy="115606"/>
          </a:xfrm>
          <a:prstGeom prst="rect">
            <a:avLst/>
          </a:prstGeom>
          <a:solidFill>
            <a:srgbClr val="D2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Rectangle 274"/>
          <p:cNvSpPr/>
          <p:nvPr/>
        </p:nvSpPr>
        <p:spPr>
          <a:xfrm>
            <a:off x="9714077" y="4077570"/>
            <a:ext cx="422808" cy="115606"/>
          </a:xfrm>
          <a:prstGeom prst="rect">
            <a:avLst/>
          </a:prstGeom>
          <a:solidFill>
            <a:srgbClr val="A8A1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Rectangle 275"/>
          <p:cNvSpPr/>
          <p:nvPr/>
        </p:nvSpPr>
        <p:spPr>
          <a:xfrm>
            <a:off x="10173462" y="4077570"/>
            <a:ext cx="422808" cy="115606"/>
          </a:xfrm>
          <a:prstGeom prst="rect">
            <a:avLst/>
          </a:prstGeom>
          <a:solidFill>
            <a:srgbClr val="D25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Rectangle 276"/>
          <p:cNvSpPr/>
          <p:nvPr/>
        </p:nvSpPr>
        <p:spPr>
          <a:xfrm>
            <a:off x="10632846" y="4077570"/>
            <a:ext cx="422808" cy="115606"/>
          </a:xfrm>
          <a:prstGeom prst="rect">
            <a:avLst/>
          </a:prstGeom>
          <a:solidFill>
            <a:srgbClr val="CF7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Rectangle 277"/>
          <p:cNvSpPr/>
          <p:nvPr/>
        </p:nvSpPr>
        <p:spPr>
          <a:xfrm>
            <a:off x="11092230" y="4077570"/>
            <a:ext cx="422808" cy="115606"/>
          </a:xfrm>
          <a:prstGeom prst="rect">
            <a:avLst/>
          </a:prstGeom>
          <a:solidFill>
            <a:srgbClr val="C3A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TextBox 278"/>
          <p:cNvSpPr txBox="1"/>
          <p:nvPr/>
        </p:nvSpPr>
        <p:spPr>
          <a:xfrm>
            <a:off x="6402171" y="4206893"/>
            <a:ext cx="905255" cy="1430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El</a:t>
            </a:r>
          </a:p>
        </p:txBody>
      </p:sp>
      <p:sp>
        <p:nvSpPr>
          <p:cNvPr id="280" name="Rectangle 279"/>
          <p:cNvSpPr/>
          <p:nvPr/>
        </p:nvSpPr>
        <p:spPr>
          <a:xfrm>
            <a:off x="7417155" y="4220609"/>
            <a:ext cx="422808" cy="115606"/>
          </a:xfrm>
          <a:prstGeom prst="rect">
            <a:avLst/>
          </a:prstGeom>
          <a:solidFill>
            <a:srgbClr val="B2A1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Rectangle 280"/>
          <p:cNvSpPr/>
          <p:nvPr/>
        </p:nvSpPr>
        <p:spPr>
          <a:xfrm>
            <a:off x="7876540" y="4220609"/>
            <a:ext cx="422808" cy="115606"/>
          </a:xfrm>
          <a:prstGeom prst="rect">
            <a:avLst/>
          </a:prstGeom>
          <a:solidFill>
            <a:srgbClr val="CF7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Rectangle 281"/>
          <p:cNvSpPr/>
          <p:nvPr/>
        </p:nvSpPr>
        <p:spPr>
          <a:xfrm>
            <a:off x="8335924" y="4220609"/>
            <a:ext cx="422808" cy="115606"/>
          </a:xfrm>
          <a:prstGeom prst="rect">
            <a:avLst/>
          </a:prstGeom>
          <a:solidFill>
            <a:srgbClr val="D16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Rectangle 282"/>
          <p:cNvSpPr/>
          <p:nvPr/>
        </p:nvSpPr>
        <p:spPr>
          <a:xfrm>
            <a:off x="8795308" y="4220609"/>
            <a:ext cx="422808" cy="115606"/>
          </a:xfrm>
          <a:prstGeom prst="rect">
            <a:avLst/>
          </a:prstGeom>
          <a:solidFill>
            <a:srgbClr val="CE7C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9254693" y="4220609"/>
            <a:ext cx="422808" cy="115606"/>
          </a:xfrm>
          <a:prstGeom prst="rect">
            <a:avLst/>
          </a:prstGeom>
          <a:solidFill>
            <a:srgbClr val="D357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Rectangle 284"/>
          <p:cNvSpPr/>
          <p:nvPr/>
        </p:nvSpPr>
        <p:spPr>
          <a:xfrm>
            <a:off x="9714077" y="4220609"/>
            <a:ext cx="422808" cy="115606"/>
          </a:xfrm>
          <a:prstGeom prst="rect">
            <a:avLst/>
          </a:prstGeom>
          <a:solidFill>
            <a:srgbClr val="D06F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Rectangle 285"/>
          <p:cNvSpPr/>
          <p:nvPr/>
        </p:nvSpPr>
        <p:spPr>
          <a:xfrm>
            <a:off x="10173462" y="4220609"/>
            <a:ext cx="422808" cy="115606"/>
          </a:xfrm>
          <a:prstGeom prst="rect">
            <a:avLst/>
          </a:prstGeom>
          <a:solidFill>
            <a:srgbClr val="86A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Rectangle 286"/>
          <p:cNvSpPr/>
          <p:nvPr/>
        </p:nvSpPr>
        <p:spPr>
          <a:xfrm>
            <a:off x="10632846" y="4220609"/>
            <a:ext cx="422808" cy="115606"/>
          </a:xfrm>
          <a:prstGeom prst="rect">
            <a:avLst/>
          </a:prstGeom>
          <a:solidFill>
            <a:srgbClr val="3A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Rectangle 287"/>
          <p:cNvSpPr/>
          <p:nvPr/>
        </p:nvSpPr>
        <p:spPr>
          <a:xfrm>
            <a:off x="11092230" y="4220609"/>
            <a:ext cx="422808" cy="115606"/>
          </a:xfrm>
          <a:prstGeom prst="rect">
            <a:avLst/>
          </a:prstGeom>
          <a:solidFill>
            <a:srgbClr val="9AA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TextBox 288"/>
          <p:cNvSpPr txBox="1"/>
          <p:nvPr/>
        </p:nvSpPr>
        <p:spPr>
          <a:xfrm>
            <a:off x="6402171" y="4349931"/>
            <a:ext cx="905255" cy="1430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Larapinta</a:t>
            </a:r>
          </a:p>
        </p:txBody>
      </p:sp>
      <p:sp>
        <p:nvSpPr>
          <p:cNvPr id="290" name="Rectangle 289"/>
          <p:cNvSpPr/>
          <p:nvPr/>
        </p:nvSpPr>
        <p:spPr>
          <a:xfrm>
            <a:off x="7417155" y="4363647"/>
            <a:ext cx="422808" cy="115606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Rectangle 290"/>
          <p:cNvSpPr/>
          <p:nvPr/>
        </p:nvSpPr>
        <p:spPr>
          <a:xfrm>
            <a:off x="7876540" y="4363647"/>
            <a:ext cx="422808" cy="115606"/>
          </a:xfrm>
          <a:prstGeom prst="rect">
            <a:avLst/>
          </a:prstGeom>
          <a:solidFill>
            <a:srgbClr val="CC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Rectangle 291"/>
          <p:cNvSpPr/>
          <p:nvPr/>
        </p:nvSpPr>
        <p:spPr>
          <a:xfrm>
            <a:off x="8335924" y="4363647"/>
            <a:ext cx="422808" cy="115606"/>
          </a:xfrm>
          <a:prstGeom prst="rect">
            <a:avLst/>
          </a:prstGeom>
          <a:solidFill>
            <a:srgbClr val="CE7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Rectangle 292"/>
          <p:cNvSpPr/>
          <p:nvPr/>
        </p:nvSpPr>
        <p:spPr>
          <a:xfrm>
            <a:off x="8795308" y="4363647"/>
            <a:ext cx="422808" cy="115606"/>
          </a:xfrm>
          <a:prstGeom prst="rect">
            <a:avLst/>
          </a:prstGeom>
          <a:solidFill>
            <a:srgbClr val="C99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Rectangle 293"/>
          <p:cNvSpPr/>
          <p:nvPr/>
        </p:nvSpPr>
        <p:spPr>
          <a:xfrm>
            <a:off x="9254693" y="4363647"/>
            <a:ext cx="422808" cy="115606"/>
          </a:xfrm>
          <a:prstGeom prst="rect">
            <a:avLst/>
          </a:prstGeom>
          <a:solidFill>
            <a:srgbClr val="C9A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Rectangle 294"/>
          <p:cNvSpPr/>
          <p:nvPr/>
        </p:nvSpPr>
        <p:spPr>
          <a:xfrm>
            <a:off x="9714077" y="4363647"/>
            <a:ext cx="422808" cy="115606"/>
          </a:xfrm>
          <a:prstGeom prst="rect">
            <a:avLst/>
          </a:prstGeom>
          <a:solidFill>
            <a:srgbClr val="BFA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Rectangle 295"/>
          <p:cNvSpPr/>
          <p:nvPr/>
        </p:nvSpPr>
        <p:spPr>
          <a:xfrm>
            <a:off x="10173462" y="4363647"/>
            <a:ext cx="422808" cy="115606"/>
          </a:xfrm>
          <a:prstGeom prst="rect">
            <a:avLst/>
          </a:prstGeom>
          <a:solidFill>
            <a:srgbClr val="CE7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Rectangle 296"/>
          <p:cNvSpPr/>
          <p:nvPr/>
        </p:nvSpPr>
        <p:spPr>
          <a:xfrm>
            <a:off x="10632846" y="4363647"/>
            <a:ext cx="422808" cy="115606"/>
          </a:xfrm>
          <a:prstGeom prst="rect">
            <a:avLst/>
          </a:prstGeom>
          <a:solidFill>
            <a:srgbClr val="D25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Rectangle 297"/>
          <p:cNvSpPr/>
          <p:nvPr/>
        </p:nvSpPr>
        <p:spPr>
          <a:xfrm>
            <a:off x="11092230" y="4363647"/>
            <a:ext cx="422808" cy="115606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TextBox 298"/>
          <p:cNvSpPr txBox="1"/>
          <p:nvPr/>
        </p:nvSpPr>
        <p:spPr>
          <a:xfrm>
            <a:off x="6402171" y="4492969"/>
            <a:ext cx="905255" cy="1430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Colina</a:t>
            </a:r>
          </a:p>
        </p:txBody>
      </p:sp>
      <p:sp>
        <p:nvSpPr>
          <p:cNvPr id="300" name="Rectangle 299"/>
          <p:cNvSpPr/>
          <p:nvPr/>
        </p:nvSpPr>
        <p:spPr>
          <a:xfrm>
            <a:off x="7417155" y="4506685"/>
            <a:ext cx="422808" cy="115606"/>
          </a:xfrm>
          <a:prstGeom prst="rect">
            <a:avLst/>
          </a:prstGeom>
          <a:solidFill>
            <a:srgbClr val="CD8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Rectangle 300"/>
          <p:cNvSpPr/>
          <p:nvPr/>
        </p:nvSpPr>
        <p:spPr>
          <a:xfrm>
            <a:off x="7876540" y="4506685"/>
            <a:ext cx="422808" cy="115606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Rectangle 301"/>
          <p:cNvSpPr/>
          <p:nvPr/>
        </p:nvSpPr>
        <p:spPr>
          <a:xfrm>
            <a:off x="8335924" y="4506685"/>
            <a:ext cx="422808" cy="115606"/>
          </a:xfrm>
          <a:prstGeom prst="rect">
            <a:avLst/>
          </a:prstGeom>
          <a:solidFill>
            <a:srgbClr val="C99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Rectangle 302"/>
          <p:cNvSpPr/>
          <p:nvPr/>
        </p:nvSpPr>
        <p:spPr>
          <a:xfrm>
            <a:off x="8795308" y="4506685"/>
            <a:ext cx="422808" cy="115606"/>
          </a:xfrm>
          <a:prstGeom prst="rect">
            <a:avLst/>
          </a:prstGeom>
          <a:solidFill>
            <a:srgbClr val="5F9F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Rectangle 303"/>
          <p:cNvSpPr/>
          <p:nvPr/>
        </p:nvSpPr>
        <p:spPr>
          <a:xfrm>
            <a:off x="9254693" y="4506685"/>
            <a:ext cx="422808" cy="115606"/>
          </a:xfrm>
          <a:prstGeom prst="rect">
            <a:avLst/>
          </a:prstGeom>
          <a:solidFill>
            <a:srgbClr val="D35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Rectangle 304"/>
          <p:cNvSpPr/>
          <p:nvPr/>
        </p:nvSpPr>
        <p:spPr>
          <a:xfrm>
            <a:off x="9714077" y="4506685"/>
            <a:ext cx="422808" cy="115606"/>
          </a:xfrm>
          <a:prstGeom prst="rect">
            <a:avLst/>
          </a:prstGeom>
          <a:solidFill>
            <a:srgbClr val="CD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Rectangle 305"/>
          <p:cNvSpPr/>
          <p:nvPr/>
        </p:nvSpPr>
        <p:spPr>
          <a:xfrm>
            <a:off x="10173462" y="4506685"/>
            <a:ext cx="422808" cy="115606"/>
          </a:xfrm>
          <a:prstGeom prst="rect">
            <a:avLst/>
          </a:prstGeom>
          <a:solidFill>
            <a:srgbClr val="CF7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Rectangle 306"/>
          <p:cNvSpPr/>
          <p:nvPr/>
        </p:nvSpPr>
        <p:spPr>
          <a:xfrm>
            <a:off x="10632846" y="4506685"/>
            <a:ext cx="422808" cy="115606"/>
          </a:xfrm>
          <a:prstGeom prst="rect">
            <a:avLst/>
          </a:prstGeom>
          <a:solidFill>
            <a:srgbClr val="CC8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Rectangle 307"/>
          <p:cNvSpPr/>
          <p:nvPr/>
        </p:nvSpPr>
        <p:spPr>
          <a:xfrm>
            <a:off x="11092230" y="4506685"/>
            <a:ext cx="422808" cy="115606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TextBox 308"/>
          <p:cNvSpPr txBox="1"/>
          <p:nvPr/>
        </p:nvSpPr>
        <p:spPr>
          <a:xfrm>
            <a:off x="658368" y="479145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B07D24"/>
                </a:solidFill>
                <a:latin typeface="Helvetica Neue"/>
              </a:rPr>
              <a:t>Estación Colina 5º → 1º</a:t>
            </a:r>
            <a:r>
              <a:rPr sz="1150" b="1">
                <a:solidFill>
                  <a:srgbClr val="B07D24"/>
                </a:solidFill>
                <a:latin typeface="Helvetica Neue"/>
              </a:rPr>
              <a:t>      Batuco 11º → 2º</a:t>
            </a:r>
            <a:r>
              <a:rPr sz="1100" b="0">
                <a:solidFill>
                  <a:srgbClr val="6E6A64"/>
                </a:solidFill>
                <a:latin typeface="Helvetica Neue"/>
              </a:rPr>
              <a:t>   del set en transporte público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2EFE8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Rectangle 310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TextBox 311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313" name="TextBox 312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Las filas que hoy son rojas para nuestros proyectos se vuelven verdes con el tren: Estación Colina pasa a ser la mejor conectada, y Batuco la segunda.</a:t>
            </a:r>
          </a:p>
        </p:txBody>
      </p:sp>
      <p:cxnSp>
        <p:nvCxnSpPr>
          <p:cNvPr id="314" name="Connector 313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5" name="TextBox 314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316" name="TextBox 315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05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EL CAMBIO · LA AUTOPISTA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La Orbital sube a Batuco al podio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vial — la mayor palanca del estudio.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0" y="2157984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E6A64"/>
                </a:solidFill>
                <a:latin typeface="Helvetica Neue"/>
              </a:rPr>
              <a:t>Hoy</a:t>
            </a:r>
          </a:p>
        </p:txBody>
      </p:sp>
      <p:sp>
        <p:nvSpPr>
          <p:cNvPr id="6" name="Rectangle 5"/>
          <p:cNvSpPr/>
          <p:nvPr/>
        </p:nvSpPr>
        <p:spPr>
          <a:xfrm>
            <a:off x="5852160" y="2468880"/>
            <a:ext cx="5120640" cy="457200"/>
          </a:xfrm>
          <a:prstGeom prst="rect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82528" y="2523744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80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3026664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E6A64"/>
                </a:solidFill>
                <a:latin typeface="Helvetica Neue"/>
              </a:rPr>
              <a:t>Con la Orbital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3337560"/>
            <a:ext cx="3315428" cy="457200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77316" y="3392424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52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448056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B07D24"/>
                </a:solidFill>
                <a:latin typeface="Helvetica Neue"/>
              </a:rPr>
              <a:t>−</a:t>
            </a:r>
            <a:r>
              <a:rPr sz="3000" b="1">
                <a:solidFill>
                  <a:srgbClr val="B07D24"/>
                </a:solidFill>
                <a:latin typeface="Helvetica Neue"/>
              </a:rPr>
              <a:t>28 min</a:t>
            </a:r>
            <a:r>
              <a:rPr sz="1500" b="0">
                <a:solidFill>
                  <a:srgbClr val="6E6A64"/>
                </a:solidFill>
                <a:latin typeface="Helvetica Neue"/>
              </a:rPr>
              <a:t>   ·  del 10º al </a:t>
            </a:r>
            <a:r>
              <a:rPr sz="2000" b="1">
                <a:solidFill>
                  <a:srgbClr val="B07D24"/>
                </a:solidFill>
                <a:latin typeface="Helvetica Neue"/>
              </a:rPr>
              <a:t>3º</a:t>
            </a:r>
            <a:r>
              <a:rPr sz="1500" b="0">
                <a:solidFill>
                  <a:srgbClr val="6E6A64"/>
                </a:solidFill>
                <a:latin typeface="Helvetica Neue"/>
              </a:rPr>
              <a:t> lugar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331720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30">
                <a:solidFill>
                  <a:srgbClr val="134E48"/>
                </a:solidFill>
                <a:latin typeface="Helvetica Neue"/>
              </a:rPr>
              <a:t>SÓLO EL CORREDOR NORPONIENTE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697480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E6A64"/>
                </a:solidFill>
                <a:latin typeface="Helvetica Neue"/>
              </a:rPr>
              <a:t>La autopista Orbital Norponiente cruza el terreno de Batuco: enlace a 7 minutos. Es la diferencia entre una zona periférica y una que pelea el podio en auto.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4206240"/>
            <a:ext cx="4480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A64"/>
                </a:solidFill>
                <a:latin typeface="Helvetica Neue"/>
              </a:rPr>
              <a:t>Estación Colina no depende de esta obra: su fuerte es la centralidad y el tren. Cada proyecto juega su carta.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2EFE8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Comunicar “con la Orbital” no es un detalle de ingeniería: es EL argumento vial de Batuco.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06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EL DIRECTORIO · POSICIÓN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Cada zona, ubicada por tiempo y costo de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manejar. El ideal: rápida y barata.</a:t>
            </a:r>
          </a:p>
        </p:txBody>
      </p:sp>
      <p:sp>
        <p:nvSpPr>
          <p:cNvPr id="5" name="Rectangle 4"/>
          <p:cNvSpPr/>
          <p:nvPr/>
        </p:nvSpPr>
        <p:spPr>
          <a:xfrm>
            <a:off x="1207007" y="3908769"/>
            <a:ext cx="4489692" cy="754670"/>
          </a:xfrm>
          <a:prstGeom prst="rect">
            <a:avLst/>
          </a:prstGeom>
          <a:solidFill>
            <a:srgbClr val="EF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5696700" y="2514600"/>
            <a:ext cx="0" cy="2148840"/>
          </a:xfrm>
          <a:prstGeom prst="line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207007" y="3908769"/>
            <a:ext cx="9594800" cy="0"/>
          </a:xfrm>
          <a:prstGeom prst="line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207007" y="4718303"/>
            <a:ext cx="2743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E6A64"/>
                </a:solidFill>
                <a:latin typeface="Helvetica Neue"/>
              </a:rPr>
              <a:t>← más rápido en auto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07247" y="4718303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E6A64"/>
                </a:solidFill>
                <a:latin typeface="Helvetica Neue"/>
              </a:rPr>
              <a:t>más lento 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" y="2258568"/>
            <a:ext cx="2743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E6A64"/>
                </a:solidFill>
                <a:latin typeface="Helvetica Neue"/>
              </a:rPr>
              <a:t>↑ más caro de manejar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16736" y="4352544"/>
            <a:ext cx="2743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40">
                <a:solidFill>
                  <a:srgbClr val="2F9E6E"/>
                </a:solidFill>
                <a:latin typeface="Helvetica Neue"/>
              </a:rPr>
              <a:t>RÁPIDA Y BARATA ✓</a:t>
            </a:r>
          </a:p>
        </p:txBody>
      </p:sp>
      <p:sp>
        <p:nvSpPr>
          <p:cNvPr id="12" name="Oval 11"/>
          <p:cNvSpPr/>
          <p:nvPr/>
        </p:nvSpPr>
        <p:spPr>
          <a:xfrm>
            <a:off x="7315529" y="3419108"/>
            <a:ext cx="182880" cy="182880"/>
          </a:xfrm>
          <a:prstGeom prst="ellipse">
            <a:avLst/>
          </a:prstGeom>
          <a:solidFill>
            <a:srgbClr val="B07D24"/>
          </a:solidFill>
          <a:ln w="165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44129" y="3400820"/>
            <a:ext cx="20116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14" name="Oval 13"/>
          <p:cNvSpPr/>
          <p:nvPr/>
        </p:nvSpPr>
        <p:spPr>
          <a:xfrm>
            <a:off x="4462590" y="3882145"/>
            <a:ext cx="182880" cy="182880"/>
          </a:xfrm>
          <a:prstGeom prst="ellipse">
            <a:avLst/>
          </a:prstGeom>
          <a:solidFill>
            <a:srgbClr val="B07D24"/>
          </a:solidFill>
          <a:ln w="165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1190" y="3863857"/>
            <a:ext cx="20116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16" name="Oval 15"/>
          <p:cNvSpPr/>
          <p:nvPr/>
        </p:nvSpPr>
        <p:spPr>
          <a:xfrm>
            <a:off x="4260093" y="4512919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686807" y="4225095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725919" y="4299016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989144" y="2826443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180402" y="3537148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173167" y="3853905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216875" y="4044395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001465" y="2555392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268307" y="2952740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144419" y="4464938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407644" y="3512145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641836" y="3905814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2EFE8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Estación Colina cae en la mitad rápida y de costo medio; Batuco es rápido con la Orbital, pero caro de manejar. Dos perfiles, dos argumentos de venta distintos.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07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CUÁNTO VALE · EN UF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El sobreprecio en UF: cuánto más puede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pedir cada zona por su conectividad.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874519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100">
                <a:solidFill>
                  <a:srgbClr val="6E6A64"/>
                </a:solidFill>
                <a:latin typeface="Helvetica Neue"/>
              </a:rPr>
              <a:t>UF QUE JUSTIFICA UNA VIVIENDA POR SOBRE LA ZONA MENOS CONECTADA DEL SET · TIEMPO + COSTO AHORRADOS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276856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A958C"/>
                </a:solidFill>
                <a:latin typeface="Helvetica Ne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5" y="2276856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1616"/>
                </a:solidFill>
                <a:latin typeface="Helvetica Neue"/>
              </a:rPr>
              <a:t>Chicauma</a:t>
            </a:r>
          </a:p>
        </p:txBody>
      </p:sp>
      <p:sp>
        <p:nvSpPr>
          <p:cNvPr id="8" name="Rectangle 7"/>
          <p:cNvSpPr/>
          <p:nvPr/>
        </p:nvSpPr>
        <p:spPr>
          <a:xfrm>
            <a:off x="4846320" y="2286000"/>
            <a:ext cx="6138367" cy="134416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6983" y="22677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61616"/>
                </a:solidFill>
                <a:latin typeface="Helvetica Neue"/>
              </a:rPr>
              <a:t>2.277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502712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A958C"/>
                </a:solidFill>
                <a:latin typeface="Helvetica Neue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5" y="2502712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1616"/>
                </a:solidFill>
                <a:latin typeface="Helvetica Neue"/>
              </a:rPr>
              <a:t>Urbanya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46320" y="2511856"/>
            <a:ext cx="6112222" cy="134416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40838" y="2493568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61616"/>
                </a:solidFill>
                <a:latin typeface="Helvetica Neue"/>
              </a:rPr>
              <a:t>2.268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728569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A958C"/>
                </a:solidFill>
                <a:latin typeface="Helvetica Neue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5" y="2728569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46320" y="2737713"/>
            <a:ext cx="5910933" cy="134416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9549" y="2719425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61616"/>
                </a:solidFill>
                <a:latin typeface="Helvetica Neue"/>
              </a:rPr>
              <a:t>2.193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2954426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07D24"/>
                </a:solidFill>
                <a:latin typeface="Helvetica Neue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5" y="2954426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46320" y="2963570"/>
            <a:ext cx="4543934" cy="134416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72550" y="294528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B07D24"/>
                </a:solidFill>
                <a:latin typeface="Helvetica Neue"/>
              </a:rPr>
              <a:t>1.686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3180283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A958C"/>
                </a:solidFill>
                <a:latin typeface="Helvetica Neue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2415" y="3180283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1616"/>
                </a:solidFill>
                <a:latin typeface="Helvetica Neue"/>
              </a:rPr>
              <a:t>Larapinta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46320" y="3189427"/>
            <a:ext cx="4339572" cy="134416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68188" y="3171139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61616"/>
                </a:solidFill>
                <a:latin typeface="Helvetica Neue"/>
              </a:rPr>
              <a:t>1.610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3406140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A958C"/>
                </a:solidFill>
                <a:latin typeface="Helvetica Neue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5" y="3406140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1616"/>
                </a:solidFill>
                <a:latin typeface="Helvetica Neue"/>
              </a:rPr>
              <a:t>NOS · Laguna Cóndores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846320" y="3415284"/>
            <a:ext cx="4201881" cy="134416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30497" y="3396996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61616"/>
                </a:solidFill>
                <a:latin typeface="Helvetica Neue"/>
              </a:rPr>
              <a:t>1.559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3631996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A958C"/>
                </a:solidFill>
                <a:latin typeface="Helvetica Neue"/>
              </a:rPr>
              <a:t>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2415" y="3631996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1616"/>
                </a:solidFill>
                <a:latin typeface="Helvetica Neue"/>
              </a:rPr>
              <a:t>Santa Elena de Chicureo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846320" y="3641140"/>
            <a:ext cx="3795791" cy="134416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24407" y="362285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61616"/>
                </a:solidFill>
                <a:latin typeface="Helvetica Neue"/>
              </a:rPr>
              <a:t>1.408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3857853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A958C"/>
                </a:solidFill>
                <a:latin typeface="Helvetica Neue"/>
              </a:rPr>
              <a:t>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2415" y="3857853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1616"/>
                </a:solidFill>
                <a:latin typeface="Helvetica Neue"/>
              </a:rPr>
              <a:t>Laguna del Sol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846320" y="3866997"/>
            <a:ext cx="3523654" cy="134416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52270" y="3848709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61616"/>
                </a:solidFill>
                <a:latin typeface="Helvetica Neue"/>
              </a:rPr>
              <a:t>1.307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" y="4083710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A958C"/>
                </a:solidFill>
                <a:latin typeface="Helvetica Neue"/>
              </a:rPr>
              <a:t>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2415" y="4083710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1616"/>
                </a:solidFill>
                <a:latin typeface="Helvetica Neue"/>
              </a:rPr>
              <a:t>Hacienda Batuco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846320" y="4092854"/>
            <a:ext cx="3404021" cy="134416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32637" y="4074566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61616"/>
                </a:solidFill>
                <a:latin typeface="Helvetica Neue"/>
              </a:rPr>
              <a:t>1.263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" y="4309567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A958C"/>
                </a:solidFill>
                <a:latin typeface="Helvetica Neue"/>
              </a:rPr>
              <a:t>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42415" y="4309567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1616"/>
                </a:solidFill>
                <a:latin typeface="Helvetica Neue"/>
              </a:rPr>
              <a:t>El Peñón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846320" y="4318711"/>
            <a:ext cx="2843859" cy="134416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72475" y="4300423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61616"/>
                </a:solidFill>
                <a:latin typeface="Helvetica Neue"/>
              </a:rPr>
              <a:t>1.055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8368" y="4535424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07D24"/>
                </a:solidFill>
                <a:latin typeface="Helvetica Neue"/>
              </a:rPr>
              <a:t>11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2415" y="4535424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846320" y="4544568"/>
            <a:ext cx="2746403" cy="134416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75019" y="4526280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B07D24"/>
                </a:solidFill>
                <a:latin typeface="Helvetica Neue"/>
              </a:rPr>
              <a:t>1.019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8368" y="4761280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A958C"/>
                </a:solidFill>
                <a:latin typeface="Helvetica Neue"/>
              </a:rPr>
              <a:t>12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42415" y="4761280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1616"/>
                </a:solidFill>
                <a:latin typeface="Helvetica Neue"/>
              </a:rPr>
              <a:t>Ayres de Chicureo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846320" y="4770424"/>
            <a:ext cx="2291802" cy="134416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220418" y="4752136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61616"/>
                </a:solidFill>
                <a:latin typeface="Helvetica Neue"/>
              </a:rPr>
              <a:t>850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58368" y="4987137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A958C"/>
                </a:solidFill>
                <a:latin typeface="Helvetica Neue"/>
              </a:rPr>
              <a:t>13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42415" y="4987137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1616"/>
                </a:solidFill>
                <a:latin typeface="Helvetica Neue"/>
              </a:rPr>
              <a:t>Colina · Reina Norte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846320" y="4996281"/>
            <a:ext cx="1942530" cy="134416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871146" y="4977993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61616"/>
                </a:solidFill>
                <a:latin typeface="Helvetica Neue"/>
              </a:rPr>
              <a:t>721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58368" y="5212994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A958C"/>
                </a:solidFill>
                <a:latin typeface="Helvetica Neue"/>
              </a:rPr>
              <a:t>14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42415" y="5212994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846320" y="5222138"/>
            <a:ext cx="870972" cy="134416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799588" y="5203850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61616"/>
                </a:solidFill>
                <a:latin typeface="Helvetica Neue"/>
              </a:rPr>
              <a:t>323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2EFE8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Se mide contra la peor zona del set (Buin): una vivienda en Estación Colina justifica ~1.686 UF más, y Batuco ~1.019 UF más — solo por lo que su gente ahorra en traslados, capitalizado.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08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LOS REPAROS, SIN VUELTAS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Dónde somos débiles hoy — y por qué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cada reparo tiene salida.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31720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Batuco es caro en auto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04487" y="2359151"/>
            <a:ext cx="3383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E6A64"/>
                </a:solidFill>
                <a:latin typeface="Helvetica Neue"/>
              </a:rPr>
              <a:t>Cruza autopistas concesionadas: su costo de manejar está entre los más altos.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16368" y="2359151"/>
            <a:ext cx="456559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34E48"/>
                </a:solidFill>
                <a:latin typeface="Helvetica Neue"/>
              </a:rPr>
              <a:t>→  </a:t>
            </a:r>
            <a:r>
              <a:rPr sz="1250" b="1">
                <a:solidFill>
                  <a:srgbClr val="134E48"/>
                </a:solidFill>
                <a:latin typeface="Helvetica Neue"/>
              </a:rPr>
              <a:t>La Orbital lo acerca y el tren lo saca del auto.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3136391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" y="3264408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El transporte público no es 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04487" y="3291839"/>
            <a:ext cx="3383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E6A64"/>
                </a:solidFill>
                <a:latin typeface="Helvetica Neue"/>
              </a:rPr>
              <a:t>Batuco y Estación Colina pagan por tramo, sin bip! integrado: tarifa más alta.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16368" y="3291839"/>
            <a:ext cx="456559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34E48"/>
                </a:solidFill>
                <a:latin typeface="Helvetica Neue"/>
              </a:rPr>
              <a:t>→  </a:t>
            </a:r>
            <a:r>
              <a:rPr sz="1250" b="1">
                <a:solidFill>
                  <a:srgbClr val="134E48"/>
                </a:solidFill>
                <a:latin typeface="Helvetica Neue"/>
              </a:rPr>
              <a:t>Integrarse a RED es gestión, no una obra: está en nuestra cancha.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58368" y="4069080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58368" y="4197096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El valor depende de obra futura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04487" y="4224528"/>
            <a:ext cx="3383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E6A64"/>
                </a:solidFill>
                <a:latin typeface="Helvetica Neue"/>
              </a:rPr>
              <a:t>La Orbital y los trenes están en construcción (2028–2030), no operando hoy.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16368" y="4224528"/>
            <a:ext cx="456559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34E48"/>
                </a:solidFill>
                <a:latin typeface="Helvetica Neue"/>
              </a:rPr>
              <a:t>→  </a:t>
            </a:r>
            <a:r>
              <a:rPr sz="1250" b="1">
                <a:solidFill>
                  <a:srgbClr val="134E48"/>
                </a:solidFill>
                <a:latin typeface="Helvetica Neue"/>
              </a:rPr>
              <a:t>Con cronograma oficial de EFE y el MOP como respaldo.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2EFE8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Ninguna debilidad es de fondo: dos se resuelven con la infraestructura que ya viene, y la tercera —RED— la podemos empujar nosotros.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09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LA JUGADA · INTEGRAR A 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La palanca que está en nuestra cancha: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integrar Batuco y Colina a RED.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0" y="2221992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E6A64"/>
                </a:solidFill>
                <a:latin typeface="Helvetica Neue"/>
              </a:rPr>
              <a:t>Hoy · pagan por tramo (sin RED)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0" y="2514600"/>
            <a:ext cx="4937760" cy="457200"/>
          </a:xfrm>
          <a:prstGeom prst="rect">
            <a:avLst/>
          </a:prstGeom>
          <a:solidFill>
            <a:srgbClr val="C05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82528" y="2569464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~$103k/mes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3090672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E6A64"/>
                </a:solidFill>
                <a:latin typeface="Helvetica Neue"/>
              </a:rPr>
              <a:t>Integrado a RED (bip!)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0" y="3383280"/>
            <a:ext cx="1750747" cy="457200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95515" y="3438144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F9E6E"/>
                </a:solidFill>
                <a:latin typeface="Helvetica Neue"/>
              </a:rPr>
              <a:t>~$37k/mes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448056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2F9E6E"/>
                </a:solidFill>
                <a:latin typeface="Helvetica Neue"/>
              </a:rPr>
              <a:t>−</a:t>
            </a:r>
            <a:r>
              <a:rPr sz="2600" b="1">
                <a:solidFill>
                  <a:srgbClr val="2F9E6E"/>
                </a:solidFill>
                <a:latin typeface="Helvetica Neue"/>
              </a:rPr>
              <a:t>65%</a:t>
            </a:r>
            <a:r>
              <a:rPr sz="1400" b="0">
                <a:solidFill>
                  <a:srgbClr val="6E6A64"/>
                </a:solidFill>
                <a:latin typeface="Helvetica Neue"/>
              </a:rPr>
              <a:t>  en el costo de transporte público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395728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00">
                <a:solidFill>
                  <a:srgbClr val="B07D24"/>
                </a:solidFill>
                <a:latin typeface="Helvetica Neue"/>
              </a:rPr>
              <a:t>NO ES UNA OBRA · ES GESTIÓN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724912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E6A64"/>
                </a:solidFill>
                <a:latin typeface="Helvetica Neue"/>
              </a:rPr>
              <a:t>Batuco y Estación Colina quedan a un trámite de tarifa integrada. Gestionar su incorporación a RED con el Ministerio de Transportes y EFE completa su ventaja competitiva — y no depende de esperar a 2030.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2EFE8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Es la recomendación central: pelear por la integración a RED. Baja el costo, sube el atractivo, y está bajo nuestra influencia — no la de una autopista por construir.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10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NUESTROS PROYECTOS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Batuco y Estación Colina: cómo se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posicionan en cada frente.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56048" y="212140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60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16368" y="212140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60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58368" y="2432303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58368" y="2578608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Auto · tiempo · hoy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6048" y="2578608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11º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16367" y="2578608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6º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58368" y="2788920"/>
            <a:ext cx="10874959" cy="0"/>
          </a:xfrm>
          <a:prstGeom prst="bentConnector3">
            <a:avLst/>
          </a:prstGeom>
          <a:ln w="6350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8368" y="2999232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Auto · tiempo · con la Orbital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6048" y="2999232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58C"/>
                </a:solidFill>
                <a:latin typeface="Helvetica Neue"/>
              </a:rPr>
              <a:t>11º </a:t>
            </a:r>
            <a:r>
              <a:rPr sz="1200" b="0">
                <a:solidFill>
                  <a:srgbClr val="9A958C"/>
                </a:solidFill>
                <a:latin typeface="Helvetica Neue"/>
              </a:rPr>
              <a:t>→ </a:t>
            </a:r>
            <a:r>
              <a:rPr sz="1600" b="1">
                <a:solidFill>
                  <a:srgbClr val="B07D24"/>
                </a:solidFill>
                <a:latin typeface="Helvetica Neue"/>
              </a:rPr>
              <a:t>3º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16367" y="2999232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58C"/>
                </a:solidFill>
                <a:latin typeface="Helvetica Neue"/>
              </a:rPr>
              <a:t>6º </a:t>
            </a:r>
            <a:r>
              <a:rPr sz="1200" b="0">
                <a:solidFill>
                  <a:srgbClr val="9A958C"/>
                </a:solidFill>
                <a:latin typeface="Helvetica Neue"/>
              </a:rPr>
              <a:t>→ </a:t>
            </a:r>
            <a:r>
              <a:rPr sz="1600" b="1">
                <a:solidFill>
                  <a:srgbClr val="B07D24"/>
                </a:solidFill>
                <a:latin typeface="Helvetica Neue"/>
              </a:rPr>
              <a:t>8º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58368" y="3209544"/>
            <a:ext cx="10874959" cy="0"/>
          </a:xfrm>
          <a:prstGeom prst="bentConnector3">
            <a:avLst/>
          </a:prstGeom>
          <a:ln w="6350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58368" y="3419856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Auto · costo de manejar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6048" y="3419856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11º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16367" y="3419856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6º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58368" y="3630168"/>
            <a:ext cx="10874959" cy="0"/>
          </a:xfrm>
          <a:prstGeom prst="bentConnector3">
            <a:avLst/>
          </a:prstGeom>
          <a:ln w="6350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58368" y="3840480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Transporte público · hoy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6048" y="3840480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11º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16367" y="3840480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5º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58368" y="4050792"/>
            <a:ext cx="10874959" cy="0"/>
          </a:xfrm>
          <a:prstGeom prst="bentConnector3">
            <a:avLst/>
          </a:prstGeom>
          <a:ln w="6350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58368" y="4261104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Transporte público · con el tren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56048" y="4261104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58C"/>
                </a:solidFill>
                <a:latin typeface="Helvetica Neue"/>
              </a:rPr>
              <a:t>11º </a:t>
            </a:r>
            <a:r>
              <a:rPr sz="1200" b="0">
                <a:solidFill>
                  <a:srgbClr val="9A958C"/>
                </a:solidFill>
                <a:latin typeface="Helvetica Neue"/>
              </a:rPr>
              <a:t>→ </a:t>
            </a:r>
            <a:r>
              <a:rPr sz="1600" b="1">
                <a:solidFill>
                  <a:srgbClr val="B07D24"/>
                </a:solidFill>
                <a:latin typeface="Helvetica Neue"/>
              </a:rPr>
              <a:t>2º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16367" y="4261104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58C"/>
                </a:solidFill>
                <a:latin typeface="Helvetica Neue"/>
              </a:rPr>
              <a:t>5º </a:t>
            </a:r>
            <a:r>
              <a:rPr sz="1200" b="0">
                <a:solidFill>
                  <a:srgbClr val="9A958C"/>
                </a:solidFill>
                <a:latin typeface="Helvetica Neue"/>
              </a:rPr>
              <a:t>→ </a:t>
            </a:r>
            <a:r>
              <a:rPr sz="1600" b="1">
                <a:solidFill>
                  <a:srgbClr val="B07D24"/>
                </a:solidFill>
                <a:latin typeface="Helvetica Neue"/>
              </a:rPr>
              <a:t>1º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58368" y="4471416"/>
            <a:ext cx="10874959" cy="0"/>
          </a:xfrm>
          <a:prstGeom prst="bentConnector3">
            <a:avLst/>
          </a:prstGeom>
          <a:ln w="6350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58368" y="4681728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Transporte público · costo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56048" y="4681728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8º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16367" y="4681728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12º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2EFE8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Batuco es el que más gana con la infraestructura futura; Estación Colina ya está mejor parada hoy. Dos cartas distintas, ambas ganadoras.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11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CONCLUSIONES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¿Cuánto vale la conectividad? Lo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suficiente para decidir el portafolio.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19456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219456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1616"/>
                </a:solidFill>
                <a:latin typeface="Helvetica Neue"/>
              </a:rPr>
              <a:t>Dónde somos fuertes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1728" y="219456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Estación Colina ya es central hoy; ambos proyectos justifican sobreprecio en UF.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69748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269748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1616"/>
                </a:solidFill>
                <a:latin typeface="Helvetica Neue"/>
              </a:rPr>
              <a:t>Qué cambia con el tren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81728" y="269748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El transporte público se reordena: Estación Colina pasa a 1º y Batuco a 2º del set.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20040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320040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1616"/>
                </a:solidFill>
                <a:latin typeface="Helvetica Neue"/>
              </a:rPr>
              <a:t>Qué cambia con la Orbital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81728" y="320040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Batuco sube del 11º al 3º en auto — la mayor palanca vial del estudio.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37033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370332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1616"/>
                </a:solidFill>
                <a:latin typeface="Helvetica Neue"/>
              </a:rPr>
              <a:t>Dónde somos débiles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81728" y="370332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Batuco es caro en auto, y ninguno es RED: hoy pagan tarifa por tramo.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206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" y="420624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07D24"/>
                </a:solidFill>
                <a:latin typeface="Helvetica Neue"/>
              </a:rPr>
              <a:t>La jugada inmediata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81728" y="420624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B07D24"/>
                </a:solidFill>
                <a:latin typeface="Helvetica Neue"/>
              </a:rPr>
              <a:t>Pelear por integrar Batuco y Estación Colina a RED: baja el costo y está en nuestra cancha.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70916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" y="470916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1616"/>
                </a:solidFill>
                <a:latin typeface="Helvetica Neue"/>
              </a:rPr>
              <a:t>Cuánto vale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81728" y="470916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El ahorro de tiempo y de costo se capitaliza en UF y en capacidad de compra.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2EFE8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Competitivos hoy, y de los más competitivos del norte con la infraestructura que viene. La jugada que no depende de nadie más: integrarlos a RED.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