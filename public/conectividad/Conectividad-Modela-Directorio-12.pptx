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9A958C"/>
                </a:solidFill>
                <a:latin typeface="Helvetica Neue"/>
              </a:rPr>
              <a:t>MODELA  ·  DESARROLLO URBANO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161616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E6A64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9A958C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ese efecto, zona por zona.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más que puede cobrar Estación Colina frente a la competencia peor conectada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hoy, Estación Colina está en la mitad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más rápida; Batuco es 11º de 14.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en auto es la debilidad precisa que la Autopista corrige: de 11º a 3º de 14.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costo de manejar limita a Batuco: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alto hacia la mayoría de los destinos.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(bencina + peajes TAG), en miles de pesos. Verde = barato, rojo = caro. Filas ordenadas por el promedio a los 9 destinos.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 las 14 zonas. Su argumento económico es el tren, no el auto.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POSICIONAMIENTO EN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Estación Colina combina velocidad y costo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medio; Batuco es lejano y caro de manejar.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93392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Cada punto es una zona. El eje horizontal mide el tiempo promedio en auto a los 9 destinos; el vertical, el costo mensual de manejar. El cuadrante inferior izquierdo combina ambas ventajas.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1288" y="4098163"/>
            <a:ext cx="4341611" cy="711580"/>
          </a:xfrm>
          <a:prstGeom prst="rect">
            <a:avLst/>
          </a:prstGeom>
          <a:solidFill>
            <a:srgbClr val="E9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02899" y="2798064"/>
            <a:ext cx="5161747" cy="1300099"/>
          </a:xfrm>
          <a:prstGeom prst="rect">
            <a:avLst/>
          </a:prstGeom>
          <a:solidFill>
            <a:srgbClr val="F6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502899" y="2798064"/>
            <a:ext cx="0" cy="201168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4098163"/>
            <a:ext cx="9503359" cy="0"/>
          </a:xfrm>
          <a:prstGeom prst="line">
            <a:avLst/>
          </a:prstGeom>
          <a:ln w="12700">
            <a:solidFill>
              <a:srgbClr val="B4AEA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557763" y="277977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tiempo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3928999"/>
            <a:ext cx="12344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958C"/>
                </a:solidFill>
                <a:latin typeface="Helvetica Neue"/>
              </a:rPr>
              <a:t>mediana de costo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61288" y="4809744"/>
            <a:ext cx="9503359" cy="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61288" y="2798064"/>
            <a:ext cx="0" cy="2011680"/>
          </a:xfrm>
          <a:prstGeom prst="line">
            <a:avLst/>
          </a:prstGeom>
          <a:ln w="15875">
            <a:solidFill>
              <a:srgbClr val="B4AE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61288" y="4882896"/>
            <a:ext cx="95033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523744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608576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286207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RÁPIDA, PERO CARA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1527" y="460857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9A958C"/>
                </a:solidFill>
                <a:latin typeface="Helvetica Neue"/>
              </a:rPr>
              <a:t>LENTA, PERO BARATA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1527" y="2862072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70">
                <a:solidFill>
                  <a:srgbClr val="B06A5E"/>
                </a:solidFill>
                <a:latin typeface="Helvetica Neue"/>
              </a:rPr>
              <a:t>LENTA Y CARA</a:t>
            </a:r>
          </a:p>
        </p:txBody>
      </p:sp>
      <p:sp>
        <p:nvSpPr>
          <p:cNvPr id="20" name="Oval 19"/>
          <p:cNvSpPr/>
          <p:nvPr/>
        </p:nvSpPr>
        <p:spPr>
          <a:xfrm>
            <a:off x="1884140" y="4411210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62448" y="4392922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22" name="Oval 21"/>
          <p:cNvSpPr/>
          <p:nvPr/>
        </p:nvSpPr>
        <p:spPr>
          <a:xfrm>
            <a:off x="3173468" y="455005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1776" y="4531771"/>
            <a:ext cx="51572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24" name="Oval 23"/>
          <p:cNvSpPr/>
          <p:nvPr/>
        </p:nvSpPr>
        <p:spPr>
          <a:xfrm>
            <a:off x="3941270" y="317891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9578" y="3160625"/>
            <a:ext cx="40233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26" name="Oval 25"/>
          <p:cNvSpPr/>
          <p:nvPr/>
        </p:nvSpPr>
        <p:spPr>
          <a:xfrm>
            <a:off x="4115112" y="377365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3420" y="3755367"/>
            <a:ext cx="7424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28" name="Oval 27"/>
          <p:cNvSpPr/>
          <p:nvPr/>
        </p:nvSpPr>
        <p:spPr>
          <a:xfrm>
            <a:off x="4187546" y="45902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5854" y="4571923"/>
            <a:ext cx="79918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30" name="Oval 29"/>
          <p:cNvSpPr/>
          <p:nvPr/>
        </p:nvSpPr>
        <p:spPr>
          <a:xfrm>
            <a:off x="4377416" y="4065535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6984" y="4074679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2" name="Oval 31"/>
          <p:cNvSpPr/>
          <p:nvPr/>
        </p:nvSpPr>
        <p:spPr>
          <a:xfrm>
            <a:off x="5230597" y="37527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08905" y="3734443"/>
            <a:ext cx="9692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34" name="Oval 33"/>
          <p:cNvSpPr/>
          <p:nvPr/>
        </p:nvSpPr>
        <p:spPr>
          <a:xfrm>
            <a:off x="5443463" y="408216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21771" y="4063878"/>
            <a:ext cx="2889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36" name="Oval 35"/>
          <p:cNvSpPr/>
          <p:nvPr/>
        </p:nvSpPr>
        <p:spPr>
          <a:xfrm>
            <a:off x="6012886" y="32846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1194" y="3266315"/>
            <a:ext cx="108264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8" name="Oval 37"/>
          <p:cNvSpPr/>
          <p:nvPr/>
        </p:nvSpPr>
        <p:spPr>
          <a:xfrm>
            <a:off x="6679280" y="29520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7588" y="2933801"/>
            <a:ext cx="34564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40" name="Oval 39"/>
          <p:cNvSpPr/>
          <p:nvPr/>
        </p:nvSpPr>
        <p:spPr>
          <a:xfrm>
            <a:off x="6970559" y="3678050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12875" y="368719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2" name="Oval 41"/>
          <p:cNvSpPr/>
          <p:nvPr/>
        </p:nvSpPr>
        <p:spPr>
          <a:xfrm>
            <a:off x="7302214" y="434935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80522" y="4331063"/>
            <a:ext cx="62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44" name="Oval 43"/>
          <p:cNvSpPr/>
          <p:nvPr/>
        </p:nvSpPr>
        <p:spPr>
          <a:xfrm>
            <a:off x="8692949" y="41981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71257" y="4303291"/>
            <a:ext cx="91257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46" name="Oval 45"/>
          <p:cNvSpPr/>
          <p:nvPr/>
        </p:nvSpPr>
        <p:spPr>
          <a:xfrm>
            <a:off x="9562159" y="40387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40467" y="4020439"/>
            <a:ext cx="57241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Chicauma, Urbanya y Valle Grande ocupan hoy el cuadrante rápido y barato. Estación Colina queda al borde; Batuco, lejos: es la zona que más necesita el salto de infraestructura.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reordena el transporte público: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nuestros proyectos pasan a 1º y 2º.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34930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Santiago-Batuco recorta 45 minutos de viaje desde Estación Colina y 67 desde Batuco. Cada proyecto cuenta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Con el tren, Estación Colina queda primera y Batuco segundo entre las 14 zonas en transporte público. Ninguna zona sin estación nueva puede igualar ese cambio.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Autopista Orbital Norponiente acerca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Batuco: 28 minutos menos en auto.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Autopista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950208"/>
            <a:ext cx="5120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promedio desde Batuco a los 9 destinos, puerta a puerta.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07D24"/>
                </a:solidFill>
                <a:latin typeface="Helvetica Neue"/>
              </a:rPr>
              <a:t>28 min menos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10">
                <a:solidFill>
                  <a:srgbClr val="134E48"/>
                </a:solidFill>
                <a:latin typeface="Helvetica Neue"/>
              </a:rPr>
              <a:t>EL EFECTO DEL CORREDOR NORPONIENTE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cruza el terreno de Batuco, con enlace a 7 minutos. Es la diferencia entre una zona periférica y una de las más rápidas en 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propio argumento.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cada proyecto con su obra: la Autopista es el argumento vial de Batuco; Estación Colina no la necesita.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POR TIEMPO Y COSTO DE AUTO AHORRADOS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" y="326257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658368" y="428670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Verde = puede cobrar más que esa columna; rojo = debe cobrar menos. Orden: de la que más sobreprecio justifica a la que menos.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La lámina siguiente muestra dónde recupera esa diferencia.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DIFERENCIAL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diferencial del tren, en UF: solo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con estación nueva lo capturan.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50">
                <a:solidFill>
                  <a:srgbClr val="6E6A64"/>
                </a:solidFill>
                <a:latin typeface="Helvetica Neue"/>
              </a:rPr>
              <a:t>CADA CELDA: UF QUE LA FILA PUEDE COBRAR POR SOBRE LA COLUMNA, SOLO POR EL TIEMPO QUE EL TREN LE AHORRA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26224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2588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38951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45315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1678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8042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6440609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076966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7713323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349680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8986037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9622394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258751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10895108" y="2395728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823667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1635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5300" y="282732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1657" y="2827324"/>
            <a:ext cx="614411" cy="124358"/>
          </a:xfrm>
          <a:prstGeom prst="rect">
            <a:avLst/>
          </a:prstGeom>
          <a:solidFill>
            <a:srgbClr val="AED5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6068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08014" y="2827324"/>
            <a:ext cx="614411" cy="124358"/>
          </a:xfrm>
          <a:prstGeom prst="rect">
            <a:avLst/>
          </a:prstGeom>
          <a:solidFill>
            <a:srgbClr val="9A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7042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4372" y="2827324"/>
            <a:ext cx="614411" cy="124358"/>
          </a:xfrm>
          <a:prstGeom prst="rect">
            <a:avLst/>
          </a:prstGeom>
          <a:solidFill>
            <a:srgbClr val="96C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3399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80729" y="2827324"/>
            <a:ext cx="614411" cy="124358"/>
          </a:xfrm>
          <a:prstGeom prst="rect">
            <a:avLst/>
          </a:prstGeom>
          <a:solidFill>
            <a:srgbClr val="7D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9756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17086" y="2827324"/>
            <a:ext cx="614411" cy="124358"/>
          </a:xfrm>
          <a:prstGeom prst="rect">
            <a:avLst/>
          </a:prstGeom>
          <a:solidFill>
            <a:srgbClr val="5AB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1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53443" y="2827324"/>
            <a:ext cx="614411" cy="124358"/>
          </a:xfrm>
          <a:prstGeom prst="rect">
            <a:avLst/>
          </a:prstGeom>
          <a:solidFill>
            <a:srgbClr val="47A8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24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+811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9800" y="2827324"/>
            <a:ext cx="614411" cy="124358"/>
          </a:xfrm>
          <a:prstGeom prst="rect">
            <a:avLst/>
          </a:prstGeom>
          <a:solidFill>
            <a:srgbClr val="3CA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78827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+882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26157" y="2827324"/>
            <a:ext cx="614411" cy="124358"/>
          </a:xfrm>
          <a:prstGeom prst="rect">
            <a:avLst/>
          </a:prstGeom>
          <a:solidFill>
            <a:srgbClr val="3AA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15184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+896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2514" y="2827324"/>
            <a:ext cx="614411" cy="124358"/>
          </a:xfrm>
          <a:prstGeom prst="rect">
            <a:avLst/>
          </a:prstGeom>
          <a:solidFill>
            <a:srgbClr val="35A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51541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8871" y="2827324"/>
            <a:ext cx="614411" cy="124358"/>
          </a:xfrm>
          <a:prstGeom prst="rect">
            <a:avLst/>
          </a:prstGeom>
          <a:solidFill>
            <a:srgbClr val="34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87898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+939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35228" y="2827324"/>
            <a:ext cx="614411" cy="124358"/>
          </a:xfrm>
          <a:prstGeom prst="rect">
            <a:avLst/>
          </a:prstGeom>
          <a:solidFill>
            <a:srgbClr val="339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24255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+948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71585" y="2827324"/>
            <a:ext cx="614411" cy="124358"/>
          </a:xfrm>
          <a:prstGeom prst="rect">
            <a:avLst/>
          </a:prstGeom>
          <a:solidFill>
            <a:srgbClr val="319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60613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907942" y="2827324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96970" y="281635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+977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296265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35300" y="2973628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2432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-228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71657" y="297362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08014" y="2973628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97042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44372" y="2973628"/>
            <a:ext cx="614411" cy="124358"/>
          </a:xfrm>
          <a:prstGeom prst="rect">
            <a:avLst/>
          </a:prstGeom>
          <a:solidFill>
            <a:srgbClr val="C9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33399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0729" y="2973628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69756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17086" y="2973628"/>
            <a:ext cx="614411" cy="124358"/>
          </a:xfrm>
          <a:prstGeom prst="rect">
            <a:avLst/>
          </a:prstGeom>
          <a:solidFill>
            <a:srgbClr val="80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061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53443" y="2973628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424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89800" y="2973628"/>
            <a:ext cx="614411" cy="124358"/>
          </a:xfrm>
          <a:prstGeom prst="rect">
            <a:avLst/>
          </a:prstGeom>
          <a:solidFill>
            <a:srgbClr val="5FB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78827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26157" y="2973628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15184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+668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2514" y="2973628"/>
            <a:ext cx="614411" cy="124358"/>
          </a:xfrm>
          <a:prstGeom prst="rect">
            <a:avLst/>
          </a:prstGeom>
          <a:solidFill>
            <a:srgbClr val="58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51541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+702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98871" y="2973628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87898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35228" y="2973628"/>
            <a:ext cx="614411" cy="124358"/>
          </a:xfrm>
          <a:prstGeom prst="rect">
            <a:avLst/>
          </a:prstGeom>
          <a:solidFill>
            <a:srgbClr val="55AE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4255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+720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71585" y="2973628"/>
            <a:ext cx="614411" cy="124358"/>
          </a:xfrm>
          <a:prstGeom prst="rect">
            <a:avLst/>
          </a:prstGeom>
          <a:solidFill>
            <a:srgbClr val="53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60613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+731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907942" y="2973628"/>
            <a:ext cx="614411" cy="124358"/>
          </a:xfrm>
          <a:prstGeom prst="rect">
            <a:avLst/>
          </a:prstGeom>
          <a:solidFill>
            <a:srgbClr val="50A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896970" y="296265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+749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" y="3116275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" y="310896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35300" y="3119932"/>
            <a:ext cx="614411" cy="124358"/>
          </a:xfrm>
          <a:prstGeom prst="rect">
            <a:avLst/>
          </a:prstGeom>
          <a:solidFill>
            <a:srgbClr val="DDA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2432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71657" y="3119932"/>
            <a:ext cx="614411" cy="124358"/>
          </a:xfrm>
          <a:prstGeom prst="rect">
            <a:avLst/>
          </a:prstGeom>
          <a:solidFill>
            <a:srgbClr val="EC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6068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908014" y="311993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544372" y="3119932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33399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80729" y="3119932"/>
            <a:ext cx="614411" cy="124358"/>
          </a:xfrm>
          <a:prstGeom prst="rect">
            <a:avLst/>
          </a:prstGeom>
          <a:solidFill>
            <a:srgbClr val="BF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169756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817086" y="311993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061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53443" y="3119932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424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89800" y="3119932"/>
            <a:ext cx="614411" cy="124358"/>
          </a:xfrm>
          <a:prstGeom prst="rect">
            <a:avLst/>
          </a:prstGeom>
          <a:solidFill>
            <a:srgbClr val="70B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78827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26157" y="3119932"/>
            <a:ext cx="614411" cy="124358"/>
          </a:xfrm>
          <a:prstGeom prst="rect">
            <a:avLst/>
          </a:prstGeom>
          <a:solidFill>
            <a:srgbClr val="6D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15184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+570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2514" y="3119932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51541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998871" y="3119932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87898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35228" y="3119932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24255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+623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1585" y="3119932"/>
            <a:ext cx="614411" cy="124358"/>
          </a:xfrm>
          <a:prstGeom prst="rect">
            <a:avLst/>
          </a:prstGeom>
          <a:solidFill>
            <a:srgbClr val="63B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260613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07942" y="3119932"/>
            <a:ext cx="614411" cy="124358"/>
          </a:xfrm>
          <a:prstGeom prst="rect">
            <a:avLst/>
          </a:prstGeom>
          <a:solidFill>
            <a:srgbClr val="60B3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896970" y="310896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+652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4088" y="325526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635300" y="3266236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62432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271657" y="3266236"/>
            <a:ext cx="614411" cy="124358"/>
          </a:xfrm>
          <a:prstGeom prst="rect">
            <a:avLst/>
          </a:prstGeom>
          <a:solidFill>
            <a:srgbClr val="EA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26068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908014" y="3266236"/>
            <a:ext cx="614411" cy="124358"/>
          </a:xfrm>
          <a:prstGeom prst="rect">
            <a:avLst/>
          </a:prstGeom>
          <a:solidFill>
            <a:srgbClr val="F3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897042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44372" y="32662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180729" y="3266236"/>
            <a:ext cx="614411" cy="124358"/>
          </a:xfrm>
          <a:prstGeom prst="rect">
            <a:avLst/>
          </a:prstGeom>
          <a:solidFill>
            <a:srgbClr val="C4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69756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17086" y="3266236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8061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53443" y="3266236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424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89800" y="3266236"/>
            <a:ext cx="614411" cy="124358"/>
          </a:xfrm>
          <a:prstGeom prst="rect">
            <a:avLst/>
          </a:prstGeom>
          <a:solidFill>
            <a:srgbClr val="73B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078827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+537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157" y="3266236"/>
            <a:ext cx="614411" cy="124358"/>
          </a:xfrm>
          <a:prstGeom prst="rect">
            <a:avLst/>
          </a:prstGeom>
          <a:solidFill>
            <a:srgbClr val="71B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15184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+551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362514" y="3266236"/>
            <a:ext cx="614411" cy="124358"/>
          </a:xfrm>
          <a:prstGeom prst="rect">
            <a:avLst/>
          </a:prstGeom>
          <a:solidFill>
            <a:srgbClr val="6BB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51541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+585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998871" y="3266236"/>
            <a:ext cx="614411" cy="124358"/>
          </a:xfrm>
          <a:prstGeom prst="rect">
            <a:avLst/>
          </a:prstGeom>
          <a:solidFill>
            <a:srgbClr val="69B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987898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+593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635228" y="3266236"/>
            <a:ext cx="614411" cy="124358"/>
          </a:xfrm>
          <a:prstGeom prst="rect">
            <a:avLst/>
          </a:prstGeom>
          <a:solidFill>
            <a:srgbClr val="68B6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24255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+603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271585" y="32662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60613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907942" y="3266236"/>
            <a:ext cx="614411" cy="124358"/>
          </a:xfrm>
          <a:prstGeom prst="rect">
            <a:avLst/>
          </a:prstGeom>
          <a:solidFill>
            <a:srgbClr val="63B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896970" y="325526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+632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04088" y="34015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635300" y="3412540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62432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71657" y="3412540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26068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-254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908014" y="3412540"/>
            <a:ext cx="614411" cy="124358"/>
          </a:xfrm>
          <a:prstGeom prst="rect">
            <a:avLst/>
          </a:prstGeom>
          <a:solidFill>
            <a:srgbClr val="E7C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897042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-157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544372" y="3412540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533399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180729" y="34125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817086" y="3412540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8061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453443" y="34125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424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+328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089800" y="3412540"/>
            <a:ext cx="614411" cy="124358"/>
          </a:xfrm>
          <a:prstGeom prst="rect">
            <a:avLst/>
          </a:prstGeom>
          <a:solidFill>
            <a:srgbClr val="8BC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078827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+400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726157" y="3412540"/>
            <a:ext cx="614411" cy="124358"/>
          </a:xfrm>
          <a:prstGeom prst="rect">
            <a:avLst/>
          </a:prstGeom>
          <a:solidFill>
            <a:srgbClr val="89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15184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+414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362514" y="3412540"/>
            <a:ext cx="614411" cy="124358"/>
          </a:xfrm>
          <a:prstGeom prst="rect">
            <a:avLst/>
          </a:prstGeom>
          <a:solidFill>
            <a:srgbClr val="83C2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351541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998871" y="3412540"/>
            <a:ext cx="614411" cy="124358"/>
          </a:xfrm>
          <a:prstGeom prst="rect">
            <a:avLst/>
          </a:prstGeom>
          <a:solidFill>
            <a:srgbClr val="81C1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987898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635228" y="3412540"/>
            <a:ext cx="614411" cy="124358"/>
          </a:xfrm>
          <a:prstGeom prst="rect">
            <a:avLst/>
          </a:prstGeom>
          <a:solidFill>
            <a:srgbClr val="7F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24255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+466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271585" y="3412540"/>
            <a:ext cx="614411" cy="124358"/>
          </a:xfrm>
          <a:prstGeom prst="rect">
            <a:avLst/>
          </a:prstGeom>
          <a:solidFill>
            <a:srgbClr val="7DC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260613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907942" y="3412540"/>
            <a:ext cx="614411" cy="124358"/>
          </a:xfrm>
          <a:prstGeom prst="rect">
            <a:avLst/>
          </a:prstGeom>
          <a:solidFill>
            <a:srgbClr val="7AB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896970" y="34015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04088" y="354787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635300" y="3558844"/>
            <a:ext cx="614411" cy="124358"/>
          </a:xfrm>
          <a:prstGeom prst="rect">
            <a:avLst/>
          </a:prstGeom>
          <a:solidFill>
            <a:srgbClr val="CB7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62432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-690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271657" y="3558844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6068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908014" y="3558844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897042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-364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544372" y="3558844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33399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-344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80729" y="3558844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169756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817086" y="35588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453443" y="3558844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424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+121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089800" y="3558844"/>
            <a:ext cx="614411" cy="124358"/>
          </a:xfrm>
          <a:prstGeom prst="rect">
            <a:avLst/>
          </a:prstGeom>
          <a:solidFill>
            <a:srgbClr val="B6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078827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+192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726157" y="3558844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715184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+206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362514" y="3558844"/>
            <a:ext cx="614411" cy="124358"/>
          </a:xfrm>
          <a:prstGeom prst="rect">
            <a:avLst/>
          </a:prstGeom>
          <a:solidFill>
            <a:srgbClr val="AC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351541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998871" y="3558844"/>
            <a:ext cx="614411" cy="124358"/>
          </a:xfrm>
          <a:prstGeom prst="rect">
            <a:avLst/>
          </a:prstGeom>
          <a:solidFill>
            <a:srgbClr val="AAD3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987898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635228" y="3558844"/>
            <a:ext cx="614411" cy="124358"/>
          </a:xfrm>
          <a:prstGeom prst="rect">
            <a:avLst/>
          </a:prstGeom>
          <a:solidFill>
            <a:srgbClr val="A8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624255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271585" y="3558844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260613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0907942" y="3558844"/>
            <a:ext cx="614411" cy="124358"/>
          </a:xfrm>
          <a:prstGeom prst="rect">
            <a:avLst/>
          </a:prstGeom>
          <a:solidFill>
            <a:srgbClr val="A2D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896970" y="354787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04088" y="369417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2635300" y="3705148"/>
            <a:ext cx="614411" cy="124358"/>
          </a:xfrm>
          <a:prstGeom prst="rect">
            <a:avLst/>
          </a:prstGeom>
          <a:solidFill>
            <a:srgbClr val="C665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262432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-811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271657" y="3705148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26068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-583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908014" y="3705148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897042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544372" y="370514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533399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180729" y="3705148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169756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-328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817086" y="3705148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58061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453443" y="37051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089800" y="3705148"/>
            <a:ext cx="614411" cy="124358"/>
          </a:xfrm>
          <a:prstGeom prst="rect">
            <a:avLst/>
          </a:prstGeom>
          <a:solidFill>
            <a:srgbClr val="D6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078827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+72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26157" y="3705148"/>
            <a:ext cx="614411" cy="124358"/>
          </a:xfrm>
          <a:prstGeom prst="rect">
            <a:avLst/>
          </a:prstGeom>
          <a:solidFill>
            <a:srgbClr val="D2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715184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362514" y="3705148"/>
            <a:ext cx="614411" cy="124358"/>
          </a:xfrm>
          <a:prstGeom prst="rect">
            <a:avLst/>
          </a:prstGeom>
          <a:solidFill>
            <a:srgbClr val="C9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351541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+120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8998871" y="3705148"/>
            <a:ext cx="614411" cy="124358"/>
          </a:xfrm>
          <a:prstGeom prst="rect">
            <a:avLst/>
          </a:prstGeom>
          <a:solidFill>
            <a:srgbClr val="C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987898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9635228" y="3705148"/>
            <a:ext cx="614411" cy="124358"/>
          </a:xfrm>
          <a:prstGeom prst="rect">
            <a:avLst/>
          </a:prstGeom>
          <a:solidFill>
            <a:srgbClr val="C4DE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9624255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+137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271585" y="3705148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260613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+149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907942" y="3705148"/>
            <a:ext cx="614411" cy="124358"/>
          </a:xfrm>
          <a:prstGeom prst="rect">
            <a:avLst/>
          </a:prstGeom>
          <a:solidFill>
            <a:srgbClr val="BD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896970" y="369417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+167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04088" y="384048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635300" y="3851452"/>
            <a:ext cx="614411" cy="124358"/>
          </a:xfrm>
          <a:prstGeom prst="rect">
            <a:avLst/>
          </a:prstGeom>
          <a:solidFill>
            <a:srgbClr val="C35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62432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-882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271657" y="3851452"/>
            <a:ext cx="614411" cy="124358"/>
          </a:xfrm>
          <a:prstGeom prst="rect">
            <a:avLst/>
          </a:prstGeom>
          <a:solidFill>
            <a:srgbClr val="CD7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26068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-654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3908014" y="3851452"/>
            <a:ext cx="614411" cy="124358"/>
          </a:xfrm>
          <a:prstGeom prst="rect">
            <a:avLst/>
          </a:prstGeom>
          <a:solidFill>
            <a:srgbClr val="D18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3897042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-557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44372" y="3851452"/>
            <a:ext cx="614411" cy="124358"/>
          </a:xfrm>
          <a:prstGeom prst="rect">
            <a:avLst/>
          </a:prstGeom>
          <a:solidFill>
            <a:srgbClr val="D28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4533399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-537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180729" y="3851452"/>
            <a:ext cx="614411" cy="124358"/>
          </a:xfrm>
          <a:prstGeom prst="rect">
            <a:avLst/>
          </a:prstGeom>
          <a:solidFill>
            <a:srgbClr val="D99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169756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-400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817086" y="3851452"/>
            <a:ext cx="614411" cy="124358"/>
          </a:xfrm>
          <a:prstGeom prst="rect">
            <a:avLst/>
          </a:prstGeom>
          <a:solidFill>
            <a:srgbClr val="E5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58061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-192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6453443" y="3851452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4424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-72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089800" y="38514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7726157" y="3851452"/>
            <a:ext cx="614411" cy="124358"/>
          </a:xfrm>
          <a:prstGeom prst="rect">
            <a:avLst/>
          </a:prstGeom>
          <a:solidFill>
            <a:srgbClr val="EC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715184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362514" y="3851452"/>
            <a:ext cx="614411" cy="124358"/>
          </a:xfrm>
          <a:prstGeom prst="rect">
            <a:avLst/>
          </a:prstGeom>
          <a:solidFill>
            <a:srgbClr val="DE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351541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998871" y="3851452"/>
            <a:ext cx="614411" cy="124358"/>
          </a:xfrm>
          <a:prstGeom prst="rect">
            <a:avLst/>
          </a:prstGeom>
          <a:solidFill>
            <a:srgbClr val="DB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987898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635228" y="3851452"/>
            <a:ext cx="614411" cy="124358"/>
          </a:xfrm>
          <a:prstGeom prst="rect">
            <a:avLst/>
          </a:prstGeom>
          <a:solidFill>
            <a:srgbClr val="D8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624255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271585" y="3851452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260613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+77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907942" y="3851452"/>
            <a:ext cx="614411" cy="124358"/>
          </a:xfrm>
          <a:prstGeom prst="rect">
            <a:avLst/>
          </a:prstGeom>
          <a:solidFill>
            <a:srgbClr val="CFE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896970" y="384048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04088" y="398678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2635300" y="3997756"/>
            <a:ext cx="614411" cy="124358"/>
          </a:xfrm>
          <a:prstGeom prst="rect">
            <a:avLst/>
          </a:prstGeom>
          <a:solidFill>
            <a:srgbClr val="C3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262432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-896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271657" y="3997756"/>
            <a:ext cx="614411" cy="124358"/>
          </a:xfrm>
          <a:prstGeom prst="rect">
            <a:avLst/>
          </a:prstGeom>
          <a:solidFill>
            <a:srgbClr val="CC7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26068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-668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3908014" y="3997756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3897042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-570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4544372" y="3997756"/>
            <a:ext cx="614411" cy="124358"/>
          </a:xfrm>
          <a:prstGeom prst="rect">
            <a:avLst/>
          </a:prstGeom>
          <a:solidFill>
            <a:srgbClr val="D2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4533399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-551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180729" y="3997756"/>
            <a:ext cx="614411" cy="124358"/>
          </a:xfrm>
          <a:prstGeom prst="rect">
            <a:avLst/>
          </a:prstGeom>
          <a:solidFill>
            <a:srgbClr val="D89B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169756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5817086" y="3997756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58061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-206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6453443" y="3997756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4424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089800" y="3997756"/>
            <a:ext cx="614411" cy="124358"/>
          </a:xfrm>
          <a:prstGeom prst="rect">
            <a:avLst/>
          </a:prstGeom>
          <a:solidFill>
            <a:srgbClr val="F4E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7078827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7726157" y="39977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8362514" y="3997756"/>
            <a:ext cx="614411" cy="124358"/>
          </a:xfrm>
          <a:prstGeom prst="rect">
            <a:avLst/>
          </a:prstGeom>
          <a:solidFill>
            <a:srgbClr val="E3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51541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998871" y="399775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987898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635228" y="3997756"/>
            <a:ext cx="614411" cy="124358"/>
          </a:xfrm>
          <a:prstGeom prst="rect">
            <a:avLst/>
          </a:prstGeom>
          <a:solidFill>
            <a:srgbClr val="DD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624255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271585" y="3997756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260613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+64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0907942" y="3997756"/>
            <a:ext cx="614411" cy="124358"/>
          </a:xfrm>
          <a:prstGeom prst="rect">
            <a:avLst/>
          </a:prstGeom>
          <a:solidFill>
            <a:srgbClr val="D3E5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0896970" y="398678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+81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704088" y="41330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2635300" y="4144060"/>
            <a:ext cx="614411" cy="124358"/>
          </a:xfrm>
          <a:prstGeom prst="rect">
            <a:avLst/>
          </a:prstGeom>
          <a:solidFill>
            <a:srgbClr val="C15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262432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-930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271657" y="4144060"/>
            <a:ext cx="614411" cy="124358"/>
          </a:xfrm>
          <a:prstGeom prst="rect">
            <a:avLst/>
          </a:prstGeom>
          <a:solidFill>
            <a:srgbClr val="CB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26068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-702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3908014" y="4144060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3897042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-605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4544372" y="4144060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4533399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-585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180729" y="4144060"/>
            <a:ext cx="614411" cy="124358"/>
          </a:xfrm>
          <a:prstGeom prst="rect">
            <a:avLst/>
          </a:prstGeom>
          <a:solidFill>
            <a:srgbClr val="D795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169756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-448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5817086" y="4144060"/>
            <a:ext cx="614411" cy="124358"/>
          </a:xfrm>
          <a:prstGeom prst="rect">
            <a:avLst/>
          </a:prstGeom>
          <a:solidFill>
            <a:srgbClr val="E2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58061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-241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6453443" y="4144060"/>
            <a:ext cx="614411" cy="124358"/>
          </a:xfrm>
          <a:prstGeom prst="rect">
            <a:avLst/>
          </a:prstGeom>
          <a:solidFill>
            <a:srgbClr val="EA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4424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-120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089800" y="4144060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078827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726157" y="4144060"/>
            <a:ext cx="614411" cy="124358"/>
          </a:xfrm>
          <a:prstGeom prst="rect">
            <a:avLst/>
          </a:prstGeom>
          <a:solidFill>
            <a:srgbClr val="F1E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7715184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8362514" y="41440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998871" y="4144060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8987898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9635228" y="4144060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9624255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271585" y="4144060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260613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0907942" y="4144060"/>
            <a:ext cx="614411" cy="124358"/>
          </a:xfrm>
          <a:prstGeom prst="rect">
            <a:avLst/>
          </a:prstGeom>
          <a:solidFill>
            <a:srgbClr val="DF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896970" y="41330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+47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704088" y="427939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635300" y="4290364"/>
            <a:ext cx="614411" cy="124358"/>
          </a:xfrm>
          <a:prstGeom prst="rect">
            <a:avLst/>
          </a:prstGeom>
          <a:solidFill>
            <a:srgbClr val="C15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624328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-939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3271657" y="4290364"/>
            <a:ext cx="614411" cy="124358"/>
          </a:xfrm>
          <a:prstGeom prst="rect">
            <a:avLst/>
          </a:prstGeom>
          <a:solidFill>
            <a:srgbClr val="CA7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326068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-711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908014" y="4290364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3897042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-613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544372" y="4290364"/>
            <a:ext cx="614411" cy="124358"/>
          </a:xfrm>
          <a:prstGeom prst="rect">
            <a:avLst/>
          </a:prstGeom>
          <a:solidFill>
            <a:srgbClr val="D08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533399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-593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180729" y="4290364"/>
            <a:ext cx="614411" cy="124358"/>
          </a:xfrm>
          <a:prstGeom prst="rect">
            <a:avLst/>
          </a:prstGeom>
          <a:solidFill>
            <a:srgbClr val="D69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5169756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817086" y="4290364"/>
            <a:ext cx="614411" cy="124358"/>
          </a:xfrm>
          <a:prstGeom prst="rect">
            <a:avLst/>
          </a:prstGeom>
          <a:solidFill>
            <a:srgbClr val="E1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58061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-249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53443" y="4290364"/>
            <a:ext cx="614411" cy="124358"/>
          </a:xfrm>
          <a:prstGeom prst="rect">
            <a:avLst/>
          </a:prstGeom>
          <a:solidFill>
            <a:srgbClr val="E9C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4424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-128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089800" y="4290364"/>
            <a:ext cx="614411" cy="124358"/>
          </a:xfrm>
          <a:prstGeom prst="rect">
            <a:avLst/>
          </a:prstGeom>
          <a:solidFill>
            <a:srgbClr val="EF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7078827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-57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726157" y="4290364"/>
            <a:ext cx="614411" cy="124358"/>
          </a:xfrm>
          <a:prstGeom prst="rect">
            <a:avLst/>
          </a:prstGeom>
          <a:solidFill>
            <a:srgbClr val="F0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715184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-43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362514" y="4290364"/>
            <a:ext cx="614411" cy="124358"/>
          </a:xfrm>
          <a:prstGeom prst="rect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51541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998871" y="42903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635228" y="4290364"/>
            <a:ext cx="614411" cy="124358"/>
          </a:xfrm>
          <a:prstGeom prst="rect">
            <a:avLst/>
          </a:prstGeom>
          <a:solidFill>
            <a:srgbClr val="E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9624255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0271585" y="4290364"/>
            <a:ext cx="614411" cy="124358"/>
          </a:xfrm>
          <a:prstGeom prst="rect">
            <a:avLst/>
          </a:prstGeom>
          <a:solidFill>
            <a:srgbClr val="E9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0260613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+21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907942" y="4290364"/>
            <a:ext cx="614411" cy="124358"/>
          </a:xfrm>
          <a:prstGeom prst="rect">
            <a:avLst/>
          </a:prstGeom>
          <a:solidFill>
            <a:srgbClr val="E2E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0896970" y="427939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704088" y="44256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2635300" y="4436668"/>
            <a:ext cx="614411" cy="124358"/>
          </a:xfrm>
          <a:prstGeom prst="rect">
            <a:avLst/>
          </a:prstGeom>
          <a:solidFill>
            <a:srgbClr val="C15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262432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-948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271657" y="4436668"/>
            <a:ext cx="614411" cy="124358"/>
          </a:xfrm>
          <a:prstGeom prst="rect">
            <a:avLst/>
          </a:prstGeom>
          <a:solidFill>
            <a:srgbClr val="CA7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3260685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-720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908014" y="4436668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3897042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-623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544372" y="4436668"/>
            <a:ext cx="614411" cy="124358"/>
          </a:xfrm>
          <a:prstGeom prst="rect">
            <a:avLst/>
          </a:prstGeom>
          <a:solidFill>
            <a:srgbClr val="CF8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533399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-603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5180729" y="44366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5169756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-466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5817086" y="4436668"/>
            <a:ext cx="614411" cy="124358"/>
          </a:xfrm>
          <a:prstGeom prst="rect">
            <a:avLst/>
          </a:prstGeom>
          <a:solidFill>
            <a:srgbClr val="E1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58061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-258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6453443" y="4436668"/>
            <a:ext cx="614411" cy="124358"/>
          </a:xfrm>
          <a:prstGeom prst="rect">
            <a:avLst/>
          </a:prstGeom>
          <a:solidFill>
            <a:srgbClr val="E9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4424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-137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089800" y="4436668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7078827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726157" y="4436668"/>
            <a:ext cx="614411" cy="124358"/>
          </a:xfrm>
          <a:prstGeom prst="rect">
            <a:avLst/>
          </a:prstGeom>
          <a:solidFill>
            <a:srgbClr val="EF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7715184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8362514" y="4436668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351541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998871" y="4436668"/>
            <a:ext cx="614411" cy="124358"/>
          </a:xfrm>
          <a:prstGeom prst="rect">
            <a:avLst/>
          </a:prstGeom>
          <a:solidFill>
            <a:srgbClr val="F4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87898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9635228" y="44366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271585" y="4436668"/>
            <a:ext cx="614411" cy="124358"/>
          </a:xfrm>
          <a:prstGeom prst="rect">
            <a:avLst/>
          </a:prstGeom>
          <a:solidFill>
            <a:srgbClr val="EE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260613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+11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10907942" y="4436668"/>
            <a:ext cx="614411" cy="124358"/>
          </a:xfrm>
          <a:prstGeom prst="rect">
            <a:avLst/>
          </a:prstGeom>
          <a:solidFill>
            <a:srgbClr val="E5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896970" y="44256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704088" y="45720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2635300" y="4582972"/>
            <a:ext cx="614411" cy="124358"/>
          </a:xfrm>
          <a:prstGeom prst="rect">
            <a:avLst/>
          </a:prstGeom>
          <a:solidFill>
            <a:srgbClr val="C05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62432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-960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271657" y="4582972"/>
            <a:ext cx="614411" cy="124358"/>
          </a:xfrm>
          <a:prstGeom prst="rect">
            <a:avLst/>
          </a:prstGeom>
          <a:solidFill>
            <a:srgbClr val="CA6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326068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-731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908014" y="4582972"/>
            <a:ext cx="614411" cy="124358"/>
          </a:xfrm>
          <a:prstGeom prst="rect">
            <a:avLst/>
          </a:prstGeom>
          <a:solidFill>
            <a:srgbClr val="CE7B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3897042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-634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4544372" y="45829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4533399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-614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180729" y="4582972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5169756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-477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5817086" y="4582972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5806113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6453443" y="4582972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4424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-149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7089800" y="4582972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7078827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-77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7726157" y="4582972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7715184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-64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2514" y="4582972"/>
            <a:ext cx="614411" cy="124358"/>
          </a:xfrm>
          <a:prstGeom prst="rect">
            <a:avLst/>
          </a:prstGeom>
          <a:solidFill>
            <a:srgbClr val="F2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351541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8998871" y="4582972"/>
            <a:ext cx="614411" cy="124358"/>
          </a:xfrm>
          <a:prstGeom prst="rect">
            <a:avLst/>
          </a:prstGeom>
          <a:solidFill>
            <a:srgbClr val="F3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8987898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-21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9635228" y="4582972"/>
            <a:ext cx="614411" cy="124358"/>
          </a:xfrm>
          <a:prstGeom prst="rect">
            <a:avLst/>
          </a:prstGeom>
          <a:solidFill>
            <a:srgbClr val="F4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9624255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-11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0271585" y="45829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0907942" y="45829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0896970" y="45720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+18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704088" y="47183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  <a:r>
              <a:rPr sz="650" b="0">
                <a:solidFill>
                  <a:srgbClr val="9A958C"/>
                </a:solidFill>
                <a:latin typeface="Helvetica Neue"/>
              </a:rPr>
              <a:t>  · ya tiene tren hoy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2635300" y="4729276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262432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-977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3271657" y="4729276"/>
            <a:ext cx="614411" cy="124358"/>
          </a:xfrm>
          <a:prstGeom prst="rect">
            <a:avLst/>
          </a:prstGeom>
          <a:solidFill>
            <a:srgbClr val="C96C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326068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-749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3908014" y="4729276"/>
            <a:ext cx="614411" cy="124358"/>
          </a:xfrm>
          <a:prstGeom prst="rect">
            <a:avLst/>
          </a:prstGeom>
          <a:solidFill>
            <a:srgbClr val="CD79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3897042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-652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4544372" y="4729276"/>
            <a:ext cx="614411" cy="124358"/>
          </a:xfrm>
          <a:prstGeom prst="rect">
            <a:avLst/>
          </a:prstGeom>
          <a:solidFill>
            <a:srgbClr val="CE7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4533399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-632</a:t>
            </a:r>
          </a:p>
        </p:txBody>
      </p:sp>
      <p:sp>
        <p:nvSpPr>
          <p:cNvPr id="395" name="Rectangle 394"/>
          <p:cNvSpPr/>
          <p:nvPr/>
        </p:nvSpPr>
        <p:spPr>
          <a:xfrm>
            <a:off x="5180729" y="4729276"/>
            <a:ext cx="614411" cy="124358"/>
          </a:xfrm>
          <a:prstGeom prst="rect">
            <a:avLst/>
          </a:prstGeom>
          <a:solidFill>
            <a:srgbClr val="D4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9756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-495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817086" y="4729276"/>
            <a:ext cx="614411" cy="124358"/>
          </a:xfrm>
          <a:prstGeom prst="rect">
            <a:avLst/>
          </a:prstGeom>
          <a:solidFill>
            <a:srgbClr val="DFA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8061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-287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6453443" y="4729276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442470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-167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7089800" y="4729276"/>
            <a:ext cx="614411" cy="124358"/>
          </a:xfrm>
          <a:prstGeom prst="rect">
            <a:avLst/>
          </a:prstGeom>
          <a:solidFill>
            <a:srgbClr val="ECD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7078827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-95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7726157" y="4729276"/>
            <a:ext cx="614411" cy="124358"/>
          </a:xfrm>
          <a:prstGeom prst="rect">
            <a:avLst/>
          </a:prstGeom>
          <a:solidFill>
            <a:srgbClr val="EDD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7715184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-81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8362514" y="4729276"/>
            <a:ext cx="614411" cy="124358"/>
          </a:xfrm>
          <a:prstGeom prst="rect">
            <a:avLst/>
          </a:prstGeom>
          <a:solidFill>
            <a:srgbClr val="F0E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351541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-47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8998871" y="4729276"/>
            <a:ext cx="614411" cy="124358"/>
          </a:xfrm>
          <a:prstGeom prst="rect">
            <a:avLst/>
          </a:prstGeom>
          <a:solidFill>
            <a:srgbClr val="F1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8987898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635228" y="4729276"/>
            <a:ext cx="614411" cy="124358"/>
          </a:xfrm>
          <a:prstGeom prst="rect">
            <a:avLst/>
          </a:prstGeom>
          <a:solidFill>
            <a:srgbClr val="F2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9624255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10271585" y="4729276"/>
            <a:ext cx="614411" cy="124358"/>
          </a:xfrm>
          <a:prstGeom prst="rect">
            <a:avLst/>
          </a:prstGeom>
          <a:solidFill>
            <a:srgbClr val="F3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10260613" y="47183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-18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10907942" y="47292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58368" y="4974336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El tiempo ahorrado se valoriza al VTC de MIDESO y se capitaliza (lámina anterior). NOS ya cuenta con tren hoy: su ventaja ferroviaria está en sus tiempos actuales, no en este diferencial.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Frente a las zonas sin estación nueva, el tren agrega cerca de 977 UF a Batuco y 652 a Estación Colina. Es el argumento de precio que responde al costo del auto de Batuco.</a:t>
            </a:r>
          </a:p>
        </p:txBody>
      </p:sp>
      <p:cxnSp>
        <p:nvCxnSpPr>
          <p:cNvPr id="419" name="Connector 4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0" name="TextBox 4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recomendación central: gestionar la integración a RED. Baja el costo, sube el atractivo y depende de nosotros, no de una obra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y Estación Colina: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posición en cada indicador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604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432303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5786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16367" y="2578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967227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999232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tiempo · con la Autopista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29992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6º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6E6A64"/>
                </a:solidFill>
                <a:latin typeface="Helvetica Neue"/>
              </a:rPr>
              <a:t>8º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387851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9856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Auto · costo de manejar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7" y="341985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6º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3808476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3840480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8404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5º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229100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61104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con el tren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11º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426110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58C"/>
                </a:solidFill>
                <a:latin typeface="Helvetica Neue"/>
              </a:rPr>
              <a:t>5º 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4649724"/>
            <a:ext cx="10874959" cy="0"/>
          </a:xfrm>
          <a:prstGeom prst="bentConnector3">
            <a:avLst/>
          </a:prstGeom>
          <a:ln w="6350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46817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Transporte público · costo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4681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12º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Perfiles complementarios: Batuco es el que más gana con la infraestructura en construcción; Estación Colina ya es competitiva hoy sin depender de obra alguna.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Capturar el diferencial en UF, o mantener precio competitivo y convertirlo en velocidad de venta.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2EFE8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