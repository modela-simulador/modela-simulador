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822960"/>
            <a:ext cx="822960" cy="41148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220">
                <a:solidFill>
                  <a:srgbClr val="9A958C"/>
                </a:solidFill>
                <a:latin typeface="Helvetica Neue"/>
              </a:rPr>
              <a:t>MODELA  ·  DESARROLLO INMOBILIARIO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087495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spc="-20">
                <a:solidFill>
                  <a:srgbClr val="161616"/>
                </a:solidFill>
                <a:latin typeface="Helvetica Neue"/>
              </a:rPr>
              <a:t>¿Cuánto vale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spc="-20">
                <a:solidFill>
                  <a:srgbClr val="B07D24"/>
                </a:solidFill>
                <a:latin typeface="Helvetica Neue"/>
              </a:rPr>
              <a:t>la conectividad?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43484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E6A64"/>
                </a:solidFill>
                <a:latin typeface="Helvetica Neue"/>
              </a:rPr>
              <a:t>Cómo la accesibilidad vial y ferroviaria se traduce en valor inmobiliario, y por qué Batuco y Estación Colina compiten hoy y lideran mañana.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89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60">
                <a:solidFill>
                  <a:srgbClr val="9A958C"/>
                </a:solidFill>
                <a:latin typeface="Helvetica Neue"/>
              </a:rPr>
              <a:t>Evaluación de accesibilidad · Región Metropolitana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0127" y="5989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60">
                <a:solidFill>
                  <a:srgbClr val="9A958C"/>
                </a:solidFill>
                <a:latin typeface="Helvetica Neue"/>
              </a:rPr>
              <a:t>Documento de directorio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01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LA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">
                <a:solidFill>
                  <a:srgbClr val="161616"/>
                </a:solidFill>
                <a:latin typeface="Helvetica Neue"/>
              </a:rPr>
              <a:t>La conectividad no es un atributo: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">
                <a:solidFill>
                  <a:srgbClr val="161616"/>
                </a:solidFill>
                <a:latin typeface="Helvetica Neue"/>
              </a:rPr>
              <a:t>es valor inmobiliario medible.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A64"/>
                </a:solidFill>
                <a:latin typeface="Helvetica Neue"/>
              </a:rPr>
              <a:t>Menos tiempo y menos costo de traslado se capitalizan en cuánto puede pagar una familia por su vivienda. Medimos ese efecto, zona por zona.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20">
                <a:solidFill>
                  <a:srgbClr val="161616"/>
                </a:solidFill>
                <a:latin typeface="Helvetica Neue"/>
              </a:rPr>
              <a:t>3º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7647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1616"/>
                </a:solidFill>
                <a:latin typeface="Helvetica Neue"/>
              </a:rPr>
              <a:t>Batuco en auto, con la Autopista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4348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64"/>
                </a:solidFill>
                <a:latin typeface="Helvetica Neue"/>
              </a:rPr>
              <a:t>hoy 11º de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7287" y="30632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20">
                <a:solidFill>
                  <a:srgbClr val="B07D24"/>
                </a:solidFill>
                <a:latin typeface="Helvetica Neue"/>
              </a:rPr>
              <a:t>1º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7" y="377647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1616"/>
                </a:solidFill>
                <a:latin typeface="Helvetica Neue"/>
              </a:rPr>
              <a:t>Estación Colina en transporte público, con el tren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7" y="44348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64"/>
                </a:solidFill>
                <a:latin typeface="Helvetica Neue"/>
              </a:rPr>
              <a:t>hoy 5º de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30632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20">
                <a:solidFill>
                  <a:srgbClr val="161616"/>
                </a:solidFill>
                <a:latin typeface="Helvetica Neue"/>
              </a:rPr>
              <a:t>1 h 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7" y="377647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1616"/>
                </a:solidFill>
                <a:latin typeface="Helvetica Neue"/>
              </a:rPr>
              <a:t>menos de viaje con el tren, desde Batuco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7" y="44348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64"/>
                </a:solidFill>
                <a:latin typeface="Helvetica Neue"/>
              </a:rPr>
              <a:t>de 2h17 a 1h10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306324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20">
                <a:solidFill>
                  <a:srgbClr val="B07D24"/>
                </a:solidFill>
                <a:latin typeface="Helvetica Neue"/>
              </a:rPr>
              <a:t>+1.363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377647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1616"/>
                </a:solidFill>
                <a:latin typeface="Helvetica Neue"/>
              </a:rPr>
              <a:t>UF de Estación Colina sobre la zona peor conectada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44348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64"/>
                </a:solidFill>
                <a:latin typeface="Helvetica Neue"/>
              </a:rPr>
              <a:t>Batuco, +696 UF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2EFE8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Batuco y Estación Colina: competitivos hoy y líderes del corredor norte con la infraestructura ya en construcción.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02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AUTO ·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En auto hoy, Estación Colina está en la mitad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más rápida; Batuco es 11º de 14.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Tobalaba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1656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1865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72074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Cd. Empr.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2283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Univ.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2492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Aerop.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2700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Hospital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12909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Clínica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23118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C. Comercial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50591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Chicauma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59736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1448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9944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1656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153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1865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90362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2074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0571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2283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10780" y="2464308"/>
            <a:ext cx="973632" cy="141732"/>
          </a:xfrm>
          <a:prstGeom prst="rect">
            <a:avLst/>
          </a:prstGeom>
          <a:solidFill>
            <a:srgbClr val="5B9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2492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20988" y="2464308"/>
            <a:ext cx="973632" cy="141732"/>
          </a:xfrm>
          <a:prstGeom prst="rect">
            <a:avLst/>
          </a:prstGeom>
          <a:solidFill>
            <a:srgbClr val="88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2700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31197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2909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41406" y="2464308"/>
            <a:ext cx="973632" cy="141732"/>
          </a:xfrm>
          <a:prstGeom prst="rect">
            <a:avLst/>
          </a:prstGeom>
          <a:solidFill>
            <a:srgbClr val="85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3118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2619756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Urbanya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59736" y="2633472"/>
            <a:ext cx="973632" cy="141732"/>
          </a:xfrm>
          <a:prstGeom prst="rect">
            <a:avLst/>
          </a:prstGeom>
          <a:solidFill>
            <a:srgbClr val="7CA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41448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69944" y="2633472"/>
            <a:ext cx="973632" cy="141732"/>
          </a:xfrm>
          <a:prstGeom prst="rect">
            <a:avLst/>
          </a:prstGeom>
          <a:solidFill>
            <a:srgbClr val="5C9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1656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153" y="2633472"/>
            <a:ext cx="973632" cy="141732"/>
          </a:xfrm>
          <a:prstGeom prst="rect">
            <a:avLst/>
          </a:prstGeom>
          <a:solidFill>
            <a:srgbClr val="64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61865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90362" y="2633472"/>
            <a:ext cx="973632" cy="141732"/>
          </a:xfrm>
          <a:prstGeom prst="rect">
            <a:avLst/>
          </a:prstGeom>
          <a:solidFill>
            <a:srgbClr val="66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72074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00571" y="2633472"/>
            <a:ext cx="973632" cy="141732"/>
          </a:xfrm>
          <a:prstGeom prst="rect">
            <a:avLst/>
          </a:prstGeom>
          <a:solidFill>
            <a:srgbClr val="93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2283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10780" y="2633472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2492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20988" y="2633472"/>
            <a:ext cx="973632" cy="141732"/>
          </a:xfrm>
          <a:prstGeom prst="rect">
            <a:avLst/>
          </a:prstGeom>
          <a:solidFill>
            <a:srgbClr val="6A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2700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31197" y="2633472"/>
            <a:ext cx="973632" cy="141732"/>
          </a:xfrm>
          <a:prstGeom prst="rect">
            <a:avLst/>
          </a:prstGeom>
          <a:solidFill>
            <a:srgbClr val="85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12909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41406" y="2633472"/>
            <a:ext cx="973632" cy="141732"/>
          </a:xfrm>
          <a:prstGeom prst="rect">
            <a:avLst/>
          </a:prstGeom>
          <a:solidFill>
            <a:srgbClr val="C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23118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2788920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Ayres de Chicureo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59736" y="2802636"/>
            <a:ext cx="973632" cy="141732"/>
          </a:xfrm>
          <a:prstGeom prst="rect">
            <a:avLst/>
          </a:prstGeom>
          <a:solidFill>
            <a:srgbClr val="5B9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41448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69944" y="2802636"/>
            <a:ext cx="973632" cy="141732"/>
          </a:xfrm>
          <a:prstGeom prst="rect">
            <a:avLst/>
          </a:prstGeom>
          <a:solidFill>
            <a:srgbClr val="609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51656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80153" y="2802636"/>
            <a:ext cx="973632" cy="141732"/>
          </a:xfrm>
          <a:prstGeom prst="rect">
            <a:avLst/>
          </a:prstGeom>
          <a:solidFill>
            <a:srgbClr val="95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61865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90362" y="2802636"/>
            <a:ext cx="973632" cy="141732"/>
          </a:xfrm>
          <a:prstGeom prst="rect">
            <a:avLst/>
          </a:prstGeom>
          <a:solidFill>
            <a:srgbClr val="69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72074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00571" y="2802636"/>
            <a:ext cx="973632" cy="141732"/>
          </a:xfrm>
          <a:prstGeom prst="rect">
            <a:avLst/>
          </a:prstGeom>
          <a:solidFill>
            <a:srgbClr val="779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2283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10780" y="2802636"/>
            <a:ext cx="973632" cy="141732"/>
          </a:xfrm>
          <a:prstGeom prst="rect">
            <a:avLst/>
          </a:prstGeom>
          <a:solidFill>
            <a:srgbClr val="A6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2492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20988" y="2802636"/>
            <a:ext cx="973632" cy="141732"/>
          </a:xfrm>
          <a:prstGeom prst="rect">
            <a:avLst/>
          </a:prstGeom>
          <a:solidFill>
            <a:srgbClr val="C99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2700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31197" y="2802636"/>
            <a:ext cx="973632" cy="141732"/>
          </a:xfrm>
          <a:prstGeom prst="rect">
            <a:avLst/>
          </a:prstGeom>
          <a:solidFill>
            <a:srgbClr val="729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12909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41406" y="2802636"/>
            <a:ext cx="973632" cy="141732"/>
          </a:xfrm>
          <a:prstGeom prst="rect">
            <a:avLst/>
          </a:prstGeom>
          <a:solidFill>
            <a:srgbClr val="C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23118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3232" y="2958083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Santa Elena de Chicureo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59736" y="2971799"/>
            <a:ext cx="973632" cy="141732"/>
          </a:xfrm>
          <a:prstGeom prst="rect">
            <a:avLst/>
          </a:prstGeom>
          <a:solidFill>
            <a:srgbClr val="629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41448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69944" y="2971799"/>
            <a:ext cx="973632" cy="141732"/>
          </a:xfrm>
          <a:prstGeom prst="rect">
            <a:avLst/>
          </a:prstGeom>
          <a:solidFill>
            <a:srgbClr val="67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51656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80153" y="2971799"/>
            <a:ext cx="973632" cy="141732"/>
          </a:xfrm>
          <a:prstGeom prst="rect">
            <a:avLst/>
          </a:prstGeom>
          <a:solidFill>
            <a:srgbClr val="74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61865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90362" y="2971799"/>
            <a:ext cx="973632" cy="141732"/>
          </a:xfrm>
          <a:prstGeom prst="rect">
            <a:avLst/>
          </a:prstGeom>
          <a:solidFill>
            <a:srgbClr val="6F9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72074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00571" y="2971799"/>
            <a:ext cx="973632" cy="141732"/>
          </a:xfrm>
          <a:prstGeom prst="rect">
            <a:avLst/>
          </a:prstGeom>
          <a:solidFill>
            <a:srgbClr val="7DA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82283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10780" y="2971799"/>
            <a:ext cx="973632" cy="141732"/>
          </a:xfrm>
          <a:prstGeom prst="rect">
            <a:avLst/>
          </a:prstGeom>
          <a:solidFill>
            <a:srgbClr val="A6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92492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20988" y="2971799"/>
            <a:ext cx="973632" cy="141732"/>
          </a:xfrm>
          <a:prstGeom prst="rect">
            <a:avLst/>
          </a:prstGeom>
          <a:solidFill>
            <a:srgbClr val="CC8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02700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531197" y="2971799"/>
            <a:ext cx="973632" cy="141732"/>
          </a:xfrm>
          <a:prstGeom prst="rect">
            <a:avLst/>
          </a:prstGeom>
          <a:solidFill>
            <a:srgbClr val="7FA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512909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41406" y="2971799"/>
            <a:ext cx="973632" cy="141732"/>
          </a:xfrm>
          <a:prstGeom prst="rect">
            <a:avLst/>
          </a:prstGeom>
          <a:solidFill>
            <a:srgbClr val="CB9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23118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3232" y="3127248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Valle Grande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459736" y="3140964"/>
            <a:ext cx="973632" cy="141732"/>
          </a:xfrm>
          <a:prstGeom prst="rect">
            <a:avLst/>
          </a:prstGeom>
          <a:solidFill>
            <a:srgbClr val="87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441448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69944" y="3140964"/>
            <a:ext cx="973632" cy="141732"/>
          </a:xfrm>
          <a:prstGeom prst="rect">
            <a:avLst/>
          </a:prstGeom>
          <a:solidFill>
            <a:srgbClr val="75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51656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80153" y="3140964"/>
            <a:ext cx="973632" cy="141732"/>
          </a:xfrm>
          <a:prstGeom prst="rect">
            <a:avLst/>
          </a:prstGeom>
          <a:solidFill>
            <a:srgbClr val="6C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61865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90362" y="3140964"/>
            <a:ext cx="973632" cy="141732"/>
          </a:xfrm>
          <a:prstGeom prst="rect">
            <a:avLst/>
          </a:prstGeom>
          <a:solidFill>
            <a:srgbClr val="6F9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72074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00571" y="3140964"/>
            <a:ext cx="973632" cy="141732"/>
          </a:xfrm>
          <a:prstGeom prst="rect">
            <a:avLst/>
          </a:prstGeom>
          <a:solidFill>
            <a:srgbClr val="88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82283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10780" y="3140964"/>
            <a:ext cx="973632" cy="141732"/>
          </a:xfrm>
          <a:prstGeom prst="rect">
            <a:avLst/>
          </a:prstGeom>
          <a:solidFill>
            <a:srgbClr val="9CA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2492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60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520988" y="3140964"/>
            <a:ext cx="973632" cy="141732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02700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531197" y="3140964"/>
            <a:ext cx="973632" cy="141732"/>
          </a:xfrm>
          <a:prstGeom prst="rect">
            <a:avLst/>
          </a:prstGeom>
          <a:solidFill>
            <a:srgbClr val="9DA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512909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541406" y="3140964"/>
            <a:ext cx="973632" cy="141732"/>
          </a:xfrm>
          <a:prstGeom prst="rect">
            <a:avLst/>
          </a:prstGeom>
          <a:solidFill>
            <a:srgbClr val="ADA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523118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58368" y="3305555"/>
            <a:ext cx="1737360" cy="150876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3232" y="3296411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459736" y="3310127"/>
            <a:ext cx="973632" cy="141732"/>
          </a:xfrm>
          <a:prstGeom prst="rect">
            <a:avLst/>
          </a:prstGeom>
          <a:solidFill>
            <a:srgbClr val="8EA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441448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469944" y="3310127"/>
            <a:ext cx="973632" cy="141732"/>
          </a:xfrm>
          <a:prstGeom prst="rect">
            <a:avLst/>
          </a:prstGeom>
          <a:solidFill>
            <a:srgbClr val="7CA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451656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480153" y="3310127"/>
            <a:ext cx="973632" cy="141732"/>
          </a:xfrm>
          <a:prstGeom prst="rect">
            <a:avLst/>
          </a:prstGeom>
          <a:solidFill>
            <a:srgbClr val="74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461865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39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90362" y="3310127"/>
            <a:ext cx="973632" cy="141732"/>
          </a:xfrm>
          <a:prstGeom prst="rect">
            <a:avLst/>
          </a:prstGeom>
          <a:solidFill>
            <a:srgbClr val="75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72074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500571" y="3310127"/>
            <a:ext cx="973632" cy="141732"/>
          </a:xfrm>
          <a:prstGeom prst="rect">
            <a:avLst/>
          </a:prstGeom>
          <a:solidFill>
            <a:srgbClr val="93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82283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510780" y="3310127"/>
            <a:ext cx="973632" cy="141732"/>
          </a:xfrm>
          <a:prstGeom prst="rect">
            <a:avLst/>
          </a:prstGeom>
          <a:solidFill>
            <a:srgbClr val="A3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492492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520988" y="3310127"/>
            <a:ext cx="973632" cy="141732"/>
          </a:xfrm>
          <a:prstGeom prst="rect">
            <a:avLst/>
          </a:prstGeom>
          <a:solidFill>
            <a:srgbClr val="CC8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502700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531197" y="3310127"/>
            <a:ext cx="973632" cy="141732"/>
          </a:xfrm>
          <a:prstGeom prst="rect">
            <a:avLst/>
          </a:prstGeom>
          <a:solidFill>
            <a:srgbClr val="97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512909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44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541406" y="3310127"/>
            <a:ext cx="973632" cy="141732"/>
          </a:xfrm>
          <a:prstGeom prst="rect">
            <a:avLst/>
          </a:prstGeom>
          <a:solidFill>
            <a:srgbClr val="BA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523118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13232" y="3465575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Hacienda Batuco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459736" y="3479291"/>
            <a:ext cx="973632" cy="141732"/>
          </a:xfrm>
          <a:prstGeom prst="rect">
            <a:avLst/>
          </a:prstGeom>
          <a:solidFill>
            <a:srgbClr val="8EA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441448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469944" y="3479291"/>
            <a:ext cx="973632" cy="141732"/>
          </a:xfrm>
          <a:prstGeom prst="rect">
            <a:avLst/>
          </a:prstGeom>
          <a:solidFill>
            <a:srgbClr val="9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51656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1:17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480153" y="3479291"/>
            <a:ext cx="973632" cy="141732"/>
          </a:xfrm>
          <a:prstGeom prst="rect">
            <a:avLst/>
          </a:prstGeom>
          <a:solidFill>
            <a:srgbClr val="91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461865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490362" y="3479291"/>
            <a:ext cx="973632" cy="141732"/>
          </a:xfrm>
          <a:prstGeom prst="rect">
            <a:avLst/>
          </a:prstGeom>
          <a:solidFill>
            <a:srgbClr val="8FA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472074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1:20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500571" y="3479291"/>
            <a:ext cx="973632" cy="141732"/>
          </a:xfrm>
          <a:prstGeom prst="rect">
            <a:avLst/>
          </a:prstGeom>
          <a:solidFill>
            <a:srgbClr val="BB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482283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10780" y="3479291"/>
            <a:ext cx="973632" cy="141732"/>
          </a:xfrm>
          <a:prstGeom prst="rect">
            <a:avLst/>
          </a:prstGeom>
          <a:solidFill>
            <a:srgbClr val="BB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492492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1:09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520988" y="3479291"/>
            <a:ext cx="973632" cy="141732"/>
          </a:xfrm>
          <a:prstGeom prst="rect">
            <a:avLst/>
          </a:prstGeom>
          <a:solidFill>
            <a:srgbClr val="D06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502700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1:22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531197" y="3479291"/>
            <a:ext cx="973632" cy="141732"/>
          </a:xfrm>
          <a:prstGeom prst="rect">
            <a:avLst/>
          </a:prstGeom>
          <a:solidFill>
            <a:srgbClr val="C2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512909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51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541406" y="3479291"/>
            <a:ext cx="973632" cy="141732"/>
          </a:xfrm>
          <a:prstGeom prst="rect">
            <a:avLst/>
          </a:prstGeom>
          <a:solidFill>
            <a:srgbClr val="C9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523118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13232" y="3634739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NOS · Laguna Cóndores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59736" y="3648456"/>
            <a:ext cx="973632" cy="141732"/>
          </a:xfrm>
          <a:prstGeom prst="rect">
            <a:avLst/>
          </a:prstGeom>
          <a:solidFill>
            <a:srgbClr val="7A9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441448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1:09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469944" y="3648456"/>
            <a:ext cx="973632" cy="141732"/>
          </a:xfrm>
          <a:prstGeom prst="rect">
            <a:avLst/>
          </a:prstGeom>
          <a:solidFill>
            <a:srgbClr val="8D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451656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1:14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480153" y="3648456"/>
            <a:ext cx="973632" cy="141732"/>
          </a:xfrm>
          <a:prstGeom prst="rect">
            <a:avLst/>
          </a:prstGeom>
          <a:solidFill>
            <a:srgbClr val="B9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461865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56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490362" y="3648456"/>
            <a:ext cx="973632" cy="141732"/>
          </a:xfrm>
          <a:prstGeom prst="rect">
            <a:avLst/>
          </a:prstGeom>
          <a:solidFill>
            <a:srgbClr val="CC8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72074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1:55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500571" y="3648456"/>
            <a:ext cx="973632" cy="141732"/>
          </a:xfrm>
          <a:prstGeom prst="rect">
            <a:avLst/>
          </a:prstGeom>
          <a:solidFill>
            <a:srgbClr val="C9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482283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510780" y="3648456"/>
            <a:ext cx="973632" cy="141732"/>
          </a:xfrm>
          <a:prstGeom prst="rect">
            <a:avLst/>
          </a:prstGeom>
          <a:solidFill>
            <a:srgbClr val="CF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492492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1:35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520988" y="364845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502700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34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531197" y="3648456"/>
            <a:ext cx="973632" cy="141732"/>
          </a:xfrm>
          <a:prstGeom prst="rect">
            <a:avLst/>
          </a:prstGeom>
          <a:solidFill>
            <a:srgbClr val="D35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512909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1:12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541406" y="364845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523118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13232" y="3803904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Colina · Reina Norte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459736" y="3817620"/>
            <a:ext cx="973632" cy="141732"/>
          </a:xfrm>
          <a:prstGeom prst="rect">
            <a:avLst/>
          </a:prstGeom>
          <a:solidFill>
            <a:srgbClr val="A0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441448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1:19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469944" y="3817620"/>
            <a:ext cx="973632" cy="141732"/>
          </a:xfrm>
          <a:prstGeom prst="rect">
            <a:avLst/>
          </a:prstGeom>
          <a:solidFill>
            <a:srgbClr val="94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451656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1:16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480153" y="3817620"/>
            <a:ext cx="973632" cy="141732"/>
          </a:xfrm>
          <a:prstGeom prst="rect">
            <a:avLst/>
          </a:prstGeom>
          <a:solidFill>
            <a:srgbClr val="C99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461865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1:02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490362" y="3817620"/>
            <a:ext cx="973632" cy="141732"/>
          </a:xfrm>
          <a:prstGeom prst="rect">
            <a:avLst/>
          </a:prstGeom>
          <a:solidFill>
            <a:srgbClr val="A4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472074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1:27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500571" y="3817620"/>
            <a:ext cx="973632" cy="141732"/>
          </a:xfrm>
          <a:prstGeom prst="rect">
            <a:avLst/>
          </a:prstGeom>
          <a:solidFill>
            <a:srgbClr val="C0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482283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1:13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510780" y="3817620"/>
            <a:ext cx="973632" cy="141732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492492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1:22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520988" y="3817620"/>
            <a:ext cx="973632" cy="141732"/>
          </a:xfrm>
          <a:prstGeom prst="rect">
            <a:avLst/>
          </a:prstGeom>
          <a:solidFill>
            <a:srgbClr val="D25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502700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1:28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531197" y="3817620"/>
            <a:ext cx="973632" cy="141732"/>
          </a:xfrm>
          <a:prstGeom prst="rect">
            <a:avLst/>
          </a:prstGeom>
          <a:solidFill>
            <a:srgbClr val="C2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512909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51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541406" y="3817620"/>
            <a:ext cx="973632" cy="141732"/>
          </a:xfrm>
          <a:prstGeom prst="rect">
            <a:avLst/>
          </a:prstGeom>
          <a:solidFill>
            <a:srgbClr val="CD8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523118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51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13232" y="3973068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Buin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459736" y="3986783"/>
            <a:ext cx="973632" cy="141732"/>
          </a:xfrm>
          <a:prstGeom prst="rect">
            <a:avLst/>
          </a:prstGeom>
          <a:solidFill>
            <a:srgbClr val="CD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441448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1:45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469944" y="3986783"/>
            <a:ext cx="973632" cy="141732"/>
          </a:xfrm>
          <a:prstGeom prst="rect">
            <a:avLst/>
          </a:prstGeom>
          <a:solidFill>
            <a:srgbClr val="C9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451656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1:31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480153" y="3986783"/>
            <a:ext cx="973632" cy="141732"/>
          </a:xfrm>
          <a:prstGeom prst="rect">
            <a:avLst/>
          </a:prstGeom>
          <a:solidFill>
            <a:srgbClr val="A6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461865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51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490362" y="3986783"/>
            <a:ext cx="973632" cy="141732"/>
          </a:xfrm>
          <a:prstGeom prst="rect">
            <a:avLst/>
          </a:prstGeom>
          <a:solidFill>
            <a:srgbClr val="CD7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472074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1:59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500571" y="3986783"/>
            <a:ext cx="973632" cy="141732"/>
          </a:xfrm>
          <a:prstGeom prst="rect">
            <a:avLst/>
          </a:prstGeom>
          <a:solidFill>
            <a:srgbClr val="AAA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482283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1:09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510780" y="3986783"/>
            <a:ext cx="973632" cy="141732"/>
          </a:xfrm>
          <a:prstGeom prst="rect">
            <a:avLst/>
          </a:prstGeom>
          <a:solidFill>
            <a:srgbClr val="CC8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492492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1:26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520988" y="3986783"/>
            <a:ext cx="973632" cy="141732"/>
          </a:xfrm>
          <a:prstGeom prst="rect">
            <a:avLst/>
          </a:prstGeom>
          <a:solidFill>
            <a:srgbClr val="C9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502700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1:06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531197" y="3986783"/>
            <a:ext cx="973632" cy="141732"/>
          </a:xfrm>
          <a:prstGeom prst="rect">
            <a:avLst/>
          </a:prstGeom>
          <a:solidFill>
            <a:srgbClr val="D1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512909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1:09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541406" y="3986783"/>
            <a:ext cx="973632" cy="141732"/>
          </a:xfrm>
          <a:prstGeom prst="rect">
            <a:avLst/>
          </a:prstGeom>
          <a:solidFill>
            <a:srgbClr val="ADA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0523118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39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58368" y="4151375"/>
            <a:ext cx="1737360" cy="150876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713232" y="4142231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2459736" y="4155947"/>
            <a:ext cx="973632" cy="141732"/>
          </a:xfrm>
          <a:prstGeom prst="rect">
            <a:avLst/>
          </a:prstGeom>
          <a:solidFill>
            <a:srgbClr val="C9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441448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1:30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469944" y="4155947"/>
            <a:ext cx="973632" cy="141732"/>
          </a:xfrm>
          <a:prstGeom prst="rect">
            <a:avLst/>
          </a:prstGeom>
          <a:solidFill>
            <a:srgbClr val="C99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451656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1:34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480153" y="4155947"/>
            <a:ext cx="973632" cy="141732"/>
          </a:xfrm>
          <a:prstGeom prst="rect">
            <a:avLst/>
          </a:prstGeom>
          <a:solidFill>
            <a:srgbClr val="C9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461865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1:01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490362" y="4155947"/>
            <a:ext cx="973632" cy="141732"/>
          </a:xfrm>
          <a:prstGeom prst="rect">
            <a:avLst/>
          </a:prstGeom>
          <a:solidFill>
            <a:srgbClr val="C99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472074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1:42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500571" y="4155947"/>
            <a:ext cx="973632" cy="141732"/>
          </a:xfrm>
          <a:prstGeom prst="rect">
            <a:avLst/>
          </a:prstGeom>
          <a:solidFill>
            <a:srgbClr val="CF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482283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1:28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510780" y="4155947"/>
            <a:ext cx="973632" cy="141732"/>
          </a:xfrm>
          <a:prstGeom prst="rect">
            <a:avLst/>
          </a:prstGeom>
          <a:solidFill>
            <a:srgbClr val="BE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7492492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1:10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520988" y="4155947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502700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1:36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531197" y="4155947"/>
            <a:ext cx="973632" cy="141732"/>
          </a:xfrm>
          <a:prstGeom prst="rect">
            <a:avLst/>
          </a:prstGeom>
          <a:solidFill>
            <a:srgbClr val="CF7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9512909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1:05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541406" y="4155947"/>
            <a:ext cx="973632" cy="141732"/>
          </a:xfrm>
          <a:prstGeom prst="rect">
            <a:avLst/>
          </a:prstGeom>
          <a:solidFill>
            <a:srgbClr val="CD8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0523118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51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13232" y="4311396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Larapinta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459736" y="4325112"/>
            <a:ext cx="973632" cy="141732"/>
          </a:xfrm>
          <a:prstGeom prst="rect">
            <a:avLst/>
          </a:prstGeom>
          <a:solidFill>
            <a:srgbClr val="CC8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2441448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1:42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469944" y="4325112"/>
            <a:ext cx="973632" cy="141732"/>
          </a:xfrm>
          <a:prstGeom prst="rect">
            <a:avLst/>
          </a:prstGeom>
          <a:solidFill>
            <a:srgbClr val="CB9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3451656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1:39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4480153" y="4325112"/>
            <a:ext cx="973632" cy="141732"/>
          </a:xfrm>
          <a:prstGeom prst="rect">
            <a:avLst/>
          </a:prstGeom>
          <a:solidFill>
            <a:srgbClr val="CA9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4461865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1:04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490362" y="4325112"/>
            <a:ext cx="973632" cy="141732"/>
          </a:xfrm>
          <a:prstGeom prst="rect">
            <a:avLst/>
          </a:prstGeom>
          <a:solidFill>
            <a:srgbClr val="C99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5472074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1:41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6500571" y="4325112"/>
            <a:ext cx="973632" cy="141732"/>
          </a:xfrm>
          <a:prstGeom prst="rect">
            <a:avLst/>
          </a:prstGeom>
          <a:solidFill>
            <a:srgbClr val="D16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6482283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1:32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7510780" y="4325112"/>
            <a:ext cx="973632" cy="141732"/>
          </a:xfrm>
          <a:prstGeom prst="rect">
            <a:avLst/>
          </a:prstGeom>
          <a:solidFill>
            <a:srgbClr val="99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7492492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59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8520988" y="4325112"/>
            <a:ext cx="973632" cy="141732"/>
          </a:xfrm>
          <a:prstGeom prst="rect">
            <a:avLst/>
          </a:prstGeom>
          <a:solidFill>
            <a:srgbClr val="CE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8502700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1:18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9531197" y="4325112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9512909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1:17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0541406" y="4325112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0523118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1:06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13232" y="4480559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Laguna del Sol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2459736" y="4494275"/>
            <a:ext cx="973632" cy="141732"/>
          </a:xfrm>
          <a:prstGeom prst="rect">
            <a:avLst/>
          </a:prstGeom>
          <a:solidFill>
            <a:srgbClr val="D4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441448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2:08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3469944" y="4494275"/>
            <a:ext cx="973632" cy="141732"/>
          </a:xfrm>
          <a:prstGeom prst="rect">
            <a:avLst/>
          </a:prstGeom>
          <a:solidFill>
            <a:srgbClr val="CE7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3451656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1:51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4480153" y="4494275"/>
            <a:ext cx="973632" cy="141732"/>
          </a:xfrm>
          <a:prstGeom prst="rect">
            <a:avLst/>
          </a:prstGeom>
          <a:solidFill>
            <a:srgbClr val="D1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4461865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1:25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490362" y="4494275"/>
            <a:ext cx="973632" cy="141732"/>
          </a:xfrm>
          <a:prstGeom prst="rect">
            <a:avLst/>
          </a:prstGeom>
          <a:solidFill>
            <a:srgbClr val="D16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472074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2:12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500571" y="4494275"/>
            <a:ext cx="973632" cy="141732"/>
          </a:xfrm>
          <a:prstGeom prst="rect">
            <a:avLst/>
          </a:prstGeom>
          <a:solidFill>
            <a:srgbClr val="CF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482283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1:29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510780" y="4494275"/>
            <a:ext cx="973632" cy="141732"/>
          </a:xfrm>
          <a:prstGeom prst="rect">
            <a:avLst/>
          </a:prstGeom>
          <a:solidFill>
            <a:srgbClr val="CE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7492492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1:32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8520988" y="4494275"/>
            <a:ext cx="973632" cy="141732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502700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1:11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9531197" y="4494275"/>
            <a:ext cx="973632" cy="141732"/>
          </a:xfrm>
          <a:prstGeom prst="rect">
            <a:avLst/>
          </a:prstGeom>
          <a:solidFill>
            <a:srgbClr val="D35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512909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1:12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0541406" y="4494275"/>
            <a:ext cx="973632" cy="141732"/>
          </a:xfrm>
          <a:prstGeom prst="rect">
            <a:avLst/>
          </a:prstGeom>
          <a:solidFill>
            <a:srgbClr val="CF7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0523118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54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713232" y="4649723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El Peñón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459736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2441448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2:12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469944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3451656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2:15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4480153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4461865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1:37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5490362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5472074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2:32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6500571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6482283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1:42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7510780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7492492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1:58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8520988" y="4663439"/>
            <a:ext cx="973632" cy="141732"/>
          </a:xfrm>
          <a:prstGeom prst="rect">
            <a:avLst/>
          </a:prstGeom>
          <a:solidFill>
            <a:srgbClr val="6A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8502700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46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9531197" y="4663439"/>
            <a:ext cx="973632" cy="141732"/>
          </a:xfrm>
          <a:prstGeom prst="rect">
            <a:avLst/>
          </a:prstGeom>
          <a:solidFill>
            <a:srgbClr val="D44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9512909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1:15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10541406" y="4663439"/>
            <a:ext cx="973632" cy="141732"/>
          </a:xfrm>
          <a:prstGeom prst="rect">
            <a:avLst/>
          </a:prstGeom>
          <a:solidFill>
            <a:srgbClr val="A0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10523118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37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658368" y="4901184"/>
            <a:ext cx="10607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Minutos puerta a puerta (h:mm). Color por columna: verde = la más cercana a ese destino, rojo = la más lejana. Filas ordenadas por el promedio a los 9 destinos.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2EFE8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Batuco en auto es la debilidad precisa que la Autopista corrige: de 11º a 3º de 14.</a:t>
            </a:r>
          </a:p>
        </p:txBody>
      </p:sp>
      <p:cxnSp>
        <p:nvCxnSpPr>
          <p:cNvPr id="287" name="Connector 286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TextBox 287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03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AUTO · COSTO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El costo de manejar limita a Batuco: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alto hacia la mayoría de los destinos.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Tobalaba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1656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1865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72074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Cd. Empr.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2283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Univ.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2492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Aerop.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2700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Hospital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12909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Clínica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23118" y="2212848"/>
            <a:ext cx="1010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E6A64"/>
                </a:solidFill>
                <a:latin typeface="Helvetica Neue"/>
              </a:rPr>
              <a:t>C. Comercial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50591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Valle Grande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59736" y="2464308"/>
            <a:ext cx="973632" cy="141732"/>
          </a:xfrm>
          <a:prstGeom prst="rect">
            <a:avLst/>
          </a:prstGeom>
          <a:solidFill>
            <a:srgbClr val="A3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1448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367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9944" y="2464308"/>
            <a:ext cx="973632" cy="141732"/>
          </a:xfrm>
          <a:prstGeom prst="rect">
            <a:avLst/>
          </a:prstGeom>
          <a:solidFill>
            <a:srgbClr val="38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1656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265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153" y="2464308"/>
            <a:ext cx="973632" cy="141732"/>
          </a:xfrm>
          <a:prstGeom prst="rect">
            <a:avLst/>
          </a:prstGeom>
          <a:solidFill>
            <a:srgbClr val="789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1865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107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90362" y="2464308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2074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0571" y="2464308"/>
            <a:ext cx="973632" cy="141732"/>
          </a:xfrm>
          <a:prstGeom prst="rect">
            <a:avLst/>
          </a:prstGeom>
          <a:solidFill>
            <a:srgbClr val="6B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2283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233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10780" y="2464308"/>
            <a:ext cx="973632" cy="141732"/>
          </a:xfrm>
          <a:prstGeom prst="rect">
            <a:avLst/>
          </a:prstGeom>
          <a:solidFill>
            <a:srgbClr val="36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2492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85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20988" y="2464308"/>
            <a:ext cx="973632" cy="141732"/>
          </a:xfrm>
          <a:prstGeom prst="rect">
            <a:avLst/>
          </a:prstGeom>
          <a:solidFill>
            <a:srgbClr val="9EA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2700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266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31197" y="2464308"/>
            <a:ext cx="973632" cy="141732"/>
          </a:xfrm>
          <a:prstGeom prst="rect">
            <a:avLst/>
          </a:prstGeom>
          <a:solidFill>
            <a:srgbClr val="33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2909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41406" y="2464308"/>
            <a:ext cx="973632" cy="141732"/>
          </a:xfrm>
          <a:prstGeom prst="rect">
            <a:avLst/>
          </a:prstGeom>
          <a:solidFill>
            <a:srgbClr val="3B9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3118" y="245059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2619756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Urbanya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59736" y="2633472"/>
            <a:ext cx="973632" cy="141732"/>
          </a:xfrm>
          <a:prstGeom prst="rect">
            <a:avLst/>
          </a:prstGeom>
          <a:solidFill>
            <a:srgbClr val="CA9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41448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462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69944" y="2633472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1656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256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153" y="2633472"/>
            <a:ext cx="973632" cy="141732"/>
          </a:xfrm>
          <a:prstGeom prst="rect">
            <a:avLst/>
          </a:prstGeom>
          <a:solidFill>
            <a:srgbClr val="69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61865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94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90362" y="2633472"/>
            <a:ext cx="973632" cy="141732"/>
          </a:xfrm>
          <a:prstGeom prst="rect">
            <a:avLst/>
          </a:prstGeom>
          <a:solidFill>
            <a:srgbClr val="549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72074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385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00571" y="2633472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2283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94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10780" y="2633472"/>
            <a:ext cx="973632" cy="141732"/>
          </a:xfrm>
          <a:prstGeom prst="rect">
            <a:avLst/>
          </a:prstGeom>
          <a:solidFill>
            <a:srgbClr val="33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2492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20988" y="2633472"/>
            <a:ext cx="973632" cy="141732"/>
          </a:xfrm>
          <a:prstGeom prst="rect">
            <a:avLst/>
          </a:prstGeom>
          <a:solidFill>
            <a:srgbClr val="68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2700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148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31197" y="2633472"/>
            <a:ext cx="973632" cy="141732"/>
          </a:xfrm>
          <a:prstGeom prst="rect">
            <a:avLst/>
          </a:prstGeom>
          <a:solidFill>
            <a:srgbClr val="64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12909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137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41406" y="2633472"/>
            <a:ext cx="973632" cy="141732"/>
          </a:xfrm>
          <a:prstGeom prst="rect">
            <a:avLst/>
          </a:prstGeom>
          <a:solidFill>
            <a:srgbClr val="9BA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23118" y="261975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2788920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Chicauma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59736" y="2802636"/>
            <a:ext cx="973632" cy="141732"/>
          </a:xfrm>
          <a:prstGeom prst="rect">
            <a:avLst/>
          </a:prstGeom>
          <a:solidFill>
            <a:srgbClr val="A3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41448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368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69944" y="2802636"/>
            <a:ext cx="973632" cy="141732"/>
          </a:xfrm>
          <a:prstGeom prst="rect">
            <a:avLst/>
          </a:prstGeom>
          <a:solidFill>
            <a:srgbClr val="38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51656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266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80153" y="2802636"/>
            <a:ext cx="973632" cy="141732"/>
          </a:xfrm>
          <a:prstGeom prst="rect">
            <a:avLst/>
          </a:prstGeom>
          <a:solidFill>
            <a:srgbClr val="789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61865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107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90362" y="2802636"/>
            <a:ext cx="973632" cy="141732"/>
          </a:xfrm>
          <a:prstGeom prst="rect">
            <a:avLst/>
          </a:prstGeom>
          <a:solidFill>
            <a:srgbClr val="309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72074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293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00571" y="2802636"/>
            <a:ext cx="973632" cy="141732"/>
          </a:xfrm>
          <a:prstGeom prst="rect">
            <a:avLst/>
          </a:prstGeom>
          <a:solidFill>
            <a:srgbClr val="6B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2283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233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10780" y="2802636"/>
            <a:ext cx="973632" cy="141732"/>
          </a:xfrm>
          <a:prstGeom prst="rect">
            <a:avLst/>
          </a:prstGeom>
          <a:solidFill>
            <a:srgbClr val="9AA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2492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289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20988" y="2802636"/>
            <a:ext cx="973632" cy="141732"/>
          </a:xfrm>
          <a:prstGeom prst="rect">
            <a:avLst/>
          </a:prstGeom>
          <a:solidFill>
            <a:srgbClr val="9EA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2700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266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31197" y="280263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12909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41406" y="2802636"/>
            <a:ext cx="973632" cy="141732"/>
          </a:xfrm>
          <a:prstGeom prst="rect">
            <a:avLst/>
          </a:prstGeom>
          <a:solidFill>
            <a:srgbClr val="A9A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23118" y="2788920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3232" y="2958083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Larapinta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59736" y="2971799"/>
            <a:ext cx="973632" cy="141732"/>
          </a:xfrm>
          <a:prstGeom prst="rect">
            <a:avLst/>
          </a:prstGeom>
          <a:solidFill>
            <a:srgbClr val="C99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41448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447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69944" y="2971799"/>
            <a:ext cx="973632" cy="141732"/>
          </a:xfrm>
          <a:prstGeom prst="rect">
            <a:avLst/>
          </a:prstGeom>
          <a:solidFill>
            <a:srgbClr val="8A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51656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346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80153" y="2971799"/>
            <a:ext cx="973632" cy="141732"/>
          </a:xfrm>
          <a:prstGeom prst="rect">
            <a:avLst/>
          </a:prstGeom>
          <a:solidFill>
            <a:srgbClr val="8A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61865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123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90362" y="2971799"/>
            <a:ext cx="973632" cy="141732"/>
          </a:xfrm>
          <a:prstGeom prst="rect">
            <a:avLst/>
          </a:prstGeom>
          <a:solidFill>
            <a:srgbClr val="4E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72074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370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00571" y="2971799"/>
            <a:ext cx="973632" cy="141732"/>
          </a:xfrm>
          <a:prstGeom prst="rect">
            <a:avLst/>
          </a:prstGeom>
          <a:solidFill>
            <a:srgbClr val="8EA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82283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313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10780" y="2971799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92492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71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20988" y="2971799"/>
            <a:ext cx="973632" cy="141732"/>
          </a:xfrm>
          <a:prstGeom prst="rect">
            <a:avLst/>
          </a:prstGeom>
          <a:solidFill>
            <a:srgbClr val="75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02700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175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531197" y="2971799"/>
            <a:ext cx="973632" cy="141732"/>
          </a:xfrm>
          <a:prstGeom prst="rect">
            <a:avLst/>
          </a:prstGeom>
          <a:solidFill>
            <a:srgbClr val="75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512909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163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41406" y="2971799"/>
            <a:ext cx="973632" cy="141732"/>
          </a:xfrm>
          <a:prstGeom prst="rect">
            <a:avLst/>
          </a:prstGeom>
          <a:solidFill>
            <a:srgbClr val="8A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23118" y="295808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3232" y="3127248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Laguna del Sol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459736" y="3140964"/>
            <a:ext cx="973632" cy="141732"/>
          </a:xfrm>
          <a:prstGeom prst="rect">
            <a:avLst/>
          </a:prstGeom>
          <a:solidFill>
            <a:srgbClr val="C6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441448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427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69944" y="3140964"/>
            <a:ext cx="973632" cy="141732"/>
          </a:xfrm>
          <a:prstGeom prst="rect">
            <a:avLst/>
          </a:prstGeom>
          <a:solidFill>
            <a:srgbClr val="4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51656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288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80153" y="3140964"/>
            <a:ext cx="973632" cy="141732"/>
          </a:xfrm>
          <a:prstGeom prst="rect">
            <a:avLst/>
          </a:prstGeom>
          <a:solidFill>
            <a:srgbClr val="CF7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61865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250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90362" y="3140964"/>
            <a:ext cx="973632" cy="141732"/>
          </a:xfrm>
          <a:prstGeom prst="rect">
            <a:avLst/>
          </a:prstGeom>
          <a:solidFill>
            <a:srgbClr val="8A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72074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519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00571" y="3140964"/>
            <a:ext cx="973632" cy="141732"/>
          </a:xfrm>
          <a:prstGeom prst="rect">
            <a:avLst/>
          </a:prstGeom>
          <a:solidFill>
            <a:srgbClr val="6C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82283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236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10780" y="3140964"/>
            <a:ext cx="973632" cy="141732"/>
          </a:xfrm>
          <a:prstGeom prst="rect">
            <a:avLst/>
          </a:prstGeom>
          <a:solidFill>
            <a:srgbClr val="B4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2492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342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520988" y="3140964"/>
            <a:ext cx="973632" cy="141732"/>
          </a:xfrm>
          <a:prstGeom prst="rect">
            <a:avLst/>
          </a:prstGeom>
          <a:solidFill>
            <a:srgbClr val="489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02700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77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531197" y="3140964"/>
            <a:ext cx="973632" cy="141732"/>
          </a:xfrm>
          <a:prstGeom prst="rect">
            <a:avLst/>
          </a:prstGeom>
          <a:solidFill>
            <a:srgbClr val="74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512909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162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541406" y="3140964"/>
            <a:ext cx="973632" cy="141732"/>
          </a:xfrm>
          <a:prstGeom prst="rect">
            <a:avLst/>
          </a:prstGeom>
          <a:solidFill>
            <a:srgbClr val="609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523118" y="312724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58368" y="3305555"/>
            <a:ext cx="1737360" cy="150876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3232" y="3296411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459736" y="3310127"/>
            <a:ext cx="973632" cy="141732"/>
          </a:xfrm>
          <a:prstGeom prst="rect">
            <a:avLst/>
          </a:prstGeom>
          <a:solidFill>
            <a:srgbClr val="C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441448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431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469944" y="3310127"/>
            <a:ext cx="973632" cy="141732"/>
          </a:xfrm>
          <a:prstGeom prst="rect">
            <a:avLst/>
          </a:prstGeom>
          <a:solidFill>
            <a:srgbClr val="789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451656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328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480153" y="3310127"/>
            <a:ext cx="973632" cy="141732"/>
          </a:xfrm>
          <a:prstGeom prst="rect">
            <a:avLst/>
          </a:prstGeom>
          <a:solidFill>
            <a:srgbClr val="BE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461865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170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90362" y="3310127"/>
            <a:ext cx="973632" cy="141732"/>
          </a:xfrm>
          <a:prstGeom prst="rect">
            <a:avLst/>
          </a:prstGeom>
          <a:solidFill>
            <a:srgbClr val="499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72074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356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500571" y="3310127"/>
            <a:ext cx="973632" cy="141732"/>
          </a:xfrm>
          <a:prstGeom prst="rect">
            <a:avLst/>
          </a:prstGeom>
          <a:solidFill>
            <a:srgbClr val="86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82283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295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510780" y="3310127"/>
            <a:ext cx="973632" cy="141732"/>
          </a:xfrm>
          <a:prstGeom prst="rect">
            <a:avLst/>
          </a:prstGeom>
          <a:solidFill>
            <a:srgbClr val="B9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492492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352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520988" y="3310127"/>
            <a:ext cx="973632" cy="141732"/>
          </a:xfrm>
          <a:prstGeom prst="rect">
            <a:avLst/>
          </a:prstGeom>
          <a:solidFill>
            <a:srgbClr val="BB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502700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329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531197" y="3310127"/>
            <a:ext cx="973632" cy="141732"/>
          </a:xfrm>
          <a:prstGeom prst="rect">
            <a:avLst/>
          </a:prstGeom>
          <a:solidFill>
            <a:srgbClr val="539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512909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110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541406" y="3310127"/>
            <a:ext cx="973632" cy="141732"/>
          </a:xfrm>
          <a:prstGeom prst="rect">
            <a:avLst/>
          </a:prstGeom>
          <a:solidFill>
            <a:srgbClr val="CA9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523118" y="329641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169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13232" y="3465575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NOS · Laguna Cóndores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459736" y="3479291"/>
            <a:ext cx="973632" cy="141732"/>
          </a:xfrm>
          <a:prstGeom prst="rect">
            <a:avLst/>
          </a:prstGeom>
          <a:solidFill>
            <a:srgbClr val="CE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441448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541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469944" y="3479291"/>
            <a:ext cx="973632" cy="141732"/>
          </a:xfrm>
          <a:prstGeom prst="rect">
            <a:avLst/>
          </a:prstGeom>
          <a:solidFill>
            <a:srgbClr val="C3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51656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402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480153" y="3479291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461865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490362" y="3479291"/>
            <a:ext cx="973632" cy="141732"/>
          </a:xfrm>
          <a:prstGeom prst="rect">
            <a:avLst/>
          </a:prstGeom>
          <a:solidFill>
            <a:srgbClr val="B7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472074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633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500571" y="3479291"/>
            <a:ext cx="973632" cy="141732"/>
          </a:xfrm>
          <a:prstGeom prst="rect">
            <a:avLst/>
          </a:prstGeom>
          <a:solidFill>
            <a:srgbClr val="559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482283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184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10780" y="3479291"/>
            <a:ext cx="973632" cy="141732"/>
          </a:xfrm>
          <a:prstGeom prst="rect">
            <a:avLst/>
          </a:prstGeom>
          <a:solidFill>
            <a:srgbClr val="CF7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492492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539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520988" y="3479291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502700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531197" y="3479291"/>
            <a:ext cx="973632" cy="141732"/>
          </a:xfrm>
          <a:prstGeom prst="rect">
            <a:avLst/>
          </a:prstGeom>
          <a:solidFill>
            <a:srgbClr val="80A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512909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181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541406" y="3479291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523118" y="3465575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18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13232" y="3634739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El Peñón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59736" y="3648456"/>
            <a:ext cx="973632" cy="141732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441448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168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469944" y="3648456"/>
            <a:ext cx="973632" cy="141732"/>
          </a:xfrm>
          <a:prstGeom prst="rect">
            <a:avLst/>
          </a:prstGeom>
          <a:solidFill>
            <a:srgbClr val="C7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451656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406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480153" y="3648456"/>
            <a:ext cx="973632" cy="141732"/>
          </a:xfrm>
          <a:prstGeom prst="rect">
            <a:avLst/>
          </a:prstGeom>
          <a:solidFill>
            <a:srgbClr val="CD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461865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223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490362" y="3648456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72074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1066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500571" y="3648456"/>
            <a:ext cx="973632" cy="141732"/>
          </a:xfrm>
          <a:prstGeom prst="rect">
            <a:avLst/>
          </a:prstGeom>
          <a:solidFill>
            <a:srgbClr val="2F9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482283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96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510780" y="3648456"/>
            <a:ext cx="973632" cy="141732"/>
          </a:xfrm>
          <a:prstGeom prst="rect">
            <a:avLst/>
          </a:prstGeom>
          <a:solidFill>
            <a:srgbClr val="CF7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492492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540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520988" y="3648456"/>
            <a:ext cx="973632" cy="141732"/>
          </a:xfrm>
          <a:prstGeom prst="rect">
            <a:avLst/>
          </a:prstGeom>
          <a:solidFill>
            <a:srgbClr val="37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502700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39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531197" y="3648456"/>
            <a:ext cx="973632" cy="141732"/>
          </a:xfrm>
          <a:prstGeom prst="rect">
            <a:avLst/>
          </a:prstGeom>
          <a:solidFill>
            <a:srgbClr val="35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512909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64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541406" y="3648456"/>
            <a:ext cx="973632" cy="141732"/>
          </a:xfrm>
          <a:prstGeom prst="rect">
            <a:avLst/>
          </a:prstGeom>
          <a:solidFill>
            <a:srgbClr val="3D9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523118" y="363473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13232" y="3803904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Santa Elena de Chicureo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459736" y="3817620"/>
            <a:ext cx="973632" cy="141732"/>
          </a:xfrm>
          <a:prstGeom prst="rect">
            <a:avLst/>
          </a:prstGeom>
          <a:solidFill>
            <a:srgbClr val="B0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441448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390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469944" y="3817620"/>
            <a:ext cx="973632" cy="141732"/>
          </a:xfrm>
          <a:prstGeom prst="rect">
            <a:avLst/>
          </a:prstGeom>
          <a:solidFill>
            <a:srgbClr val="CA9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451656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428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480153" y="3817620"/>
            <a:ext cx="973632" cy="141732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461865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217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490362" y="3817620"/>
            <a:ext cx="973632" cy="141732"/>
          </a:xfrm>
          <a:prstGeom prst="rect">
            <a:avLst/>
          </a:prstGeom>
          <a:solidFill>
            <a:srgbClr val="38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472074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313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500571" y="3817620"/>
            <a:ext cx="973632" cy="141732"/>
          </a:xfrm>
          <a:prstGeom prst="rect">
            <a:avLst/>
          </a:prstGeom>
          <a:solidFill>
            <a:srgbClr val="C99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482283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466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510780" y="3817620"/>
            <a:ext cx="973632" cy="141732"/>
          </a:xfrm>
          <a:prstGeom prst="rect">
            <a:avLst/>
          </a:prstGeom>
          <a:solidFill>
            <a:srgbClr val="CA9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492492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415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520988" y="3817620"/>
            <a:ext cx="973632" cy="141732"/>
          </a:xfrm>
          <a:prstGeom prst="rect">
            <a:avLst/>
          </a:prstGeom>
          <a:solidFill>
            <a:srgbClr val="C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502700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432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531197" y="3817620"/>
            <a:ext cx="973632" cy="141732"/>
          </a:xfrm>
          <a:prstGeom prst="rect">
            <a:avLst/>
          </a:prstGeom>
          <a:solidFill>
            <a:srgbClr val="5C9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512909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124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541406" y="3817620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523118" y="3803904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294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13232" y="3973068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Hacienda Batuco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459736" y="3986783"/>
            <a:ext cx="973632" cy="141732"/>
          </a:xfrm>
          <a:prstGeom prst="rect">
            <a:avLst/>
          </a:prstGeom>
          <a:solidFill>
            <a:srgbClr val="CC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441448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495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469944" y="3986783"/>
            <a:ext cx="973632" cy="141732"/>
          </a:xfrm>
          <a:prstGeom prst="rect">
            <a:avLst/>
          </a:prstGeom>
          <a:solidFill>
            <a:srgbClr val="B9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451656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392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480153" y="3986783"/>
            <a:ext cx="973632" cy="141732"/>
          </a:xfrm>
          <a:prstGeom prst="rect">
            <a:avLst/>
          </a:prstGeom>
          <a:solidFill>
            <a:srgbClr val="CE7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461865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234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490362" y="3986783"/>
            <a:ext cx="973632" cy="141732"/>
          </a:xfrm>
          <a:prstGeom prst="rect">
            <a:avLst/>
          </a:prstGeom>
          <a:solidFill>
            <a:srgbClr val="629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472074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420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500571" y="3986783"/>
            <a:ext cx="973632" cy="141732"/>
          </a:xfrm>
          <a:prstGeom prst="rect">
            <a:avLst/>
          </a:prstGeom>
          <a:solidFill>
            <a:srgbClr val="A2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482283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359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510780" y="3986783"/>
            <a:ext cx="973632" cy="141732"/>
          </a:xfrm>
          <a:prstGeom prst="rect">
            <a:avLst/>
          </a:prstGeom>
          <a:solidFill>
            <a:srgbClr val="CA9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492492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416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520988" y="3986783"/>
            <a:ext cx="973632" cy="141732"/>
          </a:xfrm>
          <a:prstGeom prst="rect">
            <a:avLst/>
          </a:prstGeom>
          <a:solidFill>
            <a:srgbClr val="CA9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502700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393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531197" y="3986783"/>
            <a:ext cx="973632" cy="141732"/>
          </a:xfrm>
          <a:prstGeom prst="rect">
            <a:avLst/>
          </a:prstGeom>
          <a:solidFill>
            <a:srgbClr val="7CA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512909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174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541406" y="3986783"/>
            <a:ext cx="973632" cy="141732"/>
          </a:xfrm>
          <a:prstGeom prst="rect">
            <a:avLst/>
          </a:prstGeom>
          <a:solidFill>
            <a:srgbClr val="D06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0523118" y="3973068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233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58368" y="4151375"/>
            <a:ext cx="1737360" cy="150876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713232" y="4142231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2459736" y="4155947"/>
            <a:ext cx="973632" cy="141732"/>
          </a:xfrm>
          <a:prstGeom prst="rect">
            <a:avLst/>
          </a:prstGeom>
          <a:solidFill>
            <a:srgbClr val="CC8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441448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503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469944" y="4155947"/>
            <a:ext cx="973632" cy="141732"/>
          </a:xfrm>
          <a:prstGeom prst="rect">
            <a:avLst/>
          </a:prstGeom>
          <a:solidFill>
            <a:srgbClr val="C2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451656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401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480153" y="4155947"/>
            <a:ext cx="973632" cy="141732"/>
          </a:xfrm>
          <a:prstGeom prst="rect">
            <a:avLst/>
          </a:prstGeom>
          <a:solidFill>
            <a:srgbClr val="CE7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461865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243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490362" y="4155947"/>
            <a:ext cx="973632" cy="141732"/>
          </a:xfrm>
          <a:prstGeom prst="rect">
            <a:avLst/>
          </a:prstGeom>
          <a:solidFill>
            <a:srgbClr val="66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472074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429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500571" y="4155947"/>
            <a:ext cx="973632" cy="141732"/>
          </a:xfrm>
          <a:prstGeom prst="rect">
            <a:avLst/>
          </a:prstGeom>
          <a:solidFill>
            <a:srgbClr val="A6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482283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368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510780" y="4155947"/>
            <a:ext cx="973632" cy="141732"/>
          </a:xfrm>
          <a:prstGeom prst="rect">
            <a:avLst/>
          </a:prstGeom>
          <a:solidFill>
            <a:srgbClr val="CA9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7492492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425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520988" y="4155947"/>
            <a:ext cx="973632" cy="141732"/>
          </a:xfrm>
          <a:prstGeom prst="rect">
            <a:avLst/>
          </a:prstGeom>
          <a:solidFill>
            <a:srgbClr val="CA9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502700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402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531197" y="4155947"/>
            <a:ext cx="973632" cy="141732"/>
          </a:xfrm>
          <a:prstGeom prst="rect">
            <a:avLst/>
          </a:prstGeom>
          <a:solidFill>
            <a:srgbClr val="81A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9512909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183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541406" y="4155947"/>
            <a:ext cx="973632" cy="141732"/>
          </a:xfrm>
          <a:prstGeom prst="rect">
            <a:avLst/>
          </a:prstGeom>
          <a:solidFill>
            <a:srgbClr val="D16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0523118" y="4142231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242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13232" y="4311396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Colina · Reina Norte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459736" y="4325112"/>
            <a:ext cx="973632" cy="141732"/>
          </a:xfrm>
          <a:prstGeom prst="rect">
            <a:avLst/>
          </a:prstGeom>
          <a:solidFill>
            <a:srgbClr val="CB9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2441448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473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469944" y="4325112"/>
            <a:ext cx="973632" cy="141732"/>
          </a:xfrm>
          <a:prstGeom prst="rect">
            <a:avLst/>
          </a:prstGeom>
          <a:solidFill>
            <a:srgbClr val="D16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3451656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509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4480153" y="4325112"/>
            <a:ext cx="973632" cy="141732"/>
          </a:xfrm>
          <a:prstGeom prst="rect">
            <a:avLst/>
          </a:prstGeom>
          <a:solidFill>
            <a:srgbClr val="D45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4461865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299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490362" y="4325112"/>
            <a:ext cx="973632" cy="141732"/>
          </a:xfrm>
          <a:prstGeom prst="rect">
            <a:avLst/>
          </a:prstGeom>
          <a:solidFill>
            <a:srgbClr val="599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5472074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396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6500571" y="4325112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6482283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803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7510780" y="4325112"/>
            <a:ext cx="973632" cy="141732"/>
          </a:xfrm>
          <a:prstGeom prst="rect">
            <a:avLst/>
          </a:prstGeom>
          <a:solidFill>
            <a:srgbClr val="CD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7492492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496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8520988" y="4325112"/>
            <a:ext cx="973632" cy="141732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8502700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427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9531197" y="4325112"/>
            <a:ext cx="973632" cy="141732"/>
          </a:xfrm>
          <a:prstGeom prst="rect">
            <a:avLst/>
          </a:prstGeom>
          <a:solidFill>
            <a:srgbClr val="91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9512909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207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0541406" y="4325112"/>
            <a:ext cx="973632" cy="141732"/>
          </a:xfrm>
          <a:prstGeom prst="rect">
            <a:avLst/>
          </a:prstGeom>
          <a:solidFill>
            <a:srgbClr val="D54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0523118" y="4311396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293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13232" y="4480559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Ayres de Chicureo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2459736" y="4494275"/>
            <a:ext cx="973632" cy="141732"/>
          </a:xfrm>
          <a:prstGeom prst="rect">
            <a:avLst/>
          </a:prstGeom>
          <a:solidFill>
            <a:srgbClr val="CA9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441448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461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3469944" y="4494275"/>
            <a:ext cx="973632" cy="141732"/>
          </a:xfrm>
          <a:prstGeom prst="rect">
            <a:avLst/>
          </a:prstGeom>
          <a:solidFill>
            <a:srgbClr val="D06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3451656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500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4480153" y="4494275"/>
            <a:ext cx="973632" cy="141732"/>
          </a:xfrm>
          <a:prstGeom prst="rect">
            <a:avLst/>
          </a:prstGeom>
          <a:solidFill>
            <a:srgbClr val="D35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4461865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288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490362" y="4494275"/>
            <a:ext cx="973632" cy="141732"/>
          </a:xfrm>
          <a:prstGeom prst="rect">
            <a:avLst/>
          </a:prstGeom>
          <a:solidFill>
            <a:srgbClr val="549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472074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384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500571" y="4494275"/>
            <a:ext cx="973632" cy="141732"/>
          </a:xfrm>
          <a:prstGeom prst="rect">
            <a:avLst/>
          </a:prstGeom>
          <a:solidFill>
            <a:srgbClr val="D54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482283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790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510780" y="4494275"/>
            <a:ext cx="973632" cy="141732"/>
          </a:xfrm>
          <a:prstGeom prst="rect">
            <a:avLst/>
          </a:prstGeom>
          <a:solidFill>
            <a:srgbClr val="CD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7492492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485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8520988" y="4494275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502700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698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9531197" y="4494275"/>
            <a:ext cx="973632" cy="141732"/>
          </a:xfrm>
          <a:prstGeom prst="rect">
            <a:avLst/>
          </a:prstGeom>
          <a:solidFill>
            <a:srgbClr val="8A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512909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196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0541406" y="4494275"/>
            <a:ext cx="973632" cy="141732"/>
          </a:xfrm>
          <a:prstGeom prst="rect">
            <a:avLst/>
          </a:prstGeom>
          <a:solidFill>
            <a:srgbClr val="D44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0523118" y="4480559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280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713232" y="4649723"/>
            <a:ext cx="1636776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61616"/>
                </a:solidFill>
                <a:latin typeface="Helvetica Neue"/>
              </a:rPr>
              <a:t>Buin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459736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2441448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696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469944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3451656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559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4480153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4461865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318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5490362" y="4663439"/>
            <a:ext cx="973632" cy="141732"/>
          </a:xfrm>
          <a:prstGeom prst="rect">
            <a:avLst/>
          </a:prstGeom>
          <a:solidFill>
            <a:srgbClr val="CC8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5472074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790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6500571" y="4663439"/>
            <a:ext cx="973632" cy="141732"/>
          </a:xfrm>
          <a:prstGeom prst="rect">
            <a:avLst/>
          </a:prstGeom>
          <a:solidFill>
            <a:srgbClr val="CC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6482283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61616"/>
                </a:solidFill>
                <a:latin typeface="Helvetica Neue"/>
              </a:rPr>
              <a:t>537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7510780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7492492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696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8520988" y="4663439"/>
            <a:ext cx="973632" cy="141732"/>
          </a:xfrm>
          <a:prstGeom prst="rect">
            <a:avLst/>
          </a:prstGeom>
          <a:solidFill>
            <a:srgbClr val="93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8502700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242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9531197" y="4663439"/>
            <a:ext cx="973632" cy="14173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9512909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535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10541406" y="4663439"/>
            <a:ext cx="973632" cy="141732"/>
          </a:xfrm>
          <a:prstGeom prst="rect">
            <a:avLst/>
          </a:prstGeom>
          <a:solidFill>
            <a:srgbClr val="82A0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10523118" y="4649723"/>
            <a:ext cx="1010208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Helvetica Neue"/>
              </a:rPr>
              <a:t>93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658368" y="4901184"/>
            <a:ext cx="10607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Costo mensual de manejar (bencina + peajes TAG), en miles de pesos. Verde = barato, rojo = caro. Filas ordenadas por el promedio a los 9 destinos.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2EFE8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Batuco cruza autopistas concesionadas hacia el oriente y el centro: su costo en auto está entre los más altos de las 14 zonas. Su argumento económico es el tren, no el auto.</a:t>
            </a:r>
          </a:p>
        </p:txBody>
      </p:sp>
      <p:cxnSp>
        <p:nvCxnSpPr>
          <p:cNvPr id="287" name="Connector 286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TextBox 287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04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POSICIONAMIENTO EN AUTO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-10">
                <a:solidFill>
                  <a:srgbClr val="161616"/>
                </a:solidFill>
                <a:latin typeface="Helvetica Neue"/>
              </a:rPr>
              <a:t>Estación Colina combina velocidad y costo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-10">
                <a:solidFill>
                  <a:srgbClr val="161616"/>
                </a:solidFill>
                <a:latin typeface="Helvetica Neue"/>
              </a:rPr>
              <a:t>medio; Batuco es lejano y caro de manejar.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93392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A64"/>
                </a:solidFill>
                <a:latin typeface="Helvetica Neue"/>
              </a:rPr>
              <a:t>Cada punto es una zona. El eje horizontal mide el tiempo promedio en auto a los 9 destinos; el vertical, el costo mensual de manejar. El cuadrante inferior izquierdo combina ambas ventajas.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1288" y="4098163"/>
            <a:ext cx="4341611" cy="711580"/>
          </a:xfrm>
          <a:prstGeom prst="rect">
            <a:avLst/>
          </a:prstGeom>
          <a:solidFill>
            <a:srgbClr val="EC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502899" y="2798064"/>
            <a:ext cx="0" cy="2011680"/>
          </a:xfrm>
          <a:prstGeom prst="line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61288" y="4098163"/>
            <a:ext cx="9503359" cy="0"/>
          </a:xfrm>
          <a:prstGeom prst="line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61288" y="4809744"/>
            <a:ext cx="9503359" cy="0"/>
          </a:xfrm>
          <a:prstGeom prst="line">
            <a:avLst/>
          </a:prstGeom>
          <a:ln w="12700">
            <a:solidFill>
              <a:srgbClr val="C9C4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61288" y="2798064"/>
            <a:ext cx="0" cy="2011680"/>
          </a:xfrm>
          <a:prstGeom prst="line">
            <a:avLst/>
          </a:prstGeom>
          <a:ln w="12700">
            <a:solidFill>
              <a:srgbClr val="C9C4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61288" y="4882896"/>
            <a:ext cx="9503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A64"/>
                </a:solidFill>
                <a:latin typeface="Helvetica Neue"/>
              </a:rPr>
              <a:t>Minutos promedio en auto a los 9 destinos (40 a 99 min)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523744"/>
            <a:ext cx="5943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A64"/>
                </a:solidFill>
                <a:latin typeface="Helvetica Neue"/>
              </a:rPr>
              <a:t>Costo mensual de manejar ($189 a $496 mil/mes) 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4162171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80">
                <a:solidFill>
                  <a:srgbClr val="2F9E6E"/>
                </a:solidFill>
                <a:latin typeface="Helvetica Neue"/>
              </a:rPr>
              <a:t>RÁPIDA Y BARATA</a:t>
            </a:r>
          </a:p>
        </p:txBody>
      </p:sp>
      <p:sp>
        <p:nvSpPr>
          <p:cNvPr id="14" name="Oval 13"/>
          <p:cNvSpPr/>
          <p:nvPr/>
        </p:nvSpPr>
        <p:spPr>
          <a:xfrm>
            <a:off x="1884140" y="4411210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62448" y="4392922"/>
            <a:ext cx="57241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E6A64"/>
                </a:solidFill>
                <a:latin typeface="Helvetica Neue"/>
              </a:rPr>
              <a:t>Chicauma</a:t>
            </a:r>
          </a:p>
        </p:txBody>
      </p:sp>
      <p:sp>
        <p:nvSpPr>
          <p:cNvPr id="16" name="Oval 15"/>
          <p:cNvSpPr/>
          <p:nvPr/>
        </p:nvSpPr>
        <p:spPr>
          <a:xfrm>
            <a:off x="3173468" y="4550059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1776" y="4531771"/>
            <a:ext cx="51572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E6A64"/>
                </a:solidFill>
                <a:latin typeface="Helvetica Neue"/>
              </a:rPr>
              <a:t>Urbanya</a:t>
            </a:r>
          </a:p>
        </p:txBody>
      </p:sp>
      <p:sp>
        <p:nvSpPr>
          <p:cNvPr id="18" name="Oval 17"/>
          <p:cNvSpPr/>
          <p:nvPr/>
        </p:nvSpPr>
        <p:spPr>
          <a:xfrm>
            <a:off x="3941270" y="3178913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9578" y="3160625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E6A64"/>
                </a:solidFill>
                <a:latin typeface="Helvetica Neue"/>
              </a:rPr>
              <a:t>Ayres</a:t>
            </a:r>
          </a:p>
        </p:txBody>
      </p:sp>
      <p:sp>
        <p:nvSpPr>
          <p:cNvPr id="20" name="Oval 19"/>
          <p:cNvSpPr/>
          <p:nvPr/>
        </p:nvSpPr>
        <p:spPr>
          <a:xfrm>
            <a:off x="4115112" y="3773655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3420" y="3755367"/>
            <a:ext cx="7424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E6A64"/>
                </a:solidFill>
                <a:latin typeface="Helvetica Neue"/>
              </a:rPr>
              <a:t>Santa Elena</a:t>
            </a:r>
          </a:p>
        </p:txBody>
      </p:sp>
      <p:sp>
        <p:nvSpPr>
          <p:cNvPr id="22" name="Oval 21"/>
          <p:cNvSpPr/>
          <p:nvPr/>
        </p:nvSpPr>
        <p:spPr>
          <a:xfrm>
            <a:off x="4187546" y="4590211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5854" y="4571923"/>
            <a:ext cx="79918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E6A64"/>
                </a:solidFill>
                <a:latin typeface="Helvetica Neue"/>
              </a:rPr>
              <a:t>Valle Grande</a:t>
            </a:r>
          </a:p>
        </p:txBody>
      </p:sp>
      <p:sp>
        <p:nvSpPr>
          <p:cNvPr id="24" name="Oval 23"/>
          <p:cNvSpPr/>
          <p:nvPr/>
        </p:nvSpPr>
        <p:spPr>
          <a:xfrm>
            <a:off x="4377416" y="4065535"/>
            <a:ext cx="173736" cy="173736"/>
          </a:xfrm>
          <a:prstGeom prst="ellipse">
            <a:avLst/>
          </a:prstGeom>
          <a:solidFill>
            <a:srgbClr val="B07D24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6984" y="4074679"/>
            <a:ext cx="11475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26" name="Oval 25"/>
          <p:cNvSpPr/>
          <p:nvPr/>
        </p:nvSpPr>
        <p:spPr>
          <a:xfrm>
            <a:off x="5230597" y="3752731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8905" y="3734443"/>
            <a:ext cx="9692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E6A64"/>
                </a:solidFill>
                <a:latin typeface="Helvetica Neue"/>
              </a:rPr>
              <a:t>Hacienda Batuco</a:t>
            </a:r>
          </a:p>
        </p:txBody>
      </p:sp>
      <p:sp>
        <p:nvSpPr>
          <p:cNvPr id="28" name="Oval 27"/>
          <p:cNvSpPr/>
          <p:nvPr/>
        </p:nvSpPr>
        <p:spPr>
          <a:xfrm>
            <a:off x="5443463" y="4082166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1771" y="4063878"/>
            <a:ext cx="2889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E6A64"/>
                </a:solidFill>
                <a:latin typeface="Helvetica Neue"/>
              </a:rPr>
              <a:t>NOS</a:t>
            </a:r>
          </a:p>
        </p:txBody>
      </p:sp>
      <p:sp>
        <p:nvSpPr>
          <p:cNvPr id="30" name="Oval 29"/>
          <p:cNvSpPr/>
          <p:nvPr/>
        </p:nvSpPr>
        <p:spPr>
          <a:xfrm>
            <a:off x="6012886" y="3284603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1194" y="3266315"/>
            <a:ext cx="108264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E6A64"/>
                </a:solidFill>
                <a:latin typeface="Helvetica Neue"/>
              </a:rPr>
              <a:t>Colina · Reina N.</a:t>
            </a:r>
          </a:p>
        </p:txBody>
      </p:sp>
      <p:sp>
        <p:nvSpPr>
          <p:cNvPr id="32" name="Oval 31"/>
          <p:cNvSpPr/>
          <p:nvPr/>
        </p:nvSpPr>
        <p:spPr>
          <a:xfrm>
            <a:off x="6679280" y="2952089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7588" y="2933801"/>
            <a:ext cx="34564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E6A64"/>
                </a:solidFill>
                <a:latin typeface="Helvetica Neue"/>
              </a:rPr>
              <a:t>Buin</a:t>
            </a:r>
          </a:p>
        </p:txBody>
      </p:sp>
      <p:sp>
        <p:nvSpPr>
          <p:cNvPr id="34" name="Oval 33"/>
          <p:cNvSpPr/>
          <p:nvPr/>
        </p:nvSpPr>
        <p:spPr>
          <a:xfrm>
            <a:off x="6970559" y="3678050"/>
            <a:ext cx="173736" cy="173736"/>
          </a:xfrm>
          <a:prstGeom prst="ellipse">
            <a:avLst/>
          </a:prstGeom>
          <a:solidFill>
            <a:srgbClr val="B07D24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12875" y="368719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36" name="Oval 35"/>
          <p:cNvSpPr/>
          <p:nvPr/>
        </p:nvSpPr>
        <p:spPr>
          <a:xfrm>
            <a:off x="7302214" y="4349351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80522" y="4331063"/>
            <a:ext cx="62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E6A64"/>
                </a:solidFill>
                <a:latin typeface="Helvetica Neue"/>
              </a:rPr>
              <a:t>Larapinta</a:t>
            </a:r>
          </a:p>
        </p:txBody>
      </p:sp>
      <p:sp>
        <p:nvSpPr>
          <p:cNvPr id="38" name="Oval 37"/>
          <p:cNvSpPr/>
          <p:nvPr/>
        </p:nvSpPr>
        <p:spPr>
          <a:xfrm>
            <a:off x="8692949" y="4198135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71257" y="4303291"/>
            <a:ext cx="91257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E6A64"/>
                </a:solidFill>
                <a:latin typeface="Helvetica Neue"/>
              </a:rPr>
              <a:t>Laguna del Sol</a:t>
            </a:r>
          </a:p>
        </p:txBody>
      </p:sp>
      <p:sp>
        <p:nvSpPr>
          <p:cNvPr id="40" name="Oval 39"/>
          <p:cNvSpPr/>
          <p:nvPr/>
        </p:nvSpPr>
        <p:spPr>
          <a:xfrm>
            <a:off x="9562159" y="4038727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40467" y="4020439"/>
            <a:ext cx="57241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E6A64"/>
                </a:solidFill>
                <a:latin typeface="Helvetica Neue"/>
              </a:rPr>
              <a:t>El Peñón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2EFE8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Chicauma, Urbanya y Valle Grande ocupan hoy el cuadrante rápido y barato. Estación Colina queda al borde; Batuco, lejos: es la zona que más necesita el salto de infraestructura.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05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EL SALTO · EL TREN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El tren reordena el transporte público: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nuestros proyectos pasan a 1º y 2º.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59" y="21031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6E6A64"/>
                </a:solidFill>
                <a:latin typeface="Helvetica Neue"/>
              </a:rPr>
              <a:t>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21031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134E48"/>
                </a:solidFill>
                <a:latin typeface="Helvetica Neue"/>
              </a:rPr>
              <a:t>CON EL TREN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89320" y="2377440"/>
            <a:ext cx="0" cy="2615184"/>
          </a:xfrm>
          <a:prstGeom prst="line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2377440"/>
            <a:ext cx="0" cy="2615184"/>
          </a:xfrm>
          <a:prstGeom prst="line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89320" y="2487168"/>
            <a:ext cx="3383280" cy="552860"/>
          </a:xfrm>
          <a:prstGeom prst="line">
            <a:avLst/>
          </a:prstGeom>
          <a:ln w="12700">
            <a:solidFill>
              <a:srgbClr val="DED9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61888" y="2459736"/>
            <a:ext cx="54864" cy="54864"/>
          </a:xfrm>
          <a:prstGeom prst="ellipse">
            <a:avLst/>
          </a:prstGeom>
          <a:solidFill>
            <a:srgbClr val="DE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45168" y="3012596"/>
            <a:ext cx="54864" cy="54864"/>
          </a:xfrm>
          <a:prstGeom prst="ellipse">
            <a:avLst/>
          </a:prstGeom>
          <a:solidFill>
            <a:srgbClr val="CC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989320" y="2671454"/>
            <a:ext cx="3383280" cy="184287"/>
          </a:xfrm>
          <a:prstGeom prst="line">
            <a:avLst/>
          </a:prstGeom>
          <a:ln w="12700">
            <a:solidFill>
              <a:srgbClr val="DED9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961888" y="2644022"/>
            <a:ext cx="54864" cy="54864"/>
          </a:xfrm>
          <a:prstGeom prst="ellipse">
            <a:avLst/>
          </a:prstGeom>
          <a:solidFill>
            <a:srgbClr val="DE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45168" y="2828309"/>
            <a:ext cx="54864" cy="54864"/>
          </a:xfrm>
          <a:prstGeom prst="ellipse">
            <a:avLst/>
          </a:prstGeom>
          <a:solidFill>
            <a:srgbClr val="CC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18904" y="2746013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958C"/>
                </a:solidFill>
                <a:latin typeface="Helvetica Neue"/>
              </a:rPr>
              <a:t>3º  Valle Grande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2855741"/>
            <a:ext cx="3383280" cy="737147"/>
          </a:xfrm>
          <a:prstGeom prst="line">
            <a:avLst/>
          </a:prstGeom>
          <a:ln w="12700">
            <a:solidFill>
              <a:srgbClr val="DED9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961888" y="2828309"/>
            <a:ext cx="54864" cy="54864"/>
          </a:xfrm>
          <a:prstGeom prst="ellipse">
            <a:avLst/>
          </a:prstGeom>
          <a:solidFill>
            <a:srgbClr val="DE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45168" y="3565456"/>
            <a:ext cx="54864" cy="54864"/>
          </a:xfrm>
          <a:prstGeom prst="ellipse">
            <a:avLst/>
          </a:prstGeom>
          <a:solidFill>
            <a:srgbClr val="CC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5989320" y="3040028"/>
            <a:ext cx="3383280" cy="368573"/>
          </a:xfrm>
          <a:prstGeom prst="line">
            <a:avLst/>
          </a:prstGeom>
          <a:ln w="12700">
            <a:solidFill>
              <a:srgbClr val="DED9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961888" y="3012596"/>
            <a:ext cx="54864" cy="54864"/>
          </a:xfrm>
          <a:prstGeom prst="ellipse">
            <a:avLst/>
          </a:prstGeom>
          <a:solidFill>
            <a:srgbClr val="DE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45168" y="3381169"/>
            <a:ext cx="54864" cy="54864"/>
          </a:xfrm>
          <a:prstGeom prst="ellipse">
            <a:avLst/>
          </a:prstGeom>
          <a:solidFill>
            <a:srgbClr val="CC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5989320" y="2487168"/>
            <a:ext cx="3383280" cy="737147"/>
          </a:xfrm>
          <a:prstGeom prst="line">
            <a:avLst/>
          </a:prstGeom>
          <a:ln w="45720">
            <a:solidFill>
              <a:srgbClr val="B07D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925312" y="3160307"/>
            <a:ext cx="128016" cy="128016"/>
          </a:xfrm>
          <a:prstGeom prst="ellipse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08592" y="2423160"/>
            <a:ext cx="128016" cy="128016"/>
          </a:xfrm>
          <a:prstGeom prst="ellipse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3105443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07D24"/>
                </a:solidFill>
                <a:latin typeface="Helvetica Neue"/>
              </a:rPr>
              <a:t>5º  Estación Colina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8904" y="2368296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07D24"/>
                </a:solidFill>
                <a:latin typeface="Helvetica Neue"/>
              </a:rPr>
              <a:t>1º  Estación Colina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89320" y="3408601"/>
            <a:ext cx="3383280" cy="737147"/>
          </a:xfrm>
          <a:prstGeom prst="line">
            <a:avLst/>
          </a:prstGeom>
          <a:ln w="12700">
            <a:solidFill>
              <a:srgbClr val="DED9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961888" y="3381169"/>
            <a:ext cx="54864" cy="54864"/>
          </a:xfrm>
          <a:prstGeom prst="ellipse">
            <a:avLst/>
          </a:prstGeom>
          <a:solidFill>
            <a:srgbClr val="DE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45168" y="4118316"/>
            <a:ext cx="54864" cy="54864"/>
          </a:xfrm>
          <a:prstGeom prst="ellipse">
            <a:avLst/>
          </a:prstGeom>
          <a:solidFill>
            <a:srgbClr val="CC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5989320" y="3592888"/>
            <a:ext cx="3383280" cy="737147"/>
          </a:xfrm>
          <a:prstGeom prst="line">
            <a:avLst/>
          </a:prstGeom>
          <a:ln w="12700">
            <a:solidFill>
              <a:srgbClr val="DED9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961888" y="3565456"/>
            <a:ext cx="54864" cy="54864"/>
          </a:xfrm>
          <a:prstGeom prst="ellipse">
            <a:avLst/>
          </a:prstGeom>
          <a:solidFill>
            <a:srgbClr val="DE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45168" y="4302603"/>
            <a:ext cx="54864" cy="54864"/>
          </a:xfrm>
          <a:prstGeom prst="ellipse">
            <a:avLst/>
          </a:prstGeom>
          <a:solidFill>
            <a:srgbClr val="CC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989320" y="3777175"/>
            <a:ext cx="3383280" cy="0"/>
          </a:xfrm>
          <a:prstGeom prst="line">
            <a:avLst/>
          </a:prstGeom>
          <a:ln w="12700">
            <a:solidFill>
              <a:srgbClr val="DED9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961888" y="3749743"/>
            <a:ext cx="54864" cy="54864"/>
          </a:xfrm>
          <a:prstGeom prst="ellipse">
            <a:avLst/>
          </a:prstGeom>
          <a:solidFill>
            <a:srgbClr val="DE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345168" y="3749743"/>
            <a:ext cx="54864" cy="54864"/>
          </a:xfrm>
          <a:prstGeom prst="ellipse">
            <a:avLst/>
          </a:prstGeom>
          <a:solidFill>
            <a:srgbClr val="CC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989320" y="3961462"/>
            <a:ext cx="3383280" cy="552860"/>
          </a:xfrm>
          <a:prstGeom prst="line">
            <a:avLst/>
          </a:prstGeom>
          <a:ln w="12700">
            <a:solidFill>
              <a:srgbClr val="DED9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961888" y="3934030"/>
            <a:ext cx="54864" cy="54864"/>
          </a:xfrm>
          <a:prstGeom prst="ellipse">
            <a:avLst/>
          </a:prstGeom>
          <a:solidFill>
            <a:srgbClr val="DE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45168" y="4486890"/>
            <a:ext cx="54864" cy="54864"/>
          </a:xfrm>
          <a:prstGeom prst="ellipse">
            <a:avLst/>
          </a:prstGeom>
          <a:solidFill>
            <a:srgbClr val="CC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5989320" y="4145748"/>
            <a:ext cx="3383280" cy="552861"/>
          </a:xfrm>
          <a:prstGeom prst="line">
            <a:avLst/>
          </a:prstGeom>
          <a:ln w="12700">
            <a:solidFill>
              <a:srgbClr val="DED9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961888" y="4118316"/>
            <a:ext cx="54864" cy="54864"/>
          </a:xfrm>
          <a:prstGeom prst="ellipse">
            <a:avLst/>
          </a:prstGeom>
          <a:solidFill>
            <a:srgbClr val="DE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345168" y="4671177"/>
            <a:ext cx="54864" cy="54864"/>
          </a:xfrm>
          <a:prstGeom prst="ellipse">
            <a:avLst/>
          </a:prstGeom>
          <a:solidFill>
            <a:srgbClr val="CC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5989320" y="2671454"/>
            <a:ext cx="3383280" cy="1658581"/>
          </a:xfrm>
          <a:prstGeom prst="line">
            <a:avLst/>
          </a:prstGeom>
          <a:ln w="45720">
            <a:solidFill>
              <a:srgbClr val="B07D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5925312" y="4266027"/>
            <a:ext cx="128016" cy="128016"/>
          </a:xfrm>
          <a:prstGeom prst="ellipse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08592" y="2607446"/>
            <a:ext cx="128016" cy="128016"/>
          </a:xfrm>
          <a:prstGeom prst="ellipse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4211163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07D24"/>
                </a:solidFill>
                <a:latin typeface="Helvetica Neue"/>
              </a:rPr>
              <a:t>11º  Batuco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18904" y="2552582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07D24"/>
                </a:solidFill>
                <a:latin typeface="Helvetica Neue"/>
              </a:rPr>
              <a:t>2º  Batuco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989320" y="4514322"/>
            <a:ext cx="3383280" cy="368574"/>
          </a:xfrm>
          <a:prstGeom prst="line">
            <a:avLst/>
          </a:prstGeom>
          <a:ln w="12700">
            <a:solidFill>
              <a:srgbClr val="DED9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5961888" y="4486890"/>
            <a:ext cx="54864" cy="54864"/>
          </a:xfrm>
          <a:prstGeom prst="ellipse">
            <a:avLst/>
          </a:prstGeom>
          <a:solidFill>
            <a:srgbClr val="DE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345168" y="4855464"/>
            <a:ext cx="54864" cy="54864"/>
          </a:xfrm>
          <a:prstGeom prst="ellipse">
            <a:avLst/>
          </a:prstGeom>
          <a:solidFill>
            <a:srgbClr val="CC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5989320" y="3224315"/>
            <a:ext cx="3383280" cy="1474294"/>
          </a:xfrm>
          <a:prstGeom prst="line">
            <a:avLst/>
          </a:prstGeom>
          <a:ln w="12700">
            <a:solidFill>
              <a:srgbClr val="DED9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5961888" y="4671177"/>
            <a:ext cx="54864" cy="54864"/>
          </a:xfrm>
          <a:prstGeom prst="ellipse">
            <a:avLst/>
          </a:prstGeom>
          <a:solidFill>
            <a:srgbClr val="DE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345168" y="3196883"/>
            <a:ext cx="54864" cy="54864"/>
          </a:xfrm>
          <a:prstGeom prst="ellipse">
            <a:avLst/>
          </a:prstGeom>
          <a:solidFill>
            <a:srgbClr val="CC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5989320" y="3961462"/>
            <a:ext cx="3383280" cy="921434"/>
          </a:xfrm>
          <a:prstGeom prst="line">
            <a:avLst/>
          </a:prstGeom>
          <a:ln w="12700">
            <a:solidFill>
              <a:srgbClr val="DED9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961888" y="4855464"/>
            <a:ext cx="54864" cy="54864"/>
          </a:xfrm>
          <a:prstGeom prst="ellipse">
            <a:avLst/>
          </a:prstGeom>
          <a:solidFill>
            <a:srgbClr val="DE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345168" y="3934030"/>
            <a:ext cx="54864" cy="54864"/>
          </a:xfrm>
          <a:prstGeom prst="ellipse">
            <a:avLst/>
          </a:prstGeom>
          <a:solidFill>
            <a:srgbClr val="CC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239572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30">
                <a:solidFill>
                  <a:srgbClr val="134E48"/>
                </a:solidFill>
                <a:latin typeface="Helvetica Neue"/>
              </a:rPr>
              <a:t>POSICIÓN EN TRANSPORTE PÚBLICO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279806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Estación Colina   </a:t>
            </a:r>
            <a:r>
              <a:rPr sz="1500" b="1">
                <a:solidFill>
                  <a:srgbClr val="6E6A64"/>
                </a:solidFill>
                <a:latin typeface="Helvetica Neue"/>
              </a:rPr>
              <a:t>5º → </a:t>
            </a:r>
            <a:r>
              <a:rPr sz="1700" b="1">
                <a:solidFill>
                  <a:srgbClr val="B07D24"/>
                </a:solidFill>
                <a:latin typeface="Helvetica Neue"/>
              </a:rPr>
              <a:t>1º</a:t>
            </a:r>
            <a:r>
              <a:rPr sz="1200" b="0">
                <a:solidFill>
                  <a:srgbClr val="9A958C"/>
                </a:solidFill>
                <a:latin typeface="Helvetica Neue"/>
              </a:rPr>
              <a:t>  de 14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Batuco   </a:t>
            </a:r>
            <a:r>
              <a:rPr sz="1500" b="1">
                <a:solidFill>
                  <a:srgbClr val="6E6A64"/>
                </a:solidFill>
                <a:latin typeface="Helvetica Neue"/>
              </a:rPr>
              <a:t>11º → </a:t>
            </a:r>
            <a:r>
              <a:rPr sz="1700" b="1">
                <a:solidFill>
                  <a:srgbClr val="B07D24"/>
                </a:solidFill>
                <a:latin typeface="Helvetica Neue"/>
              </a:rPr>
              <a:t>2º</a:t>
            </a:r>
            <a:r>
              <a:rPr sz="1200" b="0">
                <a:solidFill>
                  <a:srgbClr val="9A958C"/>
                </a:solidFill>
                <a:latin typeface="Helvetica Neue"/>
              </a:rPr>
              <a:t>  de 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4114800"/>
            <a:ext cx="34930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El Tren Santiago-Batuco recorta 45 minutos de viaje desde Estación Colina y 67 desde Batuco. Cada proyecto cuenta con estación propia sobre el corredor.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2EFE8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Con el tren, Estación Colina queda primera y Batuco segundo entre las 14 zonas en transporte público. Ninguna zona sin estación nueva puede igualar ese cambio.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06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EL SALTO · LA AUTOPISTA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La Autopista Orbital Norponiente acerca 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Batuco: 28 minutos menos en auto.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215798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A64"/>
                </a:solidFill>
                <a:latin typeface="Helvetica Neue"/>
              </a:rPr>
              <a:t>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2468880"/>
            <a:ext cx="5120640" cy="45720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2528" y="252374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80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3026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A64"/>
                </a:solidFill>
                <a:latin typeface="Helvetica Neue"/>
              </a:rPr>
              <a:t>Con la Autopista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3337560"/>
            <a:ext cx="3315428" cy="457200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77316" y="339242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52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950208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Minutos promedio desde Batuco a los 9 destinos, puerta a puerta.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4805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07D24"/>
                </a:solidFill>
                <a:latin typeface="Helvetica Neue"/>
              </a:rPr>
              <a:t>28 min menos</a:t>
            </a:r>
            <a:r>
              <a:rPr sz="1500" b="0">
                <a:solidFill>
                  <a:srgbClr val="6E6A64"/>
                </a:solidFill>
                <a:latin typeface="Helvetica Neue"/>
              </a:rPr>
              <a:t>   ·  del 11º al </a:t>
            </a:r>
            <a:r>
              <a:rPr sz="2000" b="1">
                <a:solidFill>
                  <a:srgbClr val="B07D24"/>
                </a:solidFill>
                <a:latin typeface="Helvetica Neue"/>
              </a:rPr>
              <a:t>3º</a:t>
            </a:r>
            <a:r>
              <a:rPr sz="1500" b="0">
                <a:solidFill>
                  <a:srgbClr val="6E6A64"/>
                </a:solidFill>
                <a:latin typeface="Helvetica Neue"/>
              </a:rPr>
              <a:t> en auto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317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10">
                <a:solidFill>
                  <a:srgbClr val="134E48"/>
                </a:solidFill>
                <a:latin typeface="Helvetica Neue"/>
              </a:rPr>
              <a:t>EL EFECTO DEL CORREDOR NORPONIENTE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69748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A64"/>
                </a:solidFill>
                <a:latin typeface="Helvetica Neue"/>
              </a:rPr>
              <a:t>La Autopista cruza el terreno de Batuco, con enlace a 7 minutos. Es la diferencia entre una zona periférica y una de las más rápidas en auto.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A64"/>
                </a:solidFill>
                <a:latin typeface="Helvetica Neue"/>
              </a:rPr>
              <a:t>Estación Colina no depende de esta obra: su fortaleza es la centralidad y el tren. Cada proyecto tiene su propio argumento.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2EFE8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Comunicar cada proyecto con su obra: la Autopista es el argumento vial de Batuco; Estación Colina no la necesita.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07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CUÁNTO VALE · SOBREPRECIO ENTRE ZONAS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Sobreprecio justificado entre zonas: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la comparación completa, en UF.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2622466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Chicauma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3258823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Urbanya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3895180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Valle Grande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4531537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5167894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Larapinta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5804251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NOS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6440609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Santa Elena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7076966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Laguna del Sol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7713323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Hacienda Batuco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8349680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El Peñón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8986037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9622394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Ayres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10258751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Colina · Reina N.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10895108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Buin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798063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Chicauma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35300" y="2809036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1657" y="2809036"/>
            <a:ext cx="614411" cy="124358"/>
          </a:xfrm>
          <a:prstGeom prst="rect">
            <a:avLst/>
          </a:prstGeom>
          <a:solidFill>
            <a:srgbClr val="F2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60685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08014" y="2809036"/>
            <a:ext cx="614411" cy="124358"/>
          </a:xfrm>
          <a:prstGeom prst="rect">
            <a:avLst/>
          </a:prstGeom>
          <a:solidFill>
            <a:srgbClr val="E0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97042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44372" y="2809036"/>
            <a:ext cx="614411" cy="124358"/>
          </a:xfrm>
          <a:prstGeom prst="rect">
            <a:avLst/>
          </a:prstGeom>
          <a:solidFill>
            <a:srgbClr val="A0C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3399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+592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80729" y="2809036"/>
            <a:ext cx="614411" cy="124358"/>
          </a:xfrm>
          <a:prstGeom prst="rect">
            <a:avLst/>
          </a:prstGeom>
          <a:solidFill>
            <a:srgbClr val="98C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9756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+667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17086" y="2809036"/>
            <a:ext cx="614411" cy="124358"/>
          </a:xfrm>
          <a:prstGeom prst="rect">
            <a:avLst/>
          </a:prstGeom>
          <a:solidFill>
            <a:srgbClr val="93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113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3443" y="2809036"/>
            <a:ext cx="614411" cy="124358"/>
          </a:xfrm>
          <a:prstGeom prst="rect">
            <a:avLst/>
          </a:prstGeom>
          <a:solidFill>
            <a:srgbClr val="85C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2470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+869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9800" y="2809036"/>
            <a:ext cx="614411" cy="124358"/>
          </a:xfrm>
          <a:prstGeom prst="rect">
            <a:avLst/>
          </a:prstGeom>
          <a:solidFill>
            <a:srgbClr val="7C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78827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+970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157" y="2809036"/>
            <a:ext cx="614411" cy="124358"/>
          </a:xfrm>
          <a:prstGeom prst="rect">
            <a:avLst/>
          </a:prstGeom>
          <a:solidFill>
            <a:srgbClr val="78B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15184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+1014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2514" y="2809036"/>
            <a:ext cx="614411" cy="124358"/>
          </a:xfrm>
          <a:prstGeom prst="rect">
            <a:avLst/>
          </a:prstGeom>
          <a:solidFill>
            <a:srgbClr val="66B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1541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+1222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98871" y="2809036"/>
            <a:ext cx="614411" cy="124358"/>
          </a:xfrm>
          <a:prstGeom prst="rect">
            <a:avLst/>
          </a:prstGeom>
          <a:solidFill>
            <a:srgbClr val="64B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87898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+1258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35228" y="2809036"/>
            <a:ext cx="614411" cy="124358"/>
          </a:xfrm>
          <a:prstGeom prst="rect">
            <a:avLst/>
          </a:prstGeom>
          <a:solidFill>
            <a:srgbClr val="56A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24255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+1427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71585" y="2809036"/>
            <a:ext cx="614411" cy="124358"/>
          </a:xfrm>
          <a:prstGeom prst="rect">
            <a:avLst/>
          </a:prstGeom>
          <a:solidFill>
            <a:srgbClr val="4CA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60613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+1557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07942" y="2809036"/>
            <a:ext cx="614411" cy="124358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96970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+1954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2944368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2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Urbanya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35300" y="2955340"/>
            <a:ext cx="614411" cy="124358"/>
          </a:xfrm>
          <a:prstGeom prst="rect">
            <a:avLst/>
          </a:prstGeom>
          <a:solidFill>
            <a:srgbClr val="F5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24328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71657" y="2955340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08014" y="2955340"/>
            <a:ext cx="614411" cy="124358"/>
          </a:xfrm>
          <a:prstGeom prst="rect">
            <a:avLst/>
          </a:prstGeom>
          <a:solidFill>
            <a:srgbClr val="E2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97042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44372" y="2955340"/>
            <a:ext cx="614411" cy="124358"/>
          </a:xfrm>
          <a:prstGeom prst="rect">
            <a:avLst/>
          </a:prstGeom>
          <a:solidFill>
            <a:srgbClr val="A1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33399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+582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80729" y="2955340"/>
            <a:ext cx="614411" cy="124358"/>
          </a:xfrm>
          <a:prstGeom prst="rect">
            <a:avLst/>
          </a:prstGeom>
          <a:solidFill>
            <a:srgbClr val="99C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69756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+658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17086" y="2955340"/>
            <a:ext cx="614411" cy="124358"/>
          </a:xfrm>
          <a:prstGeom prst="rect">
            <a:avLst/>
          </a:prstGeom>
          <a:solidFill>
            <a:srgbClr val="94C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06113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+709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53443" y="2955340"/>
            <a:ext cx="614411" cy="124358"/>
          </a:xfrm>
          <a:prstGeom prst="rect">
            <a:avLst/>
          </a:prstGeom>
          <a:solidFill>
            <a:srgbClr val="86C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2470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+859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89800" y="2955340"/>
            <a:ext cx="614411" cy="124358"/>
          </a:xfrm>
          <a:prstGeom prst="rect">
            <a:avLst/>
          </a:prstGeom>
          <a:solidFill>
            <a:srgbClr val="7DC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78827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+960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26157" y="2955340"/>
            <a:ext cx="614411" cy="124358"/>
          </a:xfrm>
          <a:prstGeom prst="rect">
            <a:avLst/>
          </a:prstGeom>
          <a:solidFill>
            <a:srgbClr val="79B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15184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+1005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62514" y="2955340"/>
            <a:ext cx="614411" cy="124358"/>
          </a:xfrm>
          <a:prstGeom prst="rect">
            <a:avLst/>
          </a:prstGeom>
          <a:solidFill>
            <a:srgbClr val="67B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51541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+1213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98871" y="2955340"/>
            <a:ext cx="614411" cy="124358"/>
          </a:xfrm>
          <a:prstGeom prst="rect">
            <a:avLst/>
          </a:prstGeom>
          <a:solidFill>
            <a:srgbClr val="64B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7898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+1249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35228" y="2955340"/>
            <a:ext cx="614411" cy="124358"/>
          </a:xfrm>
          <a:prstGeom prst="rect">
            <a:avLst/>
          </a:prstGeom>
          <a:solidFill>
            <a:srgbClr val="57A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24255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+1417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71585" y="2955340"/>
            <a:ext cx="614411" cy="124358"/>
          </a:xfrm>
          <a:prstGeom prst="rect">
            <a:avLst/>
          </a:prstGeom>
          <a:solidFill>
            <a:srgbClr val="4DA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260613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+1547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907942" y="2955340"/>
            <a:ext cx="614411" cy="124358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896970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+1944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090671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3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Valle Grande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35300" y="3101644"/>
            <a:ext cx="614411" cy="124358"/>
          </a:xfrm>
          <a:prstGeom prst="rect">
            <a:avLst/>
          </a:prstGeom>
          <a:solidFill>
            <a:srgbClr val="F0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24328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71657" y="3101644"/>
            <a:ext cx="614411" cy="124358"/>
          </a:xfrm>
          <a:prstGeom prst="rect">
            <a:avLst/>
          </a:prstGeom>
          <a:solidFill>
            <a:srgbClr val="F1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60685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908014" y="3101644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544372" y="3101644"/>
            <a:ext cx="614411" cy="124358"/>
          </a:xfrm>
          <a:prstGeom prst="rect">
            <a:avLst/>
          </a:prstGeom>
          <a:solidFill>
            <a:srgbClr val="A9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33399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+507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80729" y="3101644"/>
            <a:ext cx="614411" cy="124358"/>
          </a:xfrm>
          <a:prstGeom prst="rect">
            <a:avLst/>
          </a:prstGeom>
          <a:solidFill>
            <a:srgbClr val="A1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69756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+583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17086" y="3101644"/>
            <a:ext cx="614411" cy="124358"/>
          </a:xfrm>
          <a:prstGeom prst="rect">
            <a:avLst/>
          </a:prstGeom>
          <a:solidFill>
            <a:srgbClr val="9CC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06113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+634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53443" y="3101644"/>
            <a:ext cx="614411" cy="124358"/>
          </a:xfrm>
          <a:prstGeom prst="rect">
            <a:avLst/>
          </a:prstGeom>
          <a:solidFill>
            <a:srgbClr val="8DC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42470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+785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089800" y="3101644"/>
            <a:ext cx="614411" cy="124358"/>
          </a:xfrm>
          <a:prstGeom prst="rect">
            <a:avLst/>
          </a:prstGeom>
          <a:solidFill>
            <a:srgbClr val="84C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78827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+886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26157" y="3101644"/>
            <a:ext cx="614411" cy="124358"/>
          </a:xfrm>
          <a:prstGeom prst="rect">
            <a:avLst/>
          </a:prstGeom>
          <a:solidFill>
            <a:srgbClr val="80C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15184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+930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362514" y="3101644"/>
            <a:ext cx="614411" cy="124358"/>
          </a:xfrm>
          <a:prstGeom prst="rect">
            <a:avLst/>
          </a:prstGeom>
          <a:solidFill>
            <a:srgbClr val="6EB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351541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+1138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98871" y="3101644"/>
            <a:ext cx="614411" cy="124358"/>
          </a:xfrm>
          <a:prstGeom prst="rect">
            <a:avLst/>
          </a:prstGeom>
          <a:solidFill>
            <a:srgbClr val="6A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7898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+1174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635228" y="3101644"/>
            <a:ext cx="614411" cy="124358"/>
          </a:xfrm>
          <a:prstGeom prst="rect">
            <a:avLst/>
          </a:prstGeom>
          <a:solidFill>
            <a:srgbClr val="5DB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24255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+1343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271585" y="3101644"/>
            <a:ext cx="614411" cy="124358"/>
          </a:xfrm>
          <a:prstGeom prst="rect">
            <a:avLst/>
          </a:prstGeom>
          <a:solidFill>
            <a:srgbClr val="52A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0613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+1472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907942" y="3101644"/>
            <a:ext cx="614411" cy="124358"/>
          </a:xfrm>
          <a:prstGeom prst="rect">
            <a:avLst/>
          </a:prstGeom>
          <a:solidFill>
            <a:srgbClr val="35A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896970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+1870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58368" y="3244291"/>
            <a:ext cx="1920240" cy="131673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04088" y="3236975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4  </a:t>
            </a:r>
            <a:r>
              <a:rPr sz="80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635300" y="3247948"/>
            <a:ext cx="614411" cy="124358"/>
          </a:xfrm>
          <a:prstGeom prst="rect">
            <a:avLst/>
          </a:prstGeom>
          <a:solidFill>
            <a:srgbClr val="DFA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24328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-592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271657" y="3247948"/>
            <a:ext cx="614411" cy="124358"/>
          </a:xfrm>
          <a:prstGeom prst="rect">
            <a:avLst/>
          </a:prstGeom>
          <a:solidFill>
            <a:srgbClr val="DFA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260685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-582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908014" y="3247948"/>
            <a:ext cx="614411" cy="124358"/>
          </a:xfrm>
          <a:prstGeom prst="rect">
            <a:avLst/>
          </a:prstGeom>
          <a:solidFill>
            <a:srgbClr val="E1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897042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-507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44372" y="3247948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180729" y="3247948"/>
            <a:ext cx="614411" cy="124358"/>
          </a:xfrm>
          <a:prstGeom prst="rect">
            <a:avLst/>
          </a:prstGeom>
          <a:solidFill>
            <a:srgbClr val="E2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169756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817086" y="3247948"/>
            <a:ext cx="614411" cy="124358"/>
          </a:xfrm>
          <a:prstGeom prst="rect">
            <a:avLst/>
          </a:prstGeom>
          <a:solidFill>
            <a:srgbClr val="D9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806113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+127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453443" y="3247948"/>
            <a:ext cx="614411" cy="124358"/>
          </a:xfrm>
          <a:prstGeom prst="rect">
            <a:avLst/>
          </a:prstGeom>
          <a:solidFill>
            <a:srgbClr val="C3DE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42470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+278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089800" y="3247948"/>
            <a:ext cx="614411" cy="124358"/>
          </a:xfrm>
          <a:prstGeom prst="rect">
            <a:avLst/>
          </a:prstGeom>
          <a:solidFill>
            <a:srgbClr val="B7D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078827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+379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726157" y="3247948"/>
            <a:ext cx="614411" cy="124358"/>
          </a:xfrm>
          <a:prstGeom prst="rect">
            <a:avLst/>
          </a:prstGeom>
          <a:solidFill>
            <a:srgbClr val="B2D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715184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+423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362514" y="3247948"/>
            <a:ext cx="614411" cy="124358"/>
          </a:xfrm>
          <a:prstGeom prst="rect">
            <a:avLst/>
          </a:prstGeom>
          <a:solidFill>
            <a:srgbClr val="9CC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351541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+631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98871" y="3247948"/>
            <a:ext cx="614411" cy="124358"/>
          </a:xfrm>
          <a:prstGeom prst="rect">
            <a:avLst/>
          </a:prstGeom>
          <a:solidFill>
            <a:srgbClr val="98C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987898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+667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635228" y="3247948"/>
            <a:ext cx="614411" cy="124358"/>
          </a:xfrm>
          <a:prstGeom prst="rect">
            <a:avLst/>
          </a:prstGeom>
          <a:solidFill>
            <a:srgbClr val="88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624255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+836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271585" y="3247948"/>
            <a:ext cx="614411" cy="124358"/>
          </a:xfrm>
          <a:prstGeom prst="rect">
            <a:avLst/>
          </a:prstGeom>
          <a:solidFill>
            <a:srgbClr val="7C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260613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+965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907942" y="3247948"/>
            <a:ext cx="614411" cy="124358"/>
          </a:xfrm>
          <a:prstGeom prst="rect">
            <a:avLst/>
          </a:prstGeom>
          <a:solidFill>
            <a:srgbClr val="5BB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896970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+1363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04088" y="3383279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5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Larapinta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635300" y="3394252"/>
            <a:ext cx="614411" cy="124358"/>
          </a:xfrm>
          <a:prstGeom prst="rect">
            <a:avLst/>
          </a:prstGeom>
          <a:solidFill>
            <a:srgbClr val="DDA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624328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-667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271657" y="3394252"/>
            <a:ext cx="614411" cy="124358"/>
          </a:xfrm>
          <a:prstGeom prst="rect">
            <a:avLst/>
          </a:prstGeom>
          <a:solidFill>
            <a:srgbClr val="DD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260685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-658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908014" y="3394252"/>
            <a:ext cx="614411" cy="124358"/>
          </a:xfrm>
          <a:prstGeom prst="rect">
            <a:avLst/>
          </a:prstGeom>
          <a:solidFill>
            <a:srgbClr val="DFA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897042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-583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544372" y="3394252"/>
            <a:ext cx="614411" cy="124358"/>
          </a:xfrm>
          <a:prstGeom prst="rect">
            <a:avLst/>
          </a:prstGeom>
          <a:solidFill>
            <a:srgbClr val="F1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533399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-76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180729" y="3394252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817086" y="3394252"/>
            <a:ext cx="614411" cy="124358"/>
          </a:xfrm>
          <a:prstGeom prst="rect">
            <a:avLst/>
          </a:prstGeom>
          <a:solidFill>
            <a:srgbClr val="E7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806113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453443" y="3394252"/>
            <a:ext cx="614411" cy="124358"/>
          </a:xfrm>
          <a:prstGeom prst="rect">
            <a:avLst/>
          </a:prstGeom>
          <a:solidFill>
            <a:srgbClr val="CE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442470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+202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089800" y="3394252"/>
            <a:ext cx="614411" cy="124358"/>
          </a:xfrm>
          <a:prstGeom prst="rect">
            <a:avLst/>
          </a:prstGeom>
          <a:solidFill>
            <a:srgbClr val="C0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078827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+303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726157" y="3394252"/>
            <a:ext cx="614411" cy="124358"/>
          </a:xfrm>
          <a:prstGeom prst="rect">
            <a:avLst/>
          </a:prstGeom>
          <a:solidFill>
            <a:srgbClr val="BB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715184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+347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362514" y="3394252"/>
            <a:ext cx="614411" cy="124358"/>
          </a:xfrm>
          <a:prstGeom prst="rect">
            <a:avLst/>
          </a:prstGeom>
          <a:solidFill>
            <a:srgbClr val="A4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351541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+555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998871" y="3394252"/>
            <a:ext cx="614411" cy="124358"/>
          </a:xfrm>
          <a:prstGeom prst="rect">
            <a:avLst/>
          </a:prstGeom>
          <a:solidFill>
            <a:srgbClr val="A0C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987898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+591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635228" y="3394252"/>
            <a:ext cx="614411" cy="124358"/>
          </a:xfrm>
          <a:prstGeom prst="rect">
            <a:avLst/>
          </a:prstGeom>
          <a:solidFill>
            <a:srgbClr val="8FC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624255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+760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271585" y="3394252"/>
            <a:ext cx="614411" cy="124358"/>
          </a:xfrm>
          <a:prstGeom prst="rect">
            <a:avLst/>
          </a:prstGeom>
          <a:solidFill>
            <a:srgbClr val="83C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260613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+889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907942" y="3394252"/>
            <a:ext cx="614411" cy="124358"/>
          </a:xfrm>
          <a:prstGeom prst="rect">
            <a:avLst/>
          </a:prstGeom>
          <a:solidFill>
            <a:srgbClr val="61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0896970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+1287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04088" y="3529583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6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NOS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635300" y="3540556"/>
            <a:ext cx="614411" cy="124358"/>
          </a:xfrm>
          <a:prstGeom prst="rect">
            <a:avLst/>
          </a:prstGeom>
          <a:solidFill>
            <a:srgbClr val="DBA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624328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-718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271657" y="3540556"/>
            <a:ext cx="614411" cy="124358"/>
          </a:xfrm>
          <a:prstGeom prst="rect">
            <a:avLst/>
          </a:prstGeom>
          <a:solidFill>
            <a:srgbClr val="DBA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260685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-709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908014" y="3540556"/>
            <a:ext cx="614411" cy="124358"/>
          </a:xfrm>
          <a:prstGeom prst="rect">
            <a:avLst/>
          </a:prstGeom>
          <a:solidFill>
            <a:srgbClr val="DDA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897042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-634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544372" y="3540556"/>
            <a:ext cx="614411" cy="124358"/>
          </a:xfrm>
          <a:prstGeom prst="rect">
            <a:avLst/>
          </a:prstGeom>
          <a:solidFill>
            <a:srgbClr val="EE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33399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-127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180729" y="3540556"/>
            <a:ext cx="614411" cy="124358"/>
          </a:xfrm>
          <a:prstGeom prst="rect">
            <a:avLst/>
          </a:prstGeom>
          <a:solidFill>
            <a:srgbClr val="F2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169756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817086" y="3540556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453443" y="3540556"/>
            <a:ext cx="614411" cy="124358"/>
          </a:xfrm>
          <a:prstGeom prst="rect">
            <a:avLst/>
          </a:prstGeom>
          <a:solidFill>
            <a:srgbClr val="D5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442470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+151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089800" y="3540556"/>
            <a:ext cx="614411" cy="124358"/>
          </a:xfrm>
          <a:prstGeom prst="rect">
            <a:avLst/>
          </a:prstGeom>
          <a:solidFill>
            <a:srgbClr val="C7E0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078827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+252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7726157" y="3540556"/>
            <a:ext cx="614411" cy="124358"/>
          </a:xfrm>
          <a:prstGeom prst="rect">
            <a:avLst/>
          </a:prstGeom>
          <a:solidFill>
            <a:srgbClr val="C1D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7715184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+296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362514" y="3540556"/>
            <a:ext cx="614411" cy="124358"/>
          </a:xfrm>
          <a:prstGeom prst="rect">
            <a:avLst/>
          </a:prstGeom>
          <a:solidFill>
            <a:srgbClr val="A9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351541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+504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998871" y="3540556"/>
            <a:ext cx="614411" cy="124358"/>
          </a:xfrm>
          <a:prstGeom prst="rect">
            <a:avLst/>
          </a:prstGeom>
          <a:solidFill>
            <a:srgbClr val="A5D1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987898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+540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635228" y="3540556"/>
            <a:ext cx="614411" cy="124358"/>
          </a:xfrm>
          <a:prstGeom prst="rect">
            <a:avLst/>
          </a:prstGeom>
          <a:solidFill>
            <a:srgbClr val="94C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624255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+709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271585" y="3540556"/>
            <a:ext cx="614411" cy="124358"/>
          </a:xfrm>
          <a:prstGeom prst="rect">
            <a:avLst/>
          </a:prstGeom>
          <a:solidFill>
            <a:srgbClr val="88C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260613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+838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0907942" y="3540556"/>
            <a:ext cx="614411" cy="124358"/>
          </a:xfrm>
          <a:prstGeom prst="rect">
            <a:avLst/>
          </a:prstGeom>
          <a:solidFill>
            <a:srgbClr val="65B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0896970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+1236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04088" y="3675887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7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Santa Elena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635300" y="3686860"/>
            <a:ext cx="614411" cy="124358"/>
          </a:xfrm>
          <a:prstGeom prst="rect">
            <a:avLst/>
          </a:prstGeom>
          <a:solidFill>
            <a:srgbClr val="D79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624328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-869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271657" y="3686860"/>
            <a:ext cx="614411" cy="124358"/>
          </a:xfrm>
          <a:prstGeom prst="rect">
            <a:avLst/>
          </a:prstGeom>
          <a:solidFill>
            <a:srgbClr val="D89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260685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-859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3908014" y="3686860"/>
            <a:ext cx="614411" cy="124358"/>
          </a:xfrm>
          <a:prstGeom prst="rect">
            <a:avLst/>
          </a:prstGeom>
          <a:solidFill>
            <a:srgbClr val="D99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3897042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-785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544372" y="3686860"/>
            <a:ext cx="614411" cy="124358"/>
          </a:xfrm>
          <a:prstGeom prst="rect">
            <a:avLst/>
          </a:prstGeom>
          <a:solidFill>
            <a:srgbClr val="E8C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533399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-278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180729" y="3686860"/>
            <a:ext cx="614411" cy="124358"/>
          </a:xfrm>
          <a:prstGeom prst="rect">
            <a:avLst/>
          </a:prstGeom>
          <a:solidFill>
            <a:srgbClr val="EB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169756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-202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817086" y="3686860"/>
            <a:ext cx="614411" cy="124358"/>
          </a:xfrm>
          <a:prstGeom prst="rect">
            <a:avLst/>
          </a:prstGeom>
          <a:solidFill>
            <a:srgbClr val="ED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806113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-151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453443" y="3686860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089800" y="3686860"/>
            <a:ext cx="614411" cy="124358"/>
          </a:xfrm>
          <a:prstGeom prst="rect">
            <a:avLst/>
          </a:prstGeom>
          <a:solidFill>
            <a:srgbClr val="DD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7078827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+101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7726157" y="3686860"/>
            <a:ext cx="614411" cy="124358"/>
          </a:xfrm>
          <a:prstGeom prst="rect">
            <a:avLst/>
          </a:prstGeom>
          <a:solidFill>
            <a:srgbClr val="D6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7715184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+145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8362514" y="3686860"/>
            <a:ext cx="614411" cy="124358"/>
          </a:xfrm>
          <a:prstGeom prst="rect">
            <a:avLst/>
          </a:prstGeom>
          <a:solidFill>
            <a:srgbClr val="BAD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8351541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+353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8998871" y="3686860"/>
            <a:ext cx="614411" cy="124358"/>
          </a:xfrm>
          <a:prstGeom prst="rect">
            <a:avLst/>
          </a:prstGeom>
          <a:solidFill>
            <a:srgbClr val="B6D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8987898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+389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9635228" y="3686860"/>
            <a:ext cx="614411" cy="124358"/>
          </a:xfrm>
          <a:prstGeom prst="rect">
            <a:avLst/>
          </a:prstGeom>
          <a:solidFill>
            <a:srgbClr val="A3D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624255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+558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0271585" y="3686860"/>
            <a:ext cx="614411" cy="124358"/>
          </a:xfrm>
          <a:prstGeom prst="rect">
            <a:avLst/>
          </a:prstGeom>
          <a:solidFill>
            <a:srgbClr val="96C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0260613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+688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0907942" y="3686860"/>
            <a:ext cx="614411" cy="124358"/>
          </a:xfrm>
          <a:prstGeom prst="rect">
            <a:avLst/>
          </a:prstGeom>
          <a:solidFill>
            <a:srgbClr val="72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0896970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+1085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04088" y="3822191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8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Laguna del Sol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2635300" y="3833164"/>
            <a:ext cx="614411" cy="124358"/>
          </a:xfrm>
          <a:prstGeom prst="rect">
            <a:avLst/>
          </a:prstGeom>
          <a:solidFill>
            <a:srgbClr val="D59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2624328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-970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271657" y="3833164"/>
            <a:ext cx="614411" cy="124358"/>
          </a:xfrm>
          <a:prstGeom prst="rect">
            <a:avLst/>
          </a:prstGeom>
          <a:solidFill>
            <a:srgbClr val="D5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3260685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-960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3908014" y="3833164"/>
            <a:ext cx="614411" cy="124358"/>
          </a:xfrm>
          <a:prstGeom prst="rect">
            <a:avLst/>
          </a:prstGeom>
          <a:solidFill>
            <a:srgbClr val="D79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3897042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-886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544372" y="3833164"/>
            <a:ext cx="614411" cy="124358"/>
          </a:xfrm>
          <a:prstGeom prst="rect">
            <a:avLst/>
          </a:prstGeom>
          <a:solidFill>
            <a:srgbClr val="E5C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4533399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-379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5180729" y="3833164"/>
            <a:ext cx="614411" cy="124358"/>
          </a:xfrm>
          <a:prstGeom prst="rect">
            <a:avLst/>
          </a:prstGeom>
          <a:solidFill>
            <a:srgbClr val="E8C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5169756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-303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5817086" y="3833164"/>
            <a:ext cx="614411" cy="124358"/>
          </a:xfrm>
          <a:prstGeom prst="rect">
            <a:avLst/>
          </a:prstGeom>
          <a:solidFill>
            <a:srgbClr val="E9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5806113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-252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453443" y="3833164"/>
            <a:ext cx="614411" cy="124358"/>
          </a:xfrm>
          <a:prstGeom prst="rect">
            <a:avLst/>
          </a:prstGeom>
          <a:solidFill>
            <a:srgbClr val="F0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442470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-101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7089800" y="3833164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7726157" y="3833164"/>
            <a:ext cx="614411" cy="12435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7715184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+44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8362514" y="3833164"/>
            <a:ext cx="614411" cy="124358"/>
          </a:xfrm>
          <a:prstGeom prst="rect">
            <a:avLst/>
          </a:prstGeom>
          <a:solidFill>
            <a:srgbClr val="C7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8351541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+252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8998871" y="3833164"/>
            <a:ext cx="614411" cy="124358"/>
          </a:xfrm>
          <a:prstGeom prst="rect">
            <a:avLst/>
          </a:prstGeom>
          <a:solidFill>
            <a:srgbClr val="C2D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8987898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+288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9635228" y="3833164"/>
            <a:ext cx="614411" cy="124358"/>
          </a:xfrm>
          <a:prstGeom prst="rect">
            <a:avLst/>
          </a:prstGeom>
          <a:solidFill>
            <a:srgbClr val="AE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9624255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+457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0271585" y="3833164"/>
            <a:ext cx="614411" cy="124358"/>
          </a:xfrm>
          <a:prstGeom prst="rect">
            <a:avLst/>
          </a:prstGeom>
          <a:solidFill>
            <a:srgbClr val="A0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0260613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+587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0907942" y="3833164"/>
            <a:ext cx="614411" cy="124358"/>
          </a:xfrm>
          <a:prstGeom prst="rect">
            <a:avLst/>
          </a:prstGeom>
          <a:solidFill>
            <a:srgbClr val="7B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0896970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+984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04088" y="3968496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9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Hacienda Batuco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2635300" y="3979468"/>
            <a:ext cx="614411" cy="124358"/>
          </a:xfrm>
          <a:prstGeom prst="rect">
            <a:avLst/>
          </a:prstGeom>
          <a:solidFill>
            <a:srgbClr val="D48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624328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-1014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3271657" y="3979468"/>
            <a:ext cx="614411" cy="124358"/>
          </a:xfrm>
          <a:prstGeom prst="rect">
            <a:avLst/>
          </a:prstGeom>
          <a:solidFill>
            <a:srgbClr val="D4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3260685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-1005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3908014" y="3979468"/>
            <a:ext cx="614411" cy="124358"/>
          </a:xfrm>
          <a:prstGeom prst="rect">
            <a:avLst/>
          </a:prstGeom>
          <a:solidFill>
            <a:srgbClr val="D69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3897042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-930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4544372" y="3979468"/>
            <a:ext cx="614411" cy="124358"/>
          </a:xfrm>
          <a:prstGeom prst="rect">
            <a:avLst/>
          </a:prstGeom>
          <a:solidFill>
            <a:srgbClr val="E4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4533399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-423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180729" y="3979468"/>
            <a:ext cx="614411" cy="124358"/>
          </a:xfrm>
          <a:prstGeom prst="rect">
            <a:avLst/>
          </a:prstGeom>
          <a:solidFill>
            <a:srgbClr val="E6C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5169756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-347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5817086" y="3979468"/>
            <a:ext cx="614411" cy="124358"/>
          </a:xfrm>
          <a:prstGeom prst="rect">
            <a:avLst/>
          </a:prstGeom>
          <a:solidFill>
            <a:srgbClr val="E8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5806113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-296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6453443" y="3979468"/>
            <a:ext cx="614411" cy="124358"/>
          </a:xfrm>
          <a:prstGeom prst="rect">
            <a:avLst/>
          </a:prstGeom>
          <a:solidFill>
            <a:srgbClr val="EE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442470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-145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7089800" y="3979468"/>
            <a:ext cx="614411" cy="124358"/>
          </a:xfrm>
          <a:prstGeom prst="rect">
            <a:avLst/>
          </a:prstGeom>
          <a:solidFill>
            <a:srgbClr val="F3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7078827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-44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7726157" y="3979468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8362514" y="3979468"/>
            <a:ext cx="614411" cy="124358"/>
          </a:xfrm>
          <a:prstGeom prst="rect">
            <a:avLst/>
          </a:prstGeom>
          <a:solidFill>
            <a:srgbClr val="CD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8351541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+208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8998871" y="3979468"/>
            <a:ext cx="614411" cy="124358"/>
          </a:xfrm>
          <a:prstGeom prst="rect">
            <a:avLst/>
          </a:prstGeom>
          <a:solidFill>
            <a:srgbClr val="C8E0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8987898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+244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9635228" y="3979468"/>
            <a:ext cx="614411" cy="124358"/>
          </a:xfrm>
          <a:prstGeom prst="rect">
            <a:avLst/>
          </a:prstGeom>
          <a:solidFill>
            <a:srgbClr val="B3D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9624255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+413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10271585" y="3979468"/>
            <a:ext cx="614411" cy="124358"/>
          </a:xfrm>
          <a:prstGeom prst="rect">
            <a:avLst/>
          </a:prstGeom>
          <a:solidFill>
            <a:srgbClr val="A5D1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10260613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+542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10907942" y="3979468"/>
            <a:ext cx="614411" cy="124358"/>
          </a:xfrm>
          <a:prstGeom prst="rect">
            <a:avLst/>
          </a:prstGeom>
          <a:solidFill>
            <a:srgbClr val="7FC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10896970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+940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704088" y="4114800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10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El Peñón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2635300" y="4125772"/>
            <a:ext cx="614411" cy="124358"/>
          </a:xfrm>
          <a:prstGeom prst="rect">
            <a:avLst/>
          </a:prstGeom>
          <a:solidFill>
            <a:srgbClr val="CF7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2624328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-1222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3271657" y="4125772"/>
            <a:ext cx="614411" cy="124358"/>
          </a:xfrm>
          <a:prstGeom prst="rect">
            <a:avLst/>
          </a:prstGeom>
          <a:solidFill>
            <a:srgbClr val="CF7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3260685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-1213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3908014" y="4125772"/>
            <a:ext cx="614411" cy="124358"/>
          </a:xfrm>
          <a:prstGeom prst="rect">
            <a:avLst/>
          </a:prstGeom>
          <a:solidFill>
            <a:srgbClr val="D18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3897042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-1138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4544372" y="4125772"/>
            <a:ext cx="614411" cy="124358"/>
          </a:xfrm>
          <a:prstGeom prst="rect">
            <a:avLst/>
          </a:prstGeom>
          <a:solidFill>
            <a:srgbClr val="DEA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4533399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-631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180729" y="4125772"/>
            <a:ext cx="614411" cy="124358"/>
          </a:xfrm>
          <a:prstGeom prst="rect">
            <a:avLst/>
          </a:prstGeom>
          <a:solidFill>
            <a:srgbClr val="E0B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169756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-555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5817086" y="4125772"/>
            <a:ext cx="614411" cy="124358"/>
          </a:xfrm>
          <a:prstGeom prst="rect">
            <a:avLst/>
          </a:prstGeom>
          <a:solidFill>
            <a:srgbClr val="E1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5806113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-504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6453443" y="4125772"/>
            <a:ext cx="614411" cy="124358"/>
          </a:xfrm>
          <a:prstGeom prst="rect">
            <a:avLst/>
          </a:prstGeom>
          <a:solidFill>
            <a:srgbClr val="E6C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6442470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-353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7089800" y="4125772"/>
            <a:ext cx="614411" cy="124358"/>
          </a:xfrm>
          <a:prstGeom prst="rect">
            <a:avLst/>
          </a:prstGeom>
          <a:solidFill>
            <a:srgbClr val="E9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7078827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-252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7726157" y="4125772"/>
            <a:ext cx="614411" cy="124358"/>
          </a:xfrm>
          <a:prstGeom prst="rect">
            <a:avLst/>
          </a:prstGeom>
          <a:solidFill>
            <a:srgbClr val="EBD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7715184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-208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8362514" y="4125772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8998871" y="4125772"/>
            <a:ext cx="614411" cy="124358"/>
          </a:xfrm>
          <a:prstGeom prst="rect">
            <a:avLst/>
          </a:prstGeom>
          <a:solidFill>
            <a:srgbClr val="EA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8987898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+36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9635228" y="4125772"/>
            <a:ext cx="614411" cy="124358"/>
          </a:xfrm>
          <a:prstGeom prst="rect">
            <a:avLst/>
          </a:prstGeom>
          <a:solidFill>
            <a:srgbClr val="C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9624255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+205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10271585" y="4125772"/>
            <a:ext cx="614411" cy="124358"/>
          </a:xfrm>
          <a:prstGeom prst="rect">
            <a:avLst/>
          </a:prstGeom>
          <a:solidFill>
            <a:srgbClr val="BCD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0260613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+334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10907942" y="4125772"/>
            <a:ext cx="614411" cy="124358"/>
          </a:xfrm>
          <a:prstGeom prst="rect">
            <a:avLst/>
          </a:prstGeom>
          <a:solidFill>
            <a:srgbClr val="92C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10896970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+732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658368" y="4268419"/>
            <a:ext cx="1920240" cy="131673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704088" y="4261104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11  </a:t>
            </a:r>
            <a:r>
              <a:rPr sz="80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2635300" y="4272076"/>
            <a:ext cx="614411" cy="124358"/>
          </a:xfrm>
          <a:prstGeom prst="rect">
            <a:avLst/>
          </a:prstGeom>
          <a:solidFill>
            <a:srgbClr val="CE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2624328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-1258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271657" y="4272076"/>
            <a:ext cx="614411" cy="124358"/>
          </a:xfrm>
          <a:prstGeom prst="rect">
            <a:avLst/>
          </a:prstGeom>
          <a:solidFill>
            <a:srgbClr val="CE7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3260685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-1249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3908014" y="4272076"/>
            <a:ext cx="614411" cy="124358"/>
          </a:xfrm>
          <a:prstGeom prst="rect">
            <a:avLst/>
          </a:prstGeom>
          <a:solidFill>
            <a:srgbClr val="D08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3897042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-1174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544372" y="4272076"/>
            <a:ext cx="614411" cy="124358"/>
          </a:xfrm>
          <a:prstGeom prst="rect">
            <a:avLst/>
          </a:prstGeom>
          <a:solidFill>
            <a:srgbClr val="DDA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4533399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-667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180729" y="4272076"/>
            <a:ext cx="614411" cy="124358"/>
          </a:xfrm>
          <a:prstGeom prst="rect">
            <a:avLst/>
          </a:prstGeom>
          <a:solidFill>
            <a:srgbClr val="DFA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5169756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-591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5817086" y="4272076"/>
            <a:ext cx="614411" cy="124358"/>
          </a:xfrm>
          <a:prstGeom prst="rect">
            <a:avLst/>
          </a:prstGeom>
          <a:solidFill>
            <a:srgbClr val="E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5806113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-540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453443" y="4272076"/>
            <a:ext cx="614411" cy="124358"/>
          </a:xfrm>
          <a:prstGeom prst="rect">
            <a:avLst/>
          </a:prstGeom>
          <a:solidFill>
            <a:srgbClr val="E5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6442470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-389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089800" y="4272076"/>
            <a:ext cx="614411" cy="124358"/>
          </a:xfrm>
          <a:prstGeom prst="rect">
            <a:avLst/>
          </a:prstGeom>
          <a:solidFill>
            <a:srgbClr val="E8CA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7078827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-288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726157" y="4272076"/>
            <a:ext cx="614411" cy="124358"/>
          </a:xfrm>
          <a:prstGeom prst="rect">
            <a:avLst/>
          </a:prstGeom>
          <a:solidFill>
            <a:srgbClr val="EA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7715184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-244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62514" y="4272076"/>
            <a:ext cx="614411" cy="124358"/>
          </a:xfrm>
          <a:prstGeom prst="rect">
            <a:avLst/>
          </a:prstGeom>
          <a:solidFill>
            <a:srgbClr val="F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8351541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-36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998871" y="4272076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9635228" y="4272076"/>
            <a:ext cx="614411" cy="124358"/>
          </a:xfrm>
          <a:prstGeom prst="rect">
            <a:avLst/>
          </a:prstGeom>
          <a:solidFill>
            <a:srgbClr val="D3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9624255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+169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10271585" y="4272076"/>
            <a:ext cx="614411" cy="124358"/>
          </a:xfrm>
          <a:prstGeom prst="rect">
            <a:avLst/>
          </a:prstGeom>
          <a:solidFill>
            <a:srgbClr val="C1D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10260613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+298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0907942" y="4272076"/>
            <a:ext cx="614411" cy="124358"/>
          </a:xfrm>
          <a:prstGeom prst="rect">
            <a:avLst/>
          </a:prstGeom>
          <a:solidFill>
            <a:srgbClr val="95C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10896970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+696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704088" y="4407407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12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Ayres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2635300" y="4418380"/>
            <a:ext cx="614411" cy="124358"/>
          </a:xfrm>
          <a:prstGeom prst="rect">
            <a:avLst/>
          </a:prstGeom>
          <a:solidFill>
            <a:srgbClr val="CA7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2624328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-1427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3271657" y="4418380"/>
            <a:ext cx="614411" cy="124358"/>
          </a:xfrm>
          <a:prstGeom prst="rect">
            <a:avLst/>
          </a:prstGeom>
          <a:solidFill>
            <a:srgbClr val="CB72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3260685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-1417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3908014" y="4418380"/>
            <a:ext cx="614411" cy="124358"/>
          </a:xfrm>
          <a:prstGeom prst="rect">
            <a:avLst/>
          </a:prstGeom>
          <a:solidFill>
            <a:srgbClr val="CC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3897042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-1343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544372" y="4418380"/>
            <a:ext cx="614411" cy="124358"/>
          </a:xfrm>
          <a:prstGeom prst="rect">
            <a:avLst/>
          </a:prstGeom>
          <a:solidFill>
            <a:srgbClr val="D89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4533399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-836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5180729" y="4418380"/>
            <a:ext cx="614411" cy="124358"/>
          </a:xfrm>
          <a:prstGeom prst="rect">
            <a:avLst/>
          </a:prstGeom>
          <a:solidFill>
            <a:srgbClr val="DAA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5169756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-760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5817086" y="4418380"/>
            <a:ext cx="614411" cy="124358"/>
          </a:xfrm>
          <a:prstGeom prst="rect">
            <a:avLst/>
          </a:prstGeom>
          <a:solidFill>
            <a:srgbClr val="DBA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5806113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-709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6453443" y="4418380"/>
            <a:ext cx="614411" cy="124358"/>
          </a:xfrm>
          <a:prstGeom prst="rect">
            <a:avLst/>
          </a:prstGeom>
          <a:solidFill>
            <a:srgbClr val="E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6442470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-558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7089800" y="4418380"/>
            <a:ext cx="614411" cy="124358"/>
          </a:xfrm>
          <a:prstGeom prst="rect">
            <a:avLst/>
          </a:prstGeom>
          <a:solidFill>
            <a:srgbClr val="E3B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7078827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-457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7726157" y="4418380"/>
            <a:ext cx="614411" cy="124358"/>
          </a:xfrm>
          <a:prstGeom prst="rect">
            <a:avLst/>
          </a:prstGeom>
          <a:solidFill>
            <a:srgbClr val="E4B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7715184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-413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8362514" y="4418380"/>
            <a:ext cx="614411" cy="124358"/>
          </a:xfrm>
          <a:prstGeom prst="rect">
            <a:avLst/>
          </a:prstGeom>
          <a:solidFill>
            <a:srgbClr val="EBD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8351541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-205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8998871" y="4418380"/>
            <a:ext cx="614411" cy="124358"/>
          </a:xfrm>
          <a:prstGeom prst="rect">
            <a:avLst/>
          </a:prstGeom>
          <a:solidFill>
            <a:srgbClr val="EDD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8987898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-169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9635228" y="4418380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271585" y="4418380"/>
            <a:ext cx="614411" cy="124358"/>
          </a:xfrm>
          <a:prstGeom prst="rect">
            <a:avLst/>
          </a:prstGeom>
          <a:solidFill>
            <a:srgbClr val="D9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10260613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+130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10907942" y="4418380"/>
            <a:ext cx="614411" cy="124358"/>
          </a:xfrm>
          <a:prstGeom prst="rect">
            <a:avLst/>
          </a:prstGeom>
          <a:solidFill>
            <a:srgbClr val="A7D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10896970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+527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704088" y="4553712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13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Colina · Reina N.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2635300" y="4564684"/>
            <a:ext cx="614411" cy="124358"/>
          </a:xfrm>
          <a:prstGeom prst="rect">
            <a:avLst/>
          </a:prstGeom>
          <a:solidFill>
            <a:srgbClr val="C86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2624328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-1557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3271657" y="4564684"/>
            <a:ext cx="614411" cy="124358"/>
          </a:xfrm>
          <a:prstGeom prst="rect">
            <a:avLst/>
          </a:prstGeom>
          <a:solidFill>
            <a:srgbClr val="C86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3260685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-1547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3908014" y="4564684"/>
            <a:ext cx="614411" cy="124358"/>
          </a:xfrm>
          <a:prstGeom prst="rect">
            <a:avLst/>
          </a:prstGeom>
          <a:solidFill>
            <a:srgbClr val="C96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3897042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-1472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4544372" y="4564684"/>
            <a:ext cx="614411" cy="124358"/>
          </a:xfrm>
          <a:prstGeom prst="rect">
            <a:avLst/>
          </a:prstGeom>
          <a:solidFill>
            <a:srgbClr val="D59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4533399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-965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5180729" y="4564684"/>
            <a:ext cx="614411" cy="124358"/>
          </a:xfrm>
          <a:prstGeom prst="rect">
            <a:avLst/>
          </a:prstGeom>
          <a:solidFill>
            <a:srgbClr val="D79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5169756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-889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5817086" y="4564684"/>
            <a:ext cx="614411" cy="124358"/>
          </a:xfrm>
          <a:prstGeom prst="rect">
            <a:avLst/>
          </a:prstGeom>
          <a:solidFill>
            <a:srgbClr val="D89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5806113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-838</a:t>
            </a:r>
          </a:p>
        </p:txBody>
      </p:sp>
      <p:sp>
        <p:nvSpPr>
          <p:cNvPr id="370" name="Rectangle 369"/>
          <p:cNvSpPr/>
          <p:nvPr/>
        </p:nvSpPr>
        <p:spPr>
          <a:xfrm>
            <a:off x="6453443" y="4564684"/>
            <a:ext cx="614411" cy="124358"/>
          </a:xfrm>
          <a:prstGeom prst="rect">
            <a:avLst/>
          </a:prstGeom>
          <a:solidFill>
            <a:srgbClr val="DCA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6442470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-688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7089800" y="4564684"/>
            <a:ext cx="614411" cy="124358"/>
          </a:xfrm>
          <a:prstGeom prst="rect">
            <a:avLst/>
          </a:prstGeom>
          <a:solidFill>
            <a:srgbClr val="DFA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7078827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-587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7726157" y="4564684"/>
            <a:ext cx="614411" cy="124358"/>
          </a:xfrm>
          <a:prstGeom prst="rect">
            <a:avLst/>
          </a:prstGeom>
          <a:solidFill>
            <a:srgbClr val="E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7715184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-542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8362514" y="4564684"/>
            <a:ext cx="614411" cy="124358"/>
          </a:xfrm>
          <a:prstGeom prst="rect">
            <a:avLst/>
          </a:prstGeom>
          <a:solidFill>
            <a:srgbClr val="E7C5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8351541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-334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8998871" y="4564684"/>
            <a:ext cx="614411" cy="124358"/>
          </a:xfrm>
          <a:prstGeom prst="rect">
            <a:avLst/>
          </a:prstGeom>
          <a:solidFill>
            <a:srgbClr val="E8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8987898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-298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9635228" y="4564684"/>
            <a:ext cx="614411" cy="124358"/>
          </a:xfrm>
          <a:prstGeom prst="rect">
            <a:avLst/>
          </a:prstGeom>
          <a:solidFill>
            <a:srgbClr val="EE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9624255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-130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10271585" y="4564684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07942" y="4564684"/>
            <a:ext cx="614411" cy="124358"/>
          </a:xfrm>
          <a:prstGeom prst="rect">
            <a:avLst/>
          </a:prstGeom>
          <a:solidFill>
            <a:srgbClr val="B5D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10896970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+398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704088" y="4700016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14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Buin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2635300" y="4710988"/>
            <a:ext cx="614411" cy="124358"/>
          </a:xfrm>
          <a:prstGeom prst="rect">
            <a:avLst/>
          </a:prstGeom>
          <a:solidFill>
            <a:srgbClr val="C05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2624328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-1954</a:t>
            </a:r>
          </a:p>
        </p:txBody>
      </p:sp>
      <p:sp>
        <p:nvSpPr>
          <p:cNvPr id="388" name="Rectangle 387"/>
          <p:cNvSpPr/>
          <p:nvPr/>
        </p:nvSpPr>
        <p:spPr>
          <a:xfrm>
            <a:off x="3271657" y="4710988"/>
            <a:ext cx="614411" cy="124358"/>
          </a:xfrm>
          <a:prstGeom prst="rect">
            <a:avLst/>
          </a:prstGeom>
          <a:solidFill>
            <a:srgbClr val="C05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3260685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-1944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3908014" y="4710988"/>
            <a:ext cx="614411" cy="124358"/>
          </a:xfrm>
          <a:prstGeom prst="rect">
            <a:avLst/>
          </a:prstGeom>
          <a:solidFill>
            <a:srgbClr val="C15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3897042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-1870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4544372" y="4710988"/>
            <a:ext cx="614411" cy="124358"/>
          </a:xfrm>
          <a:prstGeom prst="rect">
            <a:avLst/>
          </a:prstGeom>
          <a:solidFill>
            <a:srgbClr val="CC7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4533399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-1363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5180729" y="4710988"/>
            <a:ext cx="614411" cy="124358"/>
          </a:xfrm>
          <a:prstGeom prst="rect">
            <a:avLst/>
          </a:prstGeom>
          <a:solidFill>
            <a:srgbClr val="CD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TextBox 394"/>
          <p:cNvSpPr txBox="1"/>
          <p:nvPr/>
        </p:nvSpPr>
        <p:spPr>
          <a:xfrm>
            <a:off x="5169756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-1287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5817086" y="4710988"/>
            <a:ext cx="614411" cy="124358"/>
          </a:xfrm>
          <a:prstGeom prst="rect">
            <a:avLst/>
          </a:prstGeom>
          <a:solidFill>
            <a:srgbClr val="CF7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5806113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-1236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6453443" y="4710988"/>
            <a:ext cx="614411" cy="124358"/>
          </a:xfrm>
          <a:prstGeom prst="rect">
            <a:avLst/>
          </a:prstGeom>
          <a:solidFill>
            <a:srgbClr val="D28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6442470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-1085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7089800" y="4710988"/>
            <a:ext cx="614411" cy="124358"/>
          </a:xfrm>
          <a:prstGeom prst="rect">
            <a:avLst/>
          </a:prstGeom>
          <a:solidFill>
            <a:srgbClr val="D4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7078827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-984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7726157" y="4710988"/>
            <a:ext cx="614411" cy="124358"/>
          </a:xfrm>
          <a:prstGeom prst="rect">
            <a:avLst/>
          </a:prstGeom>
          <a:solidFill>
            <a:srgbClr val="D692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7715184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-940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8362514" y="4710988"/>
            <a:ext cx="614411" cy="124358"/>
          </a:xfrm>
          <a:prstGeom prst="rect">
            <a:avLst/>
          </a:prstGeom>
          <a:solidFill>
            <a:srgbClr val="DB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8351541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-732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8998871" y="4710988"/>
            <a:ext cx="614411" cy="124358"/>
          </a:xfrm>
          <a:prstGeom prst="rect">
            <a:avLst/>
          </a:prstGeom>
          <a:solidFill>
            <a:srgbClr val="DC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8987898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-696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9635228" y="4710988"/>
            <a:ext cx="614411" cy="124358"/>
          </a:xfrm>
          <a:prstGeom prst="rect">
            <a:avLst/>
          </a:prstGeom>
          <a:solidFill>
            <a:srgbClr val="E1B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9624255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-527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10271585" y="4710988"/>
            <a:ext cx="614411" cy="124358"/>
          </a:xfrm>
          <a:prstGeom prst="rect">
            <a:avLst/>
          </a:prstGeom>
          <a:solidFill>
            <a:srgbClr val="E4B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10260613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-398</a:t>
            </a:r>
          </a:p>
        </p:txBody>
      </p:sp>
      <p:sp>
        <p:nvSpPr>
          <p:cNvPr id="412" name="Rectangle 411"/>
          <p:cNvSpPr/>
          <p:nvPr/>
        </p:nvSpPr>
        <p:spPr>
          <a:xfrm>
            <a:off x="10907942" y="4710988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658368" y="4956048"/>
            <a:ext cx="10607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58C"/>
                </a:solidFill>
                <a:latin typeface="Helvetica Neue"/>
              </a:rPr>
              <a:t>Cada celda: UF que la vivienda de la FILA justifica por sobre la de la COLUMNA (tiempo + costo de auto ahorrados). Verde = puede pedir más; rojo = debe pedir menos.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2EFE8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La lectura honesta: manejar desde Batuco es caro y su sobreprecio por auto es acotado; no puede pedir más UF que Valle Grande ni Chicauma. La lámina siguiente muestra dónde recupera esa diferencia.</a:t>
            </a:r>
          </a:p>
        </p:txBody>
      </p:sp>
      <p:cxnSp>
        <p:nvCxnSpPr>
          <p:cNvPr id="418" name="Connector 417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TextBox 418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08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CUÁNTO VALE · EL DIFERENCIAL DEL TREN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El diferencial del tren, en UF: solo las zonas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con estación nueva lo capturan.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2622466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3258823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Hacienda Batuco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3895180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4531537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Laguna del Sol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5167894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Chicauma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5804251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Valle Grande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6440609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Santa Elena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7076966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El Peñón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7713323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Urbanya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8349680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Larapinta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8986037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Buin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9622394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Ayres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10258751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Colina · Reina N.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10895108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NOS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805379"/>
            <a:ext cx="1920240" cy="131673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2798063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  </a:t>
            </a:r>
            <a:r>
              <a:rPr sz="80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35300" y="2809036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71657" y="2809036"/>
            <a:ext cx="614411" cy="124358"/>
          </a:xfrm>
          <a:prstGeom prst="rect">
            <a:avLst/>
          </a:prstGeom>
          <a:solidFill>
            <a:srgbClr val="AED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0685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08014" y="2809036"/>
            <a:ext cx="614411" cy="124358"/>
          </a:xfrm>
          <a:prstGeom prst="rect">
            <a:avLst/>
          </a:prstGeom>
          <a:solidFill>
            <a:srgbClr val="9AC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97042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44372" y="2809036"/>
            <a:ext cx="614411" cy="124358"/>
          </a:xfrm>
          <a:prstGeom prst="rect">
            <a:avLst/>
          </a:prstGeom>
          <a:solidFill>
            <a:srgbClr val="96C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3399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+345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80729" y="2809036"/>
            <a:ext cx="614411" cy="124358"/>
          </a:xfrm>
          <a:prstGeom prst="rect">
            <a:avLst/>
          </a:prstGeom>
          <a:solidFill>
            <a:srgbClr val="7D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9756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+482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17086" y="2809036"/>
            <a:ext cx="614411" cy="124358"/>
          </a:xfrm>
          <a:prstGeom prst="rect">
            <a:avLst/>
          </a:prstGeom>
          <a:solidFill>
            <a:srgbClr val="5AB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113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+690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53443" y="2809036"/>
            <a:ext cx="614411" cy="124358"/>
          </a:xfrm>
          <a:prstGeom prst="rect">
            <a:avLst/>
          </a:prstGeom>
          <a:solidFill>
            <a:srgbClr val="47A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2470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+811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9800" y="2809036"/>
            <a:ext cx="614411" cy="124358"/>
          </a:xfrm>
          <a:prstGeom prst="rect">
            <a:avLst/>
          </a:prstGeom>
          <a:solidFill>
            <a:srgbClr val="3CA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8827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+882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26157" y="2809036"/>
            <a:ext cx="614411" cy="124358"/>
          </a:xfrm>
          <a:prstGeom prst="rect">
            <a:avLst/>
          </a:prstGeom>
          <a:solidFill>
            <a:srgbClr val="3AA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15184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+896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2514" y="2809036"/>
            <a:ext cx="614411" cy="124358"/>
          </a:xfrm>
          <a:prstGeom prst="rect">
            <a:avLst/>
          </a:prstGeom>
          <a:solidFill>
            <a:srgbClr val="35A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1541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+930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98871" y="2809036"/>
            <a:ext cx="614411" cy="124358"/>
          </a:xfrm>
          <a:prstGeom prst="rect">
            <a:avLst/>
          </a:prstGeom>
          <a:solidFill>
            <a:srgbClr val="34A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87898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+939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35228" y="2809036"/>
            <a:ext cx="614411" cy="124358"/>
          </a:xfrm>
          <a:prstGeom prst="rect">
            <a:avLst/>
          </a:prstGeom>
          <a:solidFill>
            <a:srgbClr val="339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24255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+948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71585" y="2809036"/>
            <a:ext cx="614411" cy="124358"/>
          </a:xfrm>
          <a:prstGeom prst="rect">
            <a:avLst/>
          </a:prstGeom>
          <a:solidFill>
            <a:srgbClr val="319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60613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+960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07942" y="2809036"/>
            <a:ext cx="614411" cy="124358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96970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+977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" y="2944368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2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Hacienda Batuco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35300" y="2955340"/>
            <a:ext cx="614411" cy="124358"/>
          </a:xfrm>
          <a:prstGeom prst="rect">
            <a:avLst/>
          </a:prstGeom>
          <a:solidFill>
            <a:srgbClr val="E3B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24328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-228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71657" y="2955340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08014" y="2955340"/>
            <a:ext cx="614411" cy="124358"/>
          </a:xfrm>
          <a:prstGeom prst="rect">
            <a:avLst/>
          </a:prstGeom>
          <a:solidFill>
            <a:srgbClr val="C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97042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+97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44372" y="2955340"/>
            <a:ext cx="614411" cy="124358"/>
          </a:xfrm>
          <a:prstGeom prst="rect">
            <a:avLst/>
          </a:prstGeom>
          <a:solidFill>
            <a:srgbClr val="C9E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33399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+117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80729" y="2955340"/>
            <a:ext cx="614411" cy="124358"/>
          </a:xfrm>
          <a:prstGeom prst="rect">
            <a:avLst/>
          </a:prstGeom>
          <a:solidFill>
            <a:srgbClr val="A9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69756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+254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17086" y="2955340"/>
            <a:ext cx="614411" cy="124358"/>
          </a:xfrm>
          <a:prstGeom prst="rect">
            <a:avLst/>
          </a:prstGeom>
          <a:solidFill>
            <a:srgbClr val="80C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06113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+462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53443" y="2955340"/>
            <a:ext cx="614411" cy="124358"/>
          </a:xfrm>
          <a:prstGeom prst="rect">
            <a:avLst/>
          </a:prstGeom>
          <a:solidFill>
            <a:srgbClr val="6BB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2470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+583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89800" y="2955340"/>
            <a:ext cx="614411" cy="124358"/>
          </a:xfrm>
          <a:prstGeom prst="rect">
            <a:avLst/>
          </a:prstGeom>
          <a:solidFill>
            <a:srgbClr val="5FB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78827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+654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26157" y="2955340"/>
            <a:ext cx="614411" cy="124358"/>
          </a:xfrm>
          <a:prstGeom prst="rect">
            <a:avLst/>
          </a:prstGeom>
          <a:solidFill>
            <a:srgbClr val="5DB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15184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+668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62514" y="2955340"/>
            <a:ext cx="614411" cy="124358"/>
          </a:xfrm>
          <a:prstGeom prst="rect">
            <a:avLst/>
          </a:prstGeom>
          <a:solidFill>
            <a:srgbClr val="58A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51541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+702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98871" y="2955340"/>
            <a:ext cx="614411" cy="124358"/>
          </a:xfrm>
          <a:prstGeom prst="rect">
            <a:avLst/>
          </a:prstGeom>
          <a:solidFill>
            <a:srgbClr val="56A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87898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+711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35228" y="2955340"/>
            <a:ext cx="614411" cy="124358"/>
          </a:xfrm>
          <a:prstGeom prst="rect">
            <a:avLst/>
          </a:prstGeom>
          <a:solidFill>
            <a:srgbClr val="55A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24255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+720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271585" y="2955340"/>
            <a:ext cx="614411" cy="124358"/>
          </a:xfrm>
          <a:prstGeom prst="rect">
            <a:avLst/>
          </a:prstGeom>
          <a:solidFill>
            <a:srgbClr val="53A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60613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+731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907942" y="2955340"/>
            <a:ext cx="614411" cy="124358"/>
          </a:xfrm>
          <a:prstGeom prst="rect">
            <a:avLst/>
          </a:prstGeom>
          <a:solidFill>
            <a:srgbClr val="50A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896970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+749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8368" y="3097987"/>
            <a:ext cx="1920240" cy="131673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04088" y="3090671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3  </a:t>
            </a:r>
            <a:r>
              <a:rPr sz="80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35300" y="3101644"/>
            <a:ext cx="614411" cy="124358"/>
          </a:xfrm>
          <a:prstGeom prst="rect">
            <a:avLst/>
          </a:prstGeom>
          <a:solidFill>
            <a:srgbClr val="DD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24328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71657" y="3101644"/>
            <a:ext cx="614411" cy="124358"/>
          </a:xfrm>
          <a:prstGeom prst="rect">
            <a:avLst/>
          </a:prstGeom>
          <a:solidFill>
            <a:srgbClr val="EC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60685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-97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908014" y="3101644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544372" y="3101644"/>
            <a:ext cx="614411" cy="124358"/>
          </a:xfrm>
          <a:prstGeom prst="rect">
            <a:avLst/>
          </a:prstGeom>
          <a:solidFill>
            <a:srgbClr val="E9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33399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80729" y="3101644"/>
            <a:ext cx="614411" cy="124358"/>
          </a:xfrm>
          <a:prstGeom prst="rect">
            <a:avLst/>
          </a:prstGeom>
          <a:solidFill>
            <a:srgbClr val="BF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169756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+157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17086" y="3101644"/>
            <a:ext cx="614411" cy="124358"/>
          </a:xfrm>
          <a:prstGeom prst="rect">
            <a:avLst/>
          </a:prstGeom>
          <a:solidFill>
            <a:srgbClr val="92C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06113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+364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53443" y="3101644"/>
            <a:ext cx="614411" cy="124358"/>
          </a:xfrm>
          <a:prstGeom prst="rect">
            <a:avLst/>
          </a:prstGeom>
          <a:solidFill>
            <a:srgbClr val="7C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42470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+485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089800" y="3101644"/>
            <a:ext cx="614411" cy="124358"/>
          </a:xfrm>
          <a:prstGeom prst="rect">
            <a:avLst/>
          </a:prstGeom>
          <a:solidFill>
            <a:srgbClr val="70B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078827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+557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726157" y="3101644"/>
            <a:ext cx="614411" cy="124358"/>
          </a:xfrm>
          <a:prstGeom prst="rect">
            <a:avLst/>
          </a:prstGeom>
          <a:solidFill>
            <a:srgbClr val="6DB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715184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+570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362514" y="3101644"/>
            <a:ext cx="614411" cy="124358"/>
          </a:xfrm>
          <a:prstGeom prst="rect">
            <a:avLst/>
          </a:prstGeom>
          <a:solidFill>
            <a:srgbClr val="68B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51541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+605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98871" y="3101644"/>
            <a:ext cx="614411" cy="124358"/>
          </a:xfrm>
          <a:prstGeom prst="rect">
            <a:avLst/>
          </a:prstGeom>
          <a:solidFill>
            <a:srgbClr val="66B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7898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+613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635228" y="3101644"/>
            <a:ext cx="614411" cy="124358"/>
          </a:xfrm>
          <a:prstGeom prst="rect">
            <a:avLst/>
          </a:prstGeom>
          <a:solidFill>
            <a:srgbClr val="65B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624255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+623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271585" y="3101644"/>
            <a:ext cx="614411" cy="124358"/>
          </a:xfrm>
          <a:prstGeom prst="rect">
            <a:avLst/>
          </a:prstGeom>
          <a:solidFill>
            <a:srgbClr val="63B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60613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+634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907942" y="3101644"/>
            <a:ext cx="614411" cy="124358"/>
          </a:xfrm>
          <a:prstGeom prst="rect">
            <a:avLst/>
          </a:prstGeom>
          <a:solidFill>
            <a:srgbClr val="60B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896970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+652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04088" y="3236975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4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Laguna del Sol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635300" y="3247948"/>
            <a:ext cx="614411" cy="124358"/>
          </a:xfrm>
          <a:prstGeom prst="rect">
            <a:avLst/>
          </a:prstGeom>
          <a:solidFill>
            <a:srgbClr val="DC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624328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-345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71657" y="3247948"/>
            <a:ext cx="614411" cy="124358"/>
          </a:xfrm>
          <a:prstGeom prst="rect">
            <a:avLst/>
          </a:prstGeom>
          <a:solidFill>
            <a:srgbClr val="EA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260685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-117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908014" y="3247948"/>
            <a:ext cx="614411" cy="124358"/>
          </a:xfrm>
          <a:prstGeom prst="rect">
            <a:avLst/>
          </a:prstGeom>
          <a:solidFill>
            <a:srgbClr val="F3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897042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544372" y="3247948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180729" y="3247948"/>
            <a:ext cx="614411" cy="124358"/>
          </a:xfrm>
          <a:prstGeom prst="rect">
            <a:avLst/>
          </a:prstGeom>
          <a:solidFill>
            <a:srgbClr val="C4D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169756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+137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817086" y="3247948"/>
            <a:ext cx="614411" cy="124358"/>
          </a:xfrm>
          <a:prstGeom prst="rect">
            <a:avLst/>
          </a:prstGeom>
          <a:solidFill>
            <a:srgbClr val="96C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806113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+344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53443" y="3247948"/>
            <a:ext cx="614411" cy="124358"/>
          </a:xfrm>
          <a:prstGeom prst="rect">
            <a:avLst/>
          </a:prstGeom>
          <a:solidFill>
            <a:srgbClr val="80C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42470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+465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089800" y="3247948"/>
            <a:ext cx="614411" cy="124358"/>
          </a:xfrm>
          <a:prstGeom prst="rect">
            <a:avLst/>
          </a:prstGeom>
          <a:solidFill>
            <a:srgbClr val="73B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078827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+537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726157" y="3247948"/>
            <a:ext cx="614411" cy="124358"/>
          </a:xfrm>
          <a:prstGeom prst="rect">
            <a:avLst/>
          </a:prstGeom>
          <a:solidFill>
            <a:srgbClr val="71B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715184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+551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362514" y="3247948"/>
            <a:ext cx="614411" cy="124358"/>
          </a:xfrm>
          <a:prstGeom prst="rect">
            <a:avLst/>
          </a:prstGeom>
          <a:solidFill>
            <a:srgbClr val="6BB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351541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+585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98871" y="3247948"/>
            <a:ext cx="614411" cy="124358"/>
          </a:xfrm>
          <a:prstGeom prst="rect">
            <a:avLst/>
          </a:prstGeom>
          <a:solidFill>
            <a:srgbClr val="69B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987898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+593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635228" y="3247948"/>
            <a:ext cx="614411" cy="124358"/>
          </a:xfrm>
          <a:prstGeom prst="rect">
            <a:avLst/>
          </a:prstGeom>
          <a:solidFill>
            <a:srgbClr val="68B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24255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+603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271585" y="3247948"/>
            <a:ext cx="614411" cy="124358"/>
          </a:xfrm>
          <a:prstGeom prst="rect">
            <a:avLst/>
          </a:prstGeom>
          <a:solidFill>
            <a:srgbClr val="66B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260613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+614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907942" y="3247948"/>
            <a:ext cx="614411" cy="124358"/>
          </a:xfrm>
          <a:prstGeom prst="rect">
            <a:avLst/>
          </a:prstGeom>
          <a:solidFill>
            <a:srgbClr val="63B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896970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+632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04088" y="3383279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5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Chicauma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635300" y="3394252"/>
            <a:ext cx="614411" cy="124358"/>
          </a:xfrm>
          <a:prstGeom prst="rect">
            <a:avLst/>
          </a:prstGeom>
          <a:solidFill>
            <a:srgbClr val="D59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624328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-482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271657" y="3394252"/>
            <a:ext cx="614411" cy="124358"/>
          </a:xfrm>
          <a:prstGeom prst="rect">
            <a:avLst/>
          </a:prstGeom>
          <a:solidFill>
            <a:srgbClr val="E1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260685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-254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908014" y="3394252"/>
            <a:ext cx="614411" cy="124358"/>
          </a:xfrm>
          <a:prstGeom prst="rect">
            <a:avLst/>
          </a:prstGeom>
          <a:solidFill>
            <a:srgbClr val="E7C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897042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-157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44372" y="3394252"/>
            <a:ext cx="614411" cy="124358"/>
          </a:xfrm>
          <a:prstGeom prst="rect">
            <a:avLst/>
          </a:prstGeom>
          <a:solidFill>
            <a:srgbClr val="E9C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533399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-137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180729" y="3394252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817086" y="3394252"/>
            <a:ext cx="614411" cy="124358"/>
          </a:xfrm>
          <a:prstGeom prst="rect">
            <a:avLst/>
          </a:prstGeom>
          <a:solidFill>
            <a:srgbClr val="B3D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806113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+208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453443" y="3394252"/>
            <a:ext cx="614411" cy="124358"/>
          </a:xfrm>
          <a:prstGeom prst="rect">
            <a:avLst/>
          </a:prstGeom>
          <a:solidFill>
            <a:srgbClr val="99C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42470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+328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089800" y="3394252"/>
            <a:ext cx="614411" cy="124358"/>
          </a:xfrm>
          <a:prstGeom prst="rect">
            <a:avLst/>
          </a:prstGeom>
          <a:solidFill>
            <a:srgbClr val="8BC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078827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+400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726157" y="3394252"/>
            <a:ext cx="614411" cy="124358"/>
          </a:xfrm>
          <a:prstGeom prst="rect">
            <a:avLst/>
          </a:prstGeom>
          <a:solidFill>
            <a:srgbClr val="89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715184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+414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362514" y="3394252"/>
            <a:ext cx="614411" cy="124358"/>
          </a:xfrm>
          <a:prstGeom prst="rect">
            <a:avLst/>
          </a:prstGeom>
          <a:solidFill>
            <a:srgbClr val="83C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351541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+448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998871" y="3394252"/>
            <a:ext cx="614411" cy="124358"/>
          </a:xfrm>
          <a:prstGeom prst="rect">
            <a:avLst/>
          </a:prstGeom>
          <a:solidFill>
            <a:srgbClr val="81C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987898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+457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635228" y="3394252"/>
            <a:ext cx="614411" cy="124358"/>
          </a:xfrm>
          <a:prstGeom prst="rect">
            <a:avLst/>
          </a:prstGeom>
          <a:solidFill>
            <a:srgbClr val="7FC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624255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+466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271585" y="3394252"/>
            <a:ext cx="614411" cy="124358"/>
          </a:xfrm>
          <a:prstGeom prst="rect">
            <a:avLst/>
          </a:prstGeom>
          <a:solidFill>
            <a:srgbClr val="7DC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260613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+477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0907942" y="3394252"/>
            <a:ext cx="614411" cy="124358"/>
          </a:xfrm>
          <a:prstGeom prst="rect">
            <a:avLst/>
          </a:prstGeom>
          <a:solidFill>
            <a:srgbClr val="7AB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896970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+495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04088" y="3529583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6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Valle Grande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635300" y="3540556"/>
            <a:ext cx="614411" cy="124358"/>
          </a:xfrm>
          <a:prstGeom prst="rect">
            <a:avLst/>
          </a:prstGeom>
          <a:solidFill>
            <a:srgbClr val="CB7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624328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-690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271657" y="3540556"/>
            <a:ext cx="614411" cy="124358"/>
          </a:xfrm>
          <a:prstGeom prst="rect">
            <a:avLst/>
          </a:prstGeom>
          <a:solidFill>
            <a:srgbClr val="D69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260685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-462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908014" y="3540556"/>
            <a:ext cx="614411" cy="124358"/>
          </a:xfrm>
          <a:prstGeom prst="rect">
            <a:avLst/>
          </a:prstGeom>
          <a:solidFill>
            <a:srgbClr val="DB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897042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-364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544372" y="3540556"/>
            <a:ext cx="614411" cy="124358"/>
          </a:xfrm>
          <a:prstGeom prst="rect">
            <a:avLst/>
          </a:prstGeom>
          <a:solidFill>
            <a:srgbClr val="DC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533399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-344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180729" y="3540556"/>
            <a:ext cx="614411" cy="124358"/>
          </a:xfrm>
          <a:prstGeom prst="rect">
            <a:avLst/>
          </a:prstGeom>
          <a:solidFill>
            <a:srgbClr val="E4B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169756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-208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5817086" y="3540556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453443" y="3540556"/>
            <a:ext cx="614411" cy="124358"/>
          </a:xfrm>
          <a:prstGeom prst="rect">
            <a:avLst/>
          </a:prstGeom>
          <a:solidFill>
            <a:srgbClr val="C8E0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442470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+121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089800" y="3540556"/>
            <a:ext cx="614411" cy="124358"/>
          </a:xfrm>
          <a:prstGeom prst="rect">
            <a:avLst/>
          </a:prstGeom>
          <a:solidFill>
            <a:srgbClr val="B6D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078827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+192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726157" y="3540556"/>
            <a:ext cx="614411" cy="124358"/>
          </a:xfrm>
          <a:prstGeom prst="rect">
            <a:avLst/>
          </a:prstGeom>
          <a:solidFill>
            <a:srgbClr val="B3D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7715184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+206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362514" y="3540556"/>
            <a:ext cx="614411" cy="124358"/>
          </a:xfrm>
          <a:prstGeom prst="rect">
            <a:avLst/>
          </a:prstGeom>
          <a:solidFill>
            <a:srgbClr val="AC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351541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+241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998871" y="3540556"/>
            <a:ext cx="614411" cy="124358"/>
          </a:xfrm>
          <a:prstGeom prst="rect">
            <a:avLst/>
          </a:prstGeom>
          <a:solidFill>
            <a:srgbClr val="AAD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8987898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+249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635228" y="3540556"/>
            <a:ext cx="614411" cy="124358"/>
          </a:xfrm>
          <a:prstGeom prst="rect">
            <a:avLst/>
          </a:prstGeom>
          <a:solidFill>
            <a:srgbClr val="A8D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624255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+258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271585" y="3540556"/>
            <a:ext cx="614411" cy="124358"/>
          </a:xfrm>
          <a:prstGeom prst="rect">
            <a:avLst/>
          </a:prstGeom>
          <a:solidFill>
            <a:srgbClr val="A5D1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260613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+270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907942" y="3540556"/>
            <a:ext cx="614411" cy="124358"/>
          </a:xfrm>
          <a:prstGeom prst="rect">
            <a:avLst/>
          </a:prstGeom>
          <a:solidFill>
            <a:srgbClr val="A2D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0896970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+287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04088" y="3675887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7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Santa Elena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635300" y="3686860"/>
            <a:ext cx="614411" cy="124358"/>
          </a:xfrm>
          <a:prstGeom prst="rect">
            <a:avLst/>
          </a:prstGeom>
          <a:solidFill>
            <a:srgbClr val="C66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624328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-811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271657" y="3686860"/>
            <a:ext cx="614411" cy="124358"/>
          </a:xfrm>
          <a:prstGeom prst="rect">
            <a:avLst/>
          </a:prstGeom>
          <a:solidFill>
            <a:srgbClr val="D08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260685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-583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908014" y="3686860"/>
            <a:ext cx="614411" cy="124358"/>
          </a:xfrm>
          <a:prstGeom prst="rect">
            <a:avLst/>
          </a:prstGeom>
          <a:solidFill>
            <a:srgbClr val="D59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897042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-485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4544372" y="3686860"/>
            <a:ext cx="614411" cy="124358"/>
          </a:xfrm>
          <a:prstGeom prst="rect">
            <a:avLst/>
          </a:prstGeom>
          <a:solidFill>
            <a:srgbClr val="D69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4533399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-465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5180729" y="3686860"/>
            <a:ext cx="614411" cy="124358"/>
          </a:xfrm>
          <a:prstGeom prst="rect">
            <a:avLst/>
          </a:prstGeom>
          <a:solidFill>
            <a:srgbClr val="DD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5169756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-328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817086" y="3686860"/>
            <a:ext cx="614411" cy="124358"/>
          </a:xfrm>
          <a:prstGeom prst="rect">
            <a:avLst/>
          </a:prstGeom>
          <a:solidFill>
            <a:srgbClr val="EA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806113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-121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453443" y="3686860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089800" y="3686860"/>
            <a:ext cx="614411" cy="124358"/>
          </a:xfrm>
          <a:prstGeom prst="rect">
            <a:avLst/>
          </a:prstGeom>
          <a:solidFill>
            <a:srgbClr val="D6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078827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+72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7726157" y="3686860"/>
            <a:ext cx="614411" cy="124358"/>
          </a:xfrm>
          <a:prstGeom prst="rect">
            <a:avLst/>
          </a:prstGeom>
          <a:solidFill>
            <a:srgbClr val="D2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7715184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+85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362514" y="3686860"/>
            <a:ext cx="614411" cy="124358"/>
          </a:xfrm>
          <a:prstGeom prst="rect">
            <a:avLst/>
          </a:prstGeom>
          <a:solidFill>
            <a:srgbClr val="C9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351541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+120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8998871" y="3686860"/>
            <a:ext cx="614411" cy="124358"/>
          </a:xfrm>
          <a:prstGeom prst="rect">
            <a:avLst/>
          </a:prstGeom>
          <a:solidFill>
            <a:srgbClr val="C6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8987898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+128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9635228" y="3686860"/>
            <a:ext cx="614411" cy="124358"/>
          </a:xfrm>
          <a:prstGeom prst="rect">
            <a:avLst/>
          </a:prstGeom>
          <a:solidFill>
            <a:srgbClr val="C4D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9624255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+137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0271585" y="3686860"/>
            <a:ext cx="614411" cy="124358"/>
          </a:xfrm>
          <a:prstGeom prst="rect">
            <a:avLst/>
          </a:prstGeom>
          <a:solidFill>
            <a:srgbClr val="C1D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0260613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+149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0907942" y="3686860"/>
            <a:ext cx="614411" cy="124358"/>
          </a:xfrm>
          <a:prstGeom prst="rect">
            <a:avLst/>
          </a:prstGeom>
          <a:solidFill>
            <a:srgbClr val="BDD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0896970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+167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04088" y="3822191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8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El Peñón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2635300" y="3833164"/>
            <a:ext cx="614411" cy="124358"/>
          </a:xfrm>
          <a:prstGeom prst="rect">
            <a:avLst/>
          </a:prstGeom>
          <a:solidFill>
            <a:srgbClr val="C35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2624328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-882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271657" y="3833164"/>
            <a:ext cx="614411" cy="124358"/>
          </a:xfrm>
          <a:prstGeom prst="rect">
            <a:avLst/>
          </a:prstGeom>
          <a:solidFill>
            <a:srgbClr val="CD7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3260685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-654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3908014" y="3833164"/>
            <a:ext cx="614411" cy="124358"/>
          </a:xfrm>
          <a:prstGeom prst="rect">
            <a:avLst/>
          </a:prstGeom>
          <a:solidFill>
            <a:srgbClr val="D18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3897042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-557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4544372" y="3833164"/>
            <a:ext cx="614411" cy="124358"/>
          </a:xfrm>
          <a:prstGeom prst="rect">
            <a:avLst/>
          </a:prstGeom>
          <a:solidFill>
            <a:srgbClr val="D28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4533399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-537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5180729" y="3833164"/>
            <a:ext cx="614411" cy="124358"/>
          </a:xfrm>
          <a:prstGeom prst="rect">
            <a:avLst/>
          </a:prstGeom>
          <a:solidFill>
            <a:srgbClr val="D99D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5169756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-400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5817086" y="3833164"/>
            <a:ext cx="614411" cy="124358"/>
          </a:xfrm>
          <a:prstGeom prst="rect">
            <a:avLst/>
          </a:prstGeom>
          <a:solidFill>
            <a:srgbClr val="E5C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5806113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-192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6453443" y="3833164"/>
            <a:ext cx="614411" cy="124358"/>
          </a:xfrm>
          <a:prstGeom prst="rect">
            <a:avLst/>
          </a:prstGeom>
          <a:solidFill>
            <a:srgbClr val="EE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6442470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-72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7089800" y="3833164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726157" y="3833164"/>
            <a:ext cx="614411" cy="124358"/>
          </a:xfrm>
          <a:prstGeom prst="rect">
            <a:avLst/>
          </a:prstGeom>
          <a:solidFill>
            <a:srgbClr val="EC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7715184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+14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362514" y="3833164"/>
            <a:ext cx="614411" cy="124358"/>
          </a:xfrm>
          <a:prstGeom prst="rect">
            <a:avLst/>
          </a:prstGeom>
          <a:solidFill>
            <a:srgbClr val="D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8351541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+48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8998871" y="3833164"/>
            <a:ext cx="614411" cy="124358"/>
          </a:xfrm>
          <a:prstGeom prst="rect">
            <a:avLst/>
          </a:prstGeom>
          <a:solidFill>
            <a:srgbClr val="D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8987898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+57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9635228" y="3833164"/>
            <a:ext cx="614411" cy="124358"/>
          </a:xfrm>
          <a:prstGeom prst="rect">
            <a:avLst/>
          </a:prstGeom>
          <a:solidFill>
            <a:srgbClr val="D8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9624255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+66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0271585" y="3833164"/>
            <a:ext cx="614411" cy="124358"/>
          </a:xfrm>
          <a:prstGeom prst="rect">
            <a:avLst/>
          </a:prstGeom>
          <a:solidFill>
            <a:srgbClr val="D5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0260613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+77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0907942" y="3833164"/>
            <a:ext cx="614411" cy="124358"/>
          </a:xfrm>
          <a:prstGeom prst="rect">
            <a:avLst/>
          </a:prstGeom>
          <a:solidFill>
            <a:srgbClr val="C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0896970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+95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04088" y="3968496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9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Urbanya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635300" y="3979468"/>
            <a:ext cx="614411" cy="124358"/>
          </a:xfrm>
          <a:prstGeom prst="rect">
            <a:avLst/>
          </a:prstGeom>
          <a:solidFill>
            <a:srgbClr val="C3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624328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-896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3271657" y="3979468"/>
            <a:ext cx="614411" cy="124358"/>
          </a:xfrm>
          <a:prstGeom prst="rect">
            <a:avLst/>
          </a:prstGeom>
          <a:solidFill>
            <a:srgbClr val="CC7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3260685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-668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3908014" y="3979468"/>
            <a:ext cx="614411" cy="124358"/>
          </a:xfrm>
          <a:prstGeom prst="rect">
            <a:avLst/>
          </a:prstGeom>
          <a:solidFill>
            <a:srgbClr val="D18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3897042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-570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4544372" y="3979468"/>
            <a:ext cx="614411" cy="124358"/>
          </a:xfrm>
          <a:prstGeom prst="rect">
            <a:avLst/>
          </a:prstGeom>
          <a:solidFill>
            <a:srgbClr val="D2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4533399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-551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5180729" y="3979468"/>
            <a:ext cx="614411" cy="124358"/>
          </a:xfrm>
          <a:prstGeom prst="rect">
            <a:avLst/>
          </a:prstGeom>
          <a:solidFill>
            <a:srgbClr val="D89B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5169756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-414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5817086" y="3979468"/>
            <a:ext cx="614411" cy="124358"/>
          </a:xfrm>
          <a:prstGeom prst="rect">
            <a:avLst/>
          </a:prstGeom>
          <a:solidFill>
            <a:srgbClr val="E4B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5806113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-206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6453443" y="3979468"/>
            <a:ext cx="614411" cy="124358"/>
          </a:xfrm>
          <a:prstGeom prst="rect">
            <a:avLst/>
          </a:prstGeom>
          <a:solidFill>
            <a:srgbClr val="EDD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6442470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-85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7089800" y="3979468"/>
            <a:ext cx="614411" cy="124358"/>
          </a:xfrm>
          <a:prstGeom prst="rect">
            <a:avLst/>
          </a:prstGeom>
          <a:solidFill>
            <a:srgbClr val="F4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7078827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-14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726157" y="3979468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8362514" y="3979468"/>
            <a:ext cx="614411" cy="124358"/>
          </a:xfrm>
          <a:prstGeom prst="rect">
            <a:avLst/>
          </a:prstGeom>
          <a:solidFill>
            <a:srgbClr val="E3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8351541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+34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8998871" y="3979468"/>
            <a:ext cx="614411" cy="124358"/>
          </a:xfrm>
          <a:prstGeom prst="rect">
            <a:avLst/>
          </a:prstGeom>
          <a:solidFill>
            <a:srgbClr val="E0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8987898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+43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9635228" y="3979468"/>
            <a:ext cx="614411" cy="124358"/>
          </a:xfrm>
          <a:prstGeom prst="rect">
            <a:avLst/>
          </a:prstGeom>
          <a:solidFill>
            <a:srgbClr val="DD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9624255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+52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10271585" y="3979468"/>
            <a:ext cx="614411" cy="124358"/>
          </a:xfrm>
          <a:prstGeom prst="rect">
            <a:avLst/>
          </a:prstGeom>
          <a:solidFill>
            <a:srgbClr val="D9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10260613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+64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10907942" y="3979468"/>
            <a:ext cx="614411" cy="124358"/>
          </a:xfrm>
          <a:prstGeom prst="rect">
            <a:avLst/>
          </a:prstGeom>
          <a:solidFill>
            <a:srgbClr val="D3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10896970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+81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704088" y="4114800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10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Larapinta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2635300" y="4125772"/>
            <a:ext cx="614411" cy="124358"/>
          </a:xfrm>
          <a:prstGeom prst="rect">
            <a:avLst/>
          </a:prstGeom>
          <a:solidFill>
            <a:srgbClr val="C1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624328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-930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3271657" y="4125772"/>
            <a:ext cx="614411" cy="124358"/>
          </a:xfrm>
          <a:prstGeom prst="rect">
            <a:avLst/>
          </a:prstGeom>
          <a:solidFill>
            <a:srgbClr val="CB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3260685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-702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3908014" y="4125772"/>
            <a:ext cx="614411" cy="124358"/>
          </a:xfrm>
          <a:prstGeom prst="rect">
            <a:avLst/>
          </a:prstGeom>
          <a:solidFill>
            <a:srgbClr val="CF7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3897042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-605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544372" y="4125772"/>
            <a:ext cx="614411" cy="124358"/>
          </a:xfrm>
          <a:prstGeom prst="rect">
            <a:avLst/>
          </a:prstGeom>
          <a:solidFill>
            <a:srgbClr val="D08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4533399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-585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180729" y="4125772"/>
            <a:ext cx="614411" cy="124358"/>
          </a:xfrm>
          <a:prstGeom prst="rect">
            <a:avLst/>
          </a:prstGeom>
          <a:solidFill>
            <a:srgbClr val="D79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5169756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-448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5817086" y="4125772"/>
            <a:ext cx="614411" cy="124358"/>
          </a:xfrm>
          <a:prstGeom prst="rect">
            <a:avLst/>
          </a:prstGeom>
          <a:solidFill>
            <a:srgbClr val="E2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5806113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-241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6453443" y="4125772"/>
            <a:ext cx="614411" cy="124358"/>
          </a:xfrm>
          <a:prstGeom prst="rect">
            <a:avLst/>
          </a:prstGeom>
          <a:solidFill>
            <a:srgbClr val="EA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6442470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-120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7089800" y="4125772"/>
            <a:ext cx="614411" cy="124358"/>
          </a:xfrm>
          <a:prstGeom prst="rect">
            <a:avLst/>
          </a:prstGeom>
          <a:solidFill>
            <a:srgbClr val="F0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7078827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-48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7726157" y="4125772"/>
            <a:ext cx="614411" cy="124358"/>
          </a:xfrm>
          <a:prstGeom prst="rect">
            <a:avLst/>
          </a:prstGeom>
          <a:solidFill>
            <a:srgbClr val="F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7715184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-34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8362514" y="4125772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8998871" y="4125772"/>
            <a:ext cx="614411" cy="124358"/>
          </a:xfrm>
          <a:prstGeom prst="rect">
            <a:avLst/>
          </a:prstGeom>
          <a:solidFill>
            <a:srgbClr val="E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8987898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9635228" y="4125772"/>
            <a:ext cx="614411" cy="124358"/>
          </a:xfrm>
          <a:prstGeom prst="rect">
            <a:avLst/>
          </a:prstGeom>
          <a:solidFill>
            <a:srgbClr val="EA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9624255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+18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10271585" y="4125772"/>
            <a:ext cx="614411" cy="124358"/>
          </a:xfrm>
          <a:prstGeom prst="rect">
            <a:avLst/>
          </a:prstGeom>
          <a:solidFill>
            <a:srgbClr val="E5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10260613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+29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10907942" y="4125772"/>
            <a:ext cx="614411" cy="124358"/>
          </a:xfrm>
          <a:prstGeom prst="rect">
            <a:avLst/>
          </a:prstGeom>
          <a:solidFill>
            <a:srgbClr val="DF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0896970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+47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704088" y="4261104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11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Buin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2635300" y="4272076"/>
            <a:ext cx="614411" cy="124358"/>
          </a:xfrm>
          <a:prstGeom prst="rect">
            <a:avLst/>
          </a:prstGeom>
          <a:solidFill>
            <a:srgbClr val="C1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2624328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-939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271657" y="4272076"/>
            <a:ext cx="614411" cy="124358"/>
          </a:xfrm>
          <a:prstGeom prst="rect">
            <a:avLst/>
          </a:prstGeom>
          <a:solidFill>
            <a:srgbClr val="CA7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3260685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-711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3908014" y="4272076"/>
            <a:ext cx="614411" cy="124358"/>
          </a:xfrm>
          <a:prstGeom prst="rect">
            <a:avLst/>
          </a:prstGeom>
          <a:solidFill>
            <a:srgbClr val="CF7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3897042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-613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544372" y="4272076"/>
            <a:ext cx="614411" cy="124358"/>
          </a:xfrm>
          <a:prstGeom prst="rect">
            <a:avLst/>
          </a:prstGeom>
          <a:solidFill>
            <a:srgbClr val="D08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4533399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-593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180729" y="4272076"/>
            <a:ext cx="614411" cy="124358"/>
          </a:xfrm>
          <a:prstGeom prst="rect">
            <a:avLst/>
          </a:prstGeom>
          <a:solidFill>
            <a:srgbClr val="D69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5169756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-457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5817086" y="4272076"/>
            <a:ext cx="614411" cy="124358"/>
          </a:xfrm>
          <a:prstGeom prst="rect">
            <a:avLst/>
          </a:prstGeom>
          <a:solidFill>
            <a:srgbClr val="E1B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5806113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-249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453443" y="4272076"/>
            <a:ext cx="614411" cy="124358"/>
          </a:xfrm>
          <a:prstGeom prst="rect">
            <a:avLst/>
          </a:prstGeom>
          <a:solidFill>
            <a:srgbClr val="E9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6442470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-128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089800" y="4272076"/>
            <a:ext cx="614411" cy="124358"/>
          </a:xfrm>
          <a:prstGeom prst="rect">
            <a:avLst/>
          </a:prstGeom>
          <a:solidFill>
            <a:srgbClr val="EF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7078827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-57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726157" y="4272076"/>
            <a:ext cx="614411" cy="124358"/>
          </a:xfrm>
          <a:prstGeom prst="rect">
            <a:avLst/>
          </a:prstGeom>
          <a:solidFill>
            <a:srgbClr val="F0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7715184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-43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62514" y="4272076"/>
            <a:ext cx="614411" cy="124358"/>
          </a:xfrm>
          <a:prstGeom prst="rect">
            <a:avLst/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8351541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998871" y="4272076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9635228" y="4272076"/>
            <a:ext cx="614411" cy="124358"/>
          </a:xfrm>
          <a:prstGeom prst="rect">
            <a:avLst/>
          </a:prstGeom>
          <a:solidFill>
            <a:srgbClr val="E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9624255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+9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10271585" y="4272076"/>
            <a:ext cx="614411" cy="124358"/>
          </a:xfrm>
          <a:prstGeom prst="rect">
            <a:avLst/>
          </a:prstGeom>
          <a:solidFill>
            <a:srgbClr val="E9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10260613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+21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0907942" y="4272076"/>
            <a:ext cx="614411" cy="124358"/>
          </a:xfrm>
          <a:prstGeom prst="rect">
            <a:avLst/>
          </a:prstGeom>
          <a:solidFill>
            <a:srgbClr val="E2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10896970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+39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704088" y="4407407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12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Ayres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2635300" y="4418380"/>
            <a:ext cx="614411" cy="124358"/>
          </a:xfrm>
          <a:prstGeom prst="rect">
            <a:avLst/>
          </a:prstGeom>
          <a:solidFill>
            <a:srgbClr val="C15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2624328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-948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3271657" y="4418380"/>
            <a:ext cx="614411" cy="124358"/>
          </a:xfrm>
          <a:prstGeom prst="rect">
            <a:avLst/>
          </a:prstGeom>
          <a:solidFill>
            <a:srgbClr val="CA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3260685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-720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3908014" y="4418380"/>
            <a:ext cx="614411" cy="124358"/>
          </a:xfrm>
          <a:prstGeom prst="rect">
            <a:avLst/>
          </a:prstGeom>
          <a:solidFill>
            <a:srgbClr val="CE7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3897042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-623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544372" y="4418380"/>
            <a:ext cx="614411" cy="124358"/>
          </a:xfrm>
          <a:prstGeom prst="rect">
            <a:avLst/>
          </a:prstGeom>
          <a:solidFill>
            <a:srgbClr val="CF8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4533399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-603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5180729" y="4418380"/>
            <a:ext cx="614411" cy="124358"/>
          </a:xfrm>
          <a:prstGeom prst="rect">
            <a:avLst/>
          </a:prstGeom>
          <a:solidFill>
            <a:srgbClr val="D69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5169756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-466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5817086" y="4418380"/>
            <a:ext cx="614411" cy="124358"/>
          </a:xfrm>
          <a:prstGeom prst="rect">
            <a:avLst/>
          </a:prstGeom>
          <a:solidFill>
            <a:srgbClr val="E1B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5806113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-258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6453443" y="4418380"/>
            <a:ext cx="614411" cy="124358"/>
          </a:xfrm>
          <a:prstGeom prst="rect">
            <a:avLst/>
          </a:prstGeom>
          <a:solidFill>
            <a:srgbClr val="E9C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6442470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-137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7089800" y="4418380"/>
            <a:ext cx="614411" cy="124358"/>
          </a:xfrm>
          <a:prstGeom prst="rect">
            <a:avLst/>
          </a:prstGeom>
          <a:solidFill>
            <a:srgbClr val="EE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7078827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-66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7726157" y="4418380"/>
            <a:ext cx="614411" cy="124358"/>
          </a:xfrm>
          <a:prstGeom prst="rect">
            <a:avLst/>
          </a:prstGeom>
          <a:solidFill>
            <a:srgbClr val="EF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7715184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-52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8362514" y="4418380"/>
            <a:ext cx="614411" cy="124358"/>
          </a:xfrm>
          <a:prstGeom prst="rect">
            <a:avLst/>
          </a:prstGeom>
          <a:solidFill>
            <a:srgbClr val="F3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8351541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-18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8998871" y="4418380"/>
            <a:ext cx="614411" cy="124358"/>
          </a:xfrm>
          <a:prstGeom prst="rect">
            <a:avLst/>
          </a:prstGeom>
          <a:solidFill>
            <a:srgbClr val="F4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8987898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-9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9635228" y="4418380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271585" y="4418380"/>
            <a:ext cx="614411" cy="124358"/>
          </a:xfrm>
          <a:prstGeom prst="rect">
            <a:avLst/>
          </a:prstGeom>
          <a:solidFill>
            <a:srgbClr val="EE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10260613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+11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10907942" y="4418380"/>
            <a:ext cx="614411" cy="124358"/>
          </a:xfrm>
          <a:prstGeom prst="rect">
            <a:avLst/>
          </a:prstGeom>
          <a:solidFill>
            <a:srgbClr val="E5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10896970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+29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704088" y="4553712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13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Colina · Reina N.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2635300" y="4564684"/>
            <a:ext cx="614411" cy="124358"/>
          </a:xfrm>
          <a:prstGeom prst="rect">
            <a:avLst/>
          </a:prstGeom>
          <a:solidFill>
            <a:srgbClr val="C05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2624328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-960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3271657" y="4564684"/>
            <a:ext cx="614411" cy="124358"/>
          </a:xfrm>
          <a:prstGeom prst="rect">
            <a:avLst/>
          </a:prstGeom>
          <a:solidFill>
            <a:srgbClr val="CA6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3260685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-731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3908014" y="4564684"/>
            <a:ext cx="614411" cy="124358"/>
          </a:xfrm>
          <a:prstGeom prst="rect">
            <a:avLst/>
          </a:prstGeom>
          <a:solidFill>
            <a:srgbClr val="CE7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3897042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-634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4544372" y="4564684"/>
            <a:ext cx="614411" cy="124358"/>
          </a:xfrm>
          <a:prstGeom prst="rect">
            <a:avLst/>
          </a:prstGeom>
          <a:solidFill>
            <a:srgbClr val="CF7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4533399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-614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5180729" y="4564684"/>
            <a:ext cx="614411" cy="124358"/>
          </a:xfrm>
          <a:prstGeom prst="rect">
            <a:avLst/>
          </a:prstGeom>
          <a:solidFill>
            <a:srgbClr val="D5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5169756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-477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5817086" y="4564684"/>
            <a:ext cx="614411" cy="124358"/>
          </a:xfrm>
          <a:prstGeom prst="rect">
            <a:avLst/>
          </a:prstGeom>
          <a:solidFill>
            <a:srgbClr val="E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5806113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-270</a:t>
            </a:r>
          </a:p>
        </p:txBody>
      </p:sp>
      <p:sp>
        <p:nvSpPr>
          <p:cNvPr id="370" name="Rectangle 369"/>
          <p:cNvSpPr/>
          <p:nvPr/>
        </p:nvSpPr>
        <p:spPr>
          <a:xfrm>
            <a:off x="6453443" y="4564684"/>
            <a:ext cx="614411" cy="124358"/>
          </a:xfrm>
          <a:prstGeom prst="rect">
            <a:avLst/>
          </a:prstGeom>
          <a:solidFill>
            <a:srgbClr val="E8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6442470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-149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7089800" y="4564684"/>
            <a:ext cx="614411" cy="124358"/>
          </a:xfrm>
          <a:prstGeom prst="rect">
            <a:avLst/>
          </a:prstGeom>
          <a:solidFill>
            <a:srgbClr val="ED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7078827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-77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7726157" y="4564684"/>
            <a:ext cx="614411" cy="124358"/>
          </a:xfrm>
          <a:prstGeom prst="rect">
            <a:avLst/>
          </a:prstGeom>
          <a:solidFill>
            <a:srgbClr val="EE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7715184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-64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8362514" y="4564684"/>
            <a:ext cx="614411" cy="124358"/>
          </a:xfrm>
          <a:prstGeom prst="rect">
            <a:avLst/>
          </a:prstGeom>
          <a:solidFill>
            <a:srgbClr val="F2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8351541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-29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8998871" y="4564684"/>
            <a:ext cx="614411" cy="124358"/>
          </a:xfrm>
          <a:prstGeom prst="rect">
            <a:avLst/>
          </a:prstGeom>
          <a:solidFill>
            <a:srgbClr val="F3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8987898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-21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9635228" y="4564684"/>
            <a:ext cx="614411" cy="124358"/>
          </a:xfrm>
          <a:prstGeom prst="rect">
            <a:avLst/>
          </a:prstGeom>
          <a:solidFill>
            <a:srgbClr val="F4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9624255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-11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10271585" y="4564684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07942" y="4564684"/>
            <a:ext cx="614411" cy="124358"/>
          </a:xfrm>
          <a:prstGeom prst="rect">
            <a:avLst/>
          </a:prstGeom>
          <a:solidFill>
            <a:srgbClr val="EA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10896970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+18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704088" y="4700016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14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NOS</a:t>
            </a:r>
            <a:r>
              <a:rPr sz="650" b="0">
                <a:solidFill>
                  <a:srgbClr val="9A958C"/>
                </a:solidFill>
                <a:latin typeface="Helvetica Neue"/>
              </a:rPr>
              <a:t>  · ya tiene tren hoy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2635300" y="4710988"/>
            <a:ext cx="614411" cy="124358"/>
          </a:xfrm>
          <a:prstGeom prst="rect">
            <a:avLst/>
          </a:prstGeom>
          <a:solidFill>
            <a:srgbClr val="C05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2624328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-977</a:t>
            </a:r>
          </a:p>
        </p:txBody>
      </p:sp>
      <p:sp>
        <p:nvSpPr>
          <p:cNvPr id="388" name="Rectangle 387"/>
          <p:cNvSpPr/>
          <p:nvPr/>
        </p:nvSpPr>
        <p:spPr>
          <a:xfrm>
            <a:off x="3271657" y="4710988"/>
            <a:ext cx="614411" cy="124358"/>
          </a:xfrm>
          <a:prstGeom prst="rect">
            <a:avLst/>
          </a:prstGeom>
          <a:solidFill>
            <a:srgbClr val="C96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3260685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-749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3908014" y="4710988"/>
            <a:ext cx="614411" cy="124358"/>
          </a:xfrm>
          <a:prstGeom prst="rect">
            <a:avLst/>
          </a:prstGeom>
          <a:solidFill>
            <a:srgbClr val="CD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3897042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-652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4544372" y="4710988"/>
            <a:ext cx="614411" cy="124358"/>
          </a:xfrm>
          <a:prstGeom prst="rect">
            <a:avLst/>
          </a:prstGeom>
          <a:solidFill>
            <a:srgbClr val="CE7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4533399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-632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5180729" y="4710988"/>
            <a:ext cx="614411" cy="124358"/>
          </a:xfrm>
          <a:prstGeom prst="rect">
            <a:avLst/>
          </a:prstGeom>
          <a:solidFill>
            <a:srgbClr val="D4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TextBox 394"/>
          <p:cNvSpPr txBox="1"/>
          <p:nvPr/>
        </p:nvSpPr>
        <p:spPr>
          <a:xfrm>
            <a:off x="5169756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-495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5817086" y="4710988"/>
            <a:ext cx="614411" cy="124358"/>
          </a:xfrm>
          <a:prstGeom prst="rect">
            <a:avLst/>
          </a:prstGeom>
          <a:solidFill>
            <a:srgbClr val="DFA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5806113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-287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6453443" y="4710988"/>
            <a:ext cx="614411" cy="124358"/>
          </a:xfrm>
          <a:prstGeom prst="rect">
            <a:avLst/>
          </a:prstGeom>
          <a:solidFill>
            <a:srgbClr val="E7C5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6442470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-167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7089800" y="4710988"/>
            <a:ext cx="614411" cy="124358"/>
          </a:xfrm>
          <a:prstGeom prst="rect">
            <a:avLst/>
          </a:prstGeom>
          <a:solidFill>
            <a:srgbClr val="ECD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7078827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-95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7726157" y="4710988"/>
            <a:ext cx="614411" cy="124358"/>
          </a:xfrm>
          <a:prstGeom prst="rect">
            <a:avLst/>
          </a:prstGeom>
          <a:solidFill>
            <a:srgbClr val="EDD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7715184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-81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8362514" y="4710988"/>
            <a:ext cx="614411" cy="124358"/>
          </a:xfrm>
          <a:prstGeom prst="rect">
            <a:avLst/>
          </a:prstGeom>
          <a:solidFill>
            <a:srgbClr val="F0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8351541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-47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8998871" y="4710988"/>
            <a:ext cx="614411" cy="124358"/>
          </a:xfrm>
          <a:prstGeom prst="rect">
            <a:avLst/>
          </a:prstGeom>
          <a:solidFill>
            <a:srgbClr val="F1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8987898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-39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9635228" y="4710988"/>
            <a:ext cx="614411" cy="124358"/>
          </a:xfrm>
          <a:prstGeom prst="rect">
            <a:avLst/>
          </a:prstGeom>
          <a:solidFill>
            <a:srgbClr val="F2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9624255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-29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10271585" y="4710988"/>
            <a:ext cx="614411" cy="124358"/>
          </a:xfrm>
          <a:prstGeom prst="rect">
            <a:avLst/>
          </a:prstGeom>
          <a:solidFill>
            <a:srgbClr val="F3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10260613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-18</a:t>
            </a:r>
          </a:p>
        </p:txBody>
      </p:sp>
      <p:sp>
        <p:nvSpPr>
          <p:cNvPr id="412" name="Rectangle 411"/>
          <p:cNvSpPr/>
          <p:nvPr/>
        </p:nvSpPr>
        <p:spPr>
          <a:xfrm>
            <a:off x="10907942" y="4710988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658368" y="4956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58C"/>
                </a:solidFill>
                <a:latin typeface="Helvetica Neue"/>
              </a:rPr>
              <a:t>Cada celda: UF que la FILA justifica por sobre la COLUMNA, solo por el tiempo que el tren le ahorra (valorizado al VTC de MIDESO y capitalizado). NOS ya cuenta con tren hoy: su ventaja ferroviaria está en sus tiempos actuales, no en este diferencial.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2EFE8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Frente a las zonas sin estación nueva, el tren agrega cerca de 977 UF a Batuco y 652 a Estación Colina. Es el argumento de precio que responde al costo del auto de Batuco.</a:t>
            </a:r>
          </a:p>
        </p:txBody>
      </p:sp>
      <p:cxnSp>
        <p:nvCxnSpPr>
          <p:cNvPr id="418" name="Connector 417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TextBox 418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09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LA RECOMENDACIÓN · INTEGRAR A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Integrar Batuco y Estación Colina a RED: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la gestión que depende de nosotros.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222199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E6A64"/>
                </a:solidFill>
                <a:latin typeface="Helvetica Neue"/>
              </a:rPr>
              <a:t>Hoy · pagan por tramo (sin RED)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2514600"/>
            <a:ext cx="3977639" cy="457200"/>
          </a:xfrm>
          <a:prstGeom prst="rect">
            <a:avLst/>
          </a:prstGeom>
          <a:solidFill>
            <a:srgbClr val="C05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2407" y="2569464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16"/>
                </a:solidFill>
                <a:latin typeface="Helvetica Neue"/>
              </a:rPr>
              <a:t>≈ $103 mil/mes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0906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E6A64"/>
                </a:solidFill>
                <a:latin typeface="Helvetica Neue"/>
              </a:rPr>
              <a:t>Integrado a RED (bip!)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3383280"/>
            <a:ext cx="1410324" cy="457200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5092" y="3438144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F9E6E"/>
                </a:solidFill>
                <a:latin typeface="Helvetica Neue"/>
              </a:rPr>
              <a:t>≈ $37 mil/mes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99592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Caso de referencia: viaje diario a Metro Tobalaba; tarifa integrada de una zona RED comparable.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4805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F9E6E"/>
                </a:solidFill>
                <a:latin typeface="Helvetica Neue"/>
              </a:rPr>
              <a:t>65% menos</a:t>
            </a:r>
            <a:r>
              <a:rPr sz="1400" b="0">
                <a:solidFill>
                  <a:srgbClr val="6E6A64"/>
                </a:solidFill>
                <a:latin typeface="Helvetica Neue"/>
              </a:rPr>
              <a:t>  en el costo de transporte público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00">
                <a:solidFill>
                  <a:srgbClr val="B07D24"/>
                </a:solidFill>
                <a:latin typeface="Helvetica Neue"/>
              </a:rPr>
              <a:t>NO ES UNA OBRA · ES GESTIÓN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2491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A64"/>
                </a:solidFill>
                <a:latin typeface="Helvetica Neue"/>
              </a:rPr>
              <a:t>Batuco y Estación Colina quedan a un trámite de tarifa integrada. Gestionar su incorporación a RED con el Ministerio de Transportes y EFE completa su ventaja competitiva, y no depende de esperar a 2030.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2EFE8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La recomendación central: gestionar la integración a RED. Baja el costo, sube el atractivo y depende de nosotros, no de una obra por construir.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10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NUESTROS PROYECTOS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Batuco y Estación Colina: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posición en cada indicador del estudio.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6048" y="21214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60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16368" y="21214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60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2432303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2578608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Helvetica Neue"/>
              </a:rPr>
              <a:t>Auto · tiempo · hoy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6048" y="257860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11º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7" y="257860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6º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788920"/>
            <a:ext cx="10874959" cy="0"/>
          </a:xfrm>
          <a:prstGeom prst="bentConnector3">
            <a:avLst/>
          </a:prstGeom>
          <a:ln w="6350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999232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Helvetica Neue"/>
              </a:rPr>
              <a:t>Auto · tiempo · con la Autopista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999232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958C"/>
                </a:solidFill>
                <a:latin typeface="Helvetica Neue"/>
              </a:rPr>
              <a:t>11º </a:t>
            </a:r>
            <a:r>
              <a:rPr sz="1200" b="0">
                <a:solidFill>
                  <a:srgbClr val="9A958C"/>
                </a:solidFill>
                <a:latin typeface="Helvetica Neue"/>
              </a:rPr>
              <a:t>→ </a:t>
            </a:r>
            <a:r>
              <a:rPr sz="1600" b="1">
                <a:solidFill>
                  <a:srgbClr val="B07D24"/>
                </a:solidFill>
                <a:latin typeface="Helvetica Neue"/>
              </a:rPr>
              <a:t>3º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7" y="2999232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958C"/>
                </a:solidFill>
                <a:latin typeface="Helvetica Neue"/>
              </a:rPr>
              <a:t>6º </a:t>
            </a:r>
            <a:r>
              <a:rPr sz="1200" b="0">
                <a:solidFill>
                  <a:srgbClr val="9A958C"/>
                </a:solidFill>
                <a:latin typeface="Helvetica Neue"/>
              </a:rPr>
              <a:t>→ </a:t>
            </a:r>
            <a:r>
              <a:rPr sz="1600" b="1">
                <a:solidFill>
                  <a:srgbClr val="6E6A64"/>
                </a:solidFill>
                <a:latin typeface="Helvetica Neue"/>
              </a:rPr>
              <a:t>8º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3209544"/>
            <a:ext cx="10874959" cy="0"/>
          </a:xfrm>
          <a:prstGeom prst="bentConnector3">
            <a:avLst/>
          </a:prstGeom>
          <a:ln w="6350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3419856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Helvetica Neue"/>
              </a:rPr>
              <a:t>Auto · costo de manejar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3419856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11º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7" y="3419856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6º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3630168"/>
            <a:ext cx="10874959" cy="0"/>
          </a:xfrm>
          <a:prstGeom prst="bentConnector3">
            <a:avLst/>
          </a:prstGeom>
          <a:ln w="6350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384048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Helvetica Neue"/>
              </a:rPr>
              <a:t>Transporte público · hoy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84048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11º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7" y="384048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5º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050792"/>
            <a:ext cx="10874959" cy="0"/>
          </a:xfrm>
          <a:prstGeom prst="bentConnector3">
            <a:avLst/>
          </a:prstGeom>
          <a:ln w="6350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4261104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Helvetica Neue"/>
              </a:rPr>
              <a:t>Transporte público · con el tren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4261104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958C"/>
                </a:solidFill>
                <a:latin typeface="Helvetica Neue"/>
              </a:rPr>
              <a:t>11º </a:t>
            </a:r>
            <a:r>
              <a:rPr sz="1200" b="0">
                <a:solidFill>
                  <a:srgbClr val="9A958C"/>
                </a:solidFill>
                <a:latin typeface="Helvetica Neue"/>
              </a:rPr>
              <a:t>→ </a:t>
            </a:r>
            <a:r>
              <a:rPr sz="1600" b="1">
                <a:solidFill>
                  <a:srgbClr val="B07D24"/>
                </a:solidFill>
                <a:latin typeface="Helvetica Neue"/>
              </a:rPr>
              <a:t>2º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7" y="4261104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958C"/>
                </a:solidFill>
                <a:latin typeface="Helvetica Neue"/>
              </a:rPr>
              <a:t>5º </a:t>
            </a:r>
            <a:r>
              <a:rPr sz="1200" b="0">
                <a:solidFill>
                  <a:srgbClr val="9A958C"/>
                </a:solidFill>
                <a:latin typeface="Helvetica Neue"/>
              </a:rPr>
              <a:t>→ </a:t>
            </a:r>
            <a:r>
              <a:rPr sz="1600" b="1">
                <a:solidFill>
                  <a:srgbClr val="B07D24"/>
                </a:solidFill>
                <a:latin typeface="Helvetica Neue"/>
              </a:rPr>
              <a:t>1º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4471416"/>
            <a:ext cx="10874959" cy="0"/>
          </a:xfrm>
          <a:prstGeom prst="bentConnector3">
            <a:avLst/>
          </a:prstGeom>
          <a:ln w="6350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4681728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1616"/>
                </a:solidFill>
                <a:latin typeface="Helvetica Neue"/>
              </a:rPr>
              <a:t>Transporte público · costo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468172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8º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468172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16"/>
                </a:solidFill>
                <a:latin typeface="Helvetica Neue"/>
              </a:rPr>
              <a:t>12º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2EFE8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Perfiles complementarios: Batuco es el que más gana con la infraestructura en construcción; Estación Colina ya es competitiva hoy sin depender de obra alguna.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11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¿Cuánto vale la conectividad?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Seis conclusiones para decidir.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945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1945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Estación Colina,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1728" y="219456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En la mitad más rápida sin depender de obra futura: 6º de 14 en auto y 5º en transporte público.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6974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Batuco, con infraestructura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9748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De 11º a 3º en auto con la Autopista, y de 11º a 2º en transporte público con el tren.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004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2004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El diferencial del tren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20040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Frente a las zonas sin estación nueva: +977 UF en Batuco y +652 en Estación Colina.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703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7033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El costo de manejar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70332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Acota el sobreprecio de Batuco por auto. Su argumento de precio es el tren, no el auto.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206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2062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07D24"/>
                </a:solidFill>
                <a:latin typeface="Helvetica Neue"/>
              </a:rPr>
              <a:t>Integración a 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420624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7D24"/>
                </a:solidFill>
                <a:latin typeface="Helvetica Neue"/>
              </a:rPr>
              <a:t>Reduce el costo mensual de transporte público en 65%. Es gestión, no obra.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7091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7091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Pricing por producto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470916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Fijar precio contra las comparables de cada producto, con el diferencial en UF de referencia.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2EFE8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Competitivos hoy y líderes del corredor con la infraestructura en construcción. La decisión que solo depende de nosotros: integrarlos a RED.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