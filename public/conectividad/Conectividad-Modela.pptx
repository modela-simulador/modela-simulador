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URBANO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inmobiliario, y por qué Batuco y Estación Colina compiten hoy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ese efecto, zona por zona.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Autopista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menos de viaje con el tren, desde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+1.363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más que puede cobrar Estación Colina frente a la competencia peor conectada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+696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Colina: competitivos hoy y líderes del corredor norte con la infraestructura ya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">
                <a:solidFill>
                  <a:srgbClr val="161616"/>
                </a:solidFill>
                <a:latin typeface="Helvetica Neue"/>
              </a:rPr>
              <a:t>La conectividad decide dónde se vive: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">
                <a:solidFill>
                  <a:srgbClr val="161616"/>
                </a:solidFill>
                <a:latin typeface="Helvetica Neue"/>
              </a:rPr>
              <a:t>tiempo, costo y valor.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Dos horas de viaje al día son 40 al mes. El tiempo a trabajo, colegio y servicios pesa en la decisión de compra tanto como los metros cuadrados.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5754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Tener y usar un auto cuesta entre $430 y $750 mil al mes (seguro, cuota, permiso, mantención, bencina y TAG): varias veces el transporte público. Ese diferencial es capacidad de compra.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3140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A igual precio, la mejor conectada vale más. La conectividad se paga en sobreprecio, o en una mejor propuesta al mismo precio. Y es medible, zona por zona.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decisión de compra no es solo precio y producto: es cuánto cuesta, en tiempo y en dinero, vivir ahí todos los días.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QUÉ ANALIZAMOS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14 zonas de origen y 9 destinos,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medidos puerta a puerta.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61688" y="1837944"/>
            <a:ext cx="2446632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920240"/>
            <a:ext cx="2282040" cy="325526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59744" y="3279339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9744" y="3279339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5740188" y="3381012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0188" y="3381012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95820" y="294562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95820" y="294562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2071" y="3330392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2071" y="3330392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14384" y="402512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4384" y="402512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4588" y="3043549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4588" y="3043549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99734" y="3444489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9734" y="3444489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1392" y="3050874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1392" y="3050874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4167" y="336658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4167" y="336658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9341" y="3658903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9341" y="3658903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77267" y="3810056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77267" y="3810056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8022" y="314120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8022" y="314120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28108" y="330928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28108" y="330928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958" y="315943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08958" y="315943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49351" y="4138946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49351" y="4138946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0590" y="3765241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80590" y="3765241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30841" y="4181535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0841" y="4181535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21036" y="326214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21036" y="326214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28733" y="2564754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28733" y="2564754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4285" y="3823945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84285" y="3823945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69880" y="3604431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69880" y="3604431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80450" y="300627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80450" y="300627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12956" y="2994178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12956" y="2994178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61777" y="4097712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61777" y="4097712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54440" y="3782494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54440" y="3782494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78433" y="443881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78433" y="443881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9" name="Oval 58"/>
          <p:cNvSpPr/>
          <p:nvPr/>
        </p:nvSpPr>
        <p:spPr>
          <a:xfrm>
            <a:off x="4963986" y="2293000"/>
            <a:ext cx="182880" cy="182880"/>
          </a:xfrm>
          <a:prstGeom prst="ellipse">
            <a:avLst/>
          </a:prstGeom>
          <a:solidFill>
            <a:srgbClr val="B07D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63986" y="2287514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61" name="Oval 60"/>
          <p:cNvSpPr/>
          <p:nvPr/>
        </p:nvSpPr>
        <p:spPr>
          <a:xfrm>
            <a:off x="5148677" y="2546314"/>
            <a:ext cx="182880" cy="182880"/>
          </a:xfrm>
          <a:prstGeom prst="ellipse">
            <a:avLst/>
          </a:prstGeom>
          <a:solidFill>
            <a:srgbClr val="B07D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48677" y="254082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63" name="Oval 62"/>
          <p:cNvSpPr/>
          <p:nvPr/>
        </p:nvSpPr>
        <p:spPr>
          <a:xfrm>
            <a:off x="5239456" y="277516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39456" y="276967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65" name="Oval 64"/>
          <p:cNvSpPr/>
          <p:nvPr/>
        </p:nvSpPr>
        <p:spPr>
          <a:xfrm>
            <a:off x="4692762" y="2600681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92762" y="2595195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67" name="Oval 66"/>
          <p:cNvSpPr/>
          <p:nvPr/>
        </p:nvSpPr>
        <p:spPr>
          <a:xfrm>
            <a:off x="5312626" y="2641914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12626" y="2636428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69" name="Oval 68"/>
          <p:cNvSpPr/>
          <p:nvPr/>
        </p:nvSpPr>
        <p:spPr>
          <a:xfrm>
            <a:off x="5145754" y="22059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45754" y="220046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71" name="Oval 70"/>
          <p:cNvSpPr/>
          <p:nvPr/>
        </p:nvSpPr>
        <p:spPr>
          <a:xfrm>
            <a:off x="5359716" y="2179124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59716" y="2173638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73" name="Oval 72"/>
          <p:cNvSpPr/>
          <p:nvPr/>
        </p:nvSpPr>
        <p:spPr>
          <a:xfrm>
            <a:off x="5730547" y="2093402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0547" y="208791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8</a:t>
            </a:r>
          </a:p>
        </p:txBody>
      </p:sp>
      <p:sp>
        <p:nvSpPr>
          <p:cNvPr id="75" name="Oval 74"/>
          <p:cNvSpPr/>
          <p:nvPr/>
        </p:nvSpPr>
        <p:spPr>
          <a:xfrm>
            <a:off x="5536302" y="1996016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36302" y="1990529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9</a:t>
            </a:r>
          </a:p>
        </p:txBody>
      </p:sp>
      <p:sp>
        <p:nvSpPr>
          <p:cNvPr id="77" name="Oval 76"/>
          <p:cNvSpPr/>
          <p:nvPr/>
        </p:nvSpPr>
        <p:spPr>
          <a:xfrm>
            <a:off x="4895927" y="30855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895927" y="308006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10</a:t>
            </a:r>
          </a:p>
        </p:txBody>
      </p:sp>
      <p:sp>
        <p:nvSpPr>
          <p:cNvPr id="79" name="Oval 78"/>
          <p:cNvSpPr/>
          <p:nvPr/>
        </p:nvSpPr>
        <p:spPr>
          <a:xfrm>
            <a:off x="6364900" y="4184910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64900" y="4179423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11</a:t>
            </a:r>
          </a:p>
        </p:txBody>
      </p:sp>
      <p:sp>
        <p:nvSpPr>
          <p:cNvPr id="81" name="Oval 80"/>
          <p:cNvSpPr/>
          <p:nvPr/>
        </p:nvSpPr>
        <p:spPr>
          <a:xfrm>
            <a:off x="4905119" y="404710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05119" y="404161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12</a:t>
            </a:r>
          </a:p>
        </p:txBody>
      </p:sp>
      <p:sp>
        <p:nvSpPr>
          <p:cNvPr id="83" name="Oval 82"/>
          <p:cNvSpPr/>
          <p:nvPr/>
        </p:nvSpPr>
        <p:spPr>
          <a:xfrm>
            <a:off x="5312807" y="49665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12807" y="496106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13</a:t>
            </a:r>
          </a:p>
        </p:txBody>
      </p:sp>
      <p:sp>
        <p:nvSpPr>
          <p:cNvPr id="85" name="Oval 84"/>
          <p:cNvSpPr/>
          <p:nvPr/>
        </p:nvSpPr>
        <p:spPr>
          <a:xfrm>
            <a:off x="5570714" y="4364492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570714" y="4359005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" y="183794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LOS 9 DESTINOS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58368" y="2199132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58368" y="2196388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A</a:t>
            </a:r>
          </a:p>
        </p:txBody>
      </p:sp>
      <p:pic>
        <p:nvPicPr>
          <p:cNvPr id="90" name="Picture 89" descr="d_tobala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99132"/>
            <a:ext cx="201168" cy="20116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280160" y="217170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Trabajo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80160" y="2336292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Metro Tobalaba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58368" y="2521000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8368" y="2518257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B</a:t>
            </a:r>
          </a:p>
        </p:txBody>
      </p:sp>
      <p:pic>
        <p:nvPicPr>
          <p:cNvPr id="95" name="Picture 94" descr="d_cen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521000"/>
            <a:ext cx="201168" cy="20116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280160" y="249356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Santiago Centro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80160" y="2658160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Plaza de Armas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8368" y="2842869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58368" y="2840126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pic>
        <p:nvPicPr>
          <p:cNvPr id="100" name="Picture 99" descr="near_industr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842869"/>
            <a:ext cx="201168" cy="201168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280160" y="281543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Barrio industrial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80160" y="2980029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los más cercanos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58368" y="3164738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58368" y="3161995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D</a:t>
            </a:r>
          </a:p>
        </p:txBody>
      </p:sp>
      <p:pic>
        <p:nvPicPr>
          <p:cNvPr id="105" name="Picture 104" descr="d_ciudadempresari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164738"/>
            <a:ext cx="201168" cy="201168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280160" y="313730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Ciudad Empresarial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80160" y="3301898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Huechuraba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58368" y="3486607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58368" y="3483864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pic>
        <p:nvPicPr>
          <p:cNvPr id="110" name="Picture 109" descr="near_universid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3486607"/>
            <a:ext cx="201168" cy="201168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1280160" y="3459175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Universidad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80160" y="3623767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las más cercanas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58368" y="3808476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58368" y="3805732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F</a:t>
            </a:r>
          </a:p>
        </p:txBody>
      </p:sp>
      <p:pic>
        <p:nvPicPr>
          <p:cNvPr id="115" name="Picture 114" descr="d_aeropuert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3808476"/>
            <a:ext cx="201168" cy="201168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80160" y="37810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Aeropuerto SCL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80160" y="3945636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Pudahuel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8368" y="4130344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58368" y="4127601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pic>
        <p:nvPicPr>
          <p:cNvPr id="120" name="Picture 119" descr="near_hospit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" y="4130344"/>
            <a:ext cx="201168" cy="201168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1280160" y="410291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Hospital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280160" y="4267504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los más cercanos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58368" y="4452213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8368" y="4449470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pic>
        <p:nvPicPr>
          <p:cNvPr id="125" name="Picture 124" descr="near_clini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0120" y="4452213"/>
            <a:ext cx="201168" cy="201168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1280160" y="4424781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Clínica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280160" y="4589373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las más cercanas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58368" y="4774082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58368" y="4771339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pic>
        <p:nvPicPr>
          <p:cNvPr id="130" name="Picture 129" descr="near_mal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120" y="4774082"/>
            <a:ext cx="201168" cy="201168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" y="474665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Centro comercial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280160" y="4911242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los más cercanos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101583" y="183794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LAS 14 ZONAS</a:t>
            </a:r>
          </a:p>
        </p:txBody>
      </p:sp>
      <p:sp>
        <p:nvSpPr>
          <p:cNvPr id="134" name="Oval 133"/>
          <p:cNvSpPr/>
          <p:nvPr/>
        </p:nvSpPr>
        <p:spPr>
          <a:xfrm>
            <a:off x="8110727" y="2199132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339327" y="218541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1  </a:t>
            </a:r>
            <a:r>
              <a:rPr sz="10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36" name="Oval 135"/>
          <p:cNvSpPr/>
          <p:nvPr/>
        </p:nvSpPr>
        <p:spPr>
          <a:xfrm>
            <a:off x="8110727" y="2403043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339327" y="2389327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10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38" name="Oval 137"/>
          <p:cNvSpPr/>
          <p:nvPr/>
        </p:nvSpPr>
        <p:spPr>
          <a:xfrm>
            <a:off x="8124444" y="2620670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339327" y="2593238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40" name="Oval 139"/>
          <p:cNvSpPr/>
          <p:nvPr/>
        </p:nvSpPr>
        <p:spPr>
          <a:xfrm>
            <a:off x="8124444" y="2824581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339327" y="279714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42" name="Oval 141"/>
          <p:cNvSpPr/>
          <p:nvPr/>
        </p:nvSpPr>
        <p:spPr>
          <a:xfrm>
            <a:off x="8124444" y="3028492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339327" y="300106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44" name="Oval 143"/>
          <p:cNvSpPr/>
          <p:nvPr/>
        </p:nvSpPr>
        <p:spPr>
          <a:xfrm>
            <a:off x="8124444" y="3232403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339327" y="320497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46" name="Oval 145"/>
          <p:cNvSpPr/>
          <p:nvPr/>
        </p:nvSpPr>
        <p:spPr>
          <a:xfrm>
            <a:off x="8124444" y="3436315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339327" y="3408883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48" name="Oval 147"/>
          <p:cNvSpPr/>
          <p:nvPr/>
        </p:nvSpPr>
        <p:spPr>
          <a:xfrm>
            <a:off x="8124444" y="3640226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339327" y="3612794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150" name="Oval 149"/>
          <p:cNvSpPr/>
          <p:nvPr/>
        </p:nvSpPr>
        <p:spPr>
          <a:xfrm>
            <a:off x="8124444" y="3844137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39327" y="3816705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52" name="Oval 151"/>
          <p:cNvSpPr/>
          <p:nvPr/>
        </p:nvSpPr>
        <p:spPr>
          <a:xfrm>
            <a:off x="8124444" y="4048048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339327" y="402061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154" name="Oval 153"/>
          <p:cNvSpPr/>
          <p:nvPr/>
        </p:nvSpPr>
        <p:spPr>
          <a:xfrm>
            <a:off x="8124444" y="4251960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339327" y="4224528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56" name="Oval 155"/>
          <p:cNvSpPr/>
          <p:nvPr/>
        </p:nvSpPr>
        <p:spPr>
          <a:xfrm>
            <a:off x="8124444" y="4455871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339327" y="442843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58" name="Oval 157"/>
          <p:cNvSpPr/>
          <p:nvPr/>
        </p:nvSpPr>
        <p:spPr>
          <a:xfrm>
            <a:off x="8124444" y="4659782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339327" y="463235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60" name="Oval 159"/>
          <p:cNvSpPr/>
          <p:nvPr/>
        </p:nvSpPr>
        <p:spPr>
          <a:xfrm>
            <a:off x="8124444" y="4863693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339327" y="4836261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8110727" y="5159044"/>
            <a:ext cx="201169" cy="0"/>
          </a:xfrm>
          <a:prstGeom prst="line">
            <a:avLst/>
          </a:prstGeom>
          <a:ln w="38100">
            <a:solidFill>
              <a:srgbClr val="6E9E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/>
        </p:nvSpPr>
        <p:spPr>
          <a:xfrm>
            <a:off x="8403336" y="507674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Corredores de tren: Batuco y Melipilla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Medición puerta a puerta y en hora punta: red vial y tarifas reales hoy; los trenes y la Autopista en construcción como escenario futuro.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En auto hoy, Estación Colina está en la mitad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más rápida; Batuco es 11º de 14.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en auto es la debilidad precisa que la Autopista corrige: de 11º a 3º de 14.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costo de manejar limita a Batuco: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alto hacia la mayoría de los destinos.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(bencina + peajes TAG), en miles de pesos. Verde = barato, rojo = caro.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 las 14 zonas. Su argumento económico es el tren, no el auto.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POSICIONAMIENTO EN AUTO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Estación Colina combina velocidad y costo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medio; Batuco es lejano y caro de manejar.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93392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Cada punto es una zona. El eje horizontal mide el tiempo promedio en auto a los 9 destinos; el vertical, el costo mensual de manejar. El cuadrante inferior izquierdo combina ambas ventajas.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61288" y="4098163"/>
            <a:ext cx="4341611" cy="711580"/>
          </a:xfrm>
          <a:prstGeom prst="rect">
            <a:avLst/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02899" y="2798064"/>
            <a:ext cx="5161747" cy="1300099"/>
          </a:xfrm>
          <a:prstGeom prst="rect">
            <a:avLst/>
          </a:prstGeom>
          <a:solidFill>
            <a:srgbClr val="F6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502899" y="2798064"/>
            <a:ext cx="0" cy="201168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61288" y="4098163"/>
            <a:ext cx="9503359" cy="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557763" y="277977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tiempo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0207" y="3928999"/>
            <a:ext cx="12344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costo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61288" y="4809744"/>
            <a:ext cx="9503359" cy="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61288" y="2798064"/>
            <a:ext cx="0" cy="201168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61288" y="4882896"/>
            <a:ext cx="95033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Minutos promedio en auto a los 9 destinos (40 a 99 min)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523744"/>
            <a:ext cx="5943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Costo mensual de manejar ($189 a $496 mil/mes) 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608576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80">
                <a:solidFill>
                  <a:srgbClr val="2F9E6E"/>
                </a:solidFill>
                <a:latin typeface="Helvetica Neue"/>
              </a:rPr>
              <a:t>RÁPIDA Y BARATA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2862072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RÁPIDA, PERO CARA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1527" y="4608576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LENTA, PERO BARATA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1527" y="2862072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B06A5E"/>
                </a:solidFill>
                <a:latin typeface="Helvetica Neue"/>
              </a:rPr>
              <a:t>LENTA Y CARA</a:t>
            </a:r>
          </a:p>
        </p:txBody>
      </p:sp>
      <p:sp>
        <p:nvSpPr>
          <p:cNvPr id="20" name="Oval 19"/>
          <p:cNvSpPr/>
          <p:nvPr/>
        </p:nvSpPr>
        <p:spPr>
          <a:xfrm>
            <a:off x="1884140" y="4411210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62448" y="4392922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22" name="Oval 21"/>
          <p:cNvSpPr/>
          <p:nvPr/>
        </p:nvSpPr>
        <p:spPr>
          <a:xfrm>
            <a:off x="3173468" y="455005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1776" y="4531771"/>
            <a:ext cx="5157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24" name="Oval 23"/>
          <p:cNvSpPr/>
          <p:nvPr/>
        </p:nvSpPr>
        <p:spPr>
          <a:xfrm>
            <a:off x="3941270" y="317891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9578" y="3160625"/>
            <a:ext cx="4023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26" name="Oval 25"/>
          <p:cNvSpPr/>
          <p:nvPr/>
        </p:nvSpPr>
        <p:spPr>
          <a:xfrm>
            <a:off x="4115112" y="377365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3420" y="3755367"/>
            <a:ext cx="7424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28" name="Oval 27"/>
          <p:cNvSpPr/>
          <p:nvPr/>
        </p:nvSpPr>
        <p:spPr>
          <a:xfrm>
            <a:off x="4187546" y="459021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5854" y="4571923"/>
            <a:ext cx="79918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30" name="Oval 29"/>
          <p:cNvSpPr/>
          <p:nvPr/>
        </p:nvSpPr>
        <p:spPr>
          <a:xfrm>
            <a:off x="4377416" y="4065535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6984" y="4074679"/>
            <a:ext cx="11475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2" name="Oval 31"/>
          <p:cNvSpPr/>
          <p:nvPr/>
        </p:nvSpPr>
        <p:spPr>
          <a:xfrm>
            <a:off x="5230597" y="375273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08905" y="3734443"/>
            <a:ext cx="9692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34" name="Oval 33"/>
          <p:cNvSpPr/>
          <p:nvPr/>
        </p:nvSpPr>
        <p:spPr>
          <a:xfrm>
            <a:off x="5443463" y="4082166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21771" y="4063878"/>
            <a:ext cx="2889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36" name="Oval 35"/>
          <p:cNvSpPr/>
          <p:nvPr/>
        </p:nvSpPr>
        <p:spPr>
          <a:xfrm>
            <a:off x="6012886" y="328460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1194" y="3266315"/>
            <a:ext cx="108264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8" name="Oval 37"/>
          <p:cNvSpPr/>
          <p:nvPr/>
        </p:nvSpPr>
        <p:spPr>
          <a:xfrm>
            <a:off x="6679280" y="295208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7588" y="2933801"/>
            <a:ext cx="34564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40" name="Oval 39"/>
          <p:cNvSpPr/>
          <p:nvPr/>
        </p:nvSpPr>
        <p:spPr>
          <a:xfrm>
            <a:off x="6970559" y="3678050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12875" y="368719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2" name="Oval 41"/>
          <p:cNvSpPr/>
          <p:nvPr/>
        </p:nvSpPr>
        <p:spPr>
          <a:xfrm>
            <a:off x="7302214" y="434935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80522" y="4331063"/>
            <a:ext cx="62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44" name="Oval 43"/>
          <p:cNvSpPr/>
          <p:nvPr/>
        </p:nvSpPr>
        <p:spPr>
          <a:xfrm>
            <a:off x="8692949" y="419813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71257" y="4303291"/>
            <a:ext cx="91257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46" name="Oval 45"/>
          <p:cNvSpPr/>
          <p:nvPr/>
        </p:nvSpPr>
        <p:spPr>
          <a:xfrm>
            <a:off x="9562159" y="403872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40467" y="4020439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Chicauma, Urbanya y Valle Grande ocupan hoy el cuadrante rápido y barato. Estación Colina queda al borde; Batuco, lejos: es la zona que más necesita el salto de infraestructura.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tarifa sin integrar a RED encarece el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transporte público de nuestros proyectos.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58368" y="3643883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58368" y="4320540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transporte público, en miles de pesos. Batuco y Estación Colina pagan cada tramo por separado, sin bip! integrado.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Sin integración a RED pagan cada tramo por separado: Estación Colina queda 12ª de 14 en costo y Batuco 8º. Es una debilidad corregible por gestión (lámina 19).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TIEMPO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Transporte público hoy, antes del tren: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 promedia 2 h 17 por viaje.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3A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50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AB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8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43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83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2:19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B5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2:35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AF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CA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2:36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8368" y="3136391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47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87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2:26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56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1:34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A7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1:58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2:25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2:35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2:39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2:12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D54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2:57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2:43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2:02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A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2:35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2:16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2:44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2:17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2:23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1:41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1:47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D16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2:42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2:49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D44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2:53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4:02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1:13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A5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2:00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1:38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2:23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AB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2:29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2:26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2:57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1:51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2:02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9F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1:56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2:40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45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2:26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3:13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2:13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2:02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2:07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1:53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42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2:57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3:06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2:05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2:31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2:06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1:46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2:33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2:00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2:44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54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3:03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2:17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549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3:02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3:35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2:29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3:13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1:50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1:56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 en transporte público, hoy. Color por columna: verde = la mejor conectada a ese destino, rojo = la peor.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Hoy Batuco es 11º de 14 y Estación Colina 5ª: micros rurales de baja frecuencia y transbordos largos. Este es el mapa que el tren viene a reordenar.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tren reordena el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nuestros proyectos pasan a 1º y 2º.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1031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7260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2487168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961888" y="245973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5168" y="301259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671454"/>
            <a:ext cx="3383280" cy="18428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61888" y="2644022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282830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2746013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3º  Valle Grande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85574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961888" y="282830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356545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040028"/>
            <a:ext cx="3383280" cy="368573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961888" y="301259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45168" y="338116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5989320" y="2487168"/>
            <a:ext cx="3383280" cy="737147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25312" y="316030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2423160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10544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5º  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36829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1º  Estación Colina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9320" y="340860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61888" y="338116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5168" y="411831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989320" y="3592888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61888" y="356545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5168" y="430260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989320" y="3777175"/>
            <a:ext cx="3383280" cy="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61888" y="3749743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168" y="374974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9320" y="3961462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961888" y="393403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45168" y="448689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89320" y="4145748"/>
            <a:ext cx="3383280" cy="552861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61888" y="411831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45168" y="4671177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989320" y="2671454"/>
            <a:ext cx="3383280" cy="1658581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25312" y="426602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08592" y="2607446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421116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11º  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18904" y="255258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2º  Batuco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89320" y="4514322"/>
            <a:ext cx="3383280" cy="36857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61888" y="448689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5168" y="4855464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989320" y="3224315"/>
            <a:ext cx="3383280" cy="147429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961888" y="4671177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5168" y="319688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5989320" y="3961462"/>
            <a:ext cx="3383280" cy="92143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61888" y="4855464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5168" y="393403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23957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30">
                <a:solidFill>
                  <a:srgbClr val="134E48"/>
                </a:solidFill>
                <a:latin typeface="Helvetica Neue"/>
              </a:rPr>
              <a:t>POSICIÓN EN TRANSPORTE PÚBLICO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27980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Estación Colina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114800"/>
            <a:ext cx="34930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Tren Santiago-Batuco recorta 45 minutos de viaje desde Estación Colina y 67 desde Batuco. Cada proyecto cuenta con estación propia sobre el corredor.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Con el tren, Estación Colina queda primera y Batuco segundo entre las 14 zonas en transporte público. Ninguna zona sin estación nueva puede igualar ese cambio.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Autopista Orbital Norponiente acerca 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Batuco: 28 minutos menos en auto.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Autopista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950208"/>
            <a:ext cx="5120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promedio desde Batuco a los 9 destinos, puerta a puerta.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07D24"/>
                </a:solidFill>
                <a:latin typeface="Helvetica Neue"/>
              </a:rPr>
              <a:t>28 min menos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11º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en auto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10">
                <a:solidFill>
                  <a:srgbClr val="134E48"/>
                </a:solidFill>
                <a:latin typeface="Helvetica Neue"/>
              </a:rPr>
              <a:t>EL EFECTO DEL CORREDOR NORPONIENTE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cruza el terreno de Batuco, con enlace a 7 minutos. Es la diferencia entre una zona periférica y una de las más rápidas en auto.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fortaleza es la centralidad y el tren. Cada proyecto tiene su propio argumento.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cada proyecto con su obra: la Autopista es el argumento vial de Batuco; Estación Colina no la necesita.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 ENTRE ZONAS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Sobreprecio justificado entre zonas: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comparación completa, en UF.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50">
                <a:solidFill>
                  <a:srgbClr val="6E6A64"/>
                </a:solidFill>
                <a:latin typeface="Helvetica Neue"/>
              </a:rPr>
              <a:t>CADA CELDA: UF QUE LA FILA PUEDE COBRAR POR SOBRE LA COLUMNA, POR TIEMPO Y COSTO DE AUTO AHORRADOS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26224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2588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38951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45315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1678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8042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6440609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0769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77133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3496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9860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96223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2587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0895108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81635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5300" y="282732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1657" y="2827324"/>
            <a:ext cx="614411" cy="124358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068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08014" y="2827324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7042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4372" y="2827324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3399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0729" y="2827324"/>
            <a:ext cx="614411" cy="124358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9756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7086" y="2827324"/>
            <a:ext cx="614411" cy="124358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1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53443" y="2827324"/>
            <a:ext cx="614411" cy="124358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24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+869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9800" y="2827324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8827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26157" y="2827324"/>
            <a:ext cx="614411" cy="124358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15184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2514" y="2827324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1541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98871" y="2827324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87898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35228" y="2827324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425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585" y="2827324"/>
            <a:ext cx="614411" cy="124358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606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07942" y="2827324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969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296265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5300" y="2973628"/>
            <a:ext cx="614411" cy="124358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432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71657" y="297362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08014" y="2973628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7042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44372" y="2973628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33399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80729" y="2973628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9756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+658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17086" y="2973628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061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53443" y="2973628"/>
            <a:ext cx="614411" cy="124358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24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89800" y="2973628"/>
            <a:ext cx="614411" cy="124358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78827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157" y="2973628"/>
            <a:ext cx="614411" cy="124358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15184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+1005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62514" y="2973628"/>
            <a:ext cx="614411" cy="124358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51541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98871" y="2973628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98789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635228" y="2973628"/>
            <a:ext cx="614411" cy="124358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24255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1585" y="2973628"/>
            <a:ext cx="614411" cy="124358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606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07942" y="2973628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969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4088" y="310896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35300" y="3119932"/>
            <a:ext cx="614411" cy="124358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62432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71657" y="3119932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6068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08014" y="311993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44372" y="3119932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33399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80729" y="3119932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69756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17086" y="3119932"/>
            <a:ext cx="614411" cy="124358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8061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53443" y="3119932"/>
            <a:ext cx="614411" cy="124358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424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+785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89800" y="3119932"/>
            <a:ext cx="614411" cy="124358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78827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26157" y="3119932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15184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+930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362514" y="3119932"/>
            <a:ext cx="614411" cy="124358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351541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98871" y="3119932"/>
            <a:ext cx="614411" cy="124358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789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635228" y="3119932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2425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1585" y="3119932"/>
            <a:ext cx="614411" cy="124358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2606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07942" y="3119932"/>
            <a:ext cx="614411" cy="124358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8969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58368" y="326257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4088" y="325526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35300" y="3266236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2432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71657" y="3266236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6068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908014" y="3266236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97042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544372" y="32662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180729" y="3266236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169756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817086" y="3266236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061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+127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53443" y="3266236"/>
            <a:ext cx="614411" cy="124358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424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+278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089800" y="3266236"/>
            <a:ext cx="614411" cy="124358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078827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+379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26157" y="3266236"/>
            <a:ext cx="614411" cy="124358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715184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+423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62514" y="3266236"/>
            <a:ext cx="614411" cy="124358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351541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998871" y="3266236"/>
            <a:ext cx="614411" cy="124358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98789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635228" y="3266236"/>
            <a:ext cx="614411" cy="124358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62425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+836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1585" y="3266236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606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907942" y="3266236"/>
            <a:ext cx="614411" cy="124358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8969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" y="34015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635300" y="3412540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62432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71657" y="3412540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26068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-658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908014" y="3412540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897042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44372" y="3412540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533399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180729" y="34125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817086" y="3412540"/>
            <a:ext cx="614411" cy="124358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8061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+51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453443" y="3412540"/>
            <a:ext cx="614411" cy="124358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424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+202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089800" y="3412540"/>
            <a:ext cx="614411" cy="124358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078827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+303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726157" y="3412540"/>
            <a:ext cx="614411" cy="124358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715184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+347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362514" y="3412540"/>
            <a:ext cx="614411" cy="124358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351541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998871" y="3412540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8789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+591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635228" y="3412540"/>
            <a:ext cx="614411" cy="124358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62425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+760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271585" y="3412540"/>
            <a:ext cx="614411" cy="124358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2606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907942" y="3412540"/>
            <a:ext cx="614411" cy="124358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8969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4088" y="354787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635300" y="3558844"/>
            <a:ext cx="614411" cy="124358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62432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271657" y="3558844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26068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908014" y="3558844"/>
            <a:ext cx="614411" cy="124358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897042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544372" y="355884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533399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-127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180729" y="3558844"/>
            <a:ext cx="614411" cy="124358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169756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817086" y="35588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453443" y="3558844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4424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+151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9800" y="3558844"/>
            <a:ext cx="614411" cy="124358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078827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726157" y="355884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715184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362514" y="3558844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351541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+504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998871" y="3558844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98789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+540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35228" y="3558844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62425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0271585" y="3558844"/>
            <a:ext cx="614411" cy="124358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260613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+838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0907942" y="3558844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08969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04088" y="369417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635300" y="3705148"/>
            <a:ext cx="614411" cy="124358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62432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-869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271657" y="3705148"/>
            <a:ext cx="614411" cy="124358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26068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-859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3908014" y="3705148"/>
            <a:ext cx="614411" cy="124358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3897042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-785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4544372" y="3705148"/>
            <a:ext cx="614411" cy="124358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533399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-278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180729" y="3705148"/>
            <a:ext cx="614411" cy="124358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169756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-202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817086" y="3705148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8061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-151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6453443" y="37051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9800" y="3705148"/>
            <a:ext cx="614411" cy="124358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078827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7726157" y="3705148"/>
            <a:ext cx="614411" cy="124358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715184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+145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8362514" y="3705148"/>
            <a:ext cx="614411" cy="124358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51541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+353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8998871" y="3705148"/>
            <a:ext cx="614411" cy="124358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898789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+389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9635228" y="3705148"/>
            <a:ext cx="614411" cy="124358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62425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+558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0271585" y="3705148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2606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+688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10907942" y="3705148"/>
            <a:ext cx="614411" cy="124358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0896970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04088" y="384048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635300" y="385145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62432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-970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271657" y="3851452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26068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-960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3908014" y="385145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3897042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-886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544372" y="3851452"/>
            <a:ext cx="614411" cy="124358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533399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-379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5180729" y="3851452"/>
            <a:ext cx="614411" cy="124358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5169756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817086" y="3851452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8061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453443" y="3851452"/>
            <a:ext cx="614411" cy="124358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64424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089800" y="38514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726157" y="3851452"/>
            <a:ext cx="614411" cy="124358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7715184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8362514" y="3851452"/>
            <a:ext cx="614411" cy="124358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51541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998871" y="3851452"/>
            <a:ext cx="614411" cy="124358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898789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+288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635228" y="3851452"/>
            <a:ext cx="614411" cy="124358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62425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271585" y="3851452"/>
            <a:ext cx="614411" cy="124358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2606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+587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07942" y="3851452"/>
            <a:ext cx="614411" cy="124358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8969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+984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04088" y="398678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35300" y="3997756"/>
            <a:ext cx="614411" cy="124358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62432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-1014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3271657" y="3997756"/>
            <a:ext cx="614411" cy="124358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26068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-1005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908014" y="3997756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3897042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-930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4544372" y="3997756"/>
            <a:ext cx="614411" cy="124358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4533399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-423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5180729" y="3997756"/>
            <a:ext cx="614411" cy="124358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5169756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-347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817086" y="3997756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58061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-296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453443" y="3997756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424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-145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089800" y="3997756"/>
            <a:ext cx="614411" cy="124358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078827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726157" y="39977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362514" y="3997756"/>
            <a:ext cx="614411" cy="124358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8351541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998871" y="3997756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898789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+244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9635228" y="3997756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962425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+413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10271585" y="39977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2606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+542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0907942" y="3997756"/>
            <a:ext cx="614411" cy="124358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08969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+940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4088" y="41330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2635300" y="4144060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62432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271657" y="4144060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326068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3908014" y="4144060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897042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4544372" y="4144060"/>
            <a:ext cx="614411" cy="124358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533399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-631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180729" y="4144060"/>
            <a:ext cx="614411" cy="124358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69756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-555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817086" y="4144060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8061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-504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453443" y="4144060"/>
            <a:ext cx="614411" cy="124358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64424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-353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089800" y="4144060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078827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726157" y="4144060"/>
            <a:ext cx="614411" cy="124358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15184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8362514" y="41440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998871" y="4144060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898789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9635228" y="4144060"/>
            <a:ext cx="614411" cy="124358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962425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+205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0271585" y="4144060"/>
            <a:ext cx="614411" cy="124358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102606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+334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0907942" y="4144060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08969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+732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658368" y="428670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704088" y="427939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635300" y="4290364"/>
            <a:ext cx="614411" cy="124358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624328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3271657" y="4290364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326068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908014" y="4290364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3897042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44372" y="4290364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533399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180729" y="4290364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169756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-591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817086" y="429036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58061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-540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53443" y="4290364"/>
            <a:ext cx="614411" cy="124358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24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-389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089800" y="4290364"/>
            <a:ext cx="614411" cy="124358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7078827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-288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726157" y="4290364"/>
            <a:ext cx="614411" cy="124358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715184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-244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362514" y="4290364"/>
            <a:ext cx="614411" cy="124358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51541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998871" y="42903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35228" y="4290364"/>
            <a:ext cx="614411" cy="124358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62425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+169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271585" y="429036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2606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+298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07942" y="4290364"/>
            <a:ext cx="614411" cy="124358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8969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+696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04088" y="44256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2635300" y="4436668"/>
            <a:ext cx="614411" cy="124358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262432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271657" y="4436668"/>
            <a:ext cx="614411" cy="124358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3260685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908014" y="4436668"/>
            <a:ext cx="614411" cy="124358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3897042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544372" y="4436668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533399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-836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5180729" y="4436668"/>
            <a:ext cx="614411" cy="124358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5169756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-760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5817086" y="4436668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58061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6453443" y="4436668"/>
            <a:ext cx="614411" cy="124358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4424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-558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089800" y="4436668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7078827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726157" y="4436668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7715184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-413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362514" y="4436668"/>
            <a:ext cx="614411" cy="124358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351541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-205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998871" y="4436668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8789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-169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635228" y="44366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271585" y="4436668"/>
            <a:ext cx="614411" cy="124358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2606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+130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10907942" y="4436668"/>
            <a:ext cx="614411" cy="124358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8969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+527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04088" y="45720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2635300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62432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271657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326068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908014" y="4582972"/>
            <a:ext cx="614411" cy="124358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897042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4544372" y="458297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4533399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-965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180729" y="458297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169756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-889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5817086" y="4582972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5806113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-838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453443" y="4582972"/>
            <a:ext cx="614411" cy="124358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4424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-688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089800" y="4582972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7078827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-587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7726157" y="4582972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7715184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-542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2514" y="4582972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351541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-334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8998871" y="4582972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898789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-298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9635228" y="4582972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962425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-130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0271585" y="45829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907942" y="4582972"/>
            <a:ext cx="614411" cy="124358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08969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+398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704088" y="47183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2635300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62432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71657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326068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3908014" y="4729276"/>
            <a:ext cx="614411" cy="124358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3897042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544372" y="4729276"/>
            <a:ext cx="614411" cy="124358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4533399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180729" y="4729276"/>
            <a:ext cx="614411" cy="124358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9756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17086" y="4729276"/>
            <a:ext cx="614411" cy="124358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8061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453443" y="4729276"/>
            <a:ext cx="614411" cy="124358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442470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089800" y="4729276"/>
            <a:ext cx="614411" cy="124358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7078827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-984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26157" y="4729276"/>
            <a:ext cx="614411" cy="124358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7715184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-940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362514" y="4729276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351541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-732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8998871" y="472927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898789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-696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635228" y="4729276"/>
            <a:ext cx="614411" cy="124358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962425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-527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271585" y="4729276"/>
            <a:ext cx="614411" cy="124358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102606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-398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10907942" y="47292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58368" y="4974336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Verde = puede cobrar más que esa columna; rojo = debe cobrar menos. Orden: de la que más sobreprecio justifica a la que menos.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lectura honesta: manejar desde Batuco es caro y su sobreprecio por auto es acotado; no puede pedir más UF que Valle Grande ni Chicauma. Las dos láminas siguientes muestran dónde recupera esa diferencia.</a:t>
            </a:r>
          </a:p>
        </p:txBody>
      </p:sp>
      <p:cxnSp>
        <p:nvCxnSpPr>
          <p:cNvPr id="419" name="Connector 4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VALOR DEL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El ahorro no es solo bencina y TAG: el tiempo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de viaje tiene precio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Cada hora arriba de un auto o una micro es una hora menos de trabajo, familia o descanso: un costo de oportunidad. MIDESO lo valora oficialmente (Precios Sociales 2025) en $3.846 por hora de viaje al trabajo: el VTC, 50% del costo de la mano de obra.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788920"/>
            <a:ext cx="2478709" cy="457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MINUTOS AHORRADOS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67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por viaje: el tren
desde Batuco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6221" y="352044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58C"/>
                </a:solidFill>
                <a:latin typeface="Helvetica Neue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57117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57117" y="2788920"/>
            <a:ext cx="2478709" cy="457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99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HORAS AL 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99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49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99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ida y vuelta ×
22 días hábiles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4971" y="352044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58C"/>
                </a:solidFill>
                <a:latin typeface="Helvetica Neue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5867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27889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74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VALOR DEL TIEMPO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74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34E48"/>
                </a:solidFill>
                <a:latin typeface="Helvetica Neue"/>
              </a:rPr>
              <a:t>$189 mil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74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al mes, valorizado al
VTC de $3.846/hora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43721" y="352044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58C"/>
                </a:solidFill>
                <a:latin typeface="Helvetica Neue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4617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4617" y="2788920"/>
            <a:ext cx="2478709" cy="4572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749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CAPACIDAD DE COMPRA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749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B07D24"/>
                </a:solidFill>
                <a:latin typeface="Helvetica Neue"/>
              </a:rPr>
              <a:t>+977 UF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749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mayor valor
de vivienda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el puente de las láminas de valor: los minutos ahorrados se valorizan al precio oficial del tiempo y se capitalizan en UF de vivienda. No es solo ahorro de bolsillo: es costo de oportunidad.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DIFERENCIAL DEL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diferencial del tren, en UF: solo las zonas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con estación nueva lo capturan.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50">
                <a:solidFill>
                  <a:srgbClr val="6E6A64"/>
                </a:solidFill>
                <a:latin typeface="Helvetica Neue"/>
              </a:rPr>
              <a:t>CADA CELDA: UF QUE LA FILA PUEDE COBRAR POR SOBRE LA COLUMNA, SOLO POR EL TIEMPO QUE EL TREN LE AHORRA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26224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2588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38951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45315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1678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8042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6440609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0769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77133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3496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9860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96223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2587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0895108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82366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1635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5300" y="282732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71657" y="2827324"/>
            <a:ext cx="614411" cy="124358"/>
          </a:xfrm>
          <a:prstGeom prst="rect">
            <a:avLst/>
          </a:prstGeom>
          <a:solidFill>
            <a:srgbClr val="AED5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6068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08014" y="2827324"/>
            <a:ext cx="614411" cy="124358"/>
          </a:xfrm>
          <a:prstGeom prst="rect">
            <a:avLst/>
          </a:prstGeom>
          <a:solidFill>
            <a:srgbClr val="9A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7042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4372" y="2827324"/>
            <a:ext cx="614411" cy="124358"/>
          </a:xfrm>
          <a:prstGeom prst="rect">
            <a:avLst/>
          </a:prstGeom>
          <a:solidFill>
            <a:srgbClr val="96C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3399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80729" y="2827324"/>
            <a:ext cx="614411" cy="124358"/>
          </a:xfrm>
          <a:prstGeom prst="rect">
            <a:avLst/>
          </a:prstGeom>
          <a:solidFill>
            <a:srgbClr val="7D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9756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17086" y="2827324"/>
            <a:ext cx="614411" cy="124358"/>
          </a:xfrm>
          <a:prstGeom prst="rect">
            <a:avLst/>
          </a:prstGeom>
          <a:solidFill>
            <a:srgbClr val="5AB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61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53443" y="2827324"/>
            <a:ext cx="614411" cy="124358"/>
          </a:xfrm>
          <a:prstGeom prst="rect">
            <a:avLst/>
          </a:prstGeom>
          <a:solidFill>
            <a:srgbClr val="47A8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24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+811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9800" y="2827324"/>
            <a:ext cx="614411" cy="124358"/>
          </a:xfrm>
          <a:prstGeom prst="rect">
            <a:avLst/>
          </a:prstGeom>
          <a:solidFill>
            <a:srgbClr val="3CA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78827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+882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26157" y="2827324"/>
            <a:ext cx="614411" cy="124358"/>
          </a:xfrm>
          <a:prstGeom prst="rect">
            <a:avLst/>
          </a:prstGeom>
          <a:solidFill>
            <a:srgbClr val="3AA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15184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+896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2514" y="2827324"/>
            <a:ext cx="614411" cy="124358"/>
          </a:xfrm>
          <a:prstGeom prst="rect">
            <a:avLst/>
          </a:prstGeom>
          <a:solidFill>
            <a:srgbClr val="35A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51541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8871" y="2827324"/>
            <a:ext cx="614411" cy="124358"/>
          </a:xfrm>
          <a:prstGeom prst="rect">
            <a:avLst/>
          </a:prstGeom>
          <a:solidFill>
            <a:srgbClr val="34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87898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35228" y="2827324"/>
            <a:ext cx="614411" cy="124358"/>
          </a:xfrm>
          <a:prstGeom prst="rect">
            <a:avLst/>
          </a:prstGeom>
          <a:solidFill>
            <a:srgbClr val="339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2425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+948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71585" y="2827324"/>
            <a:ext cx="614411" cy="124358"/>
          </a:xfrm>
          <a:prstGeom prst="rect">
            <a:avLst/>
          </a:prstGeom>
          <a:solidFill>
            <a:srgbClr val="319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606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907942" y="2827324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969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" y="296265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35300" y="2973628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2432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-228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71657" y="297362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08014" y="2973628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97042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44372" y="2973628"/>
            <a:ext cx="614411" cy="124358"/>
          </a:xfrm>
          <a:prstGeom prst="rect">
            <a:avLst/>
          </a:prstGeom>
          <a:solidFill>
            <a:srgbClr val="C9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33399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0729" y="2973628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69756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17086" y="2973628"/>
            <a:ext cx="614411" cy="124358"/>
          </a:xfrm>
          <a:prstGeom prst="rect">
            <a:avLst/>
          </a:prstGeom>
          <a:solidFill>
            <a:srgbClr val="80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061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53443" y="2973628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424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89800" y="2973628"/>
            <a:ext cx="614411" cy="124358"/>
          </a:xfrm>
          <a:prstGeom prst="rect">
            <a:avLst/>
          </a:prstGeom>
          <a:solidFill>
            <a:srgbClr val="5FB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78827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26157" y="2973628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15184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+668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2514" y="2973628"/>
            <a:ext cx="614411" cy="124358"/>
          </a:xfrm>
          <a:prstGeom prst="rect">
            <a:avLst/>
          </a:prstGeom>
          <a:solidFill>
            <a:srgbClr val="58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51541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+702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98871" y="2973628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8789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35228" y="2973628"/>
            <a:ext cx="614411" cy="124358"/>
          </a:xfrm>
          <a:prstGeom prst="rect">
            <a:avLst/>
          </a:prstGeom>
          <a:solidFill>
            <a:srgbClr val="55A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4255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+720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71585" y="2973628"/>
            <a:ext cx="614411" cy="124358"/>
          </a:xfrm>
          <a:prstGeom prst="rect">
            <a:avLst/>
          </a:prstGeom>
          <a:solidFill>
            <a:srgbClr val="53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606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+731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07942" y="2973628"/>
            <a:ext cx="614411" cy="124358"/>
          </a:xfrm>
          <a:prstGeom prst="rect">
            <a:avLst/>
          </a:prstGeom>
          <a:solidFill>
            <a:srgbClr val="50A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8969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+749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8368" y="3116275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" y="310896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35300" y="3119932"/>
            <a:ext cx="614411" cy="124358"/>
          </a:xfrm>
          <a:prstGeom prst="rect">
            <a:avLst/>
          </a:prstGeom>
          <a:solidFill>
            <a:srgbClr val="DDA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2432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71657" y="3119932"/>
            <a:ext cx="614411" cy="124358"/>
          </a:xfrm>
          <a:prstGeom prst="rect">
            <a:avLst/>
          </a:prstGeom>
          <a:solidFill>
            <a:srgbClr val="EC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6068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908014" y="311993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544372" y="3119932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33399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80729" y="3119932"/>
            <a:ext cx="614411" cy="124358"/>
          </a:xfrm>
          <a:prstGeom prst="rect">
            <a:avLst/>
          </a:prstGeom>
          <a:solidFill>
            <a:srgbClr val="BF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169756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817086" y="3119932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8061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453443" y="3119932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424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89800" y="3119932"/>
            <a:ext cx="614411" cy="124358"/>
          </a:xfrm>
          <a:prstGeom prst="rect">
            <a:avLst/>
          </a:prstGeom>
          <a:solidFill>
            <a:srgbClr val="70B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78827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26157" y="3119932"/>
            <a:ext cx="614411" cy="124358"/>
          </a:xfrm>
          <a:prstGeom prst="rect">
            <a:avLst/>
          </a:prstGeom>
          <a:solidFill>
            <a:srgbClr val="6D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15184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+570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62514" y="3119932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51541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998871" y="3119932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8789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35228" y="3119932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2425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+623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1585" y="3119932"/>
            <a:ext cx="614411" cy="124358"/>
          </a:xfrm>
          <a:prstGeom prst="rect">
            <a:avLst/>
          </a:prstGeom>
          <a:solidFill>
            <a:srgbClr val="63B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2606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07942" y="3119932"/>
            <a:ext cx="614411" cy="124358"/>
          </a:xfrm>
          <a:prstGeom prst="rect">
            <a:avLst/>
          </a:prstGeom>
          <a:solidFill>
            <a:srgbClr val="60B3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8969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4088" y="325526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635300" y="326623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62432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-345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271657" y="3266236"/>
            <a:ext cx="614411" cy="124358"/>
          </a:xfrm>
          <a:prstGeom prst="rect">
            <a:avLst/>
          </a:prstGeom>
          <a:solidFill>
            <a:srgbClr val="EA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26068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908014" y="3266236"/>
            <a:ext cx="614411" cy="124358"/>
          </a:xfrm>
          <a:prstGeom prst="rect">
            <a:avLst/>
          </a:prstGeom>
          <a:solidFill>
            <a:srgbClr val="F3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897042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44372" y="32662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180729" y="3266236"/>
            <a:ext cx="614411" cy="124358"/>
          </a:xfrm>
          <a:prstGeom prst="rect">
            <a:avLst/>
          </a:prstGeom>
          <a:solidFill>
            <a:srgbClr val="C4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69756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817086" y="3266236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8061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453443" y="3266236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424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89800" y="3266236"/>
            <a:ext cx="614411" cy="124358"/>
          </a:xfrm>
          <a:prstGeom prst="rect">
            <a:avLst/>
          </a:prstGeom>
          <a:solidFill>
            <a:srgbClr val="73B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078827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+537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26157" y="3266236"/>
            <a:ext cx="614411" cy="124358"/>
          </a:xfrm>
          <a:prstGeom prst="rect">
            <a:avLst/>
          </a:prstGeom>
          <a:solidFill>
            <a:srgbClr val="71B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15184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362514" y="3266236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51541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998871" y="3266236"/>
            <a:ext cx="614411" cy="124358"/>
          </a:xfrm>
          <a:prstGeom prst="rect">
            <a:avLst/>
          </a:prstGeom>
          <a:solidFill>
            <a:srgbClr val="69B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98789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+593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635228" y="3266236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2425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271585" y="3266236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606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907942" y="3266236"/>
            <a:ext cx="614411" cy="124358"/>
          </a:xfrm>
          <a:prstGeom prst="rect">
            <a:avLst/>
          </a:prstGeom>
          <a:solidFill>
            <a:srgbClr val="63B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8969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04088" y="34015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635300" y="3412540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62432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71657" y="3412540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26068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-254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908014" y="3412540"/>
            <a:ext cx="614411" cy="124358"/>
          </a:xfrm>
          <a:prstGeom prst="rect">
            <a:avLst/>
          </a:prstGeom>
          <a:solidFill>
            <a:srgbClr val="E7C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897042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-157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544372" y="3412540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533399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180729" y="34125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817086" y="3412540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8061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453443" y="3412540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4424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+328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089800" y="3412540"/>
            <a:ext cx="614411" cy="124358"/>
          </a:xfrm>
          <a:prstGeom prst="rect">
            <a:avLst/>
          </a:prstGeom>
          <a:solidFill>
            <a:srgbClr val="8BC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078827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+400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726157" y="3412540"/>
            <a:ext cx="614411" cy="124358"/>
          </a:xfrm>
          <a:prstGeom prst="rect">
            <a:avLst/>
          </a:prstGeom>
          <a:solidFill>
            <a:srgbClr val="89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715184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+414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362514" y="3412540"/>
            <a:ext cx="614411" cy="124358"/>
          </a:xfrm>
          <a:prstGeom prst="rect">
            <a:avLst/>
          </a:prstGeom>
          <a:solidFill>
            <a:srgbClr val="83C2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351541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+448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998871" y="3412540"/>
            <a:ext cx="614411" cy="124358"/>
          </a:xfrm>
          <a:prstGeom prst="rect">
            <a:avLst/>
          </a:prstGeom>
          <a:solidFill>
            <a:srgbClr val="81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98789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635228" y="3412540"/>
            <a:ext cx="614411" cy="124358"/>
          </a:xfrm>
          <a:prstGeom prst="rect">
            <a:avLst/>
          </a:prstGeom>
          <a:solidFill>
            <a:srgbClr val="7F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62425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+466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271585" y="3412540"/>
            <a:ext cx="614411" cy="124358"/>
          </a:xfrm>
          <a:prstGeom prst="rect">
            <a:avLst/>
          </a:prstGeom>
          <a:solidFill>
            <a:srgbClr val="7DC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2606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907942" y="3412540"/>
            <a:ext cx="614411" cy="124358"/>
          </a:xfrm>
          <a:prstGeom prst="rect">
            <a:avLst/>
          </a:prstGeom>
          <a:solidFill>
            <a:srgbClr val="7AB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8969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+495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04088" y="354787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635300" y="3558844"/>
            <a:ext cx="614411" cy="124358"/>
          </a:xfrm>
          <a:prstGeom prst="rect">
            <a:avLst/>
          </a:prstGeom>
          <a:solidFill>
            <a:srgbClr val="CB7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62432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-690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271657" y="3558844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26068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908014" y="3558844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897042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-364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544372" y="3558844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33399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-344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80729" y="3558844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169756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817086" y="35588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453443" y="3558844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4424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+121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089800" y="3558844"/>
            <a:ext cx="614411" cy="124358"/>
          </a:xfrm>
          <a:prstGeom prst="rect">
            <a:avLst/>
          </a:prstGeom>
          <a:solidFill>
            <a:srgbClr val="B6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078827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+192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726157" y="3558844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715184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+206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362514" y="3558844"/>
            <a:ext cx="614411" cy="124358"/>
          </a:xfrm>
          <a:prstGeom prst="rect">
            <a:avLst/>
          </a:prstGeom>
          <a:solidFill>
            <a:srgbClr val="AC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351541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+241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998871" y="3558844"/>
            <a:ext cx="614411" cy="124358"/>
          </a:xfrm>
          <a:prstGeom prst="rect">
            <a:avLst/>
          </a:prstGeom>
          <a:solidFill>
            <a:srgbClr val="AAD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98789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635228" y="3558844"/>
            <a:ext cx="614411" cy="124358"/>
          </a:xfrm>
          <a:prstGeom prst="rect">
            <a:avLst/>
          </a:prstGeom>
          <a:solidFill>
            <a:srgbClr val="A8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62425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271585" y="3558844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260613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+270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10907942" y="3558844"/>
            <a:ext cx="614411" cy="124358"/>
          </a:xfrm>
          <a:prstGeom prst="rect">
            <a:avLst/>
          </a:prstGeom>
          <a:solidFill>
            <a:srgbClr val="A2D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8969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04088" y="369417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2635300" y="3705148"/>
            <a:ext cx="614411" cy="124358"/>
          </a:xfrm>
          <a:prstGeom prst="rect">
            <a:avLst/>
          </a:prstGeom>
          <a:solidFill>
            <a:srgbClr val="C665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262432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-811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271657" y="3705148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26068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-583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908014" y="3705148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897042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544372" y="370514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533399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180729" y="3705148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169756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-328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817086" y="3705148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58061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-121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453443" y="37051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089800" y="3705148"/>
            <a:ext cx="614411" cy="124358"/>
          </a:xfrm>
          <a:prstGeom prst="rect">
            <a:avLst/>
          </a:prstGeom>
          <a:solidFill>
            <a:srgbClr val="D6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078827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+72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726157" y="3705148"/>
            <a:ext cx="614411" cy="124358"/>
          </a:xfrm>
          <a:prstGeom prst="rect">
            <a:avLst/>
          </a:prstGeom>
          <a:solidFill>
            <a:srgbClr val="D2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715184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362514" y="3705148"/>
            <a:ext cx="614411" cy="124358"/>
          </a:xfrm>
          <a:prstGeom prst="rect">
            <a:avLst/>
          </a:prstGeom>
          <a:solidFill>
            <a:srgbClr val="C9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351541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+120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8998871" y="3705148"/>
            <a:ext cx="614411" cy="124358"/>
          </a:xfrm>
          <a:prstGeom prst="rect">
            <a:avLst/>
          </a:prstGeom>
          <a:solidFill>
            <a:srgbClr val="C6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98789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9635228" y="3705148"/>
            <a:ext cx="614411" cy="124358"/>
          </a:xfrm>
          <a:prstGeom prst="rect">
            <a:avLst/>
          </a:prstGeom>
          <a:solidFill>
            <a:srgbClr val="C4DE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962425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271585" y="3705148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2606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+149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0907942" y="3705148"/>
            <a:ext cx="614411" cy="124358"/>
          </a:xfrm>
          <a:prstGeom prst="rect">
            <a:avLst/>
          </a:prstGeom>
          <a:solidFill>
            <a:srgbClr val="BD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896970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+167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04088" y="384048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2635300" y="3851452"/>
            <a:ext cx="614411" cy="124358"/>
          </a:xfrm>
          <a:prstGeom prst="rect">
            <a:avLst/>
          </a:prstGeom>
          <a:solidFill>
            <a:srgbClr val="C35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262432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-882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271657" y="3851452"/>
            <a:ext cx="614411" cy="124358"/>
          </a:xfrm>
          <a:prstGeom prst="rect">
            <a:avLst/>
          </a:prstGeom>
          <a:solidFill>
            <a:srgbClr val="CD7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26068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-654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3908014" y="3851452"/>
            <a:ext cx="614411" cy="124358"/>
          </a:xfrm>
          <a:prstGeom prst="rect">
            <a:avLst/>
          </a:prstGeom>
          <a:solidFill>
            <a:srgbClr val="D18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3897042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-557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44372" y="3851452"/>
            <a:ext cx="614411" cy="124358"/>
          </a:xfrm>
          <a:prstGeom prst="rect">
            <a:avLst/>
          </a:prstGeom>
          <a:solidFill>
            <a:srgbClr val="D28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4533399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-537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180729" y="3851452"/>
            <a:ext cx="614411" cy="124358"/>
          </a:xfrm>
          <a:prstGeom prst="rect">
            <a:avLst/>
          </a:prstGeom>
          <a:solidFill>
            <a:srgbClr val="D99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169756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-400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5817086" y="3851452"/>
            <a:ext cx="614411" cy="124358"/>
          </a:xfrm>
          <a:prstGeom prst="rect">
            <a:avLst/>
          </a:prstGeom>
          <a:solidFill>
            <a:srgbClr val="E5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58061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-192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6453443" y="3851452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4424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-72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7089800" y="38514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7726157" y="3851452"/>
            <a:ext cx="614411" cy="124358"/>
          </a:xfrm>
          <a:prstGeom prst="rect">
            <a:avLst/>
          </a:prstGeom>
          <a:solidFill>
            <a:srgbClr val="EC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715184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362514" y="3851452"/>
            <a:ext cx="614411" cy="124358"/>
          </a:xfrm>
          <a:prstGeom prst="rect">
            <a:avLst/>
          </a:prstGeom>
          <a:solidFill>
            <a:srgbClr val="DE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351541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998871" y="3851452"/>
            <a:ext cx="614411" cy="124358"/>
          </a:xfrm>
          <a:prstGeom prst="rect">
            <a:avLst/>
          </a:prstGeom>
          <a:solidFill>
            <a:srgbClr val="DB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98789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635228" y="3851452"/>
            <a:ext cx="614411" cy="124358"/>
          </a:xfrm>
          <a:prstGeom prst="rect">
            <a:avLst/>
          </a:prstGeom>
          <a:solidFill>
            <a:srgbClr val="D8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62425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271585" y="3851452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2606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+77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0907942" y="3851452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8969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704088" y="398678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2635300" y="3997756"/>
            <a:ext cx="614411" cy="124358"/>
          </a:xfrm>
          <a:prstGeom prst="rect">
            <a:avLst/>
          </a:prstGeom>
          <a:solidFill>
            <a:srgbClr val="C3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262432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-896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271657" y="3997756"/>
            <a:ext cx="614411" cy="124358"/>
          </a:xfrm>
          <a:prstGeom prst="rect">
            <a:avLst/>
          </a:prstGeom>
          <a:solidFill>
            <a:srgbClr val="CC7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26068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-668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3908014" y="3997756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3897042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-570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4544372" y="3997756"/>
            <a:ext cx="614411" cy="124358"/>
          </a:xfrm>
          <a:prstGeom prst="rect">
            <a:avLst/>
          </a:prstGeom>
          <a:solidFill>
            <a:srgbClr val="D2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4533399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180729" y="3997756"/>
            <a:ext cx="614411" cy="124358"/>
          </a:xfrm>
          <a:prstGeom prst="rect">
            <a:avLst/>
          </a:prstGeom>
          <a:solidFill>
            <a:srgbClr val="D89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169756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5817086" y="3997756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58061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-206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6453443" y="3997756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4424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089800" y="3997756"/>
            <a:ext cx="614411" cy="124358"/>
          </a:xfrm>
          <a:prstGeom prst="rect">
            <a:avLst/>
          </a:prstGeom>
          <a:solidFill>
            <a:srgbClr val="F4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7078827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7726157" y="39977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8362514" y="3997756"/>
            <a:ext cx="614411" cy="124358"/>
          </a:xfrm>
          <a:prstGeom prst="rect">
            <a:avLst/>
          </a:prstGeom>
          <a:solidFill>
            <a:srgbClr val="E3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51541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8998871" y="3997756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898789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9635228" y="3997756"/>
            <a:ext cx="614411" cy="124358"/>
          </a:xfrm>
          <a:prstGeom prst="rect">
            <a:avLst/>
          </a:prstGeom>
          <a:solidFill>
            <a:srgbClr val="DD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962425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271585" y="3997756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2606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+64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10907942" y="3997756"/>
            <a:ext cx="614411" cy="124358"/>
          </a:xfrm>
          <a:prstGeom prst="rect">
            <a:avLst/>
          </a:prstGeom>
          <a:solidFill>
            <a:srgbClr val="D3E5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108969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+81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704088" y="41330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2635300" y="4144060"/>
            <a:ext cx="614411" cy="124358"/>
          </a:xfrm>
          <a:prstGeom prst="rect">
            <a:avLst/>
          </a:prstGeom>
          <a:solidFill>
            <a:srgbClr val="C15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262432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-930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271657" y="4144060"/>
            <a:ext cx="614411" cy="124358"/>
          </a:xfrm>
          <a:prstGeom prst="rect">
            <a:avLst/>
          </a:prstGeom>
          <a:solidFill>
            <a:srgbClr val="CB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26068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-702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3908014" y="4144060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3897042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-605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4544372" y="4144060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4533399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180729" y="4144060"/>
            <a:ext cx="614411" cy="124358"/>
          </a:xfrm>
          <a:prstGeom prst="rect">
            <a:avLst/>
          </a:prstGeom>
          <a:solidFill>
            <a:srgbClr val="D795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169756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-448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5817086" y="4144060"/>
            <a:ext cx="614411" cy="124358"/>
          </a:xfrm>
          <a:prstGeom prst="rect">
            <a:avLst/>
          </a:prstGeom>
          <a:solidFill>
            <a:srgbClr val="E2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58061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-241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6453443" y="4144060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4424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-120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089800" y="4144060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078827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726157" y="4144060"/>
            <a:ext cx="614411" cy="124358"/>
          </a:xfrm>
          <a:prstGeom prst="rect">
            <a:avLst/>
          </a:prstGeom>
          <a:solidFill>
            <a:srgbClr val="F1E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7715184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8362514" y="41440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8998871" y="4144060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898789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9635228" y="4144060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962425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271585" y="4144060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2606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10907942" y="4144060"/>
            <a:ext cx="614411" cy="124358"/>
          </a:xfrm>
          <a:prstGeom prst="rect">
            <a:avLst/>
          </a:prstGeom>
          <a:solidFill>
            <a:srgbClr val="DF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08969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704088" y="427939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635300" y="4290364"/>
            <a:ext cx="614411" cy="124358"/>
          </a:xfrm>
          <a:prstGeom prst="rect">
            <a:avLst/>
          </a:prstGeom>
          <a:solidFill>
            <a:srgbClr val="C15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624328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-939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3271657" y="4290364"/>
            <a:ext cx="614411" cy="124358"/>
          </a:xfrm>
          <a:prstGeom prst="rect">
            <a:avLst/>
          </a:prstGeom>
          <a:solidFill>
            <a:srgbClr val="CA7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326068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-711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908014" y="4290364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3897042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-613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44372" y="4290364"/>
            <a:ext cx="614411" cy="124358"/>
          </a:xfrm>
          <a:prstGeom prst="rect">
            <a:avLst/>
          </a:prstGeom>
          <a:solidFill>
            <a:srgbClr val="D08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533399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-593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180729" y="4290364"/>
            <a:ext cx="614411" cy="124358"/>
          </a:xfrm>
          <a:prstGeom prst="rect">
            <a:avLst/>
          </a:prstGeom>
          <a:solidFill>
            <a:srgbClr val="D69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169756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817086" y="4290364"/>
            <a:ext cx="614411" cy="124358"/>
          </a:xfrm>
          <a:prstGeom prst="rect">
            <a:avLst/>
          </a:prstGeom>
          <a:solidFill>
            <a:srgbClr val="E1B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58061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-249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53443" y="4290364"/>
            <a:ext cx="614411" cy="124358"/>
          </a:xfrm>
          <a:prstGeom prst="rect">
            <a:avLst/>
          </a:prstGeom>
          <a:solidFill>
            <a:srgbClr val="E9C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24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-128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089800" y="4290364"/>
            <a:ext cx="614411" cy="124358"/>
          </a:xfrm>
          <a:prstGeom prst="rect">
            <a:avLst/>
          </a:prstGeom>
          <a:solidFill>
            <a:srgbClr val="EF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7078827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-57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726157" y="4290364"/>
            <a:ext cx="614411" cy="124358"/>
          </a:xfrm>
          <a:prstGeom prst="rect">
            <a:avLst/>
          </a:prstGeom>
          <a:solidFill>
            <a:srgbClr val="F0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715184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-43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362514" y="4290364"/>
            <a:ext cx="614411" cy="124358"/>
          </a:xfrm>
          <a:prstGeom prst="rect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51541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998871" y="42903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35228" y="4290364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62425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271585" y="4290364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2606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+21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07942" y="4290364"/>
            <a:ext cx="614411" cy="124358"/>
          </a:xfrm>
          <a:prstGeom prst="rect">
            <a:avLst/>
          </a:prstGeom>
          <a:solidFill>
            <a:srgbClr val="E2E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8969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04088" y="44256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2635300" y="4436668"/>
            <a:ext cx="614411" cy="124358"/>
          </a:xfrm>
          <a:prstGeom prst="rect">
            <a:avLst/>
          </a:prstGeom>
          <a:solidFill>
            <a:srgbClr val="C15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262432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-948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271657" y="4436668"/>
            <a:ext cx="614411" cy="124358"/>
          </a:xfrm>
          <a:prstGeom prst="rect">
            <a:avLst/>
          </a:prstGeom>
          <a:solidFill>
            <a:srgbClr val="CA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3260685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-720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908014" y="4436668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3897042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-623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544372" y="4436668"/>
            <a:ext cx="614411" cy="124358"/>
          </a:xfrm>
          <a:prstGeom prst="rect">
            <a:avLst/>
          </a:prstGeom>
          <a:solidFill>
            <a:srgbClr val="CF80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533399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-603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5180729" y="443666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5169756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-466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5817086" y="4436668"/>
            <a:ext cx="614411" cy="124358"/>
          </a:xfrm>
          <a:prstGeom prst="rect">
            <a:avLst/>
          </a:prstGeom>
          <a:solidFill>
            <a:srgbClr val="E1B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58061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-258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6453443" y="4436668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4424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089800" y="4436668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7078827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726157" y="4436668"/>
            <a:ext cx="614411" cy="124358"/>
          </a:xfrm>
          <a:prstGeom prst="rect">
            <a:avLst/>
          </a:prstGeom>
          <a:solidFill>
            <a:srgbClr val="EF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7715184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362514" y="4436668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351541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998871" y="4436668"/>
            <a:ext cx="614411" cy="124358"/>
          </a:xfrm>
          <a:prstGeom prst="rect">
            <a:avLst/>
          </a:prstGeom>
          <a:solidFill>
            <a:srgbClr val="F4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8789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635228" y="44366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271585" y="4436668"/>
            <a:ext cx="614411" cy="124358"/>
          </a:xfrm>
          <a:prstGeom prst="rect">
            <a:avLst/>
          </a:prstGeom>
          <a:solidFill>
            <a:srgbClr val="EE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2606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10907942" y="4436668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8969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04088" y="45720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2635300" y="4582972"/>
            <a:ext cx="614411" cy="124358"/>
          </a:xfrm>
          <a:prstGeom prst="rect">
            <a:avLst/>
          </a:prstGeom>
          <a:solidFill>
            <a:srgbClr val="C05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62432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-960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271657" y="4582972"/>
            <a:ext cx="614411" cy="124358"/>
          </a:xfrm>
          <a:prstGeom prst="rect">
            <a:avLst/>
          </a:prstGeom>
          <a:solidFill>
            <a:srgbClr val="CA6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326068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-731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908014" y="4582972"/>
            <a:ext cx="614411" cy="124358"/>
          </a:xfrm>
          <a:prstGeom prst="rect">
            <a:avLst/>
          </a:prstGeom>
          <a:solidFill>
            <a:srgbClr val="CE7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897042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-634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4544372" y="4582972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4533399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-614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180729" y="4582972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169756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-477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5817086" y="4582972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5806113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-270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453443" y="4582972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4424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-149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089800" y="4582972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7078827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-77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7726157" y="4582972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7715184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-64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2514" y="4582972"/>
            <a:ext cx="614411" cy="124358"/>
          </a:xfrm>
          <a:prstGeom prst="rect">
            <a:avLst/>
          </a:prstGeom>
          <a:solidFill>
            <a:srgbClr val="F2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351541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8998871" y="4582972"/>
            <a:ext cx="614411" cy="124358"/>
          </a:xfrm>
          <a:prstGeom prst="rect">
            <a:avLst/>
          </a:prstGeom>
          <a:solidFill>
            <a:srgbClr val="F3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898789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-21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9635228" y="4582972"/>
            <a:ext cx="614411" cy="124358"/>
          </a:xfrm>
          <a:prstGeom prst="rect">
            <a:avLst/>
          </a:prstGeom>
          <a:solidFill>
            <a:srgbClr val="F4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962425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0271585" y="45829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907942" y="45829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08969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704088" y="47183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  <a:r>
              <a:rPr sz="650" b="0">
                <a:solidFill>
                  <a:srgbClr val="9A958C"/>
                </a:solidFill>
                <a:latin typeface="Helvetica Neue"/>
              </a:rPr>
              <a:t>  · ya tiene tren hoy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2635300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62432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-977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71657" y="4729276"/>
            <a:ext cx="614411" cy="124358"/>
          </a:xfrm>
          <a:prstGeom prst="rect">
            <a:avLst/>
          </a:prstGeom>
          <a:solidFill>
            <a:srgbClr val="C96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326068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-749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3908014" y="4729276"/>
            <a:ext cx="614411" cy="124358"/>
          </a:xfrm>
          <a:prstGeom prst="rect">
            <a:avLst/>
          </a:prstGeom>
          <a:solidFill>
            <a:srgbClr val="CD79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3897042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-652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544372" y="4729276"/>
            <a:ext cx="614411" cy="124358"/>
          </a:xfrm>
          <a:prstGeom prst="rect">
            <a:avLst/>
          </a:prstGeom>
          <a:solidFill>
            <a:srgbClr val="CE7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4533399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-632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180729" y="4729276"/>
            <a:ext cx="614411" cy="124358"/>
          </a:xfrm>
          <a:prstGeom prst="rect">
            <a:avLst/>
          </a:prstGeom>
          <a:solidFill>
            <a:srgbClr val="D4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9756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-495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17086" y="4729276"/>
            <a:ext cx="614411" cy="124358"/>
          </a:xfrm>
          <a:prstGeom prst="rect">
            <a:avLst/>
          </a:prstGeom>
          <a:solidFill>
            <a:srgbClr val="DFA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8061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-287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453443" y="4729276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442470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-167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089800" y="4729276"/>
            <a:ext cx="614411" cy="124358"/>
          </a:xfrm>
          <a:prstGeom prst="rect">
            <a:avLst/>
          </a:prstGeom>
          <a:solidFill>
            <a:srgbClr val="ECD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7078827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-95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26157" y="4729276"/>
            <a:ext cx="614411" cy="124358"/>
          </a:xfrm>
          <a:prstGeom prst="rect">
            <a:avLst/>
          </a:prstGeom>
          <a:solidFill>
            <a:srgbClr val="EDD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7715184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-81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362514" y="4729276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351541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8998871" y="4729276"/>
            <a:ext cx="614411" cy="124358"/>
          </a:xfrm>
          <a:prstGeom prst="rect">
            <a:avLst/>
          </a:prstGeom>
          <a:solidFill>
            <a:srgbClr val="F1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898789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635228" y="4729276"/>
            <a:ext cx="614411" cy="124358"/>
          </a:xfrm>
          <a:prstGeom prst="rect">
            <a:avLst/>
          </a:prstGeom>
          <a:solidFill>
            <a:srgbClr val="F2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962425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271585" y="4729276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102606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10907942" y="47292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58368" y="4974336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El tiempo ahorrado se valoriza al VTC de MIDESO y se capitaliza (lámina anterior). NOS ya cuenta con tren hoy: su ventaja ferroviaria está en sus tiempos actuales, no en este diferencial.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Frente a las zonas sin estación nueva, el tren agrega cerca de 977 UF a Batuco y 652 a Estación Colina. Es el argumento de precio que responde al costo del auto de Batuco.</a:t>
            </a:r>
          </a:p>
        </p:txBody>
      </p:sp>
      <p:cxnSp>
        <p:nvCxnSpPr>
          <p:cNvPr id="419" name="Connector 4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POSICIÓN POR PRODUCTO · COSTO DE MANEJAR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En costo de manejar no lideramos: la Autopista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acerca a Batuco en tiempo, no en gasto.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COSTO MENSUAL DE MANEJAR (BENCINA + TAG), CON LA AUTOPISTA · EN MILES DE PESOS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8 zonas compiten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391" y="2768803"/>
            <a:ext cx="2852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24395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3391" y="2992831"/>
            <a:ext cx="425802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4914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$282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93391" y="3216859"/>
            <a:ext cx="428854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7966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1" y="3440887"/>
            <a:ext cx="441130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0242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1" y="3664915"/>
            <a:ext cx="53264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71753" y="364388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93391" y="3888943"/>
            <a:ext cx="543184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82296" y="386791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$360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09194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09194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93391" y="4112971"/>
            <a:ext cx="65424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93353" y="409194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$434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31596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431596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93391" y="4336999"/>
            <a:ext cx="748207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7319" y="4315968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$496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299383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54831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CASAS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4831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13 zonas compiten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4831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74287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89855" y="2768803"/>
            <a:ext cx="285283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20859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$189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54831" y="292502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74287" y="292502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89855" y="2946056"/>
            <a:ext cx="29663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32206" y="292502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54831" y="310227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4287" y="310227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89855" y="3123309"/>
            <a:ext cx="335868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71444" y="310227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54831" y="327953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4287" y="327953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89855" y="3300561"/>
            <a:ext cx="353349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88925" y="327953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$234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54831" y="3456783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74287" y="3456783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89855" y="3477814"/>
            <a:ext cx="396082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31658" y="3456783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$263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54831" y="363403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74287" y="363403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89855" y="3655067"/>
            <a:ext cx="425802" cy="8124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61377" y="363403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$282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54831" y="3811289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4287" y="3811289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89855" y="3832320"/>
            <a:ext cx="428854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4430" y="3811289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$284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54831" y="398854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74287" y="398854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89855" y="4009573"/>
            <a:ext cx="44113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76705" y="398854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$293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54831" y="4165795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74287" y="4165795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89855" y="4186826"/>
            <a:ext cx="516037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51613" y="4165795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54831" y="434304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74287" y="434304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89855" y="4364079"/>
            <a:ext cx="532641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68217" y="4343048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$353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54831" y="4520301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74287" y="4520301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789855" y="4541332"/>
            <a:ext cx="654241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9817" y="4520301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$434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54831" y="469755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74287" y="469755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89855" y="4718585"/>
            <a:ext cx="684108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19684" y="469755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$454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54831" y="487480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74287" y="487480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89855" y="4895838"/>
            <a:ext cx="748207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583783" y="487480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$496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095847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251295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51295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4 zonas compiten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51295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70751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586319" y="2768803"/>
            <a:ext cx="392962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025002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$189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51295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70751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86319" y="2992831"/>
            <a:ext cx="545582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7621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$263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1295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70751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86319" y="3216859"/>
            <a:ext cx="586519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218559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$282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51295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70751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86319" y="3440887"/>
            <a:ext cx="748207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380247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$360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892311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9047759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EDIFICIOS · 4 PISOS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47759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6 zonas compiten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47759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267215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382783" y="2768803"/>
            <a:ext cx="392962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821466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$189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47759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67215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382783" y="2992831"/>
            <a:ext cx="545582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974085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$263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047759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267215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382783" y="3216859"/>
            <a:ext cx="586519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1015023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$282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47759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267215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382783" y="3440887"/>
            <a:ext cx="590724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019227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47759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267215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382783" y="3664915"/>
            <a:ext cx="60763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036136" y="364388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$293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47759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67215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382783" y="3888943"/>
            <a:ext cx="748207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1176711" y="386791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$360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Autopista casi no cambia el gasto: Batuco queda 6º de 8 en DS19 y último en townhouses y edificios; Estación Colina es 2ª en DS19 y 3ª en townhouses y edificios. En costo de auto mandan las zonas del poniente.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POSICIÓN POR PRODUCTO · COSTO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Con el tren, el costo de transporte público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sigue alto: la brecha que cierra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COSTO MENSUAL DE TRANSPORTE PÚBLICO CON EL TREN, SIN INTEGRACIÓN A RED · EN MILES DE PESOS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8 zonas compiten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391" y="2768803"/>
            <a:ext cx="216380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5492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3391" y="2992831"/>
            <a:ext cx="216380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492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93391" y="3216859"/>
            <a:ext cx="216380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5492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1" y="3440887"/>
            <a:ext cx="500543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39655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1" y="3664915"/>
            <a:ext cx="50228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41393" y="364388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93391" y="3888943"/>
            <a:ext cx="533275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72387" y="386791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09194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09194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93391" y="4112971"/>
            <a:ext cx="533275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72387" y="409194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31596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431596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93391" y="4336999"/>
            <a:ext cx="748207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7319" y="4315968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$126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299383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54831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CASAS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4831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13 zonas compiten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4831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74287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89855" y="2768803"/>
            <a:ext cx="2163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51956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54831" y="292502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74287" y="292502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89855" y="2946056"/>
            <a:ext cx="2163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51956" y="292502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54831" y="310227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4287" y="310227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89855" y="3123309"/>
            <a:ext cx="2163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51956" y="310227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54831" y="327953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4287" y="327953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89855" y="3300561"/>
            <a:ext cx="2163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51956" y="327953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54831" y="3456783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74287" y="3456783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89855" y="3477814"/>
            <a:ext cx="21638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51956" y="3456783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54831" y="363403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74287" y="363403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89855" y="3655067"/>
            <a:ext cx="479107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14683" y="363403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54831" y="3811289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4287" y="3811289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89855" y="3832320"/>
            <a:ext cx="500543" cy="8124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36118" y="3811289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$84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54831" y="398854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74287" y="398854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89855" y="4009573"/>
            <a:ext cx="502281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37856" y="398854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$85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54831" y="4165795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74287" y="4165795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89855" y="4186826"/>
            <a:ext cx="50315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38725" y="4165795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54831" y="434304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74287" y="434304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89855" y="4364079"/>
            <a:ext cx="50315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38725" y="4343048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54831" y="4520301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74287" y="4520301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789855" y="4541332"/>
            <a:ext cx="533275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368851" y="4520301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$90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54831" y="469755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74287" y="469755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89855" y="4718585"/>
            <a:ext cx="55529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90865" y="469755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$94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54831" y="487480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74287" y="487480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89855" y="4895838"/>
            <a:ext cx="748207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583783" y="487480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$126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095847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251295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51295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4 zonas compiten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51295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70751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586319" y="2768803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35630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51295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70751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86319" y="2992831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35630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1295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70751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86319" y="3216859"/>
            <a:ext cx="702283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34322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$84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51295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70751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86319" y="3440887"/>
            <a:ext cx="748207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380247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$90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892311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9047759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EDIFICIOS · 4 PISOS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47759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6 zonas compiten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47759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267215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382783" y="2768803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732094" y="274777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47759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67215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382783" y="2992831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732094" y="2971800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047759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267215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382783" y="3216859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732094" y="3195827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47759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267215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382783" y="3440887"/>
            <a:ext cx="3035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732094" y="34198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$37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47759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267215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382783" y="3664915"/>
            <a:ext cx="702283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130786" y="3643884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47759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67215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382783" y="3888943"/>
            <a:ext cx="748207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1176711" y="3867912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$90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Las zonas integradas a RED pagan $37 mil; las nuestras, entre $84 y $90 mil: Estación Colina 4ª de 8 y Batuco 6º en DS19. Integrarse a RED (lámina 19) cierra esa brecha con un trámite, no con una obra.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 y Estación Colina: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posición en cada indicador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604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432303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5786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7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967227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999232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con la Autopista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6º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6E6A64"/>
                </a:solidFill>
                <a:latin typeface="Helvetica Neue"/>
              </a:rPr>
              <a:t>8º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387851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9856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costo de manejar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7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3808476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3840480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5º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229100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61104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con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5º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649724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46817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12º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Perfiles complementarios: Batuco es el que más gana con la infraestructura en construcción; Estación Colina ya es competitiva hoy sin depender de obra alguna.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DEBILIDADES Y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Tres debilidades del caso,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tres respuestas concretas.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08976" y="2359151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La Autopista lo acerca y el tren reduce su dependencia del auto.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cada tramo por separado, sin bip! integrado.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329183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6" y="3291839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depende de nosotros.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Autopista y los trenes están en construcción (2028 a 2030), no operando hoy.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6368" y="42245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4224528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Se respalda con el cronograma oficial de EFE y del MOP.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estructural: dos se resuelven con obras ya en construcción y la tercera, la integración a RED, depende de nuestra gestión.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Integrar Batuco y Estación Colina a RED: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gestión que depende de nosotros.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3977639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2407" y="256946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≈ $103 mil/mes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410324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5092" y="343814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9E6E"/>
                </a:solidFill>
                <a:latin typeface="Helvetica Neue"/>
              </a:rPr>
              <a:t>≈ $37 mil/mes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9592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Caso de referencia: viaje diario a Metro Tobalaba; tarifa integrada de una zona RED comparable.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9E6E"/>
                </a:solidFill>
                <a:latin typeface="Helvetica Neue"/>
              </a:rPr>
              <a:t>65% menos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competitiva, y no depende de esperar a 2030.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recomendación central: gestionar la integración a RED. Baja el costo, sube el atractivo y depende de nosotros, no de una obra por construir.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IMPLICANCIAS PARA MODELA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Producto, precio y estrategia comercial: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las decisiones que abre el estudio.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Densificar donde la conectividad futura sube el techo de valor (Batuco, con Autopista y tren).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Estación Colina admite DS19, townhouse y edificio: producto para el que valora ubicación.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PRECIO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La conectividad justifica sobreprecio en UF, o una mejor propuesta a igual precio.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5754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Fijar precio contra las comparables del corredor, no contra el promedio de la 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3140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3140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Respaldar el argumento futuro con el cronograma oficial de la Autopista y de los trenes.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3140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Batuco es tesis de plusvalía; Estación Colina, conectividad ya disponible.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conectividad deja de ser un dato del estudio: define el pricing, la mezcla de producto y el relato de venta.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20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Seis conclusiones para decidir.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Colina,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En la mitad más rápida sin depender de obra futura: 6º de 14 en auto y 5º en transporte público.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Batuco, con infraestructura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De 11º a 3º en auto con la Autopista, y de 11º a 2º en transporte público con el tren.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diferencial del tren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Frente a las zonas sin estación nueva: +977 UF en Batuco y +652 en Estación Colina.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costo de manejar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Acota el sobreprecio de Batuco por auto. Su argumento de precio es el tren, no el auto.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Integración a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Reduce el costo mensual de transporte público en 65%. Es gestión, no obra.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Pricing por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Capturar el diferencial en UF, o mantener precio competitivo y convertirlo en velocidad de venta.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 y líderes del corredor con la infraestructura en construcción. La decisión que solo depende de nosotros: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21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ANEXO · 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Cómo se construyó el modelo: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dato real, criterio conservador.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MEDICIÓN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Puerta a puerta a las 07:00, hora punta: caminata, espera, transbordos y llegada al destino incluidos.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3975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63975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6855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AUTO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855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Google Directions API con tráfico de hora punta; bencina por kilómetro y peajes TAG pórtico a pórtico.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9583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9583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2463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RED URBANA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2463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Recorridos y tarifas de RED (bip!) levantados de las fuentes oficiales del sistema (GTFS).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75191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75191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071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INTERURBANO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071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Micros rurales verificadas parada a parada en Moovit y contra los operadores.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TRENES Y AUTOPISTA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Trazados, estaciones y cronogramas oficiales de EFE y del MOP para el escenario futuro.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63975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63975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46855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VALOR DEL TIEMPO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46855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MIDESO, Precios Sociales 2025: VTC de $3.846 por hora de viaje al trabajo.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9583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9583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2463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CRITERIO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2463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Conservador: esperas y frecuencias completas y, ante alternativas dudosas, la más desfavorable en tiempo. Lo no verificable se declara.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5191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75191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58071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SELECCIÓN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8071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Zonas: la competencia periférica y pericentral del corredor. Destinos: trabajo, estudio, salud, comercio y aeropuerto.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Cada cifra del deck es trazable a su fuente: dato real donde existe, proyección transparente donde aún no. Si un dato no es verificable, no se usa.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