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zona, y el veredicto para nuestros proyectos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sobre la zona peor conectada, Estación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La conectividad decide dónde se vive: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pesa en tiempo, en costo y en valor.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entre $430 y $750 mil al mes (seguro, cuota, permiso, mantención, bencina y TAG):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 en sobreprecio, o en una mejor propuesta al mismo precio. Y es medible, zona por zona.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cuesta, en tiempo y en dinero,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14 zonas de origen y 9 destinos,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medidos puerta a puerta.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837944"/>
            <a:ext cx="2446632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20240"/>
            <a:ext cx="2282040" cy="3255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32644" y="3299399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2644" y="3299399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5697582" y="3413333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97582" y="3413333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216" y="2957596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216" y="2957596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87752" y="304982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7752" y="304982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4773" y="3521842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4773" y="3521842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5377" y="3136635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5377" y="3136635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40" y="3207166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40" y="3207166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7729" y="316918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7729" y="316918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9664" y="297929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664" y="297929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25" name="Oval 24"/>
          <p:cNvSpPr/>
          <p:nvPr/>
        </p:nvSpPr>
        <p:spPr>
          <a:xfrm>
            <a:off x="4963986" y="2293000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3986" y="2287514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5148677" y="2546314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677" y="254082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5239456" y="277516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9456" y="276967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4692762" y="2600681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2762" y="259519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5312626" y="264191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12626" y="263642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5145754" y="22059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5754" y="220046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7" name="Oval 36"/>
          <p:cNvSpPr/>
          <p:nvPr/>
        </p:nvSpPr>
        <p:spPr>
          <a:xfrm>
            <a:off x="5359716" y="217912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59716" y="217363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39" name="Oval 38"/>
          <p:cNvSpPr/>
          <p:nvPr/>
        </p:nvSpPr>
        <p:spPr>
          <a:xfrm>
            <a:off x="5730547" y="209340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30547" y="208791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41" name="Oval 40"/>
          <p:cNvSpPr/>
          <p:nvPr/>
        </p:nvSpPr>
        <p:spPr>
          <a:xfrm>
            <a:off x="5536302" y="1996016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36302" y="1990529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43" name="Oval 42"/>
          <p:cNvSpPr/>
          <p:nvPr/>
        </p:nvSpPr>
        <p:spPr>
          <a:xfrm>
            <a:off x="4895927" y="3085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5927" y="3080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45" name="Oval 44"/>
          <p:cNvSpPr/>
          <p:nvPr/>
        </p:nvSpPr>
        <p:spPr>
          <a:xfrm>
            <a:off x="6364900" y="4184910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900" y="4179423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11</a:t>
            </a:r>
          </a:p>
        </p:txBody>
      </p:sp>
      <p:sp>
        <p:nvSpPr>
          <p:cNvPr id="47" name="Oval 46"/>
          <p:cNvSpPr/>
          <p:nvPr/>
        </p:nvSpPr>
        <p:spPr>
          <a:xfrm>
            <a:off x="4905119" y="404710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5119" y="404161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12</a:t>
            </a:r>
          </a:p>
        </p:txBody>
      </p:sp>
      <p:sp>
        <p:nvSpPr>
          <p:cNvPr id="49" name="Oval 48"/>
          <p:cNvSpPr/>
          <p:nvPr/>
        </p:nvSpPr>
        <p:spPr>
          <a:xfrm>
            <a:off x="5312807" y="4966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2807" y="4961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13</a:t>
            </a:r>
          </a:p>
        </p:txBody>
      </p:sp>
      <p:sp>
        <p:nvSpPr>
          <p:cNvPr id="51" name="Oval 50"/>
          <p:cNvSpPr/>
          <p:nvPr/>
        </p:nvSpPr>
        <p:spPr>
          <a:xfrm>
            <a:off x="5570714" y="436449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0714" y="435900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219913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2196388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pic>
        <p:nvPicPr>
          <p:cNvPr id="56" name="Picture 55" descr="d_tobal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132"/>
            <a:ext cx="201168" cy="201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80160" y="21717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233629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521000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2518257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pic>
        <p:nvPicPr>
          <p:cNvPr id="61" name="Picture 60" descr="d_cen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21000"/>
            <a:ext cx="201168" cy="20116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80160" y="24935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2658160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2842869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2840126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pic>
        <p:nvPicPr>
          <p:cNvPr id="66" name="Picture 65" descr="near_indus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842869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280160" y="281543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0160" y="2980029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3164738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3161995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pic>
        <p:nvPicPr>
          <p:cNvPr id="71" name="Picture 70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64738"/>
            <a:ext cx="201168" cy="20116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80160" y="313730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80160" y="3301898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368" y="3486607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3483864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pic>
        <p:nvPicPr>
          <p:cNvPr id="76" name="Picture 75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486607"/>
            <a:ext cx="201168" cy="20116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280160" y="345917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80160" y="3623767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8368" y="3808476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3805732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pic>
        <p:nvPicPr>
          <p:cNvPr id="81" name="Picture 80" descr="d_aeropuer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8084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280160" y="37810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80160" y="3945636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4130344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8368" y="4127601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pic>
        <p:nvPicPr>
          <p:cNvPr id="86" name="Picture 85" descr="near_hospit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130344"/>
            <a:ext cx="201168" cy="20116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280160" y="41029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80160" y="4267504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8368" y="4452213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58368" y="4449470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pic>
        <p:nvPicPr>
          <p:cNvPr id="91" name="Picture 90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52213"/>
            <a:ext cx="201168" cy="20116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1280160" y="442478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4589373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8368" y="477408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4771339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pic>
        <p:nvPicPr>
          <p:cNvPr id="96" name="Picture 95" descr="near_m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774082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280160" y="474665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80160" y="491124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1583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100" name="Oval 99"/>
          <p:cNvSpPr/>
          <p:nvPr/>
        </p:nvSpPr>
        <p:spPr>
          <a:xfrm>
            <a:off x="8110727" y="2199132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39327" y="21854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2" name="Oval 101"/>
          <p:cNvSpPr/>
          <p:nvPr/>
        </p:nvSpPr>
        <p:spPr>
          <a:xfrm>
            <a:off x="8110727" y="2403043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39327" y="2389327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4" name="Oval 103"/>
          <p:cNvSpPr/>
          <p:nvPr/>
        </p:nvSpPr>
        <p:spPr>
          <a:xfrm>
            <a:off x="8124444" y="262067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39327" y="259323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6" name="Oval 105"/>
          <p:cNvSpPr/>
          <p:nvPr/>
        </p:nvSpPr>
        <p:spPr>
          <a:xfrm>
            <a:off x="8124444" y="282458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39327" y="279714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08" name="Oval 107"/>
          <p:cNvSpPr/>
          <p:nvPr/>
        </p:nvSpPr>
        <p:spPr>
          <a:xfrm>
            <a:off x="8124444" y="302849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39327" y="30010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10" name="Oval 109"/>
          <p:cNvSpPr/>
          <p:nvPr/>
        </p:nvSpPr>
        <p:spPr>
          <a:xfrm>
            <a:off x="8124444" y="323240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39327" y="320497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2" name="Oval 111"/>
          <p:cNvSpPr/>
          <p:nvPr/>
        </p:nvSpPr>
        <p:spPr>
          <a:xfrm>
            <a:off x="8124444" y="3436315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39327" y="3408883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14" name="Oval 113"/>
          <p:cNvSpPr/>
          <p:nvPr/>
        </p:nvSpPr>
        <p:spPr>
          <a:xfrm>
            <a:off x="8124444" y="3640226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39327" y="3612794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16" name="Oval 115"/>
          <p:cNvSpPr/>
          <p:nvPr/>
        </p:nvSpPr>
        <p:spPr>
          <a:xfrm>
            <a:off x="8124444" y="3844137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39327" y="3816705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18" name="Oval 117"/>
          <p:cNvSpPr/>
          <p:nvPr/>
        </p:nvSpPr>
        <p:spPr>
          <a:xfrm>
            <a:off x="8124444" y="404804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39327" y="40206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0" name="Oval 119"/>
          <p:cNvSpPr/>
          <p:nvPr/>
        </p:nvSpPr>
        <p:spPr>
          <a:xfrm>
            <a:off x="8124444" y="425196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339327" y="422452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22" name="Oval 121"/>
          <p:cNvSpPr/>
          <p:nvPr/>
        </p:nvSpPr>
        <p:spPr>
          <a:xfrm>
            <a:off x="8124444" y="445587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39327" y="44284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4" name="Oval 123"/>
          <p:cNvSpPr/>
          <p:nvPr/>
        </p:nvSpPr>
        <p:spPr>
          <a:xfrm>
            <a:off x="8124444" y="465978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39327" y="463235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26" name="Oval 125"/>
          <p:cNvSpPr/>
          <p:nvPr/>
        </p:nvSpPr>
        <p:spPr>
          <a:xfrm>
            <a:off x="8124444" y="486369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339327" y="4836261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8110727" y="5159044"/>
            <a:ext cx="201169" cy="0"/>
          </a:xfrm>
          <a:prstGeom prst="line">
            <a:avLst/>
          </a:prstGeom>
          <a:ln w="38100">
            <a:solidFill>
              <a:srgbClr val="6E9E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8403336" y="507674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Corredores de tren: Batuco y Melipilla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medición es puerta a puerta y en hora punta: red vial y tarifas reales para el escenario de hoy, y los trenes y la Autopista en construcción como escenario futuro.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corre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Hoy, en auto, Estación Colina corre en la mitad más rápida de las 14 zonas y Batuco es 11º. La Autopista corrige exactamente esa debilidad.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tarifa sin integrar a RED encarece 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de nuestros proyectos.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cada tramo por separado, sin bip! integrado.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Sin integración a RED pagan cada tramo por separado: Estación Colina queda 12ª de 14 en costo y Batuco 8º. Es una debilidad corregible por gestión (lámina 15).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rápido pero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162171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4" name="Oval 13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6" name="Oval 15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8" name="Oval 17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0" name="Oval 19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2" name="Oval 21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24" name="Oval 23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Oval 25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28" name="Oval 27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0" name="Oval 29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2" name="Oval 31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34" name="Oval 33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6" name="Oval 35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38" name="Oval 37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0" name="Oval 39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 se acerca con la Autopista en tiempo, no en costo.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244291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26841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Su diferencial de precio está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8053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8368" y="309798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FILA justifica por sobre la COLUMNA, solo por el tiempo que el tren le ahorra (valorizado al VTC de MIDESO y capitalizado). NOS ya cuenta con tren hoy: su ventaja ferroviaria está en sus tiempos actuales, no en este diferencial.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Por producto, Estación Colina es 2ª en tres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cuatro segmentos; Batuco depende del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MINUTOS PROMEDIO EN AUTO, PUERTA A PUERTA, HOY · EN ORO, NUESTROS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7808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0993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5219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092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74007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6944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8555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60987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48986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62921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68323" y="409194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3895" y="431596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31894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54521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39717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32746" y="292502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44375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79330" y="310227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45430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89878" y="327953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458696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94272" y="3456783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71881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07456" y="363403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5219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57556" y="3811289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53489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70471" y="398854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6944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05019" y="4165795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60987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5450" y="434304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64766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3244" y="4520301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73204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67623" y="469755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847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0359" y="487480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4917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23780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505875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37914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67453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06579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6823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87200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900384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63398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62921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57714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73204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60550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213287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es 2ª en DS19, townhouses y edificios, y 6ª de 13 en casas. Batuco es 3º de 4 en townhouses, 4º de 6 en edificios y 7º de 8 en DS19: su argumento de precio es el tren.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DEBILIDADES Y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debilidades del diagnóstico,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respuestas concretas.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8976" y="2359151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La Autopista lo acerca y el tren reduce su dependencia del auto.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cada tramo por separado, sin bip! integrado.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3291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6" y="3291839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Autopista y los trenes están en construcción (2028 a 2030), no operando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4224528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Se respalda con el cronograma oficial de EFE y del MOP.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estructural: dos se resuelven con obras ya en construcción y la tercera, la integración a RED, depende de nuestra gestión.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 y está bajo nuestra influencia, no la de una autopista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Producto, precio y estrategia comercial: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las decisiones que abre el estudio.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(Batuco, con Autopista y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UF, o una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las comparables del corredor, no contra el promedio de la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Respaldar el argumento futuro con el cronograma oficial de la Autopista y de los trenes.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es tesis de plusvalía; Estación Colina,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define el pricing, la mezcla de producto y el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Fijar precio contra las comparables de cada producto, con el diferencial en UF de referencia.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