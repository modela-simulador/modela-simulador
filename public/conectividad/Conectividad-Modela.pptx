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¿Por qué la conectividad decide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dónde se vive?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Cada hora diaria de viaje es tiempo que no se vive. La accesibilidad define la calidad de vida antes que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Mantener y usar un auto pesa más que la vivienda misma. Buena conectividad libera ese gasto — y ese ahorro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zona mejor conectada vale más. La conectividad justifica sobreprecio, o una mejor propuesta al mismo precio.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 —en tiempo y en dinero—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Cómo lo medimos: dato real donde existe,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modelo transparente donde aún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Tiempo y costo puerta a puerta, en hora punta, de 14 zonas a los 9 destinos que más pesan. Nunca inventamos calles ni tarifas: si un dato no es verificable, se declara.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GOOGLE DIRECTIONS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Tiempos reales de la red que hoy existe, con tráfico (criterio conservador).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8547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6854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971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MODELO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971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Proyecciones: Tren Batuco, Tren Melipilla y autopista Orbital.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989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MIDESO / MDSF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989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Valor social del tiempo — Precios Sociales 2025, no un sueldo elegido.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8907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8890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07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EFE · GTFS · OSM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07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Trazados y tarifas de trenes, red RED (bip!) y red vial real.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Híbrido honesto: Google mide lo que existe; el modelo proyecta lo que viene; el Estado (MIDESO) pone el valor del tiempo.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14 zonas del norte y sur, contra los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destinos que mueven una vida.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74519"/>
            <a:ext cx="5132527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9105739" y="3279806"/>
            <a:ext cx="6671" cy="58774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9010481" y="3129017"/>
            <a:ext cx="95258" cy="150789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8844902" y="2946595"/>
            <a:ext cx="165579" cy="18242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8677463" y="2861413"/>
            <a:ext cx="167439" cy="8518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8457529" y="2749431"/>
            <a:ext cx="219934" cy="11198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136541" y="2585705"/>
            <a:ext cx="320988" cy="163726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7655660" y="2340752"/>
            <a:ext cx="480881" cy="244953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380436" y="3239571"/>
            <a:ext cx="128016" cy="128016"/>
          </a:xfrm>
          <a:prstGeom prst="ellipse">
            <a:avLst/>
          </a:prstGeom>
          <a:solidFill>
            <a:srgbClr val="6E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41524" y="3395019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Santiago</a:t>
            </a:r>
          </a:p>
        </p:txBody>
      </p:sp>
      <p:sp>
        <p:nvSpPr>
          <p:cNvPr id="15" name="Oval 14"/>
          <p:cNvSpPr/>
          <p:nvPr/>
        </p:nvSpPr>
        <p:spPr>
          <a:xfrm>
            <a:off x="7555471" y="2262004"/>
            <a:ext cx="182880" cy="182880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01573" y="2489921"/>
            <a:ext cx="182880" cy="182880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3244" y="27159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92763" y="255895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9978" y="259605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99423" y="210253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719" y="217966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31635" y="3984357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05688" y="3860367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90416" y="468763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30244" y="20149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83487" y="29952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88140" y="225728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13362" y="414593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605" y="238019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1503" y="2152276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084831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5" y="243230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Trabajo (Metro Tobalaba)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7294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27294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0266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5" y="30266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3238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33238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362102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5" y="362102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182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391820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Aeropuerto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42153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5" y="42153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125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125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8097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5" y="48097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50" name="Oval 49"/>
          <p:cNvSpPr/>
          <p:nvPr/>
        </p:nvSpPr>
        <p:spPr>
          <a:xfrm>
            <a:off x="6487668" y="5015483"/>
            <a:ext cx="118872" cy="118872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02552" y="502920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52" name="Oval 51"/>
          <p:cNvSpPr/>
          <p:nvPr/>
        </p:nvSpPr>
        <p:spPr>
          <a:xfrm>
            <a:off x="8270748" y="502462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502920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Zonas analizadas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829800" y="5102352"/>
            <a:ext cx="274320" cy="0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168128" y="5029200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Corredor tren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Auto y transporte público, hoy y con la infraestructura futura. Nuestros dos proyectos, en oro, dentro del análisis.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SET COMPETITIVO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competimos en abstracto: contra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corredor norte de Santiago.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El mercado real donde decide un comprador — desarrollos de Chicureo, Colina, Lampa y del sur. Contra este set, la conectividad es lo que nos separa.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B07D24"/>
                </a:solidFill>
                <a:latin typeface="Helvetica Neue"/>
              </a:rPr>
              <a:t>NUESTRO PORTAFOLIO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816352"/>
            <a:ext cx="2651760" cy="56692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816352"/>
            <a:ext cx="45720" cy="56692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169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6382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A64"/>
                </a:solidFill>
                <a:latin typeface="Helvetica Neue"/>
              </a:rPr>
              <a:t>Lampa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2816352"/>
            <a:ext cx="2651760" cy="56692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8728" y="2816352"/>
            <a:ext cx="45720" cy="56692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9169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316382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A64"/>
                </a:solidFill>
                <a:latin typeface="Helvetica Neue"/>
              </a:rPr>
              <a:t>Colina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12 COMPARABLES DEL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LAMPA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336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Valle Grande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302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Larapinta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62686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Chicauma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2346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Hacienda Batuco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3354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COLINA · CHICUREO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42336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Ayres de Chicureo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44302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Santa Elena de Chicureo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3354" y="462686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Colina · Reina Norte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8340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SUR Y PONIENTE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8340" y="42336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El Peñón — Puente Alto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8340" y="44302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Laguna del Sol — P. Hurtado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8340" y="462686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Buin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8340" y="482346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Urbanya — Pudahuel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8340" y="5020056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NOS · Laguna Cóndores — S. Bernardo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Mismo corredor, misma demanda. Nuestra ventaja frente a este set es qué tan bien conectados estamos — hoy y con la infraestructura que viene.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auto, la cercanía define quién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llega rápido a cada destino.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zonas de Lampa y Chicureo llegan rápido a casi todo. Estación Colina ya es central; Batuco es el más lejano — y ahí entra la Orbital.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Los tiempos en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mismo mapa, hoy y con 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647188"/>
            <a:ext cx="422808" cy="115606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647188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647188"/>
            <a:ext cx="422808" cy="115606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647188"/>
            <a:ext cx="422808" cy="115606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647188"/>
            <a:ext cx="422808" cy="115606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647188"/>
            <a:ext cx="422808" cy="115606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647188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647188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9022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90226"/>
            <a:ext cx="422808" cy="115606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90226"/>
            <a:ext cx="422808" cy="115606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9022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9022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90226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90226"/>
            <a:ext cx="422808" cy="115606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90226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90226"/>
            <a:ext cx="422808" cy="115606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933264"/>
            <a:ext cx="422808" cy="115606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933264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933264"/>
            <a:ext cx="422808" cy="115606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933264"/>
            <a:ext cx="422808" cy="115606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933264"/>
            <a:ext cx="422808" cy="115606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933264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219341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219341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219341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219341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219341"/>
            <a:ext cx="422808" cy="115606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219341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219341"/>
            <a:ext cx="422808" cy="115606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219341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219341"/>
            <a:ext cx="422808" cy="115606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362379"/>
            <a:ext cx="422808" cy="115606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362379"/>
            <a:ext cx="422808" cy="115606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362379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362379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50541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505417"/>
            <a:ext cx="422808" cy="115606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64845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648456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648456"/>
            <a:ext cx="422808" cy="115606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648456"/>
            <a:ext cx="422808" cy="115606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648456"/>
            <a:ext cx="422808" cy="115606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648456"/>
            <a:ext cx="422808" cy="115606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791494"/>
            <a:ext cx="422808" cy="115606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791494"/>
            <a:ext cx="422808" cy="115606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791494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791494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791494"/>
            <a:ext cx="422808" cy="115606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934532"/>
            <a:ext cx="422808" cy="115606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934532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934532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934532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934532"/>
            <a:ext cx="422808" cy="115606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4077570"/>
            <a:ext cx="422808" cy="115606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4220609"/>
            <a:ext cx="422808" cy="115606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4220609"/>
            <a:ext cx="422808" cy="115606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4220609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4220609"/>
            <a:ext cx="422808" cy="115606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363647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363647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647188"/>
            <a:ext cx="422808" cy="115606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647188"/>
            <a:ext cx="422808" cy="115606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647188"/>
            <a:ext cx="422808" cy="115606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647188"/>
            <a:ext cx="422808" cy="115606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90226"/>
            <a:ext cx="422808" cy="115606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90226"/>
            <a:ext cx="422808" cy="115606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90226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90226"/>
            <a:ext cx="422808" cy="115606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90226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90226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90226"/>
            <a:ext cx="422808" cy="115606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933264"/>
            <a:ext cx="422808" cy="115606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933264"/>
            <a:ext cx="422808" cy="115606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933264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933264"/>
            <a:ext cx="422808" cy="115606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93326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933264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219341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219341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219341"/>
            <a:ext cx="422808" cy="115606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219341"/>
            <a:ext cx="422808" cy="115606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219341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219341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219341"/>
            <a:ext cx="422808" cy="115606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219341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219341"/>
            <a:ext cx="422808" cy="115606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362379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362379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362379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362379"/>
            <a:ext cx="422808" cy="115606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362379"/>
            <a:ext cx="422808" cy="115606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505417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505417"/>
            <a:ext cx="422808" cy="115606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648456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648456"/>
            <a:ext cx="422808" cy="115606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648456"/>
            <a:ext cx="422808" cy="115606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648456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648456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648456"/>
            <a:ext cx="422808" cy="115606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791494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791494"/>
            <a:ext cx="422808" cy="115606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791494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79149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791494"/>
            <a:ext cx="422808" cy="115606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791494"/>
            <a:ext cx="422808" cy="115606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791494"/>
            <a:ext cx="422808" cy="115606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934532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934532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934532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934532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934532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4077570"/>
            <a:ext cx="422808" cy="115606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4220609"/>
            <a:ext cx="422808" cy="115606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4220609"/>
            <a:ext cx="422808" cy="115606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4220609"/>
            <a:ext cx="422808" cy="115606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4220609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363647"/>
            <a:ext cx="422808" cy="115606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363647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506685"/>
            <a:ext cx="422808" cy="115606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791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Estación Colina 5º → 1º</a:t>
            </a:r>
            <a:r>
              <a:rPr sz="1150" b="1">
                <a:solidFill>
                  <a:srgbClr val="B07D24"/>
                </a:solidFill>
                <a:latin typeface="Helvetica Neue"/>
              </a:rPr>
              <a:t>      Batuco 11º → 2º</a:t>
            </a:r>
            <a:r>
              <a:rPr sz="1100" b="0">
                <a:solidFill>
                  <a:srgbClr val="6E6A64"/>
                </a:solidFill>
                <a:latin typeface="Helvetica Neue"/>
              </a:rPr>
              <a:t>   del set en transporte público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filas que hoy son rojas para nuestros proyectos se vuelven verdes con el tren: Estación Colina pasa a ser la mejor conectada, y Batuco la segunda.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 — EL CANDADO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otro reparo: su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es RED, y eso se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por tramo, sin bip! integrado → tarifa más alta.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 Batuco quedan rojos: al no estar integrados a RED, pagan el tramo aparte. Es una debilidad — y una palanca que sí podemos mover (lámina 15).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CAMBIO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Orbital sube a Batuco al podio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vial — la mayor palanca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10º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lugar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que pelea el podio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fuerte es la centralidad y el tren. Cada proyecto juega su carta.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EN 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sobreprecio en UF: cuánto más puede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pedir cada zona por su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00">
                <a:solidFill>
                  <a:srgbClr val="6E6A64"/>
                </a:solidFill>
                <a:latin typeface="Helvetica Neue"/>
              </a:rPr>
              <a:t>UF QUE JUSTIFICA UNA VIVIENDA POR SOBRE LA ZONA MENOS CONECTADA DEL SET · TIEMPO + COSTO AHORRADOS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276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286000"/>
            <a:ext cx="6138367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6983" y="22677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271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2502712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511856"/>
            <a:ext cx="611222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0838" y="249356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8569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2728569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737713"/>
            <a:ext cx="5910933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9549" y="2719425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5442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295442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963570"/>
            <a:ext cx="4543934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2550" y="294528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1.686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028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318028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189427"/>
            <a:ext cx="43395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8188" y="317113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4061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" y="34061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415284"/>
            <a:ext cx="420188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0497" y="339699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1.559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319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363199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41140"/>
            <a:ext cx="379579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407" y="362285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1.408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5785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385785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866997"/>
            <a:ext cx="3523654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2270" y="384870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08371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408371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92854"/>
            <a:ext cx="340402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2637" y="407456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1.263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30956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30956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318711"/>
            <a:ext cx="2843859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75" y="430042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1.055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354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3542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544568"/>
            <a:ext cx="2746403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75019" y="452628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1.019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6128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5" y="47612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70424"/>
            <a:ext cx="229180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0418" y="475213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850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8713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5" y="498713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996281"/>
            <a:ext cx="1942530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71146" y="497799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721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99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5" y="521299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222138"/>
            <a:ext cx="8709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99588" y="520385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323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 mide contra la peor zona del set (Buin): una vivienda en Estación Colina justifica ~1.686 UF más, y Batuco ~1.019 UF más — solo por lo que su gente ahorra en traslados, capitalizado.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TIPO DE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cada segmento donde competimos,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estamos bien parados.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7 zonas · ranking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71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571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9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Casa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9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12 zonas · ranking en 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9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9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9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Ayres Chicureo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9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Sta Elena Chic.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9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99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99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999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997" y="491947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+4 más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586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5586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87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7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4 zonas · ranking en 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87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87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87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87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46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46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74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Edificio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74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5 zonas · ranking en auto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74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74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74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74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4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compite en DS19, townhouses y edificios; Batuco en townhouses y edificios — y en varios, entre los mejores del segmento.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está en nuestra cancha.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JUGADA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está en nuestra cancha: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pelear por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BATUCO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Batuco: de periférico a podio con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la infraestructura que ya viene.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la Orbital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$355k/mes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valor está amarrado a la obra futura: la Orbital lo acerca en auto, el Tren Batuco lo conecta en transporte público. Sin ellas es lejano; con ellas, top del corredor.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4806" y="2330003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65305" y="2601409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31694" y="2211131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no se vende por lo que es hoy, sino por lo que la infraestructura —ya en construcción— lo convierte: un proyecto de podio.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ESTACIÓN COLINA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Estación Colina: ya central hoy,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y #1 en transporte público mañana.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6º de 14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— ya central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6º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$282k/mes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carta es la centralidad y una estación de tren propia — no depende de la Orbital. El tren la vuelve la mejor conectada del set en transporte público, y su tarifa se mantiene baja.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35098" y="2380295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15013" y="2551117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1901" y="2432245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ya compite hoy por ubicación; el tren la convierte en la referencia de transporte público del corredor norte.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Qué hacemos con esto: producto,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precio y argumento comercial.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 con Orbital +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 — o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el set del corredor, no contra el promedio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B07D24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Vender el ‘mañana’ con respaldo: Orbital y trenes ya en construcción, con fuente.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= tesis de plusvalía; Estación Colina =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es palanca de pricing, de mezcla de producto y de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La jugada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Pelear por integrar Batuco y Estación Colina a RED: baja el costo y está en nuestra cancha.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jugada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