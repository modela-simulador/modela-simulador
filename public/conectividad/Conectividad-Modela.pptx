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822960"/>
            <a:ext cx="822960" cy="41148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20">
                <a:solidFill>
                  <a:srgbClr val="B9B4AA"/>
                </a:solidFill>
                <a:latin typeface="Helvetica Neue"/>
              </a:rPr>
              <a:t>MODELA  ·  DESARROLLO INMOBILIARIO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8749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FFFFFF"/>
                </a:solidFill>
                <a:latin typeface="Helvetica Neue"/>
              </a:rPr>
              <a:t>¿Cuánto vale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B07D24"/>
                </a:solidFill>
                <a:latin typeface="Helvetica Neue"/>
              </a:rPr>
              <a:t>la conectividad?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FCBC2"/>
                </a:solidFill>
                <a:latin typeface="Helvetica Neue"/>
              </a:rPr>
              <a:t>Cómo la accesibilidad vial y ferroviaria se traduce en valor inmobiliario — y por qué Batuco y Estación Colina compiten hoy, y lideran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8C8880"/>
                </a:solidFill>
                <a:latin typeface="Helvetica Neue"/>
              </a:rPr>
              <a:t>Evaluación de accesibilidad · Región Metropolitana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0127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8C8880"/>
                </a:solidFill>
                <a:latin typeface="Helvetica Neue"/>
              </a:rPr>
              <a:t>Documento de directorio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01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La conectividad no es un atributo: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es valor inmobiliario medible.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Menos tiempo y menos costo de traslado se capitalizan en cuánto puede pagar una familia por su vivienda. Medimos esa conexión, zona por zona — y el veredicto para el portafolio es claro.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3º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Batuco en auto, con la Orbital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11º 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1º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Estación Colina en transporte público, con el tren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5º de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−1 h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que recorta el tren a Batuco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de 2h17 a 1h10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+1.686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37764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UF de mayor valor — Est. Colina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4434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Batuco, +1.019 UF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y Estación Colina son competitivos hoy y de los más competitivos del norte con la infraestructura que ya está en construcción.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02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¿Por qué la conectividad decide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dónde se vive?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384048" cy="41148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60">
                <a:solidFill>
                  <a:srgbClr val="134E48"/>
                </a:solidFill>
                <a:latin typeface="Helvetica Neue"/>
              </a:rPr>
              <a:t>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332018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616"/>
                </a:solidFill>
                <a:latin typeface="Helvetica Neue"/>
              </a:rPr>
              <a:t>Dos horas de viaje al día son 40 al mes. El tiempo a trabajo, colegio y servicios pesa en la decisión de compra tanto como los metros cuadrados.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5754" y="2331720"/>
            <a:ext cx="384048" cy="41148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5754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60">
                <a:solidFill>
                  <a:srgbClr val="134E48"/>
                </a:solidFill>
                <a:latin typeface="Helvetica Neue"/>
              </a:rPr>
              <a:t>COSTO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754" y="2971800"/>
            <a:ext cx="332018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616"/>
                </a:solidFill>
                <a:latin typeface="Helvetica Neue"/>
              </a:rPr>
              <a:t>Tener y usar un auto cuesta $430–750k al mes —seguro, cuota, permiso, mantención, bencina y TAG—: varias veces el transporte público. Ese diferencial es capacidad de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3140" y="2331720"/>
            <a:ext cx="384048" cy="41148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3140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60">
                <a:solidFill>
                  <a:srgbClr val="134E48"/>
                </a:solidFill>
                <a:latin typeface="Helvetica Neue"/>
              </a:rPr>
              <a:t>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2971800"/>
            <a:ext cx="332018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616"/>
                </a:solidFill>
                <a:latin typeface="Helvetica Neue"/>
              </a:rPr>
              <a:t>A igual precio, la mejor conectada vale más. La conectividad se paga: en sobreprecio, o en una mejor propuesta al mismo precio.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decisión de compra no es solo precio y producto: es cuánto cuesta —en tiempo y en dinero— vivir ahí todos los días.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03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QUÉ ANALIZAMOS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10">
                <a:solidFill>
                  <a:srgbClr val="161616"/>
                </a:solidFill>
                <a:latin typeface="Helvetica Neue"/>
              </a:rPr>
              <a:t>14 zonas del norte y sur, contra los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10">
                <a:solidFill>
                  <a:srgbClr val="161616"/>
                </a:solidFill>
                <a:latin typeface="Helvetica Neue"/>
              </a:rPr>
              <a:t>destinos que mueven una vida.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6925" y="1792224"/>
            <a:ext cx="2156309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365" y="1883664"/>
            <a:ext cx="1973429" cy="3346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9921" y="218616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7427" y="2644537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pic>
        <p:nvPicPr>
          <p:cNvPr id="9" name="Picture 8" descr="d_ciudadempresa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325" y="2961469"/>
            <a:ext cx="274320" cy="2593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03925" y="3043765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61616"/>
                </a:solidFill>
                <a:latin typeface="Helvetica Neue"/>
              </a:rPr>
              <a:t>Cd. Empresarial</a:t>
            </a:r>
          </a:p>
        </p:txBody>
      </p:sp>
      <p:pic>
        <p:nvPicPr>
          <p:cNvPr id="11" name="Picture 10" descr="d_aeropuer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078" y="3060627"/>
            <a:ext cx="274320" cy="2593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74118" y="3152067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61616"/>
                </a:solidFill>
                <a:latin typeface="Helvetica Neue"/>
              </a:rPr>
              <a:t>Aeropuerto</a:t>
            </a:r>
          </a:p>
        </p:txBody>
      </p:sp>
      <p:pic>
        <p:nvPicPr>
          <p:cNvPr id="13" name="Picture 12" descr="d_tobal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474" y="3200881"/>
            <a:ext cx="274320" cy="2593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0074" y="3319753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61616"/>
                </a:solidFill>
                <a:latin typeface="Helvetica Neue"/>
              </a:rPr>
              <a:t>Tobalaba</a:t>
            </a:r>
          </a:p>
        </p:txBody>
      </p:sp>
      <p:pic>
        <p:nvPicPr>
          <p:cNvPr id="15" name="Picture 14" descr="d_cen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72" y="3304116"/>
            <a:ext cx="274320" cy="2593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4484" y="3459564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61616"/>
                </a:solidFill>
                <a:latin typeface="Helvetica Neue"/>
              </a:rPr>
              <a:t>Centro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9659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134E48"/>
                </a:solidFill>
                <a:latin typeface="Helvetica Neue"/>
              </a:rPr>
              <a:t>LOS 9 DESTINOS</a:t>
            </a:r>
          </a:p>
        </p:txBody>
      </p:sp>
      <p:pic>
        <p:nvPicPr>
          <p:cNvPr id="18" name="Picture 17" descr="d_tobal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22576"/>
            <a:ext cx="310896" cy="293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8992" y="2313432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Trabajo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482596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Metro Tobalaba</a:t>
            </a:r>
          </a:p>
        </p:txBody>
      </p:sp>
      <p:pic>
        <p:nvPicPr>
          <p:cNvPr id="21" name="Picture 20" descr="d_cen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644444"/>
            <a:ext cx="310896" cy="2939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" y="263530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Santiago Centro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80446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Plaza de Armas</a:t>
            </a:r>
          </a:p>
        </p:txBody>
      </p:sp>
      <p:pic>
        <p:nvPicPr>
          <p:cNvPr id="24" name="Picture 23" descr="d_ciudadempresa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66313"/>
            <a:ext cx="310896" cy="2939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8992" y="2957169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Ciudad Empresarial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126333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Huechuraba</a:t>
            </a:r>
          </a:p>
        </p:txBody>
      </p:sp>
      <p:pic>
        <p:nvPicPr>
          <p:cNvPr id="27" name="Picture 26" descr="d_aeropuer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88182"/>
            <a:ext cx="310896" cy="2939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8992" y="327903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Aeropuerto SCL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44820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Pudahuel</a:t>
            </a:r>
          </a:p>
        </p:txBody>
      </p:sp>
      <p:pic>
        <p:nvPicPr>
          <p:cNvPr id="30" name="Picture 29" descr="near_universid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610051"/>
            <a:ext cx="310896" cy="2939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8992" y="3600907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Universidad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770071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más cercana</a:t>
            </a:r>
          </a:p>
        </p:txBody>
      </p:sp>
      <p:pic>
        <p:nvPicPr>
          <p:cNvPr id="33" name="Picture 32" descr="near_hospit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3931920"/>
            <a:ext cx="310896" cy="29393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78992" y="392277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Hospital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091940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más cercano</a:t>
            </a:r>
          </a:p>
        </p:txBody>
      </p:sp>
      <p:pic>
        <p:nvPicPr>
          <p:cNvPr id="36" name="Picture 35" descr="near_clini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253788"/>
            <a:ext cx="310896" cy="29393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424464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Clínica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138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más cercana</a:t>
            </a:r>
          </a:p>
        </p:txBody>
      </p:sp>
      <p:pic>
        <p:nvPicPr>
          <p:cNvPr id="39" name="Picture 38" descr="near_m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575657"/>
            <a:ext cx="310896" cy="29393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78992" y="4566513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Centro comercial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735677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más cercano</a:t>
            </a:r>
          </a:p>
        </p:txBody>
      </p:sp>
      <p:pic>
        <p:nvPicPr>
          <p:cNvPr id="42" name="Picture 41" descr="near_industri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897526"/>
            <a:ext cx="310896" cy="29393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8992" y="4888382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16"/>
                </a:solidFill>
                <a:latin typeface="Helvetica Neue"/>
              </a:rPr>
              <a:t>Barrio industrial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057546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más cercano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134E48"/>
                </a:solidFill>
                <a:latin typeface="Helvetica Neue"/>
              </a:rPr>
              <a:t>LAS 14 ZONAS</a:t>
            </a:r>
          </a:p>
        </p:txBody>
      </p:sp>
      <p:sp>
        <p:nvSpPr>
          <p:cNvPr id="46" name="Oval 45"/>
          <p:cNvSpPr/>
          <p:nvPr/>
        </p:nvSpPr>
        <p:spPr>
          <a:xfrm>
            <a:off x="9020555" y="2400300"/>
            <a:ext cx="173736" cy="173736"/>
          </a:xfrm>
          <a:prstGeom prst="ellipse">
            <a:avLst/>
          </a:prstGeom>
          <a:solidFill>
            <a:srgbClr val="B07D24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17736" y="2377440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7D24"/>
                </a:solidFill>
                <a:latin typeface="Helvetica Neue"/>
              </a:rPr>
              <a:t>Batuco y Estación Colina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17736" y="2560320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nuestros dos proyectos</a:t>
            </a:r>
          </a:p>
        </p:txBody>
      </p:sp>
      <p:sp>
        <p:nvSpPr>
          <p:cNvPr id="49" name="Oval 48"/>
          <p:cNvSpPr/>
          <p:nvPr/>
        </p:nvSpPr>
        <p:spPr>
          <a:xfrm>
            <a:off x="9047988" y="3012948"/>
            <a:ext cx="118872" cy="118872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17736" y="296265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1616"/>
                </a:solidFill>
                <a:latin typeface="Helvetica Neue"/>
              </a:rPr>
              <a:t>12 zonas comparables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7736" y="31455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del norte y del sur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025128" y="3675887"/>
            <a:ext cx="182880" cy="0"/>
          </a:xfrm>
          <a:prstGeom prst="line">
            <a:avLst/>
          </a:prstGeom>
          <a:ln w="38100">
            <a:solidFill>
              <a:srgbClr val="78A4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317736" y="3566160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1616"/>
                </a:solidFill>
                <a:latin typeface="Helvetica Neue"/>
              </a:rPr>
              <a:t>Corredor de tren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17736" y="3749039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Batuco y Melipilla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025128" y="4261104"/>
            <a:ext cx="2468880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025128" y="43891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64"/>
                </a:solidFill>
                <a:latin typeface="Helvetica Neue"/>
              </a:rPr>
              <a:t>Norte: Colina · Chicureo · Lampa.</a:t>
            </a:r>
            <a:r>
              <a:rPr sz="950" b="0">
                <a:solidFill>
                  <a:srgbClr val="6E6A64"/>
                </a:solidFill>
                <a:latin typeface="Helvetica Neue"/>
              </a:rPr>
              <a:t>  Sur: Buin · San Bernardo.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Un plano, cuatro destinos ancla y nueve tipos de viaje. Medimos cada zona contra todos — en auto y transporte público, hoy y con la infraestructura futura.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04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SET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No competimos en abstracto: contra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el corredor norte de Santiago.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El mercado real donde decide un comprador — desarrollos de Chicureo, Colina, Lampa y del sur. Contra este set, la conectividad es lo que nos separa.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B07D24"/>
                </a:solidFill>
                <a:latin typeface="Helvetica Neue"/>
              </a:rPr>
              <a:t>NUESTRO PORTAFOLIO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816352"/>
            <a:ext cx="2651760" cy="566928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816352"/>
            <a:ext cx="45720" cy="566928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169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6382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A64"/>
                </a:solidFill>
                <a:latin typeface="Helvetica Neue"/>
              </a:rPr>
              <a:t>Lampa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2816352"/>
            <a:ext cx="2651760" cy="566928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2816352"/>
            <a:ext cx="45720" cy="566928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9169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16382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A64"/>
                </a:solidFill>
                <a:latin typeface="Helvetica Neue"/>
              </a:rPr>
              <a:t>Colina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941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134E48"/>
                </a:solidFill>
                <a:latin typeface="Helvetica Neue"/>
              </a:rPr>
              <a:t>12 COMPARABLES DEL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05072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60">
                <a:solidFill>
                  <a:srgbClr val="6E6A64"/>
                </a:solidFill>
                <a:latin typeface="Helvetica Neue"/>
              </a:rPr>
              <a:t>LAMPA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33672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Valle Grande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302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Larapinta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26864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Chicauma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23460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Hacienda Batuco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3354" y="4005072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60">
                <a:solidFill>
                  <a:srgbClr val="6E6A64"/>
                </a:solidFill>
                <a:latin typeface="Helvetica Neue"/>
              </a:rPr>
              <a:t>COLINA · CHICUREO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3354" y="4233672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Ayres de Chicureo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3354" y="44302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Santa Elena de Chicureo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354" y="4626864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Colina · Reina Norte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8340" y="4005072"/>
            <a:ext cx="33506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60">
                <a:solidFill>
                  <a:srgbClr val="6E6A64"/>
                </a:solidFill>
                <a:latin typeface="Helvetica Neue"/>
              </a:rPr>
              <a:t>SUR Y PONIENTE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8340" y="4233672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El Peñón — Puente Alto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8340" y="44302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Laguna del Sol — P. Hurtado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8340" y="4626864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Buin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8340" y="4823460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Urbanya — Pudahuel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8340" y="5020056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·  NOS · Laguna Cóndores — S. Bernardo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Mismo corredor, misma demanda. Nuestra ventaja frente a este set es qué tan bien conectados estamos — hoy y con la infraestructura que viene.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05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AUTO ·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En auto, la cercanía define quién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llega rápido a cada destino.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1656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865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74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283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492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700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2909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311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9944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656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153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1865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362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74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571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2283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0780" y="2464308"/>
            <a:ext cx="973632" cy="141732"/>
          </a:xfrm>
          <a:prstGeom prst="rect">
            <a:avLst/>
          </a:prstGeom>
          <a:solidFill>
            <a:srgbClr val="5B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2492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0988" y="2464308"/>
            <a:ext cx="973632" cy="141732"/>
          </a:xfrm>
          <a:prstGeom prst="rect">
            <a:avLst/>
          </a:prstGeom>
          <a:solidFill>
            <a:srgbClr val="88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2700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1197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909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1406" y="2464308"/>
            <a:ext cx="973632" cy="141732"/>
          </a:xfrm>
          <a:prstGeom prst="rect">
            <a:avLst/>
          </a:prstGeom>
          <a:solidFill>
            <a:srgbClr val="85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311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261975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2633472"/>
            <a:ext cx="973632" cy="141732"/>
          </a:xfrm>
          <a:prstGeom prst="rect">
            <a:avLst/>
          </a:prstGeom>
          <a:solidFill>
            <a:srgbClr val="7CA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69944" y="2633472"/>
            <a:ext cx="973632" cy="141732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1656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153" y="2633472"/>
            <a:ext cx="973632" cy="141732"/>
          </a:xfrm>
          <a:prstGeom prst="rect">
            <a:avLst/>
          </a:prstGeom>
          <a:solidFill>
            <a:srgbClr val="64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1865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0362" y="2633472"/>
            <a:ext cx="973632" cy="141732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2074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0571" y="2633472"/>
            <a:ext cx="973632" cy="141732"/>
          </a:xfrm>
          <a:prstGeom prst="rect">
            <a:avLst/>
          </a:prstGeom>
          <a:solidFill>
            <a:srgbClr val="93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2283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0780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2492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0988" y="2633472"/>
            <a:ext cx="973632" cy="141732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700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31197" y="2633472"/>
            <a:ext cx="973632" cy="141732"/>
          </a:xfrm>
          <a:prstGeom prst="rect">
            <a:avLst/>
          </a:prstGeom>
          <a:solidFill>
            <a:srgbClr val="85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2909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41406" y="2633472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11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788920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2802636"/>
            <a:ext cx="973632" cy="141732"/>
          </a:xfrm>
          <a:prstGeom prst="rect">
            <a:avLst/>
          </a:prstGeom>
          <a:solidFill>
            <a:srgbClr val="5B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4144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9944" y="2802636"/>
            <a:ext cx="973632" cy="141732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656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153" y="2802636"/>
            <a:ext cx="973632" cy="141732"/>
          </a:xfrm>
          <a:prstGeom prst="rect">
            <a:avLst/>
          </a:prstGeom>
          <a:solidFill>
            <a:srgbClr val="95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1865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90362" y="2802636"/>
            <a:ext cx="973632" cy="141732"/>
          </a:xfrm>
          <a:prstGeom prst="rect">
            <a:avLst/>
          </a:prstGeom>
          <a:solidFill>
            <a:srgbClr val="69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74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0571" y="2802636"/>
            <a:ext cx="973632" cy="141732"/>
          </a:xfrm>
          <a:prstGeom prst="rect">
            <a:avLst/>
          </a:prstGeom>
          <a:solidFill>
            <a:srgbClr val="77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2283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0780" y="2802636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2492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0988" y="2802636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2700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1197" y="2802636"/>
            <a:ext cx="973632" cy="141732"/>
          </a:xfrm>
          <a:prstGeom prst="rect">
            <a:avLst/>
          </a:prstGeom>
          <a:solidFill>
            <a:srgbClr val="72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2909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1406" y="2802636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311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295808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9736" y="2971799"/>
            <a:ext cx="973632" cy="141732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144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69944" y="2971799"/>
            <a:ext cx="973632" cy="141732"/>
          </a:xfrm>
          <a:prstGeom prst="rect">
            <a:avLst/>
          </a:prstGeom>
          <a:solidFill>
            <a:srgbClr val="67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1656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153" y="2971799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61865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90362" y="2971799"/>
            <a:ext cx="973632" cy="141732"/>
          </a:xfrm>
          <a:prstGeom prst="rect">
            <a:avLst/>
          </a:prstGeom>
          <a:solidFill>
            <a:srgbClr val="6F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72074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00571" y="2971799"/>
            <a:ext cx="973632" cy="141732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2283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0780" y="2971799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2492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0988" y="2971799"/>
            <a:ext cx="973632" cy="141732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2700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31197" y="2971799"/>
            <a:ext cx="973632" cy="141732"/>
          </a:xfrm>
          <a:prstGeom prst="rect">
            <a:avLst/>
          </a:prstGeom>
          <a:solidFill>
            <a:srgbClr val="7F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12909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41406" y="2971799"/>
            <a:ext cx="973632" cy="141732"/>
          </a:xfrm>
          <a:prstGeom prst="rect">
            <a:avLst/>
          </a:prstGeom>
          <a:solidFill>
            <a:srgbClr val="CB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2311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" y="312724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59736" y="3140964"/>
            <a:ext cx="973632" cy="141732"/>
          </a:xfrm>
          <a:prstGeom prst="rect">
            <a:avLst/>
          </a:prstGeom>
          <a:solidFill>
            <a:srgbClr val="87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144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69944" y="3140964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1656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153" y="3140964"/>
            <a:ext cx="973632" cy="141732"/>
          </a:xfrm>
          <a:prstGeom prst="rect">
            <a:avLst/>
          </a:prstGeom>
          <a:solidFill>
            <a:srgbClr val="6C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1865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90362" y="3140964"/>
            <a:ext cx="973632" cy="141732"/>
          </a:xfrm>
          <a:prstGeom prst="rect">
            <a:avLst/>
          </a:prstGeom>
          <a:solidFill>
            <a:srgbClr val="6F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2074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00571" y="3140964"/>
            <a:ext cx="973632" cy="141732"/>
          </a:xfrm>
          <a:prstGeom prst="rect">
            <a:avLst/>
          </a:prstGeom>
          <a:solidFill>
            <a:srgbClr val="88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283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10780" y="3140964"/>
            <a:ext cx="973632" cy="141732"/>
          </a:xfrm>
          <a:prstGeom prst="rect">
            <a:avLst/>
          </a:prstGeom>
          <a:solidFill>
            <a:srgbClr val="9C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2492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60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0988" y="3140964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2700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31197" y="3140964"/>
            <a:ext cx="973632" cy="141732"/>
          </a:xfrm>
          <a:prstGeom prst="rect">
            <a:avLst/>
          </a:prstGeom>
          <a:solidFill>
            <a:srgbClr val="9D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12909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41406" y="3140964"/>
            <a:ext cx="973632" cy="141732"/>
          </a:xfrm>
          <a:prstGeom prst="rect">
            <a:avLst/>
          </a:prstGeom>
          <a:solidFill>
            <a:srgbClr val="AD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311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368" y="330555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329641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59736" y="3310127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4144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69944" y="3310127"/>
            <a:ext cx="973632" cy="141732"/>
          </a:xfrm>
          <a:prstGeom prst="rect">
            <a:avLst/>
          </a:prstGeom>
          <a:solidFill>
            <a:srgbClr val="7CA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51656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80153" y="3310127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61865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90362" y="3310127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074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00571" y="3310127"/>
            <a:ext cx="973632" cy="141732"/>
          </a:xfrm>
          <a:prstGeom prst="rect">
            <a:avLst/>
          </a:prstGeom>
          <a:solidFill>
            <a:srgbClr val="93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82283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10780" y="3310127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92492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20988" y="3310127"/>
            <a:ext cx="973632" cy="141732"/>
          </a:xfrm>
          <a:prstGeom prst="rect">
            <a:avLst/>
          </a:prstGeom>
          <a:solidFill>
            <a:srgbClr val="CC8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02700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31197" y="3310127"/>
            <a:ext cx="973632" cy="141732"/>
          </a:xfrm>
          <a:prstGeom prst="rect">
            <a:avLst/>
          </a:prstGeom>
          <a:solidFill>
            <a:srgbClr val="97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2909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41406" y="3310127"/>
            <a:ext cx="973632" cy="141732"/>
          </a:xfrm>
          <a:prstGeom prst="rect">
            <a:avLst/>
          </a:prstGeom>
          <a:solidFill>
            <a:srgbClr val="BA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2311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3465575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59736" y="3479291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44144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69944" y="3479291"/>
            <a:ext cx="973632" cy="141732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51656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80153" y="3479291"/>
            <a:ext cx="973632" cy="141732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61865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90362" y="3479291"/>
            <a:ext cx="973632" cy="141732"/>
          </a:xfrm>
          <a:prstGeom prst="rect">
            <a:avLst/>
          </a:prstGeom>
          <a:solidFill>
            <a:srgbClr val="8F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72074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00571" y="3479291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82283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10780" y="3479291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492492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20988" y="3479291"/>
            <a:ext cx="973632" cy="141732"/>
          </a:xfrm>
          <a:prstGeom prst="rect">
            <a:avLst/>
          </a:prstGeom>
          <a:solidFill>
            <a:srgbClr val="D06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02700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31197" y="3479291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12909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41406" y="3479291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52311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3232" y="363473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9736" y="3648456"/>
            <a:ext cx="973632" cy="141732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4144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69944" y="3648456"/>
            <a:ext cx="973632" cy="141732"/>
          </a:xfrm>
          <a:prstGeom prst="rect">
            <a:avLst/>
          </a:prstGeom>
          <a:solidFill>
            <a:srgbClr val="8D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51656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480153" y="3648456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61865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90362" y="3648456"/>
            <a:ext cx="973632" cy="141732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72074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1:55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0571" y="3648456"/>
            <a:ext cx="973632" cy="141732"/>
          </a:xfrm>
          <a:prstGeom prst="rect">
            <a:avLst/>
          </a:prstGeom>
          <a:solidFill>
            <a:srgbClr val="C9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82283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10780" y="3648456"/>
            <a:ext cx="973632" cy="141732"/>
          </a:xfrm>
          <a:prstGeom prst="rect">
            <a:avLst/>
          </a:prstGeom>
          <a:solidFill>
            <a:srgbClr val="CF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92492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520988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02700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31197" y="3648456"/>
            <a:ext cx="973632" cy="141732"/>
          </a:xfrm>
          <a:prstGeom prst="rect">
            <a:avLst/>
          </a:prstGeom>
          <a:solidFill>
            <a:srgbClr val="D35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12909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41406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311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232" y="3803904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9736" y="3817620"/>
            <a:ext cx="973632" cy="141732"/>
          </a:xfrm>
          <a:prstGeom prst="rect">
            <a:avLst/>
          </a:prstGeom>
          <a:solidFill>
            <a:srgbClr val="A0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4144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1:19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9944" y="3817620"/>
            <a:ext cx="973632" cy="141732"/>
          </a:xfrm>
          <a:prstGeom prst="rect">
            <a:avLst/>
          </a:prstGeom>
          <a:solidFill>
            <a:srgbClr val="94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51656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80153" y="3817620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61865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1:02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90362" y="3817620"/>
            <a:ext cx="973632" cy="141732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72074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1:27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00571" y="3817620"/>
            <a:ext cx="973632" cy="141732"/>
          </a:xfrm>
          <a:prstGeom prst="rect">
            <a:avLst/>
          </a:prstGeom>
          <a:solidFill>
            <a:srgbClr val="C0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482283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1:13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10780" y="3817620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92492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1:22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0988" y="3817620"/>
            <a:ext cx="973632" cy="141732"/>
          </a:xfrm>
          <a:prstGeom prst="rect">
            <a:avLst/>
          </a:prstGeom>
          <a:solidFill>
            <a:srgbClr val="D2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2700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1:28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31197" y="3817620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512909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41406" y="3817620"/>
            <a:ext cx="973632" cy="141732"/>
          </a:xfrm>
          <a:prstGeom prst="rect">
            <a:avLst/>
          </a:prstGeom>
          <a:solidFill>
            <a:srgbClr val="CD8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2311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3232" y="397306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9736" y="3986783"/>
            <a:ext cx="973632" cy="141732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4144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1:45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69944" y="3986783"/>
            <a:ext cx="973632" cy="141732"/>
          </a:xfrm>
          <a:prstGeom prst="rect">
            <a:avLst/>
          </a:prstGeom>
          <a:solidFill>
            <a:srgbClr val="C9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51656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153" y="3986783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461865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90362" y="3986783"/>
            <a:ext cx="973632" cy="141732"/>
          </a:xfrm>
          <a:prstGeom prst="rect">
            <a:avLst/>
          </a:prstGeom>
          <a:solidFill>
            <a:srgbClr val="CD7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472074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00571" y="3986783"/>
            <a:ext cx="973632" cy="141732"/>
          </a:xfrm>
          <a:prstGeom prst="rect">
            <a:avLst/>
          </a:prstGeom>
          <a:solidFill>
            <a:srgbClr val="AA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2283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10780" y="3986783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492492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1:26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20988" y="3986783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02700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1:06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31197" y="3986783"/>
            <a:ext cx="973632" cy="141732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12909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41406" y="3986783"/>
            <a:ext cx="973632" cy="141732"/>
          </a:xfrm>
          <a:prstGeom prst="rect">
            <a:avLst/>
          </a:prstGeom>
          <a:solidFill>
            <a:srgbClr val="AD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2311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415137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13232" y="414223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459736" y="4155947"/>
            <a:ext cx="973632" cy="141732"/>
          </a:xfrm>
          <a:prstGeom prst="rect">
            <a:avLst/>
          </a:prstGeom>
          <a:solidFill>
            <a:srgbClr val="C9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44144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469944" y="4155947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451656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480153" y="4155947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61865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90362" y="4155947"/>
            <a:ext cx="973632" cy="141732"/>
          </a:xfrm>
          <a:prstGeom prst="rect">
            <a:avLst/>
          </a:prstGeom>
          <a:solidFill>
            <a:srgbClr val="C99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72074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00571" y="4155947"/>
            <a:ext cx="973632" cy="141732"/>
          </a:xfrm>
          <a:prstGeom prst="rect">
            <a:avLst/>
          </a:prstGeom>
          <a:solidFill>
            <a:srgbClr val="CF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82283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10780" y="4155947"/>
            <a:ext cx="973632" cy="141732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492492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20988" y="4155947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502700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531197" y="4155947"/>
            <a:ext cx="973632" cy="141732"/>
          </a:xfrm>
          <a:prstGeom prst="rect">
            <a:avLst/>
          </a:prstGeom>
          <a:solidFill>
            <a:srgbClr val="CF7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512909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41406" y="4155947"/>
            <a:ext cx="973632" cy="141732"/>
          </a:xfrm>
          <a:prstGeom prst="rect">
            <a:avLst/>
          </a:prstGeom>
          <a:solidFill>
            <a:srgbClr val="CD8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52311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" y="431139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459736" y="4325112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44144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1:42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469944" y="4325112"/>
            <a:ext cx="973632" cy="141732"/>
          </a:xfrm>
          <a:prstGeom prst="rect">
            <a:avLst/>
          </a:prstGeom>
          <a:solidFill>
            <a:srgbClr val="CB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51656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480153" y="4325112"/>
            <a:ext cx="973632" cy="141732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461865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1:04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490362" y="4325112"/>
            <a:ext cx="973632" cy="141732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2074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00571" y="4325112"/>
            <a:ext cx="973632" cy="141732"/>
          </a:xfrm>
          <a:prstGeom prst="rect">
            <a:avLst/>
          </a:prstGeom>
          <a:solidFill>
            <a:srgbClr val="D1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82283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510780" y="4325112"/>
            <a:ext cx="973632" cy="141732"/>
          </a:xfrm>
          <a:prstGeom prst="rect">
            <a:avLst/>
          </a:prstGeom>
          <a:solidFill>
            <a:srgbClr val="99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92492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59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20988" y="4325112"/>
            <a:ext cx="973632" cy="141732"/>
          </a:xfrm>
          <a:prstGeom prst="rect">
            <a:avLst/>
          </a:prstGeom>
          <a:solidFill>
            <a:srgbClr val="CE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2700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1:18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531197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512909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541406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52311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3232" y="448055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459736" y="4494275"/>
            <a:ext cx="973632" cy="141732"/>
          </a:xfrm>
          <a:prstGeom prst="rect">
            <a:avLst/>
          </a:prstGeom>
          <a:solidFill>
            <a:srgbClr val="D4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4144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2:08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469944" y="4494275"/>
            <a:ext cx="973632" cy="141732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451656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480153" y="4494275"/>
            <a:ext cx="973632" cy="141732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461865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90362" y="4494275"/>
            <a:ext cx="973632" cy="141732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72074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2:12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00571" y="4494275"/>
            <a:ext cx="973632" cy="141732"/>
          </a:xfrm>
          <a:prstGeom prst="rect">
            <a:avLst/>
          </a:prstGeom>
          <a:solidFill>
            <a:srgbClr val="CF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82283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1:29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10780" y="4494275"/>
            <a:ext cx="973632" cy="141732"/>
          </a:xfrm>
          <a:prstGeom prst="rect">
            <a:avLst/>
          </a:prstGeom>
          <a:solidFill>
            <a:srgbClr val="CE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92492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20988" y="4494275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02700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531197" y="4494275"/>
            <a:ext cx="973632" cy="141732"/>
          </a:xfrm>
          <a:prstGeom prst="rect">
            <a:avLst/>
          </a:prstGeom>
          <a:solidFill>
            <a:srgbClr val="D35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512909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541406" y="4494275"/>
            <a:ext cx="973632" cy="141732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52311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13232" y="464972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5973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44144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2:12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69944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51656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2:15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480153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461865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1:37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490362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472074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2:32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500571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482283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1:42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10780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492492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1:58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0988" y="4663439"/>
            <a:ext cx="973632" cy="141732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02700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1197" y="4663439"/>
            <a:ext cx="973632" cy="141732"/>
          </a:xfrm>
          <a:prstGeom prst="rect">
            <a:avLst/>
          </a:prstGeom>
          <a:solidFill>
            <a:srgbClr val="D44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12909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0541406" y="4663439"/>
            <a:ext cx="973632" cy="141732"/>
          </a:xfrm>
          <a:prstGeom prst="rect">
            <a:avLst/>
          </a:prstGeom>
          <a:solidFill>
            <a:srgbClr val="A0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52311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37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58368" y="4901184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Minutos puerta a puerta (h:mm). Color por columna: verde = la más cercana a ese destino, rojo = la más lejana.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Las zonas de Lampa y Chicureo llegan rápido a casi todo. Estación Colina ya es central; Batuco es el más lejano — y ahí entra la Orbital.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06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AUTO · COSTO — EL REPARO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El reparo honesto: manejar desde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Batuco es caro hacia casi todos lados.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1656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865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74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283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492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700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2909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311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464308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9944" y="2464308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656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153" y="2464308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1865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362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74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571" y="2464308"/>
            <a:ext cx="973632" cy="141732"/>
          </a:xfrm>
          <a:prstGeom prst="rect">
            <a:avLst/>
          </a:prstGeom>
          <a:solidFill>
            <a:srgbClr val="6B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2283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0780" y="2464308"/>
            <a:ext cx="973632" cy="141732"/>
          </a:xfrm>
          <a:prstGeom prst="rect">
            <a:avLst/>
          </a:prstGeom>
          <a:solidFill>
            <a:srgbClr val="36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2492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0988" y="2464308"/>
            <a:ext cx="973632" cy="141732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2700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266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1197" y="2464308"/>
            <a:ext cx="973632" cy="141732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909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1406" y="2464308"/>
            <a:ext cx="973632" cy="141732"/>
          </a:xfrm>
          <a:prstGeom prst="rect">
            <a:avLst/>
          </a:prstGeom>
          <a:solidFill>
            <a:srgbClr val="3B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311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261975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2633472"/>
            <a:ext cx="973632" cy="141732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69944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1656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153" y="2633472"/>
            <a:ext cx="973632" cy="141732"/>
          </a:xfrm>
          <a:prstGeom prst="rect">
            <a:avLst/>
          </a:prstGeom>
          <a:solidFill>
            <a:srgbClr val="69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1865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0362" y="2633472"/>
            <a:ext cx="973632" cy="141732"/>
          </a:xfrm>
          <a:prstGeom prst="rect">
            <a:avLst/>
          </a:prstGeom>
          <a:solidFill>
            <a:srgbClr val="54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2074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0571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2283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0780" y="2633472"/>
            <a:ext cx="973632" cy="141732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2492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0988" y="2633472"/>
            <a:ext cx="973632" cy="141732"/>
          </a:xfrm>
          <a:prstGeom prst="rect">
            <a:avLst/>
          </a:prstGeom>
          <a:solidFill>
            <a:srgbClr val="68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700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148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31197" y="2633472"/>
            <a:ext cx="973632" cy="141732"/>
          </a:xfrm>
          <a:prstGeom prst="rect">
            <a:avLst/>
          </a:prstGeom>
          <a:solidFill>
            <a:srgbClr val="64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2909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41406" y="2633472"/>
            <a:ext cx="973632" cy="141732"/>
          </a:xfrm>
          <a:prstGeom prst="rect">
            <a:avLst/>
          </a:prstGeom>
          <a:solidFill>
            <a:srgbClr val="9B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11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788920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2802636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4144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9944" y="2802636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656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153" y="2802636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1865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90362" y="2802636"/>
            <a:ext cx="973632" cy="141732"/>
          </a:xfrm>
          <a:prstGeom prst="rect">
            <a:avLst/>
          </a:prstGeom>
          <a:solidFill>
            <a:srgbClr val="309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74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0571" y="2802636"/>
            <a:ext cx="973632" cy="141732"/>
          </a:xfrm>
          <a:prstGeom prst="rect">
            <a:avLst/>
          </a:prstGeom>
          <a:solidFill>
            <a:srgbClr val="6B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2283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0780" y="2802636"/>
            <a:ext cx="973632" cy="141732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2492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0988" y="2802636"/>
            <a:ext cx="973632" cy="141732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2700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1197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2909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1406" y="2802636"/>
            <a:ext cx="973632" cy="141732"/>
          </a:xfrm>
          <a:prstGeom prst="rect">
            <a:avLst/>
          </a:prstGeom>
          <a:solidFill>
            <a:srgbClr val="A9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311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295808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9736" y="2971799"/>
            <a:ext cx="973632" cy="141732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144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69944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1656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346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153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61865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90362" y="2971799"/>
            <a:ext cx="973632" cy="141732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72074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00571" y="2971799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2283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0780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2492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0988" y="2971799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2700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175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31197" y="2971799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12909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41406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2311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" y="312724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59736" y="3140964"/>
            <a:ext cx="973632" cy="141732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144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69944" y="3140964"/>
            <a:ext cx="973632" cy="141732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1656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153" y="3140964"/>
            <a:ext cx="973632" cy="141732"/>
          </a:xfrm>
          <a:prstGeom prst="rect">
            <a:avLst/>
          </a:prstGeom>
          <a:solidFill>
            <a:srgbClr val="CF7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1865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90362" y="3140964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2074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00571" y="3140964"/>
            <a:ext cx="973632" cy="141732"/>
          </a:xfrm>
          <a:prstGeom prst="rect">
            <a:avLst/>
          </a:prstGeom>
          <a:solidFill>
            <a:srgbClr val="6C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283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10780" y="3140964"/>
            <a:ext cx="973632" cy="141732"/>
          </a:xfrm>
          <a:prstGeom prst="rect">
            <a:avLst/>
          </a:prstGeom>
          <a:solidFill>
            <a:srgbClr val="B4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2492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342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0988" y="3140964"/>
            <a:ext cx="973632" cy="141732"/>
          </a:xfrm>
          <a:prstGeom prst="rect">
            <a:avLst/>
          </a:prstGeom>
          <a:solidFill>
            <a:srgbClr val="48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2700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31197" y="3140964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12909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41406" y="3140964"/>
            <a:ext cx="973632" cy="141732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311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368" y="330555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329641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59736" y="3310127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4144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69944" y="3310127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51656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328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80153" y="3310127"/>
            <a:ext cx="973632" cy="141732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61865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170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90362" y="3310127"/>
            <a:ext cx="973632" cy="141732"/>
          </a:xfrm>
          <a:prstGeom prst="rect">
            <a:avLst/>
          </a:prstGeom>
          <a:solidFill>
            <a:srgbClr val="49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074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356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00571" y="3310127"/>
            <a:ext cx="973632" cy="141732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82283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10780" y="3310127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92492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20988" y="3310127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02700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329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31197" y="3310127"/>
            <a:ext cx="973632" cy="141732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2909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41406" y="3310127"/>
            <a:ext cx="973632" cy="141732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2311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169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3465575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59736" y="3479291"/>
            <a:ext cx="973632" cy="141732"/>
          </a:xfrm>
          <a:prstGeom prst="rect">
            <a:avLst/>
          </a:prstGeom>
          <a:solidFill>
            <a:srgbClr val="C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44144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69944" y="3479291"/>
            <a:ext cx="973632" cy="141732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51656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80153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61865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90362" y="3479291"/>
            <a:ext cx="973632" cy="141732"/>
          </a:xfrm>
          <a:prstGeom prst="rect">
            <a:avLst/>
          </a:prstGeom>
          <a:solidFill>
            <a:srgbClr val="B7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72074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633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00571" y="3479291"/>
            <a:ext cx="973632" cy="141732"/>
          </a:xfrm>
          <a:prstGeom prst="rect">
            <a:avLst/>
          </a:prstGeom>
          <a:solidFill>
            <a:srgbClr val="559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82283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10780" y="3479291"/>
            <a:ext cx="973632" cy="141732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492492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20988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02700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31197" y="3479291"/>
            <a:ext cx="973632" cy="141732"/>
          </a:xfrm>
          <a:prstGeom prst="rect">
            <a:avLst/>
          </a:prstGeom>
          <a:solidFill>
            <a:srgbClr val="80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12909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41406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52311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3232" y="363473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9736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4144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69944" y="3648456"/>
            <a:ext cx="973632" cy="141732"/>
          </a:xfrm>
          <a:prstGeom prst="rect">
            <a:avLst/>
          </a:prstGeom>
          <a:solidFill>
            <a:srgbClr val="C7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51656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480153" y="3648456"/>
            <a:ext cx="973632" cy="141732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61865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223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90362" y="3648456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72074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1066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0571" y="3648456"/>
            <a:ext cx="973632" cy="141732"/>
          </a:xfrm>
          <a:prstGeom prst="rect">
            <a:avLst/>
          </a:prstGeom>
          <a:solidFill>
            <a:srgbClr val="2F9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82283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96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10780" y="3648456"/>
            <a:ext cx="973632" cy="141732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92492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520988" y="3648456"/>
            <a:ext cx="973632" cy="141732"/>
          </a:xfrm>
          <a:prstGeom prst="rect">
            <a:avLst/>
          </a:prstGeom>
          <a:solidFill>
            <a:srgbClr val="37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02700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31197" y="3648456"/>
            <a:ext cx="973632" cy="141732"/>
          </a:xfrm>
          <a:prstGeom prst="rect">
            <a:avLst/>
          </a:prstGeom>
          <a:solidFill>
            <a:srgbClr val="35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12909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41406" y="3648456"/>
            <a:ext cx="973632" cy="141732"/>
          </a:xfrm>
          <a:prstGeom prst="rect">
            <a:avLst/>
          </a:prstGeom>
          <a:solidFill>
            <a:srgbClr val="3D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311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232" y="3803904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9736" y="3817620"/>
            <a:ext cx="973632" cy="141732"/>
          </a:xfrm>
          <a:prstGeom prst="rect">
            <a:avLst/>
          </a:prstGeom>
          <a:solidFill>
            <a:srgbClr val="B0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4144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9944" y="3817620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51656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80153" y="3817620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61865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217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90362" y="3817620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72074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00571" y="3817620"/>
            <a:ext cx="973632" cy="141732"/>
          </a:xfrm>
          <a:prstGeom prst="rect">
            <a:avLst/>
          </a:prstGeom>
          <a:solidFill>
            <a:srgbClr val="C99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482283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10780" y="3817620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92492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415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0988" y="3817620"/>
            <a:ext cx="973632" cy="141732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2700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31197" y="3817620"/>
            <a:ext cx="973632" cy="141732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512909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41406" y="3817620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2311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3232" y="397306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9736" y="3986783"/>
            <a:ext cx="973632" cy="141732"/>
          </a:xfrm>
          <a:prstGeom prst="rect">
            <a:avLst/>
          </a:prstGeom>
          <a:solidFill>
            <a:srgbClr val="CC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4144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495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69944" y="3986783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51656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153" y="3986783"/>
            <a:ext cx="973632" cy="141732"/>
          </a:xfrm>
          <a:prstGeom prst="rect">
            <a:avLst/>
          </a:prstGeom>
          <a:solidFill>
            <a:srgbClr val="C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461865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90362" y="3986783"/>
            <a:ext cx="973632" cy="141732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472074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420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00571" y="3986783"/>
            <a:ext cx="973632" cy="141732"/>
          </a:xfrm>
          <a:prstGeom prst="rect">
            <a:avLst/>
          </a:prstGeom>
          <a:solidFill>
            <a:srgbClr val="A2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2283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359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10780" y="3986783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492492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416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20988" y="3986783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02700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393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31197" y="3986783"/>
            <a:ext cx="973632" cy="141732"/>
          </a:xfrm>
          <a:prstGeom prst="rect">
            <a:avLst/>
          </a:prstGeom>
          <a:solidFill>
            <a:srgbClr val="7C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12909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174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41406" y="3986783"/>
            <a:ext cx="973632" cy="141732"/>
          </a:xfrm>
          <a:prstGeom prst="rect">
            <a:avLst/>
          </a:prstGeom>
          <a:solidFill>
            <a:srgbClr val="D06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2311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415137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13232" y="414223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459736" y="4155947"/>
            <a:ext cx="973632" cy="141732"/>
          </a:xfrm>
          <a:prstGeom prst="rect">
            <a:avLst/>
          </a:prstGeom>
          <a:solidFill>
            <a:srgbClr val="CC8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44144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503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469944" y="4155947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451656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480153" y="4155947"/>
            <a:ext cx="973632" cy="141732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61865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90362" y="4155947"/>
            <a:ext cx="973632" cy="141732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72074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429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00571" y="4155947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82283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10780" y="4155947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492492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20988" y="4155947"/>
            <a:ext cx="973632" cy="141732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502700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531197" y="4155947"/>
            <a:ext cx="973632" cy="141732"/>
          </a:xfrm>
          <a:prstGeom prst="rect">
            <a:avLst/>
          </a:prstGeom>
          <a:solidFill>
            <a:srgbClr val="81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512909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183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41406" y="4155947"/>
            <a:ext cx="973632" cy="141732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52311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" y="431139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459736" y="4325112"/>
            <a:ext cx="973632" cy="141732"/>
          </a:xfrm>
          <a:prstGeom prst="rect">
            <a:avLst/>
          </a:prstGeom>
          <a:solidFill>
            <a:srgbClr val="CB9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44144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473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469944" y="4325112"/>
            <a:ext cx="973632" cy="141732"/>
          </a:xfrm>
          <a:prstGeom prst="rect">
            <a:avLst/>
          </a:prstGeom>
          <a:solidFill>
            <a:srgbClr val="D16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51656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509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480153" y="4325112"/>
            <a:ext cx="973632" cy="141732"/>
          </a:xfrm>
          <a:prstGeom prst="rect">
            <a:avLst/>
          </a:prstGeom>
          <a:solidFill>
            <a:srgbClr val="D45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461865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299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490362" y="4325112"/>
            <a:ext cx="973632" cy="141732"/>
          </a:xfrm>
          <a:prstGeom prst="rect">
            <a:avLst/>
          </a:prstGeom>
          <a:solidFill>
            <a:srgbClr val="59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2074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00571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82283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803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510780" y="4325112"/>
            <a:ext cx="973632" cy="141732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92492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496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20988" y="4325112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2700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531197" y="4325112"/>
            <a:ext cx="973632" cy="141732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512909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207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541406" y="4325112"/>
            <a:ext cx="973632" cy="141732"/>
          </a:xfrm>
          <a:prstGeom prst="rect">
            <a:avLst/>
          </a:prstGeom>
          <a:solidFill>
            <a:srgbClr val="D54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52311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3232" y="448055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459736" y="4494275"/>
            <a:ext cx="973632" cy="141732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4144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469944" y="4494275"/>
            <a:ext cx="973632" cy="141732"/>
          </a:xfrm>
          <a:prstGeom prst="rect">
            <a:avLst/>
          </a:prstGeom>
          <a:solidFill>
            <a:srgbClr val="D06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451656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500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480153" y="4494275"/>
            <a:ext cx="973632" cy="141732"/>
          </a:xfrm>
          <a:prstGeom prst="rect">
            <a:avLst/>
          </a:prstGeom>
          <a:solidFill>
            <a:srgbClr val="D35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461865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90362" y="4494275"/>
            <a:ext cx="973632" cy="141732"/>
          </a:xfrm>
          <a:prstGeom prst="rect">
            <a:avLst/>
          </a:prstGeom>
          <a:solidFill>
            <a:srgbClr val="54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72074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384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00571" y="4494275"/>
            <a:ext cx="973632" cy="141732"/>
          </a:xfrm>
          <a:prstGeom prst="rect">
            <a:avLst/>
          </a:prstGeom>
          <a:solidFill>
            <a:srgbClr val="D54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82283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790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10780" y="4494275"/>
            <a:ext cx="973632" cy="141732"/>
          </a:xfrm>
          <a:prstGeom prst="rect">
            <a:avLst/>
          </a:prstGeom>
          <a:solidFill>
            <a:srgbClr val="CD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92492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485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20988" y="4494275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02700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698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531197" y="4494275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512909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196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541406" y="4494275"/>
            <a:ext cx="973632" cy="141732"/>
          </a:xfrm>
          <a:prstGeom prst="rect">
            <a:avLst/>
          </a:prstGeom>
          <a:solidFill>
            <a:srgbClr val="D44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52311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13232" y="464972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5973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44144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696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69944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51656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559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480153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461865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318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490362" y="4663439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472074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790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500571" y="4663439"/>
            <a:ext cx="973632" cy="141732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482283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537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10780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492492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0988" y="4663439"/>
            <a:ext cx="973632" cy="141732"/>
          </a:xfrm>
          <a:prstGeom prst="rect">
            <a:avLst/>
          </a:prstGeom>
          <a:solidFill>
            <a:srgbClr val="93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02700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242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1197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12909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0541406" y="4663439"/>
            <a:ext cx="973632" cy="141732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52311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93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58368" y="4901184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Costo mensual de manejar —bencina + peajes TAG— en miles de pesos. Verde = barato, rojo = caro.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cruza autopistas concesionadas hacia el oriente y el centro: su costo en auto está entre los más altos del set. Por eso su ventaja real es el tren, no el volante.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07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TRANSPORTE PÚBLICO · EL TREN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Los tiempos en transporte público: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el mismo mapa, hoy y con el tren.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51860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6E6A64"/>
                </a:solidFill>
                <a:latin typeface="Helvetica Neue"/>
              </a:rP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7307" y="2148840"/>
            <a:ext cx="51860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134E48"/>
                </a:solidFill>
                <a:latin typeface="Helvetica Neue"/>
              </a:rPr>
              <a:t>CON EL TREN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9312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696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8081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465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6850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5618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003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42615"/>
            <a:ext cx="1005839" cy="124750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33472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Estación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8216" y="2647188"/>
            <a:ext cx="422808" cy="115606"/>
          </a:xfrm>
          <a:prstGeom prst="rect">
            <a:avLst/>
          </a:prstGeom>
          <a:solidFill>
            <a:srgbClr val="CB9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87600" y="2647188"/>
            <a:ext cx="422808" cy="115606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46984" y="2647188"/>
            <a:ext cx="422808" cy="115606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6369" y="2647188"/>
            <a:ext cx="422808" cy="115606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5753" y="2647188"/>
            <a:ext cx="422808" cy="115606"/>
          </a:xfrm>
          <a:prstGeom prst="rect">
            <a:avLst/>
          </a:prstGeom>
          <a:solidFill>
            <a:srgbClr val="B0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5138" y="2647188"/>
            <a:ext cx="422808" cy="115606"/>
          </a:xfrm>
          <a:prstGeom prst="rect">
            <a:avLst/>
          </a:prstGeom>
          <a:solidFill>
            <a:srgbClr val="9F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4522" y="2647188"/>
            <a:ext cx="422808" cy="115606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43906" y="2647188"/>
            <a:ext cx="422808" cy="115606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3291" y="2647188"/>
            <a:ext cx="422808" cy="115606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2785654"/>
            <a:ext cx="1005839" cy="124750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776510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28216" y="2790226"/>
            <a:ext cx="422808" cy="115606"/>
          </a:xfrm>
          <a:prstGeom prst="rect">
            <a:avLst/>
          </a:prstGeom>
          <a:solidFill>
            <a:srgbClr val="CD8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87600" y="2790226"/>
            <a:ext cx="422808" cy="115606"/>
          </a:xfrm>
          <a:prstGeom prst="rect">
            <a:avLst/>
          </a:prstGeom>
          <a:solidFill>
            <a:srgbClr val="CD8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46984" y="2790226"/>
            <a:ext cx="422808" cy="115606"/>
          </a:xfrm>
          <a:prstGeom prst="rect">
            <a:avLst/>
          </a:prstGeom>
          <a:solidFill>
            <a:srgbClr val="C9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6369" y="2790226"/>
            <a:ext cx="422808" cy="115606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5753" y="2790226"/>
            <a:ext cx="422808" cy="115606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5138" y="2790226"/>
            <a:ext cx="422808" cy="115606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4522" y="2790226"/>
            <a:ext cx="422808" cy="115606"/>
          </a:xfrm>
          <a:prstGeom prst="rect">
            <a:avLst/>
          </a:prstGeom>
          <a:solidFill>
            <a:srgbClr val="D45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43906" y="2790226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03291" y="2790226"/>
            <a:ext cx="422808" cy="115606"/>
          </a:xfrm>
          <a:prstGeom prst="rect">
            <a:avLst/>
          </a:prstGeom>
          <a:solidFill>
            <a:srgbClr val="D16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2919548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Valle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28216" y="2933264"/>
            <a:ext cx="422808" cy="115606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87600" y="2933264"/>
            <a:ext cx="422808" cy="115606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46984" y="2933264"/>
            <a:ext cx="422808" cy="115606"/>
          </a:xfrm>
          <a:prstGeom prst="rect">
            <a:avLst/>
          </a:prstGeom>
          <a:solidFill>
            <a:srgbClr val="4C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6369" y="2933264"/>
            <a:ext cx="422808" cy="115606"/>
          </a:xfrm>
          <a:prstGeom prst="rect">
            <a:avLst/>
          </a:prstGeom>
          <a:solidFill>
            <a:srgbClr val="B1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65753" y="2933264"/>
            <a:ext cx="422808" cy="115606"/>
          </a:xfrm>
          <a:prstGeom prst="rect">
            <a:avLst/>
          </a:prstGeom>
          <a:solidFill>
            <a:srgbClr val="BA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5138" y="2933264"/>
            <a:ext cx="422808" cy="115606"/>
          </a:xfrm>
          <a:prstGeom prst="rect">
            <a:avLst/>
          </a:prstGeom>
          <a:solidFill>
            <a:srgbClr val="83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4522" y="2933264"/>
            <a:ext cx="422808" cy="115606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43906" y="2933264"/>
            <a:ext cx="422808" cy="115606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03291" y="2933264"/>
            <a:ext cx="422808" cy="115606"/>
          </a:xfrm>
          <a:prstGeom prst="rect">
            <a:avLst/>
          </a:prstGeom>
          <a:solidFill>
            <a:srgbClr val="46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62586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8216" y="3076302"/>
            <a:ext cx="422808" cy="115606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87600" y="3076302"/>
            <a:ext cx="422808" cy="115606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46984" y="3076302"/>
            <a:ext cx="422808" cy="115606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6369" y="3076302"/>
            <a:ext cx="422808" cy="115606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65753" y="3076302"/>
            <a:ext cx="422808" cy="115606"/>
          </a:xfrm>
          <a:prstGeom prst="rect">
            <a:avLst/>
          </a:prstGeom>
          <a:solidFill>
            <a:srgbClr val="8B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5138" y="3076302"/>
            <a:ext cx="422808" cy="115606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4522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43906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03291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3205625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Hacienda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28216" y="3219341"/>
            <a:ext cx="422808" cy="115606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87600" y="3219341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46984" y="3219341"/>
            <a:ext cx="422808" cy="115606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06369" y="3219341"/>
            <a:ext cx="422808" cy="115606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65753" y="3219341"/>
            <a:ext cx="422808" cy="115606"/>
          </a:xfrm>
          <a:prstGeom prst="rect">
            <a:avLst/>
          </a:prstGeom>
          <a:solidFill>
            <a:srgbClr val="CB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5138" y="3219341"/>
            <a:ext cx="422808" cy="115606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84522" y="3219341"/>
            <a:ext cx="422808" cy="115606"/>
          </a:xfrm>
          <a:prstGeom prst="rect">
            <a:avLst/>
          </a:prstGeom>
          <a:solidFill>
            <a:srgbClr val="D54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43906" y="3219341"/>
            <a:ext cx="422808" cy="115606"/>
          </a:xfrm>
          <a:prstGeom prst="rect">
            <a:avLst/>
          </a:prstGeom>
          <a:solidFill>
            <a:srgbClr val="D3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03291" y="3219341"/>
            <a:ext cx="422808" cy="115606"/>
          </a:xfrm>
          <a:prstGeom prst="rect">
            <a:avLst/>
          </a:prstGeom>
          <a:solidFill>
            <a:srgbClr val="D2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348663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28216" y="3362379"/>
            <a:ext cx="422808" cy="115606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87600" y="3362379"/>
            <a:ext cx="422808" cy="115606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46984" y="3362379"/>
            <a:ext cx="422808" cy="115606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06369" y="3362379"/>
            <a:ext cx="422808" cy="115606"/>
          </a:xfrm>
          <a:prstGeom prst="rect">
            <a:avLst/>
          </a:prstGeom>
          <a:solidFill>
            <a:srgbClr val="CC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65753" y="3362379"/>
            <a:ext cx="422808" cy="115606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25138" y="3362379"/>
            <a:ext cx="422808" cy="115606"/>
          </a:xfrm>
          <a:prstGeom prst="rect">
            <a:avLst/>
          </a:prstGeom>
          <a:solidFill>
            <a:srgbClr val="50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84522" y="3362379"/>
            <a:ext cx="422808" cy="115606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43906" y="3362379"/>
            <a:ext cx="422808" cy="115606"/>
          </a:xfrm>
          <a:prstGeom prst="rect">
            <a:avLst/>
          </a:prstGeom>
          <a:solidFill>
            <a:srgbClr val="65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03291" y="3362379"/>
            <a:ext cx="422808" cy="115606"/>
          </a:xfrm>
          <a:prstGeom prst="rect">
            <a:avLst/>
          </a:prstGeom>
          <a:solidFill>
            <a:srgbClr val="8C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491701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28216" y="3505417"/>
            <a:ext cx="422808" cy="115606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87600" y="3505417"/>
            <a:ext cx="422808" cy="115606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46984" y="3505417"/>
            <a:ext cx="422808" cy="115606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06369" y="3505417"/>
            <a:ext cx="422808" cy="115606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65753" y="3505417"/>
            <a:ext cx="422808" cy="115606"/>
          </a:xfrm>
          <a:prstGeom prst="rect">
            <a:avLst/>
          </a:prstGeom>
          <a:solidFill>
            <a:srgbClr val="B6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25138" y="3505417"/>
            <a:ext cx="422808" cy="115606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84522" y="3505417"/>
            <a:ext cx="422808" cy="115606"/>
          </a:xfrm>
          <a:prstGeom prst="rect">
            <a:avLst/>
          </a:prstGeom>
          <a:solidFill>
            <a:srgbClr val="8D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43906" y="3505417"/>
            <a:ext cx="422808" cy="115606"/>
          </a:xfrm>
          <a:prstGeom prst="rect">
            <a:avLst/>
          </a:prstGeom>
          <a:solidFill>
            <a:srgbClr val="67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03291" y="3505417"/>
            <a:ext cx="422808" cy="115606"/>
          </a:xfrm>
          <a:prstGeom prst="rect">
            <a:avLst/>
          </a:prstGeom>
          <a:solidFill>
            <a:srgbClr val="73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3634740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28216" y="3648456"/>
            <a:ext cx="422808" cy="115606"/>
          </a:xfrm>
          <a:prstGeom prst="rect">
            <a:avLst/>
          </a:prstGeom>
          <a:solidFill>
            <a:srgbClr val="CD8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87600" y="3648456"/>
            <a:ext cx="422808" cy="115606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646984" y="3648456"/>
            <a:ext cx="422808" cy="115606"/>
          </a:xfrm>
          <a:prstGeom prst="rect">
            <a:avLst/>
          </a:prstGeom>
          <a:solidFill>
            <a:srgbClr val="A2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06369" y="3648456"/>
            <a:ext cx="422808" cy="115606"/>
          </a:xfrm>
          <a:prstGeom prst="rect">
            <a:avLst/>
          </a:prstGeom>
          <a:solidFill>
            <a:srgbClr val="CB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65753" y="3648456"/>
            <a:ext cx="422808" cy="115606"/>
          </a:xfrm>
          <a:prstGeom prst="rect">
            <a:avLst/>
          </a:prstGeom>
          <a:solidFill>
            <a:srgbClr val="C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5138" y="3648456"/>
            <a:ext cx="422808" cy="115606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84522" y="3648456"/>
            <a:ext cx="422808" cy="115606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43906" y="3648456"/>
            <a:ext cx="422808" cy="115606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03291" y="3648456"/>
            <a:ext cx="422808" cy="115606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3232" y="3777778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Laguna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728216" y="3791494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87600" y="3791494"/>
            <a:ext cx="422808" cy="115606"/>
          </a:xfrm>
          <a:prstGeom prst="rect">
            <a:avLst/>
          </a:prstGeom>
          <a:solidFill>
            <a:srgbClr val="D54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46984" y="3791494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6369" y="3791494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565753" y="3791494"/>
            <a:ext cx="422808" cy="115606"/>
          </a:xfrm>
          <a:prstGeom prst="rect">
            <a:avLst/>
          </a:prstGeom>
          <a:solidFill>
            <a:srgbClr val="D0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025138" y="3791494"/>
            <a:ext cx="422808" cy="115606"/>
          </a:xfrm>
          <a:prstGeom prst="rect">
            <a:avLst/>
          </a:prstGeom>
          <a:solidFill>
            <a:srgbClr val="CE7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84522" y="3791494"/>
            <a:ext cx="422808" cy="115606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943906" y="3791494"/>
            <a:ext cx="422808" cy="115606"/>
          </a:xfrm>
          <a:prstGeom prst="rect">
            <a:avLst/>
          </a:prstGeom>
          <a:solidFill>
            <a:srgbClr val="97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403291" y="3791494"/>
            <a:ext cx="422808" cy="115606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3232" y="3920816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Santa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28216" y="3934532"/>
            <a:ext cx="422808" cy="115606"/>
          </a:xfrm>
          <a:prstGeom prst="rect">
            <a:avLst/>
          </a:prstGeom>
          <a:solidFill>
            <a:srgbClr val="CF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187600" y="3934532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46984" y="3934532"/>
            <a:ext cx="422808" cy="115606"/>
          </a:xfrm>
          <a:prstGeom prst="rect">
            <a:avLst/>
          </a:prstGeom>
          <a:solidFill>
            <a:srgbClr val="7E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106369" y="3934532"/>
            <a:ext cx="422808" cy="115606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565753" y="3934532"/>
            <a:ext cx="422808" cy="115606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025138" y="3934532"/>
            <a:ext cx="422808" cy="115606"/>
          </a:xfrm>
          <a:prstGeom prst="rect">
            <a:avLst/>
          </a:prstGeom>
          <a:solidFill>
            <a:srgbClr val="B7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84522" y="3934532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43906" y="3934532"/>
            <a:ext cx="422808" cy="115606"/>
          </a:xfrm>
          <a:prstGeom prst="rect">
            <a:avLst/>
          </a:prstGeom>
          <a:solidFill>
            <a:srgbClr val="CE7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03291" y="3934532"/>
            <a:ext cx="422808" cy="115606"/>
          </a:xfrm>
          <a:prstGeom prst="rect">
            <a:avLst/>
          </a:prstGeom>
          <a:solidFill>
            <a:srgbClr val="CF7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232" y="4063854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728216" y="4077570"/>
            <a:ext cx="422808" cy="115606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87600" y="4077570"/>
            <a:ext cx="422808" cy="115606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46984" y="4077570"/>
            <a:ext cx="422808" cy="115606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106369" y="4077570"/>
            <a:ext cx="422808" cy="115606"/>
          </a:xfrm>
          <a:prstGeom prst="rect">
            <a:avLst/>
          </a:prstGeom>
          <a:solidFill>
            <a:srgbClr val="BC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65753" y="4077570"/>
            <a:ext cx="422808" cy="115606"/>
          </a:xfrm>
          <a:prstGeom prst="rect">
            <a:avLst/>
          </a:prstGeom>
          <a:solidFill>
            <a:srgbClr val="D54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5138" y="4077570"/>
            <a:ext cx="422808" cy="115606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484522" y="4077570"/>
            <a:ext cx="422808" cy="115606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943906" y="4077570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403291" y="4077570"/>
            <a:ext cx="422808" cy="115606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3232" y="4206893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El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728216" y="4220609"/>
            <a:ext cx="422808" cy="115606"/>
          </a:xfrm>
          <a:prstGeom prst="rect">
            <a:avLst/>
          </a:prstGeom>
          <a:solidFill>
            <a:srgbClr val="B2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187600" y="4220609"/>
            <a:ext cx="422808" cy="115606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46984" y="4220609"/>
            <a:ext cx="422808" cy="115606"/>
          </a:xfrm>
          <a:prstGeom prst="rect">
            <a:avLst/>
          </a:prstGeom>
          <a:solidFill>
            <a:srgbClr val="D25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06369" y="4220609"/>
            <a:ext cx="422808" cy="115606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565753" y="4220609"/>
            <a:ext cx="422808" cy="115606"/>
          </a:xfrm>
          <a:prstGeom prst="rect">
            <a:avLst/>
          </a:prstGeom>
          <a:solidFill>
            <a:srgbClr val="D5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025138" y="4220609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84522" y="4220609"/>
            <a:ext cx="422808" cy="115606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43906" y="4220609"/>
            <a:ext cx="422808" cy="115606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403291" y="4220609"/>
            <a:ext cx="422808" cy="115606"/>
          </a:xfrm>
          <a:prstGeom prst="rect">
            <a:avLst/>
          </a:prstGeom>
          <a:solidFill>
            <a:srgbClr val="A5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3232" y="4349931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728216" y="4363647"/>
            <a:ext cx="422808" cy="115606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187600" y="4363647"/>
            <a:ext cx="422808" cy="115606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46984" y="4363647"/>
            <a:ext cx="422808" cy="115606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106369" y="4363647"/>
            <a:ext cx="422808" cy="115606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565753" y="4363647"/>
            <a:ext cx="422808" cy="115606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025138" y="4363647"/>
            <a:ext cx="422808" cy="115606"/>
          </a:xfrm>
          <a:prstGeom prst="rect">
            <a:avLst/>
          </a:prstGeom>
          <a:solidFill>
            <a:srgbClr val="BF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484522" y="4363647"/>
            <a:ext cx="422808" cy="115606"/>
          </a:xfrm>
          <a:prstGeom prst="rect">
            <a:avLst/>
          </a:prstGeom>
          <a:solidFill>
            <a:srgbClr val="D3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943906" y="4363647"/>
            <a:ext cx="422808" cy="115606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403291" y="4363647"/>
            <a:ext cx="422808" cy="115606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13232" y="4492969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Colina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728216" y="4506685"/>
            <a:ext cx="422808" cy="115606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187600" y="4506685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646984" y="4506685"/>
            <a:ext cx="422808" cy="115606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06369" y="4506685"/>
            <a:ext cx="422808" cy="115606"/>
          </a:xfrm>
          <a:prstGeom prst="rect">
            <a:avLst/>
          </a:prstGeom>
          <a:solidFill>
            <a:srgbClr val="5F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565753" y="4506685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5138" y="4506685"/>
            <a:ext cx="422808" cy="115606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484522" y="4506685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943906" y="4506685"/>
            <a:ext cx="422808" cy="115606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403291" y="4506685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398867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58252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17636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77020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236405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695789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55174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614558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073942" y="2395728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47307" y="2642615"/>
            <a:ext cx="1005839" cy="124750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2171" y="2633472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Estación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417155" y="2647188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876540" y="2647188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335924" y="2647188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795308" y="2647188"/>
            <a:ext cx="422808" cy="115606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54693" y="2647188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714077" y="2647188"/>
            <a:ext cx="422808" cy="115606"/>
          </a:xfrm>
          <a:prstGeom prst="rect">
            <a:avLst/>
          </a:prstGeom>
          <a:solidFill>
            <a:srgbClr val="51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173462" y="2647188"/>
            <a:ext cx="422808" cy="115606"/>
          </a:xfrm>
          <a:prstGeom prst="rect">
            <a:avLst/>
          </a:prstGeom>
          <a:solidFill>
            <a:srgbClr val="45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632846" y="2647188"/>
            <a:ext cx="422808" cy="115606"/>
          </a:xfrm>
          <a:prstGeom prst="rect">
            <a:avLst/>
          </a:prstGeom>
          <a:solidFill>
            <a:srgbClr val="AA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092230" y="2647188"/>
            <a:ext cx="422808" cy="115606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347307" y="2785654"/>
            <a:ext cx="1005839" cy="124750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402171" y="2776510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417155" y="2790226"/>
            <a:ext cx="422808" cy="115606"/>
          </a:xfrm>
          <a:prstGeom prst="rect">
            <a:avLst/>
          </a:prstGeom>
          <a:solidFill>
            <a:srgbClr val="40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6540" y="2790226"/>
            <a:ext cx="422808" cy="115606"/>
          </a:xfrm>
          <a:prstGeom prst="rect">
            <a:avLst/>
          </a:prstGeom>
          <a:solidFill>
            <a:srgbClr val="43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35924" y="2790226"/>
            <a:ext cx="422808" cy="115606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795308" y="2790226"/>
            <a:ext cx="422808" cy="115606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254693" y="2790226"/>
            <a:ext cx="422808" cy="115606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714077" y="2790226"/>
            <a:ext cx="422808" cy="115606"/>
          </a:xfrm>
          <a:prstGeom prst="rect">
            <a:avLst/>
          </a:prstGeom>
          <a:solidFill>
            <a:srgbClr val="5A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173462" y="2790226"/>
            <a:ext cx="422808" cy="115606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0632846" y="2790226"/>
            <a:ext cx="422808" cy="115606"/>
          </a:xfrm>
          <a:prstGeom prst="rect">
            <a:avLst/>
          </a:prstGeom>
          <a:solidFill>
            <a:srgbClr val="B8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1092230" y="2790226"/>
            <a:ext cx="422808" cy="115606"/>
          </a:xfrm>
          <a:prstGeom prst="rect">
            <a:avLst/>
          </a:prstGeom>
          <a:solidFill>
            <a:srgbClr val="42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402171" y="2919548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Valle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417155" y="2933264"/>
            <a:ext cx="422808" cy="115606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6540" y="2933264"/>
            <a:ext cx="422808" cy="115606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35924" y="2933264"/>
            <a:ext cx="422808" cy="115606"/>
          </a:xfrm>
          <a:prstGeom prst="rect">
            <a:avLst/>
          </a:prstGeom>
          <a:solidFill>
            <a:srgbClr val="4C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795308" y="2933264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254693" y="2933264"/>
            <a:ext cx="422808" cy="115606"/>
          </a:xfrm>
          <a:prstGeom prst="rect">
            <a:avLst/>
          </a:prstGeom>
          <a:solidFill>
            <a:srgbClr val="4D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714077" y="2933264"/>
            <a:ext cx="422808" cy="115606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0173462" y="2933264"/>
            <a:ext cx="422808" cy="115606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632846" y="2933264"/>
            <a:ext cx="422808" cy="115606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092230" y="2933264"/>
            <a:ext cx="422808" cy="115606"/>
          </a:xfrm>
          <a:prstGeom prst="rect">
            <a:avLst/>
          </a:prstGeom>
          <a:solidFill>
            <a:srgbClr val="46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402171" y="3062586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417155" y="3076302"/>
            <a:ext cx="422808" cy="115606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6540" y="3076302"/>
            <a:ext cx="422808" cy="115606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335924" y="3076302"/>
            <a:ext cx="422808" cy="115606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795308" y="3076302"/>
            <a:ext cx="422808" cy="115606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254693" y="3076302"/>
            <a:ext cx="422808" cy="115606"/>
          </a:xfrm>
          <a:prstGeom prst="rect">
            <a:avLst/>
          </a:prstGeom>
          <a:solidFill>
            <a:srgbClr val="8B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714077" y="3076302"/>
            <a:ext cx="422808" cy="115606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173462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632846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1092230" y="3076302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402171" y="3205625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Hacienda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417155" y="3219341"/>
            <a:ext cx="422808" cy="115606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6540" y="3219341"/>
            <a:ext cx="422808" cy="115606"/>
          </a:xfrm>
          <a:prstGeom prst="rect">
            <a:avLst/>
          </a:prstGeom>
          <a:solidFill>
            <a:srgbClr val="8C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335924" y="3219341"/>
            <a:ext cx="422808" cy="115606"/>
          </a:xfrm>
          <a:prstGeom prst="rect">
            <a:avLst/>
          </a:prstGeom>
          <a:solidFill>
            <a:srgbClr val="61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795308" y="3219341"/>
            <a:ext cx="422808" cy="115606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254693" y="3219341"/>
            <a:ext cx="422808" cy="115606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714077" y="3219341"/>
            <a:ext cx="422808" cy="115606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173462" y="3219341"/>
            <a:ext cx="422808" cy="115606"/>
          </a:xfrm>
          <a:prstGeom prst="rect">
            <a:avLst/>
          </a:prstGeom>
          <a:solidFill>
            <a:srgbClr val="84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632846" y="3219341"/>
            <a:ext cx="422808" cy="115606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1092230" y="3219341"/>
            <a:ext cx="422808" cy="115606"/>
          </a:xfrm>
          <a:prstGeom prst="rect">
            <a:avLst/>
          </a:prstGeom>
          <a:solidFill>
            <a:srgbClr val="76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402171" y="3348663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417155" y="3362379"/>
            <a:ext cx="422808" cy="115606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6540" y="3362379"/>
            <a:ext cx="422808" cy="115606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335924" y="3362379"/>
            <a:ext cx="422808" cy="115606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795308" y="3362379"/>
            <a:ext cx="422808" cy="115606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54693" y="3362379"/>
            <a:ext cx="422808" cy="115606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714077" y="3362379"/>
            <a:ext cx="422808" cy="115606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173462" y="3362379"/>
            <a:ext cx="422808" cy="115606"/>
          </a:xfrm>
          <a:prstGeom prst="rect">
            <a:avLst/>
          </a:prstGeom>
          <a:solidFill>
            <a:srgbClr val="99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632846" y="3362379"/>
            <a:ext cx="422808" cy="115606"/>
          </a:xfrm>
          <a:prstGeom prst="rect">
            <a:avLst/>
          </a:prstGeom>
          <a:solidFill>
            <a:srgbClr val="65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092230" y="3362379"/>
            <a:ext cx="422808" cy="115606"/>
          </a:xfrm>
          <a:prstGeom prst="rect">
            <a:avLst/>
          </a:prstGeom>
          <a:solidFill>
            <a:srgbClr val="7F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02171" y="3491701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417155" y="3505417"/>
            <a:ext cx="422808" cy="115606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876540" y="3505417"/>
            <a:ext cx="422808" cy="115606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335924" y="3505417"/>
            <a:ext cx="422808" cy="115606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95308" y="3505417"/>
            <a:ext cx="422808" cy="115606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254693" y="3505417"/>
            <a:ext cx="422808" cy="115606"/>
          </a:xfrm>
          <a:prstGeom prst="rect">
            <a:avLst/>
          </a:prstGeom>
          <a:solidFill>
            <a:srgbClr val="B6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714077" y="3505417"/>
            <a:ext cx="422808" cy="115606"/>
          </a:xfrm>
          <a:prstGeom prst="rect">
            <a:avLst/>
          </a:prstGeom>
          <a:solidFill>
            <a:srgbClr val="AE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173462" y="3505417"/>
            <a:ext cx="422808" cy="115606"/>
          </a:xfrm>
          <a:prstGeom prst="rect">
            <a:avLst/>
          </a:prstGeom>
          <a:solidFill>
            <a:srgbClr val="8D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632846" y="3505417"/>
            <a:ext cx="422808" cy="115606"/>
          </a:xfrm>
          <a:prstGeom prst="rect">
            <a:avLst/>
          </a:prstGeom>
          <a:solidFill>
            <a:srgbClr val="67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092230" y="3505417"/>
            <a:ext cx="422808" cy="115606"/>
          </a:xfrm>
          <a:prstGeom prst="rect">
            <a:avLst/>
          </a:prstGeom>
          <a:solidFill>
            <a:srgbClr val="73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402171" y="3634740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417155" y="3648456"/>
            <a:ext cx="422808" cy="115606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876540" y="3648456"/>
            <a:ext cx="422808" cy="115606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335924" y="3648456"/>
            <a:ext cx="422808" cy="115606"/>
          </a:xfrm>
          <a:prstGeom prst="rect">
            <a:avLst/>
          </a:prstGeom>
          <a:solidFill>
            <a:srgbClr val="5B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795308" y="3648456"/>
            <a:ext cx="422808" cy="115606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254693" y="3648456"/>
            <a:ext cx="422808" cy="115606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714077" y="3648456"/>
            <a:ext cx="422808" cy="115606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173462" y="3648456"/>
            <a:ext cx="422808" cy="115606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632846" y="3648456"/>
            <a:ext cx="422808" cy="115606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092230" y="3648456"/>
            <a:ext cx="422808" cy="115606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402171" y="3777778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Laguna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417155" y="3791494"/>
            <a:ext cx="422808" cy="115606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76540" y="3791494"/>
            <a:ext cx="422808" cy="115606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335924" y="3791494"/>
            <a:ext cx="422808" cy="115606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795308" y="3791494"/>
            <a:ext cx="422808" cy="115606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254693" y="3791494"/>
            <a:ext cx="422808" cy="115606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14077" y="3791494"/>
            <a:ext cx="422808" cy="115606"/>
          </a:xfrm>
          <a:prstGeom prst="rect">
            <a:avLst/>
          </a:prstGeom>
          <a:solidFill>
            <a:srgbClr val="B4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173462" y="3791494"/>
            <a:ext cx="422808" cy="115606"/>
          </a:xfrm>
          <a:prstGeom prst="rect">
            <a:avLst/>
          </a:prstGeom>
          <a:solidFill>
            <a:srgbClr val="AE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632846" y="3791494"/>
            <a:ext cx="422808" cy="115606"/>
          </a:xfrm>
          <a:prstGeom prst="rect">
            <a:avLst/>
          </a:prstGeom>
          <a:solidFill>
            <a:srgbClr val="92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092230" y="3791494"/>
            <a:ext cx="422808" cy="115606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402171" y="3920816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Santa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417155" y="3934532"/>
            <a:ext cx="422808" cy="115606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876540" y="3934532"/>
            <a:ext cx="422808" cy="115606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35924" y="3934532"/>
            <a:ext cx="422808" cy="115606"/>
          </a:xfrm>
          <a:prstGeom prst="rect">
            <a:avLst/>
          </a:prstGeom>
          <a:solidFill>
            <a:srgbClr val="7E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795308" y="3934532"/>
            <a:ext cx="422808" cy="115606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254693" y="3934532"/>
            <a:ext cx="422808" cy="115606"/>
          </a:xfrm>
          <a:prstGeom prst="rect">
            <a:avLst/>
          </a:prstGeom>
          <a:solidFill>
            <a:srgbClr val="B8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14077" y="3934532"/>
            <a:ext cx="422808" cy="115606"/>
          </a:xfrm>
          <a:prstGeom prst="rect">
            <a:avLst/>
          </a:prstGeom>
          <a:solidFill>
            <a:srgbClr val="B7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173462" y="3934532"/>
            <a:ext cx="422808" cy="115606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632846" y="3934532"/>
            <a:ext cx="422808" cy="115606"/>
          </a:xfrm>
          <a:prstGeom prst="rect">
            <a:avLst/>
          </a:prstGeom>
          <a:solidFill>
            <a:srgbClr val="CE7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092230" y="3934532"/>
            <a:ext cx="422808" cy="115606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402171" y="4063854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417155" y="4077570"/>
            <a:ext cx="422808" cy="115606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876540" y="4077570"/>
            <a:ext cx="422808" cy="115606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335924" y="4077570"/>
            <a:ext cx="422808" cy="115606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795308" y="4077570"/>
            <a:ext cx="422808" cy="115606"/>
          </a:xfrm>
          <a:prstGeom prst="rect">
            <a:avLst/>
          </a:prstGeom>
          <a:solidFill>
            <a:srgbClr val="BC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254693" y="4077570"/>
            <a:ext cx="422808" cy="115606"/>
          </a:xfrm>
          <a:prstGeom prst="rect">
            <a:avLst/>
          </a:prstGeom>
          <a:solidFill>
            <a:srgbClr val="D2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714077" y="4077570"/>
            <a:ext cx="422808" cy="115606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0173462" y="4077570"/>
            <a:ext cx="422808" cy="115606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632846" y="4077570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092230" y="4077570"/>
            <a:ext cx="422808" cy="115606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402171" y="4206893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El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417155" y="4220609"/>
            <a:ext cx="422808" cy="115606"/>
          </a:xfrm>
          <a:prstGeom prst="rect">
            <a:avLst/>
          </a:prstGeom>
          <a:solidFill>
            <a:srgbClr val="B2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876540" y="4220609"/>
            <a:ext cx="422808" cy="115606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335924" y="4220609"/>
            <a:ext cx="422808" cy="115606"/>
          </a:xfrm>
          <a:prstGeom prst="rect">
            <a:avLst/>
          </a:prstGeom>
          <a:solidFill>
            <a:srgbClr val="D1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795308" y="4220609"/>
            <a:ext cx="422808" cy="115606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254693" y="4220609"/>
            <a:ext cx="422808" cy="115606"/>
          </a:xfrm>
          <a:prstGeom prst="rect">
            <a:avLst/>
          </a:prstGeom>
          <a:solidFill>
            <a:srgbClr val="D35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714077" y="4220609"/>
            <a:ext cx="422808" cy="115606"/>
          </a:xfrm>
          <a:prstGeom prst="rect">
            <a:avLst/>
          </a:prstGeom>
          <a:solidFill>
            <a:srgbClr val="D0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173462" y="4220609"/>
            <a:ext cx="422808" cy="115606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632846" y="4220609"/>
            <a:ext cx="422808" cy="115606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1092230" y="4220609"/>
            <a:ext cx="422808" cy="115606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402171" y="4349931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417155" y="4363647"/>
            <a:ext cx="422808" cy="115606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876540" y="4363647"/>
            <a:ext cx="422808" cy="115606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335924" y="4363647"/>
            <a:ext cx="422808" cy="115606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795308" y="4363647"/>
            <a:ext cx="422808" cy="115606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254693" y="4363647"/>
            <a:ext cx="422808" cy="115606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714077" y="4363647"/>
            <a:ext cx="422808" cy="115606"/>
          </a:xfrm>
          <a:prstGeom prst="rect">
            <a:avLst/>
          </a:prstGeom>
          <a:solidFill>
            <a:srgbClr val="BF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173462" y="4363647"/>
            <a:ext cx="422808" cy="115606"/>
          </a:xfrm>
          <a:prstGeom prst="rect">
            <a:avLst/>
          </a:prstGeom>
          <a:solidFill>
            <a:srgbClr val="CE7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632846" y="4363647"/>
            <a:ext cx="422808" cy="115606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1092230" y="4363647"/>
            <a:ext cx="422808" cy="115606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402171" y="4492969"/>
            <a:ext cx="905255" cy="1430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Colina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7417155" y="4506685"/>
            <a:ext cx="422808" cy="115606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876540" y="4506685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35924" y="4506685"/>
            <a:ext cx="422808" cy="115606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795308" y="4506685"/>
            <a:ext cx="422808" cy="115606"/>
          </a:xfrm>
          <a:prstGeom prst="rect">
            <a:avLst/>
          </a:prstGeom>
          <a:solidFill>
            <a:srgbClr val="5F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254693" y="4506685"/>
            <a:ext cx="422808" cy="115606"/>
          </a:xfrm>
          <a:prstGeom prst="rect">
            <a:avLst/>
          </a:prstGeom>
          <a:solidFill>
            <a:srgbClr val="D35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714077" y="4506685"/>
            <a:ext cx="422808" cy="115606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173462" y="4506685"/>
            <a:ext cx="422808" cy="115606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632846" y="4506685"/>
            <a:ext cx="422808" cy="115606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092230" y="4506685"/>
            <a:ext cx="422808" cy="11560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58368" y="4791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7D24"/>
                </a:solidFill>
                <a:latin typeface="Helvetica Neue"/>
              </a:rPr>
              <a:t>Estación Colina 5º → 1º</a:t>
            </a:r>
            <a:r>
              <a:rPr sz="1150" b="1">
                <a:solidFill>
                  <a:srgbClr val="B07D24"/>
                </a:solidFill>
                <a:latin typeface="Helvetica Neue"/>
              </a:rPr>
              <a:t>      Batuco 11º → 2º</a:t>
            </a:r>
            <a:r>
              <a:rPr sz="1100" b="0">
                <a:solidFill>
                  <a:srgbClr val="6E6A64"/>
                </a:solidFill>
                <a:latin typeface="Helvetica Neue"/>
              </a:rPr>
              <a:t>   del set en transporte público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Las filas que hoy son rojas para nuestros proyectos se vuelven verdes con el tren: Estación Colina pasa a ser la mejor conectada, y Batuco la segunda.</a:t>
            </a:r>
          </a:p>
        </p:txBody>
      </p:sp>
      <p:cxnSp>
        <p:nvCxnSpPr>
          <p:cNvPr id="314" name="Connector 313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TextBox 314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08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TRANSPORTE PÚBLICO · COSTO — EL CANDADO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El otro reparo: su transporte público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no es RED, y eso se paga.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1656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865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74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283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492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700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2909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311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9944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656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153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1865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362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74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571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2283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0780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2492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0988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2700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1197" y="2464308"/>
            <a:ext cx="973632" cy="141732"/>
          </a:xfrm>
          <a:prstGeom prst="rect">
            <a:avLst/>
          </a:prstGeom>
          <a:solidFill>
            <a:srgbClr val="41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909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1406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311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261975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69944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1656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153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1865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0362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2074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0571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2283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0780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2492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0988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700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31197" y="2633472"/>
            <a:ext cx="973632" cy="141732"/>
          </a:xfrm>
          <a:prstGeom prst="rect">
            <a:avLst/>
          </a:prstGeom>
          <a:solidFill>
            <a:srgbClr val="41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2909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41406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11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788920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4144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9944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656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153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1865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90362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74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0571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2283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0780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2492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0988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2700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1197" y="2802636"/>
            <a:ext cx="973632" cy="141732"/>
          </a:xfrm>
          <a:prstGeom prst="rect">
            <a:avLst/>
          </a:prstGeom>
          <a:solidFill>
            <a:srgbClr val="41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2909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1406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311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295808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9736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144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69944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1656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153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61865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90362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72074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00571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2283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0780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2492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0988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2700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31197" y="2971799"/>
            <a:ext cx="973632" cy="141732"/>
          </a:xfrm>
          <a:prstGeom prst="rect">
            <a:avLst/>
          </a:prstGeom>
          <a:solidFill>
            <a:srgbClr val="41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12909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41406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2311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" y="312724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59736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144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69944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1656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153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1865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90362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2074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00571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283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10780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2492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0988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2700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31197" y="3140964"/>
            <a:ext cx="973632" cy="141732"/>
          </a:xfrm>
          <a:prstGeom prst="rect">
            <a:avLst/>
          </a:prstGeom>
          <a:solidFill>
            <a:srgbClr val="41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12909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41406" y="3140964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311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232" y="329641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59736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4144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469944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51656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80153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61865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90362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72074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500571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82283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10780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92492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20988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02700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31197" y="3310127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12909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41406" y="331012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2311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" y="3465575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59736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4144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469944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451656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480153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461865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90362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472074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00571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82283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510780" y="3479291"/>
            <a:ext cx="973632" cy="141732"/>
          </a:xfrm>
          <a:prstGeom prst="rect">
            <a:avLst/>
          </a:prstGeom>
          <a:solidFill>
            <a:srgbClr val="CF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92492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20988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502700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531197" y="3479291"/>
            <a:ext cx="973632" cy="141732"/>
          </a:xfrm>
          <a:prstGeom prst="rect">
            <a:avLst/>
          </a:prstGeom>
          <a:solidFill>
            <a:srgbClr val="A0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512909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66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541406" y="3479291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52311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3643883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13232" y="363473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9736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4144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69944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51656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480153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61865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90362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72074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0571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82283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10780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92492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520988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02700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31197" y="3648456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12909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41406" y="3648456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311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232" y="3803904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9736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4144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9944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51656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80153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61865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90362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72074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00571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482283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10780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92492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0988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2700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31197" y="3817620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512909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41406" y="3817620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2311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3232" y="397306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9736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4144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69944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51656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153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461865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90362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472074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00571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2283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10780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492492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20988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02700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31197" y="3986783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12909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41406" y="3986783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2311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13232" y="414223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459736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44144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469944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451656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480153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461865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490362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472074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500571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482283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510780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492492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20988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8502700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531197" y="4155947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512909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541406" y="4155947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52311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58368" y="4320540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713232" y="431139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459736" y="4325112"/>
            <a:ext cx="973632" cy="141732"/>
          </a:xfrm>
          <a:prstGeom prst="rect">
            <a:avLst/>
          </a:prstGeom>
          <a:solidFill>
            <a:srgbClr val="CF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44144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469944" y="4325112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51656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480153" y="4325112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461865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490362" y="4325112"/>
            <a:ext cx="973632" cy="141732"/>
          </a:xfrm>
          <a:prstGeom prst="rect">
            <a:avLst/>
          </a:prstGeom>
          <a:solidFill>
            <a:srgbClr val="579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2074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48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00571" y="4325112"/>
            <a:ext cx="973632" cy="141732"/>
          </a:xfrm>
          <a:prstGeom prst="rect">
            <a:avLst/>
          </a:prstGeom>
          <a:solidFill>
            <a:srgbClr val="CF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82283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103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510780" y="4325112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92492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20988" y="4325112"/>
            <a:ext cx="973632" cy="141732"/>
          </a:xfrm>
          <a:prstGeom prst="rect">
            <a:avLst/>
          </a:prstGeom>
          <a:solidFill>
            <a:srgbClr val="CF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2700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531197" y="4325112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512909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541406" y="4325112"/>
            <a:ext cx="973632" cy="141732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52311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85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3232" y="448055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459736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4144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469944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451656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480153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461865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90362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72074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00571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82283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10780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92492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20988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02700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531197" y="4494275"/>
            <a:ext cx="973632" cy="141732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512909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541406" y="4494275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52311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94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13232" y="464972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5973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44144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69944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51656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480153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461865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490362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472074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500571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482283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10780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492492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0988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02700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1197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12909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054140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52311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58368" y="4901184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Costo mensual de transporte público, en miles de pesos. Batuco y Estación Colina pagan por tramo, sin bip! integrado → tarifa más alta.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Estación Colina y Batuco quedan rojos: al no estar integrados a RED, pagan el tramo aparte. Es una debilidad — y una palanca que sí podemos mover (lámina 15).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09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CAMBIO · LA AUTOPISTA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La Orbital sube a Batuco al podio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vial — la mayor palanca del estudio.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21579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A64"/>
                </a:solidFill>
                <a:latin typeface="Helvetica Neue"/>
              </a:rPr>
              <a:t>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2468880"/>
            <a:ext cx="5120640" cy="4572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528" y="252374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026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A64"/>
                </a:solidFill>
                <a:latin typeface="Helvetica Neue"/>
              </a:rPr>
              <a:t>Con la Orbital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3337560"/>
            <a:ext cx="3315428" cy="457200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77316" y="33924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52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07D24"/>
                </a:solidFill>
                <a:latin typeface="Helvetica Neue"/>
              </a:rPr>
              <a:t>−</a:t>
            </a:r>
            <a:r>
              <a:rPr sz="3000" b="1">
                <a:solidFill>
                  <a:srgbClr val="B07D24"/>
                </a:solidFill>
                <a:latin typeface="Helvetica Neue"/>
              </a:rPr>
              <a:t>28 min</a:t>
            </a:r>
            <a:r>
              <a:rPr sz="1500" b="0">
                <a:solidFill>
                  <a:srgbClr val="6E6A64"/>
                </a:solidFill>
                <a:latin typeface="Helvetica Neue"/>
              </a:rPr>
              <a:t>   ·  del 10º al </a:t>
            </a:r>
            <a:r>
              <a:rPr sz="2000" b="1">
                <a:solidFill>
                  <a:srgbClr val="B07D24"/>
                </a:solidFill>
                <a:latin typeface="Helvetica Neue"/>
              </a:rPr>
              <a:t>3º</a:t>
            </a:r>
            <a:r>
              <a:rPr sz="1500" b="0">
                <a:solidFill>
                  <a:srgbClr val="6E6A64"/>
                </a:solidFill>
                <a:latin typeface="Helvetica Neue"/>
              </a:rPr>
              <a:t> lugar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30">
                <a:solidFill>
                  <a:srgbClr val="134E48"/>
                </a:solidFill>
                <a:latin typeface="Helvetica Neue"/>
              </a:rPr>
              <a:t>SÓLO EL CORREDOR NORPONIENTE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9748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La autopista Orbital Norponiente cruza el terreno de Batuco: enlace a 7 minutos. Es la diferencia entre una zona periférica y una que pelea el podio en auto.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A64"/>
                </a:solidFill>
                <a:latin typeface="Helvetica Neue"/>
              </a:rPr>
              <a:t>Estación Colina no depende de esta obra: su fuerte es la centralidad y el tren. Cada proyecto juega su carta.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Comunicar “con la Orbital” no es un detalle de ingeniería: es EL argumento vial de Batuco.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10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DIRECTORIO · 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Cada zona, ubicada por tiempo y costo 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manejar. El ideal: rápida y barata.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7007" y="3908769"/>
            <a:ext cx="4489692" cy="754670"/>
          </a:xfrm>
          <a:prstGeom prst="rect">
            <a:avLst/>
          </a:prstGeom>
          <a:solidFill>
            <a:srgbClr val="EF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696700" y="2514600"/>
            <a:ext cx="0" cy="214884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07007" y="3908769"/>
            <a:ext cx="9594800" cy="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7" y="4718303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E6A64"/>
                </a:solidFill>
                <a:latin typeface="Helvetica Neue"/>
              </a:rPr>
              <a:t>← más rápido en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247" y="4718303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E6A64"/>
                </a:solidFill>
                <a:latin typeface="Helvetica Neue"/>
              </a:rPr>
              <a:t>más lento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" y="225856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E6A64"/>
                </a:solidFill>
                <a:latin typeface="Helvetica Neue"/>
              </a:rPr>
              <a:t>↑ más caro de manejar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435254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40">
                <a:solidFill>
                  <a:srgbClr val="2F9E6E"/>
                </a:solidFill>
                <a:latin typeface="Helvetica Neue"/>
              </a:rPr>
              <a:t>RÁPIDA Y BARATA ✓</a:t>
            </a:r>
          </a:p>
        </p:txBody>
      </p:sp>
      <p:sp>
        <p:nvSpPr>
          <p:cNvPr id="12" name="Oval 11"/>
          <p:cNvSpPr/>
          <p:nvPr/>
        </p:nvSpPr>
        <p:spPr>
          <a:xfrm>
            <a:off x="7315529" y="3419108"/>
            <a:ext cx="182880" cy="182880"/>
          </a:xfrm>
          <a:prstGeom prst="ellipse">
            <a:avLst/>
          </a:prstGeom>
          <a:solidFill>
            <a:srgbClr val="B07D24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4129" y="3400820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4" name="Oval 13"/>
          <p:cNvSpPr/>
          <p:nvPr/>
        </p:nvSpPr>
        <p:spPr>
          <a:xfrm>
            <a:off x="4462590" y="3882145"/>
            <a:ext cx="182880" cy="182880"/>
          </a:xfrm>
          <a:prstGeom prst="ellipse">
            <a:avLst/>
          </a:prstGeom>
          <a:solidFill>
            <a:srgbClr val="B07D24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1190" y="3863857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6" name="Oval 15"/>
          <p:cNvSpPr/>
          <p:nvPr/>
        </p:nvSpPr>
        <p:spPr>
          <a:xfrm>
            <a:off x="4260093" y="4512919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6807" y="4225095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25919" y="4299016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89144" y="2826443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80402" y="3537148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3167" y="3853905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6875" y="4044395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01465" y="2555392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8307" y="2952740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44419" y="4464938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07644" y="3512145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41836" y="3905814"/>
            <a:ext cx="109728" cy="109728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Estación Colina cae en la mitad rápida y de costo medio; Batuco es rápido con la Orbital, pero caro de manejar. Dos perfiles, dos argumentos de venta distintos.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11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CUÁNTO VALE · EN 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El sobreprecio en UF: cuánto más puede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pedir cada zona por su conectividad.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00">
                <a:solidFill>
                  <a:srgbClr val="6E6A64"/>
                </a:solidFill>
                <a:latin typeface="Helvetica Neue"/>
              </a:rPr>
              <a:t>UF QUE JUSTIFICA UNA VIVIENDA POR SOBRE LA ZONA MENOS CONECTADA DEL SET · TIEMPO + COSTO AHORRADOS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7685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27685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286000"/>
            <a:ext cx="6138367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6983" y="22677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2.277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0271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5027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511856"/>
            <a:ext cx="6112222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0838" y="249356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2.268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28569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728569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37713"/>
            <a:ext cx="5910933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9549" y="2719425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2.193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5442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7D24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95442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963570"/>
            <a:ext cx="4543934" cy="134416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2550" y="294528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7D24"/>
                </a:solidFill>
                <a:latin typeface="Helvetica Neue"/>
              </a:rPr>
              <a:t>1.686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80283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3180283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189427"/>
            <a:ext cx="4339572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8188" y="3171139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1.610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406140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" y="340614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415284"/>
            <a:ext cx="4201881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0497" y="339699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1.559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3199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5" y="363199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641140"/>
            <a:ext cx="3795791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4407" y="362285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1.408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857853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" y="3857853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866997"/>
            <a:ext cx="3523654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2270" y="3848709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1.307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083710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5" y="408371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092854"/>
            <a:ext cx="3404021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2637" y="407456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1.263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309567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5" y="4309567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318711"/>
            <a:ext cx="2843859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75" y="4300423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1.055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3542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7D24"/>
                </a:solidFill>
                <a:latin typeface="Helvetica Neue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5" y="453542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544568"/>
            <a:ext cx="2746403" cy="134416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75019" y="452628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7D24"/>
                </a:solidFill>
                <a:latin typeface="Helvetica Neue"/>
              </a:rPr>
              <a:t>1.019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61280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5" y="47612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70424"/>
            <a:ext cx="2291802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0418" y="475213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850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987137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" y="4987137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4996281"/>
            <a:ext cx="1942530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71146" y="4977993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721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212994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A958C"/>
                </a:solidFill>
                <a:latin typeface="Helvetica Neue"/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5" y="521299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5222138"/>
            <a:ext cx="870972" cy="134416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99588" y="520385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616"/>
                </a:solidFill>
                <a:latin typeface="Helvetica Neue"/>
              </a:rPr>
              <a:t>323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Se mide contra la peor zona del set (Buin): una vivienda en Estación Colina justifica ~1.686 UF más, y Batuco ~1.019 UF más — solo por lo que su gente ahorra en traslados, capitalizado.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12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POR TIPO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En cada segmento donde competimos,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estamos bien parados.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2478709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2478709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514600"/>
            <a:ext cx="215866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20">
                <a:solidFill>
                  <a:srgbClr val="161616"/>
                </a:solidFill>
                <a:latin typeface="Helvetica Neue"/>
              </a:rPr>
              <a:t>DS19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52928"/>
            <a:ext cx="21586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8C"/>
                </a:solidFill>
                <a:latin typeface="Helvetica Neue"/>
              </a:rPr>
              <a:t>8 zonas · ranking en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0040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1528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2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63016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Hda. Batuco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45052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59935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Colina·Reina 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7482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6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48970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7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70458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8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7117" y="2331720"/>
            <a:ext cx="2478709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7117" y="2331720"/>
            <a:ext cx="2478709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997" y="2514600"/>
            <a:ext cx="215866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20">
                <a:solidFill>
                  <a:srgbClr val="161616"/>
                </a:solidFill>
                <a:latin typeface="Helvetica Neue"/>
              </a:rPr>
              <a:t>Casa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997" y="2852928"/>
            <a:ext cx="21586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8C"/>
                </a:solidFill>
                <a:latin typeface="Helvetica Neue"/>
              </a:rPr>
              <a:t>13 zonas · ranking en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997" y="320040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997" y="341528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2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997" y="363016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Ayres Chicureo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997" y="3845052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Sta Elena Chic.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997" y="4059935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997" y="427482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6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997" y="448970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7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Hda. Batuco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997" y="470458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8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997" y="4919472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958C"/>
                </a:solidFill>
                <a:latin typeface="Helvetica Neue"/>
              </a:rPr>
              <a:t>+5 más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5867" y="2331720"/>
            <a:ext cx="2478709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5867" y="2331720"/>
            <a:ext cx="2478709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747" y="2514600"/>
            <a:ext cx="215866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20">
                <a:solidFill>
                  <a:srgbClr val="161616"/>
                </a:solidFill>
                <a:latin typeface="Helvetica Neue"/>
              </a:rPr>
              <a:t>Townhouses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47" y="2852928"/>
            <a:ext cx="21586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8C"/>
                </a:solidFill>
                <a:latin typeface="Helvetica Neue"/>
              </a:rPr>
              <a:t>4 zonas · ranking en auto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47" y="320040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747" y="341528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2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747" y="363016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3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747" y="3845052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4617" y="2331720"/>
            <a:ext cx="2478709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4617" y="2331720"/>
            <a:ext cx="2478709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7497" y="2514600"/>
            <a:ext cx="215866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20">
                <a:solidFill>
                  <a:srgbClr val="161616"/>
                </a:solidFill>
                <a:latin typeface="Helvetica Neue"/>
              </a:rPr>
              <a:t>Edificio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7497" y="2852928"/>
            <a:ext cx="21586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8C"/>
                </a:solidFill>
                <a:latin typeface="Helvetica Neue"/>
              </a:rPr>
              <a:t>6 zonas · ranking en auto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7497" y="320040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7497" y="3415284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2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7497" y="3630168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7497" y="3845052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4  </a:t>
            </a: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7497" y="4059935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7497" y="4274820"/>
            <a:ext cx="2158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A958C"/>
                </a:solidFill>
                <a:latin typeface="Helvetica Neue"/>
              </a:rPr>
              <a:t>6  </a:t>
            </a:r>
            <a:r>
              <a:rPr sz="95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Estación Colina compite en DS19, townhouses y edificios; Batuco en townhouses y edificios — y en varios, entre los mejores del segmento.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13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LOS REPAROS, SIN VUELTAS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Dónde somos débiles hoy — y por qué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cada reparo tiene salida.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Batuco es caro en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2359151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64"/>
                </a:solidFill>
                <a:latin typeface="Helvetica Neue"/>
              </a:rPr>
              <a:t>Cruza autopistas concesionadas: su costo de manejar está entre los más altos.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6368" y="2359151"/>
            <a:ext cx="4565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4E48"/>
                </a:solidFill>
                <a:latin typeface="Helvetica Neue"/>
              </a:rPr>
              <a:t>→  </a:t>
            </a:r>
            <a:r>
              <a:rPr sz="1250" b="1">
                <a:solidFill>
                  <a:srgbClr val="134E48"/>
                </a:solidFill>
                <a:latin typeface="Helvetica Neue"/>
              </a:rPr>
              <a:t>La Orbital lo acerca y el tren lo saca del auto.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136391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326440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El transporte público no es 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3291839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64"/>
                </a:solidFill>
                <a:latin typeface="Helvetica Neue"/>
              </a:rPr>
              <a:t>Batuco y Estación Colina pagan por tramo, sin bip! integrado: tarifa más alta.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3291839"/>
            <a:ext cx="4565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4E48"/>
                </a:solidFill>
                <a:latin typeface="Helvetica Neue"/>
              </a:rPr>
              <a:t>→  </a:t>
            </a:r>
            <a:r>
              <a:rPr sz="1250" b="1">
                <a:solidFill>
                  <a:srgbClr val="134E48"/>
                </a:solidFill>
                <a:latin typeface="Helvetica Neue"/>
              </a:rPr>
              <a:t>Integrarse a RED es gestión, no una obra: está en nuestra cancha.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069080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19709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El valor depende de obra futura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7" y="422452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64"/>
                </a:solidFill>
                <a:latin typeface="Helvetica Neue"/>
              </a:rPr>
              <a:t>La Orbital y los trenes están en construcción (2028–2030), no operando hoy.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224528"/>
            <a:ext cx="4565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4E48"/>
                </a:solidFill>
                <a:latin typeface="Helvetica Neue"/>
              </a:rPr>
              <a:t>→  </a:t>
            </a:r>
            <a:r>
              <a:rPr sz="1250" b="1">
                <a:solidFill>
                  <a:srgbClr val="134E48"/>
                </a:solidFill>
                <a:latin typeface="Helvetica Neue"/>
              </a:rPr>
              <a:t>Con cronograma oficial de EFE y el MOP como respaldo.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Ninguna debilidad es de fondo: dos se resuelven con la infraestructura que ya viene, y la tercera —RED— la podemos empujar nosotros.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14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JUGADA · INTEGRAR 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La palanca que está en nuestra cancha: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integrar Batuco y Colina a 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2219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Hoy · pagan por tramo (sin 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514600"/>
            <a:ext cx="4937760" cy="457200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528" y="256946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~$103k/mes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906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Integrado a RED (bip!)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383280"/>
            <a:ext cx="1750747" cy="457200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5515" y="34381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9E6E"/>
                </a:solidFill>
                <a:latin typeface="Helvetica Neue"/>
              </a:rPr>
              <a:t>~$37k/mes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F9E6E"/>
                </a:solidFill>
                <a:latin typeface="Helvetica Neue"/>
              </a:rPr>
              <a:t>−</a:t>
            </a:r>
            <a:r>
              <a:rPr sz="2600" b="1">
                <a:solidFill>
                  <a:srgbClr val="2F9E6E"/>
                </a:solidFill>
                <a:latin typeface="Helvetica Neue"/>
              </a:rPr>
              <a:t>65%</a:t>
            </a:r>
            <a:r>
              <a:rPr sz="1400" b="0">
                <a:solidFill>
                  <a:srgbClr val="6E6A64"/>
                </a:solidFill>
                <a:latin typeface="Helvetica Neue"/>
              </a:rPr>
              <a:t>  en el costo de transporte público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00">
                <a:solidFill>
                  <a:srgbClr val="B07D24"/>
                </a:solidFill>
                <a:latin typeface="Helvetica Neue"/>
              </a:rPr>
              <a:t>NO ES UNA OBRA · ES GESTIÓN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249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Batuco y Estación Colina quedan a un trámite de tarifa integrada. Gestionar su incorporación a RED con el Ministerio de Transportes y EFE completa su ventaja competitiva — y no depende de esperar a 2030.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Es la recomendación central: pelear por la integración a RED. Baja el costo, sube el atractivo, y está bajo nuestra influencia — no la de una autopista por construir.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15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NUESTRO PROYECTO · BATUCO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0">
                <a:solidFill>
                  <a:srgbClr val="161616"/>
                </a:solidFill>
                <a:latin typeface="Helvetica Neue"/>
              </a:rPr>
              <a:t>Batuco: de periférico a podio con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0">
                <a:solidFill>
                  <a:srgbClr val="161616"/>
                </a:solidFill>
                <a:latin typeface="Helvetica Neue"/>
              </a:rPr>
              <a:t>la infraestructura que ya viene.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134E48"/>
                </a:solidFill>
                <a:latin typeface="Helvetica Neue"/>
              </a:rPr>
              <a:t>POSICIÓN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Auto  </a:t>
            </a:r>
            <a:r>
              <a:rPr sz="1400" b="1">
                <a:solidFill>
                  <a:srgbClr val="6E6A64"/>
                </a:solidFill>
                <a:latin typeface="Helvetica Neue"/>
              </a:rPr>
              <a:t>11º 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3º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con la Orbital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Transp. público  </a:t>
            </a:r>
            <a:r>
              <a:rPr sz="1400" b="1">
                <a:solidFill>
                  <a:srgbClr val="6E6A64"/>
                </a:solidFill>
                <a:latin typeface="Helvetica Neue"/>
              </a:rPr>
              <a:t>11º 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2º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con el tren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Costo de manejar  </a:t>
            </a:r>
            <a:r>
              <a:rPr sz="1400" b="1">
                <a:solidFill>
                  <a:srgbClr val="161616"/>
                </a:solidFill>
                <a:latin typeface="Helvetica Neue"/>
              </a:rPr>
              <a:t>$355k/mes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Su valor está amarrado a la obra futura: la Orbital lo acerca en auto, el Tren Batuco lo conecta en transporte público. Sin ellas es lejano; con ellas, top del corredor.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65960"/>
            <a:ext cx="4949647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9192237" y="3329297"/>
            <a:ext cx="6434" cy="57019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100374" y="3183009"/>
            <a:ext cx="91863" cy="146288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940695" y="3006033"/>
            <a:ext cx="159679" cy="176976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779222" y="2923393"/>
            <a:ext cx="161473" cy="82640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567124" y="2814754"/>
            <a:ext cx="212098" cy="108639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257574" y="2655916"/>
            <a:ext cx="309550" cy="158838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793828" y="2418274"/>
            <a:ext cx="463746" cy="237642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71239" y="3358884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64805" y="3301865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2942" y="3155577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13263" y="2978601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51790" y="2895961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39692" y="2787322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30142" y="2628484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66396" y="2390842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4806" y="2330003"/>
            <a:ext cx="201168" cy="201168"/>
          </a:xfrm>
          <a:prstGeom prst="ellipse">
            <a:avLst/>
          </a:prstGeom>
          <a:solidFill>
            <a:srgbClr val="B07D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65305" y="2601409"/>
            <a:ext cx="100584" cy="100584"/>
          </a:xfrm>
          <a:prstGeom prst="ellipse">
            <a:avLst/>
          </a:prstGeom>
          <a:solidFill>
            <a:srgbClr val="D8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7876" y="2798921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74447" y="2646618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8314" y="2682610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1790" y="220382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28001" y="2278648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69407" y="4029467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69095" y="3909179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18736" y="471175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39329" y="2118815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47685" y="3069855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37920" y="2353947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19486" y="418622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1694" y="2211131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6268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4E48"/>
                </a:solidFill>
                <a:latin typeface="Helvetica Neue"/>
              </a:rPr>
              <a:t>— corredor Tren Santiago–Batuco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no se vende por lo que es hoy, sino por lo que la infraestructura —ya en construcción— lo convierte: un proyecto de podio.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16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NUESTRO PROYECTO · ESTACIÓN COLINA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0">
                <a:solidFill>
                  <a:srgbClr val="161616"/>
                </a:solidFill>
                <a:latin typeface="Helvetica Neue"/>
              </a:rPr>
              <a:t>Estación Colina: ya central hoy,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0">
                <a:solidFill>
                  <a:srgbClr val="161616"/>
                </a:solidFill>
                <a:latin typeface="Helvetica Neue"/>
              </a:rPr>
              <a:t>y #1 en transporte público mañana.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134E48"/>
                </a:solidFill>
                <a:latin typeface="Helvetica Neue"/>
              </a:rPr>
              <a:t>POSICIÓN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Auto 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6º de 14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— ya central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Transp. público  </a:t>
            </a:r>
            <a:r>
              <a:rPr sz="1400" b="1">
                <a:solidFill>
                  <a:srgbClr val="6E6A64"/>
                </a:solidFill>
                <a:latin typeface="Helvetica Neue"/>
              </a:rPr>
              <a:t>6º 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1º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con el tren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Costo de manejar  </a:t>
            </a:r>
            <a:r>
              <a:rPr sz="1400" b="1">
                <a:solidFill>
                  <a:srgbClr val="161616"/>
                </a:solidFill>
                <a:latin typeface="Helvetica Neue"/>
              </a:rPr>
              <a:t>$282k/mes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Su carta es la centralidad y una estación de tren propia — no depende de la Orbital. El tren la vuelve la mejor conectada del set en transporte público, y su tarifa se mantiene baja.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65960"/>
            <a:ext cx="4949647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9192237" y="3329297"/>
            <a:ext cx="6434" cy="57019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100374" y="3183009"/>
            <a:ext cx="91863" cy="146288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940695" y="3006033"/>
            <a:ext cx="159679" cy="176976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779222" y="2923393"/>
            <a:ext cx="161473" cy="82640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567124" y="2814754"/>
            <a:ext cx="212098" cy="108639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257574" y="2655916"/>
            <a:ext cx="309550" cy="158838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793828" y="2418274"/>
            <a:ext cx="463746" cy="237642"/>
          </a:xfrm>
          <a:prstGeom prst="line">
            <a:avLst/>
          </a:prstGeom>
          <a:ln w="33020">
            <a:solidFill>
              <a:srgbClr val="134E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71239" y="3358884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64805" y="3301865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2942" y="3155577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13263" y="2978601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51790" y="2895961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39692" y="2787322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30142" y="2628484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66396" y="2390842"/>
            <a:ext cx="54864" cy="54864"/>
          </a:xfrm>
          <a:prstGeom prst="ellipse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35098" y="2380295"/>
            <a:ext cx="100584" cy="100584"/>
          </a:xfrm>
          <a:prstGeom prst="ellipse">
            <a:avLst/>
          </a:prstGeom>
          <a:solidFill>
            <a:srgbClr val="D8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15013" y="2551117"/>
            <a:ext cx="201168" cy="201168"/>
          </a:xfrm>
          <a:prstGeom prst="ellipse">
            <a:avLst/>
          </a:prstGeom>
          <a:solidFill>
            <a:srgbClr val="B07D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7876" y="2798921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74447" y="2646618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8314" y="2682610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1790" y="220382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28001" y="2278648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69407" y="4029467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69095" y="3909179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18736" y="471175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39329" y="2118815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47685" y="3069855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37920" y="2353947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19486" y="4186222"/>
            <a:ext cx="73152" cy="73152"/>
          </a:xfrm>
          <a:prstGeom prst="ellipse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1901" y="2432245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6268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4E48"/>
                </a:solidFill>
                <a:latin typeface="Helvetica Neue"/>
              </a:rPr>
              <a:t>— corredor Tren Santiago–Batuco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Estación Colina ya compite hoy por ubicación; el tren la convierte en la referencia de transporte público del corredor norte.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17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IMPLICANCIAS PARA MODELA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Qué hacemos con esto: producto,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precio y argumento comercial.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384048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50">
                <a:solidFill>
                  <a:srgbClr val="134E48"/>
                </a:solidFill>
                <a:latin typeface="Helvetica Neue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Densificar donde la conectividad futura sube el techo de valor (Batuco con Orbital + tren).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69079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Estación Colina admite DS19, townhouse y edificio: producto para el que valora ubicación.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5754" y="2331720"/>
            <a:ext cx="384048" cy="45720"/>
          </a:xfrm>
          <a:prstGeom prst="rect">
            <a:avLst/>
          </a:prstGeom>
          <a:solidFill>
            <a:srgbClr val="13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5754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50">
                <a:solidFill>
                  <a:srgbClr val="134E48"/>
                </a:solidFill>
                <a:latin typeface="Helvetica Neue"/>
              </a:rPr>
              <a:t>PRECIO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3017520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La conectividad justifica sobreprecio en UF — o mejor propuesta a igual precio.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5754" y="4069079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Fijar precio contra el set del corredor, no contra el promedio 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3140" y="2331720"/>
            <a:ext cx="384048" cy="45720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3140" y="2560320"/>
            <a:ext cx="33201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50">
                <a:solidFill>
                  <a:srgbClr val="B07D24"/>
                </a:solidFill>
                <a:latin typeface="Helvetica Neue"/>
              </a:rPr>
              <a:t>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3140" y="3017520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Vender el ‘mañana’ con respaldo: Orbital y trenes ya en construcción, con fuente.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3140" y="4069079"/>
            <a:ext cx="33201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Batuco = tesis de plusvalía; Estación Colina = conectividad ya disponible.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conectividad deja de ser un dato del estudio: es palanca de pricing, de mezcla de producto y de relato de venta.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18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¿Cuánto vale la conectividad? Lo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suficiente para decidir el portafolio.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94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Dónde somos fuertes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21945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Estación Colina ya es central hoy; ambos proyectos justifican sobreprecio en UF.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Qué cambia con el tren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9748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El transporte público se reordena: Estación Colina pasa a 1º y Batuco a 2º del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Qué cambia con la Orbital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20040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Batuco sube del 11º al 3º en auto — la mayor palanca vial del estudio.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03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703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Dónde somos débiles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70332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Batuco es caro en auto, y ninguno es RED: hoy pagan tarifa por tramo.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06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06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D24"/>
                </a:solidFill>
                <a:latin typeface="Helvetica Neue"/>
              </a:rPr>
              <a:t>La jugada inmediata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0624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D24"/>
                </a:solidFill>
                <a:latin typeface="Helvetica Neue"/>
              </a:rPr>
              <a:t>Pelear por integrar Batuco y Estación Colina a RED: baja el costo y está en nuestra cancha.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09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09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Cuánto vale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7091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El ahorro de tiempo y de costo se capitaliza en UF y en capacidad de compra.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Competitivos hoy, y de los más competitivos del norte con la infraestructura que viene. La jugada que no depende de nadie más: integrarlos a RED.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