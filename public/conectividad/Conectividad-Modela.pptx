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22960"/>
            <a:ext cx="822960" cy="4114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220">
                <a:solidFill>
                  <a:srgbClr val="B9B4AA"/>
                </a:solidFill>
                <a:latin typeface="Helvetica Neue"/>
              </a:rPr>
              <a:t>MODELA  ·  DESARROLLO INMOBILIARIO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8749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FFFFFF"/>
                </a:solidFill>
                <a:latin typeface="Helvetica Neue"/>
              </a:rPr>
              <a:t>¿Cuánto vale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B07D24"/>
                </a:solidFill>
                <a:latin typeface="Helvetica Neue"/>
              </a:rPr>
              <a:t>la conectividad?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348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FCBC2"/>
                </a:solidFill>
                <a:latin typeface="Helvetica Neue"/>
              </a:rPr>
              <a:t>Cómo la accesibilidad vial y ferroviaria se traduce en valor inmobiliario, y por qué Batuco y Estación Colina compiten hoy y lideran mañana.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989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Evaluación de accesibilidad · Región Metropolitana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0127" y="5989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Documento de directorio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La conectividad no es un atributo: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es valor inmobiliario medible.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Menos tiempo y menos costo de traslado se capitalizan en cuánto puede pagar una familia por su vivienda. Medimos ese efecto, zona por zona.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3º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Batuco en auto, con la Autopista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11º de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Estación Colina en transporte público, con el tren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5º de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1 h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menos de viaje con el tren, desde Batuco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de 2h17 a 1h10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306324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+1.363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128" y="3776472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UF de Estación Colina sobre la zona peor conectada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4348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Batuco, +696 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y Estación Colina: competitivos hoy y líderes del corredor norte con la infraestructura ya en construcción.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POR QUÉ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0">
                <a:solidFill>
                  <a:srgbClr val="161616"/>
                </a:solidFill>
                <a:latin typeface="Helvetica Neue"/>
              </a:rPr>
              <a:t>La conectividad decide dónde se vive: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0">
                <a:solidFill>
                  <a:srgbClr val="161616"/>
                </a:solidFill>
                <a:latin typeface="Helvetica Neue"/>
              </a:rPr>
              <a:t>tiempo, costo y valor.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TIEMPO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Dos horas de viaje al día son 40 al mes. El tiempo a trabajo, colegio y servicios pesa en la decisión de compra tanto como los metros cuadrados.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5754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5754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COSTO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5754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Tener y usar un auto cuesta entre $430 y $750 mil al mes (seguro, cuota, permiso, mantención, bencina y TAG): varias veces el transporte público. Ese diferencial es capacidad de compra.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13140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3140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VALOR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3140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A igual precio, la mejor conectada vale más. La conectividad se paga en sobreprecio, o en una mejor propuesta al mismo precio. Y es medible, zona por zona.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decisión de compra no es solo precio y producto: es cuánto cuesta, en tiempo y en dinero, vivir ahí todos los días.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QUÉ ANALIZAMOS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14 zonas de origen y 9 destinos,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medidos puerta a puerta.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61688" y="1837944"/>
            <a:ext cx="2446632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p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1920240"/>
            <a:ext cx="2282040" cy="325526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32644" y="3299399"/>
            <a:ext cx="1280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2644" y="3299399"/>
            <a:ext cx="128016" cy="128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134E48"/>
                </a:solidFill>
                <a:latin typeface="Helvetica Neue"/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5697582" y="3413333"/>
            <a:ext cx="1280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97582" y="3413333"/>
            <a:ext cx="128016" cy="128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134E48"/>
                </a:solidFill>
                <a:latin typeface="Helvetica Neue"/>
              </a:rPr>
              <a:t>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4216" y="2957596"/>
            <a:ext cx="1280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216" y="2957596"/>
            <a:ext cx="128016" cy="128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134E48"/>
                </a:solidFill>
                <a:latin typeface="Helvetica Neue"/>
              </a:rPr>
              <a:t>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87752" y="3049828"/>
            <a:ext cx="1280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87752" y="3049828"/>
            <a:ext cx="128016" cy="128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134E48"/>
                </a:solidFill>
                <a:latin typeface="Helvetica Neue"/>
              </a:rPr>
              <a:t>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4773" y="3521842"/>
            <a:ext cx="1280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4773" y="3521842"/>
            <a:ext cx="128016" cy="128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134E48"/>
                </a:solidFill>
                <a:latin typeface="Helvetica Neue"/>
              </a:rPr>
              <a:t>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95377" y="3136635"/>
            <a:ext cx="1280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95377" y="3136635"/>
            <a:ext cx="128016" cy="128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134E48"/>
                </a:solidFill>
                <a:latin typeface="Helvetica Neue"/>
              </a:rPr>
              <a:t>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88140" y="3207166"/>
            <a:ext cx="1280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8140" y="3207166"/>
            <a:ext cx="128016" cy="128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7729" y="3169188"/>
            <a:ext cx="1280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7729" y="3169188"/>
            <a:ext cx="128016" cy="128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134E48"/>
                </a:solidFill>
                <a:latin typeface="Helvetica Neue"/>
              </a:rPr>
              <a:t>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29664" y="2979298"/>
            <a:ext cx="1280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9664" y="2979298"/>
            <a:ext cx="128016" cy="128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134E48"/>
                </a:solidFill>
                <a:latin typeface="Helvetica Neue"/>
              </a:rPr>
              <a:t>I</a:t>
            </a:r>
          </a:p>
        </p:txBody>
      </p:sp>
      <p:sp>
        <p:nvSpPr>
          <p:cNvPr id="25" name="Oval 24"/>
          <p:cNvSpPr/>
          <p:nvPr/>
        </p:nvSpPr>
        <p:spPr>
          <a:xfrm>
            <a:off x="4963986" y="2293000"/>
            <a:ext cx="182880" cy="182880"/>
          </a:xfrm>
          <a:prstGeom prst="ellipse">
            <a:avLst/>
          </a:prstGeom>
          <a:solidFill>
            <a:srgbClr val="B07D2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63986" y="2287514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27" name="Oval 26"/>
          <p:cNvSpPr/>
          <p:nvPr/>
        </p:nvSpPr>
        <p:spPr>
          <a:xfrm>
            <a:off x="5148677" y="2546314"/>
            <a:ext cx="182880" cy="182880"/>
          </a:xfrm>
          <a:prstGeom prst="ellipse">
            <a:avLst/>
          </a:prstGeom>
          <a:solidFill>
            <a:srgbClr val="B07D2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48677" y="2540828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5239456" y="277516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39456" y="2769677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31" name="Oval 30"/>
          <p:cNvSpPr/>
          <p:nvPr/>
        </p:nvSpPr>
        <p:spPr>
          <a:xfrm>
            <a:off x="4692762" y="2600681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92762" y="2595195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33" name="Oval 32"/>
          <p:cNvSpPr/>
          <p:nvPr/>
        </p:nvSpPr>
        <p:spPr>
          <a:xfrm>
            <a:off x="5312626" y="2641914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12626" y="2636428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35" name="Oval 34"/>
          <p:cNvSpPr/>
          <p:nvPr/>
        </p:nvSpPr>
        <p:spPr>
          <a:xfrm>
            <a:off x="5145754" y="220595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5754" y="2200467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37" name="Oval 36"/>
          <p:cNvSpPr/>
          <p:nvPr/>
        </p:nvSpPr>
        <p:spPr>
          <a:xfrm>
            <a:off x="5359716" y="2179124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59716" y="2173638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7</a:t>
            </a:r>
          </a:p>
        </p:txBody>
      </p:sp>
      <p:sp>
        <p:nvSpPr>
          <p:cNvPr id="39" name="Oval 38"/>
          <p:cNvSpPr/>
          <p:nvPr/>
        </p:nvSpPr>
        <p:spPr>
          <a:xfrm>
            <a:off x="5730547" y="2093402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30547" y="2087916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8</a:t>
            </a:r>
          </a:p>
        </p:txBody>
      </p:sp>
      <p:sp>
        <p:nvSpPr>
          <p:cNvPr id="41" name="Oval 40"/>
          <p:cNvSpPr/>
          <p:nvPr/>
        </p:nvSpPr>
        <p:spPr>
          <a:xfrm>
            <a:off x="5536302" y="1996016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36302" y="1990529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9</a:t>
            </a:r>
          </a:p>
        </p:txBody>
      </p:sp>
      <p:sp>
        <p:nvSpPr>
          <p:cNvPr id="43" name="Oval 42"/>
          <p:cNvSpPr/>
          <p:nvPr/>
        </p:nvSpPr>
        <p:spPr>
          <a:xfrm>
            <a:off x="4895927" y="308555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95927" y="3080066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10</a:t>
            </a:r>
          </a:p>
        </p:txBody>
      </p:sp>
      <p:sp>
        <p:nvSpPr>
          <p:cNvPr id="45" name="Oval 44"/>
          <p:cNvSpPr/>
          <p:nvPr/>
        </p:nvSpPr>
        <p:spPr>
          <a:xfrm>
            <a:off x="6364900" y="4184910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64900" y="4179423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11</a:t>
            </a:r>
          </a:p>
        </p:txBody>
      </p:sp>
      <p:sp>
        <p:nvSpPr>
          <p:cNvPr id="47" name="Oval 46"/>
          <p:cNvSpPr/>
          <p:nvPr/>
        </p:nvSpPr>
        <p:spPr>
          <a:xfrm>
            <a:off x="4905119" y="404710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05119" y="4041617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12</a:t>
            </a:r>
          </a:p>
        </p:txBody>
      </p:sp>
      <p:sp>
        <p:nvSpPr>
          <p:cNvPr id="49" name="Oval 48"/>
          <p:cNvSpPr/>
          <p:nvPr/>
        </p:nvSpPr>
        <p:spPr>
          <a:xfrm>
            <a:off x="5312807" y="496655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12807" y="4961066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13</a:t>
            </a:r>
          </a:p>
        </p:txBody>
      </p:sp>
      <p:sp>
        <p:nvSpPr>
          <p:cNvPr id="51" name="Oval 50"/>
          <p:cNvSpPr/>
          <p:nvPr/>
        </p:nvSpPr>
        <p:spPr>
          <a:xfrm>
            <a:off x="5570714" y="4364492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70714" y="4359005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" y="1837943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134E48"/>
                </a:solidFill>
                <a:latin typeface="Helvetica Neue"/>
              </a:rPr>
              <a:t>LOS 9 DESTINOS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" y="2199132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2196388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A</a:t>
            </a:r>
          </a:p>
        </p:txBody>
      </p:sp>
      <p:pic>
        <p:nvPicPr>
          <p:cNvPr id="56" name="Picture 55" descr="d_tobala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199132"/>
            <a:ext cx="201168" cy="20116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80160" y="217170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Trabajo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0160" y="2336292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Metro Tobalaba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8368" y="2521000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2518257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B</a:t>
            </a:r>
          </a:p>
        </p:txBody>
      </p:sp>
      <p:pic>
        <p:nvPicPr>
          <p:cNvPr id="61" name="Picture 60" descr="d_cent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521000"/>
            <a:ext cx="201168" cy="201168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80160" y="2493568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Santiago Centro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2658160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Plaza de Armas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2842869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2840126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C</a:t>
            </a:r>
          </a:p>
        </p:txBody>
      </p:sp>
      <p:pic>
        <p:nvPicPr>
          <p:cNvPr id="66" name="Picture 65" descr="near_industri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842869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280160" y="281543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Barrio industrial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80160" y="2980029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más cercano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8368" y="3164738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8368" y="3161995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D</a:t>
            </a:r>
          </a:p>
        </p:txBody>
      </p:sp>
      <p:pic>
        <p:nvPicPr>
          <p:cNvPr id="71" name="Picture 70" descr="d_ciudadempresari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164738"/>
            <a:ext cx="201168" cy="201168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280160" y="313730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Ciudad Empresarial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80160" y="3301898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Huechuraba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8368" y="3486607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3483864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E</a:t>
            </a:r>
          </a:p>
        </p:txBody>
      </p:sp>
      <p:pic>
        <p:nvPicPr>
          <p:cNvPr id="76" name="Picture 75" descr="near_universid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3486607"/>
            <a:ext cx="201168" cy="201168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280160" y="3459175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Universidad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80160" y="3623767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más cercana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8368" y="3808476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3805732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F</a:t>
            </a:r>
          </a:p>
        </p:txBody>
      </p:sp>
      <p:pic>
        <p:nvPicPr>
          <p:cNvPr id="81" name="Picture 80" descr="d_aeropuert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120" y="38084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280160" y="37810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Aeropuerto SCL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80160" y="3945636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Pudahuel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58368" y="4130344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58368" y="4127601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pic>
        <p:nvPicPr>
          <p:cNvPr id="86" name="Picture 85" descr="near_hospit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0120" y="4130344"/>
            <a:ext cx="201168" cy="201168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1280160" y="410291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Hospital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80160" y="4267504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más cercano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58368" y="4452213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58368" y="4449470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H</a:t>
            </a:r>
          </a:p>
        </p:txBody>
      </p:sp>
      <p:pic>
        <p:nvPicPr>
          <p:cNvPr id="91" name="Picture 90" descr="near_clinic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0120" y="4452213"/>
            <a:ext cx="201168" cy="201168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1280160" y="4424781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Clínica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80160" y="4589373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más cercana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58368" y="4774082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4771339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I</a:t>
            </a:r>
          </a:p>
        </p:txBody>
      </p:sp>
      <p:pic>
        <p:nvPicPr>
          <p:cNvPr id="96" name="Picture 95" descr="near_mal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0120" y="4774082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280160" y="474665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Centro comercial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280160" y="4911242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más cercano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01583" y="1837943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134E48"/>
                </a:solidFill>
                <a:latin typeface="Helvetica Neue"/>
              </a:rPr>
              <a:t>LAS 14 ZONAS</a:t>
            </a:r>
          </a:p>
        </p:txBody>
      </p:sp>
      <p:sp>
        <p:nvSpPr>
          <p:cNvPr id="100" name="Oval 99"/>
          <p:cNvSpPr/>
          <p:nvPr/>
        </p:nvSpPr>
        <p:spPr>
          <a:xfrm>
            <a:off x="8110727" y="2199132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339327" y="2185416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1  </a:t>
            </a:r>
            <a:r>
              <a:rPr sz="10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02" name="Oval 101"/>
          <p:cNvSpPr/>
          <p:nvPr/>
        </p:nvSpPr>
        <p:spPr>
          <a:xfrm>
            <a:off x="8110727" y="2403043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39327" y="2389327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2  </a:t>
            </a:r>
            <a:r>
              <a:rPr sz="10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4" name="Oval 103"/>
          <p:cNvSpPr/>
          <p:nvPr/>
        </p:nvSpPr>
        <p:spPr>
          <a:xfrm>
            <a:off x="8124444" y="2620670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339327" y="2593238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06" name="Oval 105"/>
          <p:cNvSpPr/>
          <p:nvPr/>
        </p:nvSpPr>
        <p:spPr>
          <a:xfrm>
            <a:off x="8124444" y="2824581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339327" y="2797149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08" name="Oval 107"/>
          <p:cNvSpPr/>
          <p:nvPr/>
        </p:nvSpPr>
        <p:spPr>
          <a:xfrm>
            <a:off x="8124444" y="3028492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339327" y="3001060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10" name="Oval 109"/>
          <p:cNvSpPr/>
          <p:nvPr/>
        </p:nvSpPr>
        <p:spPr>
          <a:xfrm>
            <a:off x="8124444" y="3232403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339327" y="3204972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12" name="Oval 111"/>
          <p:cNvSpPr/>
          <p:nvPr/>
        </p:nvSpPr>
        <p:spPr>
          <a:xfrm>
            <a:off x="8124444" y="3436315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339327" y="3408883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14" name="Oval 113"/>
          <p:cNvSpPr/>
          <p:nvPr/>
        </p:nvSpPr>
        <p:spPr>
          <a:xfrm>
            <a:off x="8124444" y="3640226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339327" y="3612794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116" name="Oval 115"/>
          <p:cNvSpPr/>
          <p:nvPr/>
        </p:nvSpPr>
        <p:spPr>
          <a:xfrm>
            <a:off x="8124444" y="3844137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339327" y="3816705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18" name="Oval 117"/>
          <p:cNvSpPr/>
          <p:nvPr/>
        </p:nvSpPr>
        <p:spPr>
          <a:xfrm>
            <a:off x="8124444" y="4048048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339327" y="4020616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120" name="Oval 119"/>
          <p:cNvSpPr/>
          <p:nvPr/>
        </p:nvSpPr>
        <p:spPr>
          <a:xfrm>
            <a:off x="8124444" y="4251960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339327" y="4224528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22" name="Oval 121"/>
          <p:cNvSpPr/>
          <p:nvPr/>
        </p:nvSpPr>
        <p:spPr>
          <a:xfrm>
            <a:off x="8124444" y="4455871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39327" y="4428439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24" name="Oval 123"/>
          <p:cNvSpPr/>
          <p:nvPr/>
        </p:nvSpPr>
        <p:spPr>
          <a:xfrm>
            <a:off x="8124444" y="4659782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339327" y="4632350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26" name="Oval 125"/>
          <p:cNvSpPr/>
          <p:nvPr/>
        </p:nvSpPr>
        <p:spPr>
          <a:xfrm>
            <a:off x="8124444" y="4863693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339327" y="4836261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8110727" y="5159044"/>
            <a:ext cx="201169" cy="0"/>
          </a:xfrm>
          <a:prstGeom prst="line">
            <a:avLst/>
          </a:prstGeom>
          <a:ln w="38100">
            <a:solidFill>
              <a:srgbClr val="6E9E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8403336" y="507674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Corredores de tren: Batuco y Melipilla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Medición puerta a puerta y en hora punta: red vial y tarifas reales hoy; los trenes y la Autopista en construcción como escenario futuro.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En auto hoy, Estación Colina está en la mitad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más rápida; Batuco es 11º de 14.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5B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95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77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72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67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CB9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87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9C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9D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45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C8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8F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1:20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1:12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8D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D35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94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1:16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1:27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0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1:22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1:31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D7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1:59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1:06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1:30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1:34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1:01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1:36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B9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1:04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1:41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59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1:18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D4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2:08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1:51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1:25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1:29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2:15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1:37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2:32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1:42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1:58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44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37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puerta a puerta (h:mm). Color por columna: verde = la más cercana a ese destino, rojo = la más lejana. Filas ordenadas por el promedio a los 9 destinos.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en auto es la debilidad precisa que la Autopista corrige: de 11º a 3º de 14.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COSTO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costo de manejar limita a Batuco: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alto hacia la mayoría de los destinos.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36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3B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8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9B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30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A9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4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CF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B4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342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48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431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328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170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49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356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329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110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169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B7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633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55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184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80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168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7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406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223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1066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2F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96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540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37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35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64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3D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428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432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495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392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E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234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420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2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393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7C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174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C8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503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401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243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429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425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81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183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B9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D45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299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9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396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496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54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461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D06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500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35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790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D8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485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698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196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D44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280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559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318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790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537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93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93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manejar (bencina + peajes TAG), en miles de pesos. Verde = barato, rojo = caro. Filas ordenadas por el promedio a los 9 destinos.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cruza autopistas concesionadas hacia el oriente y el centro: su costo en auto está entre los más altos de las 14 zonas. Su argumento económico es el tren, no el auto.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POSICIONAMIENTO EN AUTO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Estación Colina combina velocidad y costo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medio; Batuco es lejano y caro de manejar.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93392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Cada punto es una zona. El eje horizontal mide el tiempo promedio en auto a los 9 destinos; el vertical, el costo mensual de manejar. El cuadrante inferior izquierdo combina ambas ventajas.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61288" y="4098163"/>
            <a:ext cx="4341611" cy="711580"/>
          </a:xfrm>
          <a:prstGeom prst="rect">
            <a:avLst/>
          </a:prstGeom>
          <a:solidFill>
            <a:srgbClr val="EC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502899" y="2798064"/>
            <a:ext cx="0" cy="201168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61288" y="4098163"/>
            <a:ext cx="9503359" cy="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61288" y="4809744"/>
            <a:ext cx="9503359" cy="0"/>
          </a:xfrm>
          <a:prstGeom prst="line">
            <a:avLst/>
          </a:prstGeom>
          <a:ln w="12700">
            <a:solidFill>
              <a:srgbClr val="C9C4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61288" y="2798064"/>
            <a:ext cx="0" cy="2011680"/>
          </a:xfrm>
          <a:prstGeom prst="line">
            <a:avLst/>
          </a:prstGeom>
          <a:ln w="12700">
            <a:solidFill>
              <a:srgbClr val="C9C4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61288" y="4882896"/>
            <a:ext cx="95033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Minutos promedio en auto a los 9 destinos (40 a 99 min) 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523744"/>
            <a:ext cx="5943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Costo mensual de manejar ($189 a $496 mil/mes)  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2728" y="4162171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80">
                <a:solidFill>
                  <a:srgbClr val="2F9E6E"/>
                </a:solidFill>
                <a:latin typeface="Helvetica Neue"/>
              </a:rPr>
              <a:t>RÁPIDA Y BARATA</a:t>
            </a:r>
          </a:p>
        </p:txBody>
      </p:sp>
      <p:sp>
        <p:nvSpPr>
          <p:cNvPr id="14" name="Oval 13"/>
          <p:cNvSpPr/>
          <p:nvPr/>
        </p:nvSpPr>
        <p:spPr>
          <a:xfrm>
            <a:off x="1884140" y="4411210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62448" y="4392922"/>
            <a:ext cx="57241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16" name="Oval 15"/>
          <p:cNvSpPr/>
          <p:nvPr/>
        </p:nvSpPr>
        <p:spPr>
          <a:xfrm>
            <a:off x="3173468" y="4550059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1776" y="4531771"/>
            <a:ext cx="51572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18" name="Oval 17"/>
          <p:cNvSpPr/>
          <p:nvPr/>
        </p:nvSpPr>
        <p:spPr>
          <a:xfrm>
            <a:off x="3941270" y="3178913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9578" y="3160625"/>
            <a:ext cx="4023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20" name="Oval 19"/>
          <p:cNvSpPr/>
          <p:nvPr/>
        </p:nvSpPr>
        <p:spPr>
          <a:xfrm>
            <a:off x="4115112" y="3773655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3420" y="3755367"/>
            <a:ext cx="7424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22" name="Oval 21"/>
          <p:cNvSpPr/>
          <p:nvPr/>
        </p:nvSpPr>
        <p:spPr>
          <a:xfrm>
            <a:off x="4187546" y="459021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65854" y="4571923"/>
            <a:ext cx="79918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24" name="Oval 23"/>
          <p:cNvSpPr/>
          <p:nvPr/>
        </p:nvSpPr>
        <p:spPr>
          <a:xfrm>
            <a:off x="4377416" y="4065535"/>
            <a:ext cx="173736" cy="173736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6984" y="4074679"/>
            <a:ext cx="11475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6" name="Oval 25"/>
          <p:cNvSpPr/>
          <p:nvPr/>
        </p:nvSpPr>
        <p:spPr>
          <a:xfrm>
            <a:off x="5230597" y="375273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08905" y="3734443"/>
            <a:ext cx="96926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28" name="Oval 27"/>
          <p:cNvSpPr/>
          <p:nvPr/>
        </p:nvSpPr>
        <p:spPr>
          <a:xfrm>
            <a:off x="5443463" y="4082166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21771" y="4063878"/>
            <a:ext cx="2889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30" name="Oval 29"/>
          <p:cNvSpPr/>
          <p:nvPr/>
        </p:nvSpPr>
        <p:spPr>
          <a:xfrm>
            <a:off x="6012886" y="3284603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1194" y="3266315"/>
            <a:ext cx="108264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2" name="Oval 31"/>
          <p:cNvSpPr/>
          <p:nvPr/>
        </p:nvSpPr>
        <p:spPr>
          <a:xfrm>
            <a:off x="6679280" y="2952089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7588" y="2933801"/>
            <a:ext cx="34564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34" name="Oval 33"/>
          <p:cNvSpPr/>
          <p:nvPr/>
        </p:nvSpPr>
        <p:spPr>
          <a:xfrm>
            <a:off x="6970559" y="3678050"/>
            <a:ext cx="173736" cy="173736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12875" y="368719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6" name="Oval 35"/>
          <p:cNvSpPr/>
          <p:nvPr/>
        </p:nvSpPr>
        <p:spPr>
          <a:xfrm>
            <a:off x="7302214" y="434935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80522" y="4331063"/>
            <a:ext cx="62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38" name="Oval 37"/>
          <p:cNvSpPr/>
          <p:nvPr/>
        </p:nvSpPr>
        <p:spPr>
          <a:xfrm>
            <a:off x="8692949" y="4198135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71257" y="4303291"/>
            <a:ext cx="91257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40" name="Oval 39"/>
          <p:cNvSpPr/>
          <p:nvPr/>
        </p:nvSpPr>
        <p:spPr>
          <a:xfrm>
            <a:off x="9562159" y="4038727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40467" y="4020439"/>
            <a:ext cx="57241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Chicauma, Urbanya y Valle Grande ocupan hoy el cuadrante rápido y barato. Estación Colina queda al borde; Batuco, lejos: es la zona que más necesita el salto de infraestructura.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TRANSPORTE PÚBLICO · COSTO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tarifa sin integrar a RED encarece el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transporte público de nuestros proyectos.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58368" y="3643883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658368" y="4320540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7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transporte público, en miles de pesos. Batuco y Estación Colina pagan cada tramo por separado, sin bip! integrado. Filas ordenadas por el promedio a los 9 destinos.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Sin integración a RED pagan cada tramo por separado: Estación Colina queda 12ª de 14 en costo y Batuco 8º. Es una debilidad corregible por gestión (lámina 16).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 · 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tren reordena el transporte público: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nuestros proyectos pasan a 1º y 2º.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59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21031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34E48"/>
                </a:solidFill>
                <a:latin typeface="Helvetica Neue"/>
              </a:rPr>
              <a:t>CON EL TREN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89320" y="2377440"/>
            <a:ext cx="0" cy="2615184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372600" y="2377440"/>
            <a:ext cx="0" cy="2615184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89320" y="2487168"/>
            <a:ext cx="3383280" cy="55286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961888" y="245973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45168" y="301259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5989320" y="2671454"/>
            <a:ext cx="3383280" cy="18428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961888" y="2644022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345168" y="2828309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18904" y="2746013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3º  Valle Grande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89320" y="2855741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961888" y="2828309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45168" y="356545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989320" y="3040028"/>
            <a:ext cx="3383280" cy="368573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5961888" y="301259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45168" y="3381169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5989320" y="2487168"/>
            <a:ext cx="3383280" cy="737147"/>
          </a:xfrm>
          <a:prstGeom prst="line">
            <a:avLst/>
          </a:prstGeom>
          <a:ln w="45720">
            <a:solidFill>
              <a:srgbClr val="B07D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5925312" y="3160307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08592" y="2423160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51960" y="3105443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5º  Estación Colina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18904" y="2368296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1º  Estación Colina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89320" y="3408601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961888" y="3381169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345168" y="411831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5989320" y="3592888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5961888" y="356545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345168" y="430260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989320" y="3777175"/>
            <a:ext cx="3383280" cy="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961888" y="3749743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345168" y="374974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5989320" y="3961462"/>
            <a:ext cx="3383280" cy="55286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5961888" y="3934030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345168" y="4486890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989320" y="4145748"/>
            <a:ext cx="3383280" cy="552861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5961888" y="411831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45168" y="4671177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5989320" y="2671454"/>
            <a:ext cx="3383280" cy="1658581"/>
          </a:xfrm>
          <a:prstGeom prst="line">
            <a:avLst/>
          </a:prstGeom>
          <a:ln w="45720">
            <a:solidFill>
              <a:srgbClr val="B07D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5925312" y="4266027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08592" y="2607446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51960" y="4211163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11º  Batuco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18904" y="2552582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2º  Batuco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989320" y="4514322"/>
            <a:ext cx="3383280" cy="36857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5961888" y="4486890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45168" y="4855464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989320" y="3224315"/>
            <a:ext cx="3383280" cy="147429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961888" y="4671177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345168" y="319688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5989320" y="3961462"/>
            <a:ext cx="3383280" cy="92143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961888" y="4855464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345168" y="3934030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239572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30">
                <a:solidFill>
                  <a:srgbClr val="134E48"/>
                </a:solidFill>
                <a:latin typeface="Helvetica Neue"/>
              </a:rPr>
              <a:t>POSICIÓN EN TRANSPORTE PÚBLICO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2798064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Estación Colina   </a:t>
            </a:r>
            <a:r>
              <a:rPr sz="1500" b="1">
                <a:solidFill>
                  <a:srgbClr val="6E6A64"/>
                </a:solidFill>
                <a:latin typeface="Helvetica Neue"/>
              </a:rPr>
              <a:t>5º → </a:t>
            </a:r>
            <a:r>
              <a:rPr sz="1700" b="1">
                <a:solidFill>
                  <a:srgbClr val="B07D24"/>
                </a:solidFill>
                <a:latin typeface="Helvetica Neue"/>
              </a:rPr>
              <a:t>1º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  de 14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  </a:t>
            </a:r>
            <a:r>
              <a:rPr sz="1500" b="1">
                <a:solidFill>
                  <a:srgbClr val="6E6A64"/>
                </a:solidFill>
                <a:latin typeface="Helvetica Neue"/>
              </a:rPr>
              <a:t>11º → </a:t>
            </a:r>
            <a:r>
              <a:rPr sz="1700" b="1">
                <a:solidFill>
                  <a:srgbClr val="B07D24"/>
                </a:solidFill>
                <a:latin typeface="Helvetica Neue"/>
              </a:rPr>
              <a:t>2º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  de 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4114800"/>
            <a:ext cx="349300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Tren Santiago-Batuco recorta 45 minutos de viaje desde Estación Colina y 67 desde Batuco. Cada proyecto cuenta con estación propia sobre el corredor.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Con el tren, Estación Colina queda primera y Batuco segundo entre las 14 zonas en transporte público. Ninguna zona sin estación nueva puede igualar ese cambio.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09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 · LA AUTOPISTA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Autopista Orbital Norponiente acerca 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Batuco: 28 minutos menos en auto.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215798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2468880"/>
            <a:ext cx="5120640" cy="45720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2374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3026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Con la Autopista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3337560"/>
            <a:ext cx="3315428" cy="45720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77316" y="339242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52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950208"/>
            <a:ext cx="5120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promedio desde Batuco a los 9 destinos, puerta a puerta.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07D24"/>
                </a:solidFill>
                <a:latin typeface="Helvetica Neue"/>
              </a:rPr>
              <a:t>28 min menos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  ·  del 11º al </a:t>
            </a:r>
            <a:r>
              <a:rPr sz="2000" b="1">
                <a:solidFill>
                  <a:srgbClr val="B07D24"/>
                </a:solidFill>
                <a:latin typeface="Helvetica Neue"/>
              </a:rPr>
              <a:t>3º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en auto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3172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10">
                <a:solidFill>
                  <a:srgbClr val="134E48"/>
                </a:solidFill>
                <a:latin typeface="Helvetica Neue"/>
              </a:rPr>
              <a:t>EL EFECTO DEL CORREDOR NORPONIENTE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69748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La Autopista cruza el terreno de Batuco, con enlace a 7 minutos. Es la diferencia entre una zona periférica y una de las más rápidas en auto.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A64"/>
                </a:solidFill>
                <a:latin typeface="Helvetica Neue"/>
              </a:rPr>
              <a:t>Estación Colina no depende de esta obra: su fortaleza es la centralidad y el tren. Cada proyecto tiene su propio argumento.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Comunicar cada proyecto con su obra: la Autopista es el argumento vial de Batuco; Estación Colina no la necesita.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10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SOBREPRECIO ENTRE ZONAS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Sobreprecio justificado entre zonas: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comparación completa, en UF.</a:t>
            </a:r>
          </a:p>
        </p:txBody>
      </p:sp>
      <p:sp>
        <p:nvSpPr>
          <p:cNvPr id="5" name="TextBox 4"/>
          <p:cNvSpPr txBox="1"/>
          <p:nvPr/>
        </p:nvSpPr>
        <p:spPr>
          <a:xfrm rot="16200000">
            <a:off x="2622466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6" name="TextBox 5"/>
          <p:cNvSpPr txBox="1"/>
          <p:nvPr/>
        </p:nvSpPr>
        <p:spPr>
          <a:xfrm rot="16200000">
            <a:off x="3258823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3895180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8" name="TextBox 7"/>
          <p:cNvSpPr txBox="1"/>
          <p:nvPr/>
        </p:nvSpPr>
        <p:spPr>
          <a:xfrm rot="16200000">
            <a:off x="4531537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5167894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5804251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40609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7076966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13" name="TextBox 12"/>
          <p:cNvSpPr txBox="1"/>
          <p:nvPr/>
        </p:nvSpPr>
        <p:spPr>
          <a:xfrm rot="16200000">
            <a:off x="7713323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14" name="TextBox 13"/>
          <p:cNvSpPr txBox="1"/>
          <p:nvPr/>
        </p:nvSpPr>
        <p:spPr>
          <a:xfrm rot="16200000">
            <a:off x="8349680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8986037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9622394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17" name="TextBox 16"/>
          <p:cNvSpPr txBox="1"/>
          <p:nvPr/>
        </p:nvSpPr>
        <p:spPr>
          <a:xfrm rot="16200000">
            <a:off x="10258751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10895108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798063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35300" y="280903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1657" y="2809036"/>
            <a:ext cx="614411" cy="124358"/>
          </a:xfrm>
          <a:prstGeom prst="rect">
            <a:avLst/>
          </a:prstGeom>
          <a:solidFill>
            <a:srgbClr val="F2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60685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08014" y="2809036"/>
            <a:ext cx="614411" cy="124358"/>
          </a:xfrm>
          <a:prstGeom prst="rect">
            <a:avLst/>
          </a:prstGeom>
          <a:solidFill>
            <a:srgbClr val="E0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7042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44372" y="2809036"/>
            <a:ext cx="614411" cy="124358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3399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80729" y="2809036"/>
            <a:ext cx="614411" cy="124358"/>
          </a:xfrm>
          <a:prstGeom prst="rect">
            <a:avLst/>
          </a:prstGeom>
          <a:solidFill>
            <a:srgbClr val="98C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9756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17086" y="2809036"/>
            <a:ext cx="614411" cy="124358"/>
          </a:xfrm>
          <a:prstGeom prst="rect">
            <a:avLst/>
          </a:prstGeom>
          <a:solidFill>
            <a:srgbClr val="93C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113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+718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53443" y="2809036"/>
            <a:ext cx="614411" cy="124358"/>
          </a:xfrm>
          <a:prstGeom prst="rect">
            <a:avLst/>
          </a:prstGeom>
          <a:solidFill>
            <a:srgbClr val="85C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2470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89800" y="2809036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78827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+970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26157" y="2809036"/>
            <a:ext cx="614411" cy="124358"/>
          </a:xfrm>
          <a:prstGeom prst="rect">
            <a:avLst/>
          </a:prstGeom>
          <a:solidFill>
            <a:srgbClr val="78B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15184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+1014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62514" y="2809036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51541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+1222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98871" y="2809036"/>
            <a:ext cx="614411" cy="124358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87898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+1258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35228" y="2809036"/>
            <a:ext cx="614411" cy="124358"/>
          </a:xfrm>
          <a:prstGeom prst="rect">
            <a:avLst/>
          </a:prstGeom>
          <a:solidFill>
            <a:srgbClr val="56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24255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+1427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271585" y="2809036"/>
            <a:ext cx="614411" cy="124358"/>
          </a:xfrm>
          <a:prstGeom prst="rect">
            <a:avLst/>
          </a:prstGeom>
          <a:solidFill>
            <a:srgbClr val="4CA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60613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+1557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07942" y="2809036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896970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+1954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" y="2944368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35300" y="2955340"/>
            <a:ext cx="614411" cy="124358"/>
          </a:xfrm>
          <a:prstGeom prst="rect">
            <a:avLst/>
          </a:prstGeom>
          <a:solidFill>
            <a:srgbClr val="F5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24328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71657" y="295534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08014" y="2955340"/>
            <a:ext cx="614411" cy="124358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97042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44372" y="2955340"/>
            <a:ext cx="614411" cy="124358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33399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80729" y="2955340"/>
            <a:ext cx="614411" cy="124358"/>
          </a:xfrm>
          <a:prstGeom prst="rect">
            <a:avLst/>
          </a:prstGeom>
          <a:solidFill>
            <a:srgbClr val="99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69756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+658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17086" y="2955340"/>
            <a:ext cx="614411" cy="124358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06113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+709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53443" y="2955340"/>
            <a:ext cx="614411" cy="124358"/>
          </a:xfrm>
          <a:prstGeom prst="rect">
            <a:avLst/>
          </a:prstGeom>
          <a:solidFill>
            <a:srgbClr val="86C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2470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089800" y="2955340"/>
            <a:ext cx="614411" cy="124358"/>
          </a:xfrm>
          <a:prstGeom prst="rect">
            <a:avLst/>
          </a:prstGeom>
          <a:solidFill>
            <a:srgbClr val="7DC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78827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+960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726157" y="2955340"/>
            <a:ext cx="614411" cy="124358"/>
          </a:xfrm>
          <a:prstGeom prst="rect">
            <a:avLst/>
          </a:prstGeom>
          <a:solidFill>
            <a:srgbClr val="79B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15184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+1005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62514" y="2955340"/>
            <a:ext cx="614411" cy="124358"/>
          </a:xfrm>
          <a:prstGeom prst="rect">
            <a:avLst/>
          </a:prstGeom>
          <a:solidFill>
            <a:srgbClr val="67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51541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+1213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998871" y="2955340"/>
            <a:ext cx="614411" cy="124358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987898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+1249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635228" y="2955340"/>
            <a:ext cx="614411" cy="124358"/>
          </a:xfrm>
          <a:prstGeom prst="rect">
            <a:avLst/>
          </a:prstGeom>
          <a:solidFill>
            <a:srgbClr val="57A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24255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+1417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271585" y="2955340"/>
            <a:ext cx="614411" cy="124358"/>
          </a:xfrm>
          <a:prstGeom prst="rect">
            <a:avLst/>
          </a:prstGeom>
          <a:solidFill>
            <a:srgbClr val="4DA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260613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+1547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907942" y="2955340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896970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+1944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4088" y="3090671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635300" y="3101644"/>
            <a:ext cx="614411" cy="124358"/>
          </a:xfrm>
          <a:prstGeom prst="rect">
            <a:avLst/>
          </a:prstGeom>
          <a:solidFill>
            <a:srgbClr val="F0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624328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71657" y="3101644"/>
            <a:ext cx="614411" cy="124358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260685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908014" y="310164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544372" y="3101644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33399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+507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180729" y="3101644"/>
            <a:ext cx="614411" cy="124358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169756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17086" y="3101644"/>
            <a:ext cx="614411" cy="124358"/>
          </a:xfrm>
          <a:prstGeom prst="rect">
            <a:avLst/>
          </a:prstGeom>
          <a:solidFill>
            <a:srgbClr val="9CC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806113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+634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53443" y="3101644"/>
            <a:ext cx="614411" cy="124358"/>
          </a:xfrm>
          <a:prstGeom prst="rect">
            <a:avLst/>
          </a:prstGeom>
          <a:solidFill>
            <a:srgbClr val="8DC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42470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+785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089800" y="3101644"/>
            <a:ext cx="614411" cy="124358"/>
          </a:xfrm>
          <a:prstGeom prst="rect">
            <a:avLst/>
          </a:prstGeom>
          <a:solidFill>
            <a:srgbClr val="84C3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078827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+886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726157" y="3101644"/>
            <a:ext cx="614411" cy="124358"/>
          </a:xfrm>
          <a:prstGeom prst="rect">
            <a:avLst/>
          </a:prstGeom>
          <a:solidFill>
            <a:srgbClr val="80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715184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+930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362514" y="3101644"/>
            <a:ext cx="614411" cy="124358"/>
          </a:xfrm>
          <a:prstGeom prst="rect">
            <a:avLst/>
          </a:prstGeom>
          <a:solidFill>
            <a:srgbClr val="6EB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351541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+1138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998871" y="3101644"/>
            <a:ext cx="614411" cy="124358"/>
          </a:xfrm>
          <a:prstGeom prst="rect">
            <a:avLst/>
          </a:prstGeom>
          <a:solidFill>
            <a:srgbClr val="6AB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987898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+1174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635228" y="3101644"/>
            <a:ext cx="614411" cy="124358"/>
          </a:xfrm>
          <a:prstGeom prst="rect">
            <a:avLst/>
          </a:prstGeom>
          <a:solidFill>
            <a:srgbClr val="5DB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624255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+1343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271585" y="3101644"/>
            <a:ext cx="614411" cy="124358"/>
          </a:xfrm>
          <a:prstGeom prst="rect">
            <a:avLst/>
          </a:prstGeom>
          <a:solidFill>
            <a:srgbClr val="52A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260613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+1472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907942" y="3101644"/>
            <a:ext cx="614411" cy="124358"/>
          </a:xfrm>
          <a:prstGeom prst="rect">
            <a:avLst/>
          </a:prstGeom>
          <a:solidFill>
            <a:srgbClr val="35A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896970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+1870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58368" y="3244291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04088" y="3236975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635300" y="3247948"/>
            <a:ext cx="614411" cy="124358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624328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-592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271657" y="3247948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260685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908014" y="3247948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897042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-507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544372" y="324794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180729" y="3247948"/>
            <a:ext cx="614411" cy="124358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69756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817086" y="3247948"/>
            <a:ext cx="614411" cy="124358"/>
          </a:xfrm>
          <a:prstGeom prst="rect">
            <a:avLst/>
          </a:prstGeom>
          <a:solidFill>
            <a:srgbClr val="D9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806113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453443" y="3247948"/>
            <a:ext cx="614411" cy="124358"/>
          </a:xfrm>
          <a:prstGeom prst="rect">
            <a:avLst/>
          </a:prstGeom>
          <a:solidFill>
            <a:srgbClr val="C3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442470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+278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089800" y="3247948"/>
            <a:ext cx="614411" cy="124358"/>
          </a:xfrm>
          <a:prstGeom prst="rect">
            <a:avLst/>
          </a:prstGeom>
          <a:solidFill>
            <a:srgbClr val="B7D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078827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+379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726157" y="3247948"/>
            <a:ext cx="614411" cy="124358"/>
          </a:xfrm>
          <a:prstGeom prst="rect">
            <a:avLst/>
          </a:prstGeom>
          <a:solidFill>
            <a:srgbClr val="B2D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715184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+423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362514" y="3247948"/>
            <a:ext cx="614411" cy="124358"/>
          </a:xfrm>
          <a:prstGeom prst="rect">
            <a:avLst/>
          </a:prstGeom>
          <a:solidFill>
            <a:srgbClr val="9CC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51541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+631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998871" y="3247948"/>
            <a:ext cx="614411" cy="124358"/>
          </a:xfrm>
          <a:prstGeom prst="rect">
            <a:avLst/>
          </a:prstGeom>
          <a:solidFill>
            <a:srgbClr val="98C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987898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+667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635228" y="3247948"/>
            <a:ext cx="614411" cy="124358"/>
          </a:xfrm>
          <a:prstGeom prst="rect">
            <a:avLst/>
          </a:prstGeom>
          <a:solidFill>
            <a:srgbClr val="88C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24255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+836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271585" y="3247948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260613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+965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0907942" y="3247948"/>
            <a:ext cx="614411" cy="124358"/>
          </a:xfrm>
          <a:prstGeom prst="rect">
            <a:avLst/>
          </a:prstGeom>
          <a:solidFill>
            <a:srgbClr val="5BB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896970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+1363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04088" y="3383279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2635300" y="3394252"/>
            <a:ext cx="614411" cy="124358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624328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-667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271657" y="3394252"/>
            <a:ext cx="614411" cy="124358"/>
          </a:xfrm>
          <a:prstGeom prst="rect">
            <a:avLst/>
          </a:prstGeom>
          <a:solidFill>
            <a:srgbClr val="DD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260685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-658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908014" y="3394252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897042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-583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544372" y="3394252"/>
            <a:ext cx="614411" cy="124358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533399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-76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180729" y="339425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817086" y="3394252"/>
            <a:ext cx="614411" cy="124358"/>
          </a:xfrm>
          <a:prstGeom prst="rect">
            <a:avLst/>
          </a:prstGeom>
          <a:solidFill>
            <a:srgbClr val="E7E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806113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53443" y="3394252"/>
            <a:ext cx="614411" cy="124358"/>
          </a:xfrm>
          <a:prstGeom prst="rect">
            <a:avLst/>
          </a:prstGeom>
          <a:solidFill>
            <a:srgbClr val="CE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42470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089800" y="3394252"/>
            <a:ext cx="614411" cy="124358"/>
          </a:xfrm>
          <a:prstGeom prst="rect">
            <a:avLst/>
          </a:prstGeom>
          <a:solidFill>
            <a:srgbClr val="C0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078827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+303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726157" y="3394252"/>
            <a:ext cx="614411" cy="124358"/>
          </a:xfrm>
          <a:prstGeom prst="rect">
            <a:avLst/>
          </a:prstGeom>
          <a:solidFill>
            <a:srgbClr val="BBDB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715184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+347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362514" y="3394252"/>
            <a:ext cx="614411" cy="124358"/>
          </a:xfrm>
          <a:prstGeom prst="rect">
            <a:avLst/>
          </a:prstGeom>
          <a:solidFill>
            <a:srgbClr val="A4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351541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+555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998871" y="3394252"/>
            <a:ext cx="614411" cy="124358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987898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+591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9635228" y="3394252"/>
            <a:ext cx="614411" cy="124358"/>
          </a:xfrm>
          <a:prstGeom prst="rect">
            <a:avLst/>
          </a:prstGeom>
          <a:solidFill>
            <a:srgbClr val="8FC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624255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+760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0271585" y="3394252"/>
            <a:ext cx="614411" cy="124358"/>
          </a:xfrm>
          <a:prstGeom prst="rect">
            <a:avLst/>
          </a:prstGeom>
          <a:solidFill>
            <a:srgbClr val="83C2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260613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+889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0907942" y="3394252"/>
            <a:ext cx="614411" cy="124358"/>
          </a:xfrm>
          <a:prstGeom prst="rect">
            <a:avLst/>
          </a:prstGeom>
          <a:solidFill>
            <a:srgbClr val="61B4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0896970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+1287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04088" y="3529583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2635300" y="3540556"/>
            <a:ext cx="614411" cy="124358"/>
          </a:xfrm>
          <a:prstGeom prst="rect">
            <a:avLst/>
          </a:prstGeom>
          <a:solidFill>
            <a:srgbClr val="DBA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2624328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-718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3271657" y="3540556"/>
            <a:ext cx="614411" cy="124358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260685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-709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3908014" y="3540556"/>
            <a:ext cx="614411" cy="124358"/>
          </a:xfrm>
          <a:prstGeom prst="rect">
            <a:avLst/>
          </a:prstGeom>
          <a:solidFill>
            <a:srgbClr val="DD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897042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-634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4544372" y="3540556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33399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-127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180729" y="3540556"/>
            <a:ext cx="614411" cy="124358"/>
          </a:xfrm>
          <a:prstGeom prst="rect">
            <a:avLst/>
          </a:prstGeom>
          <a:solidFill>
            <a:srgbClr val="F2E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169756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-51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817086" y="354055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453443" y="3540556"/>
            <a:ext cx="614411" cy="124358"/>
          </a:xfrm>
          <a:prstGeom prst="rect">
            <a:avLst/>
          </a:prstGeom>
          <a:solidFill>
            <a:srgbClr val="D5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442470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+151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089800" y="3540556"/>
            <a:ext cx="614411" cy="124358"/>
          </a:xfrm>
          <a:prstGeom prst="rect">
            <a:avLst/>
          </a:prstGeom>
          <a:solidFill>
            <a:srgbClr val="C7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078827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+252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7726157" y="3540556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715184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362514" y="3540556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351541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+504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998871" y="3540556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987898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+540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635228" y="3540556"/>
            <a:ext cx="614411" cy="124358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624255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+709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271585" y="3540556"/>
            <a:ext cx="614411" cy="124358"/>
          </a:xfrm>
          <a:prstGeom prst="rect">
            <a:avLst/>
          </a:prstGeom>
          <a:solidFill>
            <a:srgbClr val="88C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260613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+838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0907942" y="3540556"/>
            <a:ext cx="614411" cy="124358"/>
          </a:xfrm>
          <a:prstGeom prst="rect">
            <a:avLst/>
          </a:prstGeom>
          <a:solidFill>
            <a:srgbClr val="65B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896970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+1236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04088" y="367588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635300" y="3686860"/>
            <a:ext cx="614411" cy="124358"/>
          </a:xfrm>
          <a:prstGeom prst="rect">
            <a:avLst/>
          </a:prstGeom>
          <a:solidFill>
            <a:srgbClr val="D79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2624328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-869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271657" y="3686860"/>
            <a:ext cx="614411" cy="124358"/>
          </a:xfrm>
          <a:prstGeom prst="rect">
            <a:avLst/>
          </a:prstGeom>
          <a:solidFill>
            <a:srgbClr val="D89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3260685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-859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3908014" y="3686860"/>
            <a:ext cx="614411" cy="124358"/>
          </a:xfrm>
          <a:prstGeom prst="rect">
            <a:avLst/>
          </a:prstGeom>
          <a:solidFill>
            <a:srgbClr val="D99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3897042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-785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4544372" y="3686860"/>
            <a:ext cx="614411" cy="124358"/>
          </a:xfrm>
          <a:prstGeom prst="rect">
            <a:avLst/>
          </a:prstGeom>
          <a:solidFill>
            <a:srgbClr val="E8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4533399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-278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5180729" y="3686860"/>
            <a:ext cx="614411" cy="124358"/>
          </a:xfrm>
          <a:prstGeom prst="rect">
            <a:avLst/>
          </a:prstGeom>
          <a:solidFill>
            <a:srgbClr val="EBD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5169756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-202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5817086" y="3686860"/>
            <a:ext cx="614411" cy="124358"/>
          </a:xfrm>
          <a:prstGeom prst="rect">
            <a:avLst/>
          </a:prstGeom>
          <a:solidFill>
            <a:srgbClr val="ED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5806113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-151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6453443" y="368686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7089800" y="3686860"/>
            <a:ext cx="614411" cy="124358"/>
          </a:xfrm>
          <a:prstGeom prst="rect">
            <a:avLst/>
          </a:prstGeom>
          <a:solidFill>
            <a:srgbClr val="DD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7078827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+101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726157" y="3686860"/>
            <a:ext cx="614411" cy="124358"/>
          </a:xfrm>
          <a:prstGeom prst="rect">
            <a:avLst/>
          </a:prstGeom>
          <a:solidFill>
            <a:srgbClr val="D6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715184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+145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8362514" y="3686860"/>
            <a:ext cx="614411" cy="124358"/>
          </a:xfrm>
          <a:prstGeom prst="rect">
            <a:avLst/>
          </a:prstGeom>
          <a:solidFill>
            <a:srgbClr val="BAD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8351541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+353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8998871" y="3686860"/>
            <a:ext cx="614411" cy="124358"/>
          </a:xfrm>
          <a:prstGeom prst="rect">
            <a:avLst/>
          </a:prstGeom>
          <a:solidFill>
            <a:srgbClr val="B6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8987898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+389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9635228" y="3686860"/>
            <a:ext cx="614411" cy="124358"/>
          </a:xfrm>
          <a:prstGeom prst="rect">
            <a:avLst/>
          </a:prstGeom>
          <a:solidFill>
            <a:srgbClr val="A3D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9624255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+558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0271585" y="3686860"/>
            <a:ext cx="614411" cy="124358"/>
          </a:xfrm>
          <a:prstGeom prst="rect">
            <a:avLst/>
          </a:prstGeom>
          <a:solidFill>
            <a:srgbClr val="96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10260613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+688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0907942" y="3686860"/>
            <a:ext cx="614411" cy="124358"/>
          </a:xfrm>
          <a:prstGeom prst="rect">
            <a:avLst/>
          </a:prstGeom>
          <a:solidFill>
            <a:srgbClr val="72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0896970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+1085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704088" y="3822191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2635300" y="3833164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2624328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-970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3271657" y="3833164"/>
            <a:ext cx="614411" cy="124358"/>
          </a:xfrm>
          <a:prstGeom prst="rect">
            <a:avLst/>
          </a:prstGeom>
          <a:solidFill>
            <a:srgbClr val="D59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3260685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-960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3908014" y="3833164"/>
            <a:ext cx="614411" cy="124358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3897042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-886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4544372" y="3833164"/>
            <a:ext cx="614411" cy="124358"/>
          </a:xfrm>
          <a:prstGeom prst="rect">
            <a:avLst/>
          </a:prstGeom>
          <a:solidFill>
            <a:srgbClr val="E5C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4533399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-379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5180729" y="3833164"/>
            <a:ext cx="614411" cy="124358"/>
          </a:xfrm>
          <a:prstGeom prst="rect">
            <a:avLst/>
          </a:prstGeom>
          <a:solidFill>
            <a:srgbClr val="E8C8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5169756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-303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5817086" y="3833164"/>
            <a:ext cx="614411" cy="124358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5806113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-252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6453443" y="3833164"/>
            <a:ext cx="614411" cy="124358"/>
          </a:xfrm>
          <a:prstGeom prst="rect">
            <a:avLst/>
          </a:prstGeom>
          <a:solidFill>
            <a:srgbClr val="F0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442470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-101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7089800" y="383316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7726157" y="3833164"/>
            <a:ext cx="614411" cy="124358"/>
          </a:xfrm>
          <a:prstGeom prst="rect">
            <a:avLst/>
          </a:prstGeom>
          <a:solidFill>
            <a:srgbClr val="E8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7715184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+44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8362514" y="3833164"/>
            <a:ext cx="614411" cy="124358"/>
          </a:xfrm>
          <a:prstGeom prst="rect">
            <a:avLst/>
          </a:prstGeom>
          <a:solidFill>
            <a:srgbClr val="C7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8351541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+252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8998871" y="3833164"/>
            <a:ext cx="614411" cy="124358"/>
          </a:xfrm>
          <a:prstGeom prst="rect">
            <a:avLst/>
          </a:prstGeom>
          <a:solidFill>
            <a:srgbClr val="C2D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8987898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+288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9635228" y="3833164"/>
            <a:ext cx="614411" cy="124358"/>
          </a:xfrm>
          <a:prstGeom prst="rect">
            <a:avLst/>
          </a:prstGeom>
          <a:solidFill>
            <a:srgbClr val="AE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9624255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+457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0271585" y="3833164"/>
            <a:ext cx="614411" cy="124358"/>
          </a:xfrm>
          <a:prstGeom prst="rect">
            <a:avLst/>
          </a:prstGeom>
          <a:solidFill>
            <a:srgbClr val="A0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0260613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907942" y="3833164"/>
            <a:ext cx="614411" cy="124358"/>
          </a:xfrm>
          <a:prstGeom prst="rect">
            <a:avLst/>
          </a:prstGeom>
          <a:solidFill>
            <a:srgbClr val="7B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896970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+984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04088" y="396849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635300" y="3979468"/>
            <a:ext cx="614411" cy="124358"/>
          </a:xfrm>
          <a:prstGeom prst="rect">
            <a:avLst/>
          </a:prstGeom>
          <a:solidFill>
            <a:srgbClr val="D48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624328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-1014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271657" y="3979468"/>
            <a:ext cx="614411" cy="124358"/>
          </a:xfrm>
          <a:prstGeom prst="rect">
            <a:avLst/>
          </a:prstGeom>
          <a:solidFill>
            <a:srgbClr val="D48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260685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-1005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3908014" y="3979468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3897042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-930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4544372" y="3979468"/>
            <a:ext cx="614411" cy="124358"/>
          </a:xfrm>
          <a:prstGeom prst="rect">
            <a:avLst/>
          </a:prstGeom>
          <a:solidFill>
            <a:srgbClr val="E4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4533399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-423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5180729" y="3979468"/>
            <a:ext cx="614411" cy="124358"/>
          </a:xfrm>
          <a:prstGeom prst="rect">
            <a:avLst/>
          </a:prstGeom>
          <a:solidFill>
            <a:srgbClr val="E6C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5169756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-347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817086" y="3979468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5806113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-296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6453443" y="3979468"/>
            <a:ext cx="614411" cy="124358"/>
          </a:xfrm>
          <a:prstGeom prst="rect">
            <a:avLst/>
          </a:prstGeom>
          <a:solidFill>
            <a:srgbClr val="EED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442470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-145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7089800" y="3979468"/>
            <a:ext cx="614411" cy="124358"/>
          </a:xfrm>
          <a:prstGeom prst="rect">
            <a:avLst/>
          </a:prstGeom>
          <a:solidFill>
            <a:srgbClr val="F3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7078827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7726157" y="397946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8362514" y="3979468"/>
            <a:ext cx="614411" cy="124358"/>
          </a:xfrm>
          <a:prstGeom prst="rect">
            <a:avLst/>
          </a:prstGeom>
          <a:solidFill>
            <a:srgbClr val="CD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8351541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+208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8998871" y="3979468"/>
            <a:ext cx="614411" cy="124358"/>
          </a:xfrm>
          <a:prstGeom prst="rect">
            <a:avLst/>
          </a:prstGeom>
          <a:solidFill>
            <a:srgbClr val="C8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987898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+244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9635228" y="3979468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9624255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+413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10271585" y="3979468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10260613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+542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10907942" y="3979468"/>
            <a:ext cx="614411" cy="124358"/>
          </a:xfrm>
          <a:prstGeom prst="rect">
            <a:avLst/>
          </a:prstGeom>
          <a:solidFill>
            <a:srgbClr val="7FC0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10896970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+940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704088" y="411480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2635300" y="4125772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2624328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-1222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3271657" y="4125772"/>
            <a:ext cx="614411" cy="124358"/>
          </a:xfrm>
          <a:prstGeom prst="rect">
            <a:avLst/>
          </a:prstGeom>
          <a:solidFill>
            <a:srgbClr val="CF7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3260685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-1213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3908014" y="4125772"/>
            <a:ext cx="614411" cy="124358"/>
          </a:xfrm>
          <a:prstGeom prst="rect">
            <a:avLst/>
          </a:prstGeom>
          <a:solidFill>
            <a:srgbClr val="D18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3897042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-1138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4544372" y="4125772"/>
            <a:ext cx="614411" cy="124358"/>
          </a:xfrm>
          <a:prstGeom prst="rect">
            <a:avLst/>
          </a:prstGeom>
          <a:solidFill>
            <a:srgbClr val="DE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4533399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-631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5180729" y="4125772"/>
            <a:ext cx="614411" cy="124358"/>
          </a:xfrm>
          <a:prstGeom prst="rect">
            <a:avLst/>
          </a:prstGeom>
          <a:solidFill>
            <a:srgbClr val="E0B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5169756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-555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5817086" y="4125772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5806113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-504</a:t>
            </a:r>
          </a:p>
        </p:txBody>
      </p:sp>
      <p:sp>
        <p:nvSpPr>
          <p:cNvPr id="285" name="Rectangle 284"/>
          <p:cNvSpPr/>
          <p:nvPr/>
        </p:nvSpPr>
        <p:spPr>
          <a:xfrm>
            <a:off x="6453443" y="4125772"/>
            <a:ext cx="614411" cy="124358"/>
          </a:xfrm>
          <a:prstGeom prst="rect">
            <a:avLst/>
          </a:prstGeom>
          <a:solidFill>
            <a:srgbClr val="E6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442470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-353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7089800" y="4125772"/>
            <a:ext cx="614411" cy="124358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7078827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-252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7726157" y="4125772"/>
            <a:ext cx="614411" cy="124358"/>
          </a:xfrm>
          <a:prstGeom prst="rect">
            <a:avLst/>
          </a:prstGeom>
          <a:solidFill>
            <a:srgbClr val="EBD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7715184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-208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8362514" y="412577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8998871" y="4125772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8987898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+36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9635228" y="4125772"/>
            <a:ext cx="614411" cy="124358"/>
          </a:xfrm>
          <a:prstGeom prst="rect">
            <a:avLst/>
          </a:prstGeom>
          <a:solidFill>
            <a:srgbClr val="C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9624255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+205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10271585" y="4125772"/>
            <a:ext cx="614411" cy="124358"/>
          </a:xfrm>
          <a:prstGeom prst="rect">
            <a:avLst/>
          </a:prstGeom>
          <a:solidFill>
            <a:srgbClr val="BCD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10260613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+334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10907942" y="4125772"/>
            <a:ext cx="614411" cy="124358"/>
          </a:xfrm>
          <a:prstGeom prst="rect">
            <a:avLst/>
          </a:prstGeom>
          <a:solidFill>
            <a:srgbClr val="92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10896970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+732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658368" y="4268419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704088" y="426110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2635300" y="4272076"/>
            <a:ext cx="614411" cy="124358"/>
          </a:xfrm>
          <a:prstGeom prst="rect">
            <a:avLst/>
          </a:prstGeom>
          <a:solidFill>
            <a:srgbClr val="CE7C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2624328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-1258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3271657" y="4272076"/>
            <a:ext cx="614411" cy="124358"/>
          </a:xfrm>
          <a:prstGeom prst="rect">
            <a:avLst/>
          </a:prstGeom>
          <a:solidFill>
            <a:srgbClr val="CE7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3260685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-1249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908014" y="4272076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3897042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-1174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544372" y="4272076"/>
            <a:ext cx="614411" cy="124358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4533399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-667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180729" y="4272076"/>
            <a:ext cx="614411" cy="124358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5169756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-591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817086" y="4272076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5806113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-540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453443" y="4272076"/>
            <a:ext cx="614411" cy="124358"/>
          </a:xfrm>
          <a:prstGeom prst="rect">
            <a:avLst/>
          </a:prstGeom>
          <a:solidFill>
            <a:srgbClr val="E5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6442470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-389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9800" y="4272076"/>
            <a:ext cx="614411" cy="124358"/>
          </a:xfrm>
          <a:prstGeom prst="rect">
            <a:avLst/>
          </a:prstGeom>
          <a:solidFill>
            <a:srgbClr val="E8CA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7078827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-288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726157" y="4272076"/>
            <a:ext cx="614411" cy="124358"/>
          </a:xfrm>
          <a:prstGeom prst="rect">
            <a:avLst/>
          </a:prstGeom>
          <a:solidFill>
            <a:srgbClr val="EA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7715184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-244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362514" y="4272076"/>
            <a:ext cx="614411" cy="124358"/>
          </a:xfrm>
          <a:prstGeom prst="rect">
            <a:avLst/>
          </a:prstGeom>
          <a:solidFill>
            <a:srgbClr val="F3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8351541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-36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998871" y="427207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9635228" y="4272076"/>
            <a:ext cx="614411" cy="124358"/>
          </a:xfrm>
          <a:prstGeom prst="rect">
            <a:avLst/>
          </a:prstGeom>
          <a:solidFill>
            <a:srgbClr val="D3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9624255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+169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0271585" y="4272076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10260613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+298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0907942" y="4272076"/>
            <a:ext cx="614411" cy="124358"/>
          </a:xfrm>
          <a:prstGeom prst="rect">
            <a:avLst/>
          </a:prstGeom>
          <a:solidFill>
            <a:srgbClr val="95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10896970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+696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704088" y="440740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2635300" y="4418380"/>
            <a:ext cx="614411" cy="124358"/>
          </a:xfrm>
          <a:prstGeom prst="rect">
            <a:avLst/>
          </a:prstGeom>
          <a:solidFill>
            <a:srgbClr val="CA7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2624328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-1427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3271657" y="4418380"/>
            <a:ext cx="614411" cy="124358"/>
          </a:xfrm>
          <a:prstGeom prst="rect">
            <a:avLst/>
          </a:prstGeom>
          <a:solidFill>
            <a:srgbClr val="CB7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3260685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-1417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908014" y="4418380"/>
            <a:ext cx="614411" cy="124358"/>
          </a:xfrm>
          <a:prstGeom prst="rect">
            <a:avLst/>
          </a:prstGeom>
          <a:solidFill>
            <a:srgbClr val="CC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3897042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-1343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544372" y="4418380"/>
            <a:ext cx="614411" cy="124358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4533399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-836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5180729" y="4418380"/>
            <a:ext cx="614411" cy="124358"/>
          </a:xfrm>
          <a:prstGeom prst="rect">
            <a:avLst/>
          </a:prstGeom>
          <a:solidFill>
            <a:srgbClr val="DAA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5169756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-760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5817086" y="4418380"/>
            <a:ext cx="614411" cy="124358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5806113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-709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6453443" y="4418380"/>
            <a:ext cx="614411" cy="124358"/>
          </a:xfrm>
          <a:prstGeom prst="rect">
            <a:avLst/>
          </a:prstGeom>
          <a:solidFill>
            <a:srgbClr val="E0B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6442470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-558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7089800" y="4418380"/>
            <a:ext cx="614411" cy="124358"/>
          </a:xfrm>
          <a:prstGeom prst="rect">
            <a:avLst/>
          </a:prstGeom>
          <a:solidFill>
            <a:srgbClr val="E3B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7078827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-457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7726157" y="4418380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7715184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-413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8362514" y="4418380"/>
            <a:ext cx="614411" cy="124358"/>
          </a:xfrm>
          <a:prstGeom prst="rect">
            <a:avLst/>
          </a:prstGeom>
          <a:solidFill>
            <a:srgbClr val="EB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8351541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-205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998871" y="4418380"/>
            <a:ext cx="614411" cy="124358"/>
          </a:xfrm>
          <a:prstGeom prst="rect">
            <a:avLst/>
          </a:prstGeom>
          <a:solidFill>
            <a:srgbClr val="ED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8987898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-169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9635228" y="441838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0271585" y="4418380"/>
            <a:ext cx="614411" cy="124358"/>
          </a:xfrm>
          <a:prstGeom prst="rect">
            <a:avLst/>
          </a:prstGeom>
          <a:solidFill>
            <a:srgbClr val="D9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10260613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+130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10907942" y="4418380"/>
            <a:ext cx="614411" cy="124358"/>
          </a:xfrm>
          <a:prstGeom prst="rect">
            <a:avLst/>
          </a:prstGeom>
          <a:solidFill>
            <a:srgbClr val="A7D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10896970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+527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704088" y="455371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2635300" y="4564684"/>
            <a:ext cx="614411" cy="124358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2624328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-1557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3271657" y="4564684"/>
            <a:ext cx="614411" cy="124358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3260685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-1547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3908014" y="4564684"/>
            <a:ext cx="614411" cy="124358"/>
          </a:xfrm>
          <a:prstGeom prst="rect">
            <a:avLst/>
          </a:prstGeom>
          <a:solidFill>
            <a:srgbClr val="C9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3897042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-1472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4544372" y="4564684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4533399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-965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5180729" y="4564684"/>
            <a:ext cx="614411" cy="124358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5169756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-889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5817086" y="4564684"/>
            <a:ext cx="614411" cy="124358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5806113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-838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6453443" y="4564684"/>
            <a:ext cx="614411" cy="124358"/>
          </a:xfrm>
          <a:prstGeom prst="rect">
            <a:avLst/>
          </a:prstGeom>
          <a:solidFill>
            <a:srgbClr val="DCA6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6442470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-688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7089800" y="4564684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7078827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-587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7726157" y="4564684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7715184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-542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8362514" y="4564684"/>
            <a:ext cx="614411" cy="124358"/>
          </a:xfrm>
          <a:prstGeom prst="rect">
            <a:avLst/>
          </a:prstGeom>
          <a:solidFill>
            <a:srgbClr val="E7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8351541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-334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8998871" y="4564684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8987898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-298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9635228" y="4564684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9624255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-130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10271585" y="456468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10907942" y="4564684"/>
            <a:ext cx="614411" cy="124358"/>
          </a:xfrm>
          <a:prstGeom prst="rect">
            <a:avLst/>
          </a:prstGeom>
          <a:solidFill>
            <a:srgbClr val="B5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10896970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+398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704088" y="470001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2635300" y="4710988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2624328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-1954</a:t>
            </a:r>
          </a:p>
        </p:txBody>
      </p:sp>
      <p:sp>
        <p:nvSpPr>
          <p:cNvPr id="388" name="Rectangle 387"/>
          <p:cNvSpPr/>
          <p:nvPr/>
        </p:nvSpPr>
        <p:spPr>
          <a:xfrm>
            <a:off x="3271657" y="4710988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3260685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-1944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3908014" y="4710988"/>
            <a:ext cx="614411" cy="124358"/>
          </a:xfrm>
          <a:prstGeom prst="rect">
            <a:avLst/>
          </a:prstGeom>
          <a:solidFill>
            <a:srgbClr val="C15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3897042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-1870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4544372" y="4710988"/>
            <a:ext cx="614411" cy="124358"/>
          </a:xfrm>
          <a:prstGeom prst="rect">
            <a:avLst/>
          </a:prstGeom>
          <a:solidFill>
            <a:srgbClr val="CC7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4533399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-1363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5180729" y="4710988"/>
            <a:ext cx="614411" cy="124358"/>
          </a:xfrm>
          <a:prstGeom prst="rect">
            <a:avLst/>
          </a:prstGeom>
          <a:solidFill>
            <a:srgbClr val="CD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5169756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-1287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5817086" y="4710988"/>
            <a:ext cx="614411" cy="124358"/>
          </a:xfrm>
          <a:prstGeom prst="rect">
            <a:avLst/>
          </a:prstGeom>
          <a:solidFill>
            <a:srgbClr val="CF7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5806113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-1236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6453443" y="4710988"/>
            <a:ext cx="614411" cy="124358"/>
          </a:xfrm>
          <a:prstGeom prst="rect">
            <a:avLst/>
          </a:prstGeom>
          <a:solidFill>
            <a:srgbClr val="D28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6442470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-1085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7089800" y="4710988"/>
            <a:ext cx="614411" cy="124358"/>
          </a:xfrm>
          <a:prstGeom prst="rect">
            <a:avLst/>
          </a:prstGeom>
          <a:solidFill>
            <a:srgbClr val="D4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7078827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-984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7726157" y="4710988"/>
            <a:ext cx="614411" cy="124358"/>
          </a:xfrm>
          <a:prstGeom prst="rect">
            <a:avLst/>
          </a:prstGeom>
          <a:solidFill>
            <a:srgbClr val="D692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7715184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-940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8362514" y="4710988"/>
            <a:ext cx="614411" cy="124358"/>
          </a:xfrm>
          <a:prstGeom prst="rect">
            <a:avLst/>
          </a:prstGeom>
          <a:solidFill>
            <a:srgbClr val="DBA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8351541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-732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8998871" y="4710988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8987898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-696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9635228" y="4710988"/>
            <a:ext cx="614411" cy="124358"/>
          </a:xfrm>
          <a:prstGeom prst="rect">
            <a:avLst/>
          </a:prstGeom>
          <a:solidFill>
            <a:srgbClr val="E1B3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9624255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-527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10271585" y="4710988"/>
            <a:ext cx="614411" cy="124358"/>
          </a:xfrm>
          <a:prstGeom prst="rect">
            <a:avLst/>
          </a:prstGeom>
          <a:solidFill>
            <a:srgbClr val="E4B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10260613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-398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10907942" y="471098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658368" y="4956048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Cada celda: UF que la vivienda de la FILA justifica por sobre la de la COLUMNA (tiempo + costo de auto ahorrados). Verde = puede pedir más; rojo = debe pedir menos.</a:t>
            </a:r>
          </a:p>
        </p:txBody>
      </p:sp>
      <p:sp>
        <p:nvSpPr>
          <p:cNvPr id="414" name="Rectangle 4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lectura honesta: manejar desde Batuco es caro y su sobreprecio por auto es acotado; no puede pedir más UF que Valle Grande ni Chicauma. La lámina siguiente muestra dónde recupera esa diferencia.</a:t>
            </a:r>
          </a:p>
        </p:txBody>
      </p:sp>
      <p:cxnSp>
        <p:nvCxnSpPr>
          <p:cNvPr id="418" name="Connector 4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TextBox 4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EL DIFERENCIAL DEL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diferencial del tren, en UF: solo las zonas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con estación nueva lo capturan.</a:t>
            </a:r>
          </a:p>
        </p:txBody>
      </p:sp>
      <p:sp>
        <p:nvSpPr>
          <p:cNvPr id="5" name="TextBox 4"/>
          <p:cNvSpPr txBox="1"/>
          <p:nvPr/>
        </p:nvSpPr>
        <p:spPr>
          <a:xfrm rot="16200000">
            <a:off x="2622466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6" name="TextBox 5"/>
          <p:cNvSpPr txBox="1"/>
          <p:nvPr/>
        </p:nvSpPr>
        <p:spPr>
          <a:xfrm rot="16200000">
            <a:off x="3258823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3895180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8" name="TextBox 7"/>
          <p:cNvSpPr txBox="1"/>
          <p:nvPr/>
        </p:nvSpPr>
        <p:spPr>
          <a:xfrm rot="16200000">
            <a:off x="4531537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5167894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5804251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40609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7076966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13" name="TextBox 12"/>
          <p:cNvSpPr txBox="1"/>
          <p:nvPr/>
        </p:nvSpPr>
        <p:spPr>
          <a:xfrm rot="16200000">
            <a:off x="7713323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14" name="TextBox 13"/>
          <p:cNvSpPr txBox="1"/>
          <p:nvPr/>
        </p:nvSpPr>
        <p:spPr>
          <a:xfrm rot="16200000">
            <a:off x="8349680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8986037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9622394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17" name="TextBox 16"/>
          <p:cNvSpPr txBox="1"/>
          <p:nvPr/>
        </p:nvSpPr>
        <p:spPr>
          <a:xfrm rot="16200000">
            <a:off x="10258751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10895108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2805379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2798063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5300" y="280903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71657" y="2809036"/>
            <a:ext cx="614411" cy="124358"/>
          </a:xfrm>
          <a:prstGeom prst="rect">
            <a:avLst/>
          </a:prstGeom>
          <a:solidFill>
            <a:srgbClr val="AED5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0685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+228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08014" y="2809036"/>
            <a:ext cx="614411" cy="124358"/>
          </a:xfrm>
          <a:prstGeom prst="rect">
            <a:avLst/>
          </a:prstGeom>
          <a:solidFill>
            <a:srgbClr val="9A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97042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44372" y="2809036"/>
            <a:ext cx="614411" cy="124358"/>
          </a:xfrm>
          <a:prstGeom prst="rect">
            <a:avLst/>
          </a:prstGeom>
          <a:solidFill>
            <a:srgbClr val="96C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3399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80729" y="2809036"/>
            <a:ext cx="614411" cy="124358"/>
          </a:xfrm>
          <a:prstGeom prst="rect">
            <a:avLst/>
          </a:prstGeom>
          <a:solidFill>
            <a:srgbClr val="7D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9756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17086" y="2809036"/>
            <a:ext cx="614411" cy="124358"/>
          </a:xfrm>
          <a:prstGeom prst="rect">
            <a:avLst/>
          </a:prstGeom>
          <a:solidFill>
            <a:srgbClr val="5AB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113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+690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53443" y="2809036"/>
            <a:ext cx="614411" cy="124358"/>
          </a:xfrm>
          <a:prstGeom prst="rect">
            <a:avLst/>
          </a:prstGeom>
          <a:solidFill>
            <a:srgbClr val="47A8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2470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+811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89800" y="2809036"/>
            <a:ext cx="614411" cy="124358"/>
          </a:xfrm>
          <a:prstGeom prst="rect">
            <a:avLst/>
          </a:prstGeom>
          <a:solidFill>
            <a:srgbClr val="3CA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78827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+882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26157" y="2809036"/>
            <a:ext cx="614411" cy="124358"/>
          </a:xfrm>
          <a:prstGeom prst="rect">
            <a:avLst/>
          </a:prstGeom>
          <a:solidFill>
            <a:srgbClr val="3AA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15184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+896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62514" y="2809036"/>
            <a:ext cx="614411" cy="124358"/>
          </a:xfrm>
          <a:prstGeom prst="rect">
            <a:avLst/>
          </a:prstGeom>
          <a:solidFill>
            <a:srgbClr val="35A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51541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98871" y="2809036"/>
            <a:ext cx="614411" cy="124358"/>
          </a:xfrm>
          <a:prstGeom prst="rect">
            <a:avLst/>
          </a:prstGeom>
          <a:solidFill>
            <a:srgbClr val="34A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87898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+939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35228" y="2809036"/>
            <a:ext cx="614411" cy="124358"/>
          </a:xfrm>
          <a:prstGeom prst="rect">
            <a:avLst/>
          </a:prstGeom>
          <a:solidFill>
            <a:srgbClr val="339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4255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+948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271585" y="2809036"/>
            <a:ext cx="614411" cy="124358"/>
          </a:xfrm>
          <a:prstGeom prst="rect">
            <a:avLst/>
          </a:prstGeom>
          <a:solidFill>
            <a:srgbClr val="319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60613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+960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07942" y="2809036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896970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+977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" y="2944368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35300" y="2955340"/>
            <a:ext cx="614411" cy="124358"/>
          </a:xfrm>
          <a:prstGeom prst="rect">
            <a:avLst/>
          </a:prstGeom>
          <a:solidFill>
            <a:srgbClr val="E3B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24328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-228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71657" y="295534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08014" y="2955340"/>
            <a:ext cx="614411" cy="124358"/>
          </a:xfrm>
          <a:prstGeom prst="rect">
            <a:avLst/>
          </a:prstGeom>
          <a:solidFill>
            <a:srgbClr val="C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97042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44372" y="2955340"/>
            <a:ext cx="614411" cy="124358"/>
          </a:xfrm>
          <a:prstGeom prst="rect">
            <a:avLst/>
          </a:prstGeom>
          <a:solidFill>
            <a:srgbClr val="C9E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33399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+117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180729" y="2955340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69756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17086" y="2955340"/>
            <a:ext cx="614411" cy="124358"/>
          </a:xfrm>
          <a:prstGeom prst="rect">
            <a:avLst/>
          </a:prstGeom>
          <a:solidFill>
            <a:srgbClr val="80C1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806113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53443" y="2955340"/>
            <a:ext cx="614411" cy="124358"/>
          </a:xfrm>
          <a:prstGeom prst="rect">
            <a:avLst/>
          </a:prstGeom>
          <a:solidFill>
            <a:srgbClr val="6BB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42470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+583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89800" y="2955340"/>
            <a:ext cx="614411" cy="124358"/>
          </a:xfrm>
          <a:prstGeom prst="rect">
            <a:avLst/>
          </a:prstGeom>
          <a:solidFill>
            <a:srgbClr val="5FB3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78827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+654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26157" y="2955340"/>
            <a:ext cx="614411" cy="124358"/>
          </a:xfrm>
          <a:prstGeom prst="rect">
            <a:avLst/>
          </a:prstGeom>
          <a:solidFill>
            <a:srgbClr val="5DB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15184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+668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62514" y="2955340"/>
            <a:ext cx="614411" cy="124358"/>
          </a:xfrm>
          <a:prstGeom prst="rect">
            <a:avLst/>
          </a:prstGeom>
          <a:solidFill>
            <a:srgbClr val="58A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51541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998871" y="2955340"/>
            <a:ext cx="614411" cy="124358"/>
          </a:xfrm>
          <a:prstGeom prst="rect">
            <a:avLst/>
          </a:prstGeom>
          <a:solidFill>
            <a:srgbClr val="56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987898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+711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635228" y="2955340"/>
            <a:ext cx="614411" cy="124358"/>
          </a:xfrm>
          <a:prstGeom prst="rect">
            <a:avLst/>
          </a:prstGeom>
          <a:solidFill>
            <a:srgbClr val="55AE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624255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+720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271585" y="2955340"/>
            <a:ext cx="614411" cy="124358"/>
          </a:xfrm>
          <a:prstGeom prst="rect">
            <a:avLst/>
          </a:prstGeom>
          <a:solidFill>
            <a:srgbClr val="53A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60613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+731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907942" y="2955340"/>
            <a:ext cx="614411" cy="124358"/>
          </a:xfrm>
          <a:prstGeom prst="rect">
            <a:avLst/>
          </a:prstGeom>
          <a:solidFill>
            <a:srgbClr val="50A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896970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+749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58368" y="3097987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04088" y="3090671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635300" y="3101644"/>
            <a:ext cx="614411" cy="124358"/>
          </a:xfrm>
          <a:prstGeom prst="rect">
            <a:avLst/>
          </a:prstGeom>
          <a:solidFill>
            <a:srgbClr val="DDA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624328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71657" y="3101644"/>
            <a:ext cx="614411" cy="124358"/>
          </a:xfrm>
          <a:prstGeom prst="rect">
            <a:avLst/>
          </a:prstGeom>
          <a:solidFill>
            <a:srgbClr val="EC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260685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908014" y="310164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544372" y="3101644"/>
            <a:ext cx="614411" cy="124358"/>
          </a:xfrm>
          <a:prstGeom prst="rect">
            <a:avLst/>
          </a:prstGeom>
          <a:solidFill>
            <a:srgbClr val="E9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33399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180729" y="3101644"/>
            <a:ext cx="614411" cy="124358"/>
          </a:xfrm>
          <a:prstGeom prst="rect">
            <a:avLst/>
          </a:prstGeom>
          <a:solidFill>
            <a:srgbClr val="BF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169756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+157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817086" y="3101644"/>
            <a:ext cx="614411" cy="124358"/>
          </a:xfrm>
          <a:prstGeom prst="rect">
            <a:avLst/>
          </a:prstGeom>
          <a:solidFill>
            <a:srgbClr val="92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806113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+364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453443" y="3101644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42470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089800" y="3101644"/>
            <a:ext cx="614411" cy="124358"/>
          </a:xfrm>
          <a:prstGeom prst="rect">
            <a:avLst/>
          </a:prstGeom>
          <a:solidFill>
            <a:srgbClr val="70B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078827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+557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726157" y="3101644"/>
            <a:ext cx="614411" cy="124358"/>
          </a:xfrm>
          <a:prstGeom prst="rect">
            <a:avLst/>
          </a:prstGeom>
          <a:solidFill>
            <a:srgbClr val="6DB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715184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+570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362514" y="3101644"/>
            <a:ext cx="614411" cy="124358"/>
          </a:xfrm>
          <a:prstGeom prst="rect">
            <a:avLst/>
          </a:prstGeom>
          <a:solidFill>
            <a:srgbClr val="68B6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51541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+605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998871" y="3101644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87898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+613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635228" y="3101644"/>
            <a:ext cx="614411" cy="124358"/>
          </a:xfrm>
          <a:prstGeom prst="rect">
            <a:avLst/>
          </a:prstGeom>
          <a:solidFill>
            <a:srgbClr val="65B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624255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+623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271585" y="3101644"/>
            <a:ext cx="614411" cy="124358"/>
          </a:xfrm>
          <a:prstGeom prst="rect">
            <a:avLst/>
          </a:prstGeom>
          <a:solidFill>
            <a:srgbClr val="63B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60613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+634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907942" y="3101644"/>
            <a:ext cx="614411" cy="124358"/>
          </a:xfrm>
          <a:prstGeom prst="rect">
            <a:avLst/>
          </a:prstGeom>
          <a:solidFill>
            <a:srgbClr val="60B3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896970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+652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04088" y="3236975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635300" y="3247948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624328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-345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271657" y="3247948"/>
            <a:ext cx="614411" cy="124358"/>
          </a:xfrm>
          <a:prstGeom prst="rect">
            <a:avLst/>
          </a:prstGeom>
          <a:solidFill>
            <a:srgbClr val="EA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260685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-117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908014" y="3247948"/>
            <a:ext cx="614411" cy="124358"/>
          </a:xfrm>
          <a:prstGeom prst="rect">
            <a:avLst/>
          </a:prstGeom>
          <a:solidFill>
            <a:srgbClr val="F3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97042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544372" y="324794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180729" y="3247948"/>
            <a:ext cx="614411" cy="124358"/>
          </a:xfrm>
          <a:prstGeom prst="rect">
            <a:avLst/>
          </a:prstGeom>
          <a:solidFill>
            <a:srgbClr val="C4D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169756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+137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817086" y="3247948"/>
            <a:ext cx="614411" cy="124358"/>
          </a:xfrm>
          <a:prstGeom prst="rect">
            <a:avLst/>
          </a:prstGeom>
          <a:solidFill>
            <a:srgbClr val="96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806113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+344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453443" y="3247948"/>
            <a:ext cx="614411" cy="124358"/>
          </a:xfrm>
          <a:prstGeom prst="rect">
            <a:avLst/>
          </a:prstGeom>
          <a:solidFill>
            <a:srgbClr val="80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42470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089800" y="3247948"/>
            <a:ext cx="614411" cy="124358"/>
          </a:xfrm>
          <a:prstGeom prst="rect">
            <a:avLst/>
          </a:prstGeom>
          <a:solidFill>
            <a:srgbClr val="73B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078827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+537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726157" y="3247948"/>
            <a:ext cx="614411" cy="124358"/>
          </a:xfrm>
          <a:prstGeom prst="rect">
            <a:avLst/>
          </a:prstGeom>
          <a:solidFill>
            <a:srgbClr val="71B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715184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+551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362514" y="3247948"/>
            <a:ext cx="614411" cy="124358"/>
          </a:xfrm>
          <a:prstGeom prst="rect">
            <a:avLst/>
          </a:prstGeom>
          <a:solidFill>
            <a:srgbClr val="6BB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351541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+585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998871" y="3247948"/>
            <a:ext cx="614411" cy="124358"/>
          </a:xfrm>
          <a:prstGeom prst="rect">
            <a:avLst/>
          </a:prstGeom>
          <a:solidFill>
            <a:srgbClr val="69B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987898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+593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9635228" y="3247948"/>
            <a:ext cx="614411" cy="124358"/>
          </a:xfrm>
          <a:prstGeom prst="rect">
            <a:avLst/>
          </a:prstGeom>
          <a:solidFill>
            <a:srgbClr val="68B6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624255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+603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0271585" y="3247948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60613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+614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907942" y="3247948"/>
            <a:ext cx="614411" cy="124358"/>
          </a:xfrm>
          <a:prstGeom prst="rect">
            <a:avLst/>
          </a:prstGeom>
          <a:solidFill>
            <a:srgbClr val="63B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896970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+632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04088" y="3383279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635300" y="3394252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2624328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-482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271657" y="3394252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260685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-254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908014" y="3394252"/>
            <a:ext cx="614411" cy="124358"/>
          </a:xfrm>
          <a:prstGeom prst="rect">
            <a:avLst/>
          </a:prstGeom>
          <a:solidFill>
            <a:srgbClr val="E7C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897042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-157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44372" y="3394252"/>
            <a:ext cx="614411" cy="124358"/>
          </a:xfrm>
          <a:prstGeom prst="rect">
            <a:avLst/>
          </a:prstGeom>
          <a:solidFill>
            <a:srgbClr val="E9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533399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-137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180729" y="339425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817086" y="3394252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806113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+208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453443" y="3394252"/>
            <a:ext cx="614411" cy="124358"/>
          </a:xfrm>
          <a:prstGeom prst="rect">
            <a:avLst/>
          </a:prstGeom>
          <a:solidFill>
            <a:srgbClr val="99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42470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+328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089800" y="3394252"/>
            <a:ext cx="614411" cy="124358"/>
          </a:xfrm>
          <a:prstGeom prst="rect">
            <a:avLst/>
          </a:prstGeom>
          <a:solidFill>
            <a:srgbClr val="8BC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078827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+400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726157" y="3394252"/>
            <a:ext cx="614411" cy="124358"/>
          </a:xfrm>
          <a:prstGeom prst="rect">
            <a:avLst/>
          </a:prstGeom>
          <a:solidFill>
            <a:srgbClr val="89C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715184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+414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362514" y="3394252"/>
            <a:ext cx="614411" cy="124358"/>
          </a:xfrm>
          <a:prstGeom prst="rect">
            <a:avLst/>
          </a:prstGeom>
          <a:solidFill>
            <a:srgbClr val="83C2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351541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+448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8998871" y="3394252"/>
            <a:ext cx="614411" cy="124358"/>
          </a:xfrm>
          <a:prstGeom prst="rect">
            <a:avLst/>
          </a:prstGeom>
          <a:solidFill>
            <a:srgbClr val="81C1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987898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+457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9635228" y="3394252"/>
            <a:ext cx="614411" cy="124358"/>
          </a:xfrm>
          <a:prstGeom prst="rect">
            <a:avLst/>
          </a:prstGeom>
          <a:solidFill>
            <a:srgbClr val="7F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624255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+466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0271585" y="3394252"/>
            <a:ext cx="614411" cy="124358"/>
          </a:xfrm>
          <a:prstGeom prst="rect">
            <a:avLst/>
          </a:prstGeom>
          <a:solidFill>
            <a:srgbClr val="7DC0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0260613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+477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0907942" y="3394252"/>
            <a:ext cx="614411" cy="124358"/>
          </a:xfrm>
          <a:prstGeom prst="rect">
            <a:avLst/>
          </a:prstGeom>
          <a:solidFill>
            <a:srgbClr val="7ABE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0896970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+495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04088" y="3529583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635300" y="3540556"/>
            <a:ext cx="614411" cy="124358"/>
          </a:xfrm>
          <a:prstGeom prst="rect">
            <a:avLst/>
          </a:prstGeom>
          <a:solidFill>
            <a:srgbClr val="CB7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624328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-690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3271657" y="3540556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260685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-462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908014" y="3540556"/>
            <a:ext cx="614411" cy="124358"/>
          </a:xfrm>
          <a:prstGeom prst="rect">
            <a:avLst/>
          </a:prstGeom>
          <a:solidFill>
            <a:srgbClr val="DBA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3897042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-364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4544372" y="3540556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4533399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-344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180729" y="3540556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169756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-208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5817086" y="354055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453443" y="3540556"/>
            <a:ext cx="614411" cy="124358"/>
          </a:xfrm>
          <a:prstGeom prst="rect">
            <a:avLst/>
          </a:prstGeom>
          <a:solidFill>
            <a:srgbClr val="C8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442470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+121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089800" y="3540556"/>
            <a:ext cx="614411" cy="124358"/>
          </a:xfrm>
          <a:prstGeom prst="rect">
            <a:avLst/>
          </a:prstGeom>
          <a:solidFill>
            <a:srgbClr val="B6D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7078827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+192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7726157" y="3540556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7715184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8362514" y="3540556"/>
            <a:ext cx="614411" cy="124358"/>
          </a:xfrm>
          <a:prstGeom prst="rect">
            <a:avLst/>
          </a:prstGeom>
          <a:solidFill>
            <a:srgbClr val="AC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8351541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+241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8998871" y="3540556"/>
            <a:ext cx="614411" cy="124358"/>
          </a:xfrm>
          <a:prstGeom prst="rect">
            <a:avLst/>
          </a:prstGeom>
          <a:solidFill>
            <a:srgbClr val="AAD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8987898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+249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9635228" y="3540556"/>
            <a:ext cx="614411" cy="124358"/>
          </a:xfrm>
          <a:prstGeom prst="rect">
            <a:avLst/>
          </a:prstGeom>
          <a:solidFill>
            <a:srgbClr val="A8D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9624255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+258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0271585" y="3540556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0260613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+270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0907942" y="3540556"/>
            <a:ext cx="614411" cy="124358"/>
          </a:xfrm>
          <a:prstGeom prst="rect">
            <a:avLst/>
          </a:prstGeom>
          <a:solidFill>
            <a:srgbClr val="A2D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10896970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+287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704088" y="367588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2635300" y="3686860"/>
            <a:ext cx="614411" cy="124358"/>
          </a:xfrm>
          <a:prstGeom prst="rect">
            <a:avLst/>
          </a:prstGeom>
          <a:solidFill>
            <a:srgbClr val="C665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2624328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-811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3271657" y="3686860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260685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-583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3908014" y="3686860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3897042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-485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4544372" y="3686860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4533399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-465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180729" y="3686860"/>
            <a:ext cx="614411" cy="124358"/>
          </a:xfrm>
          <a:prstGeom prst="rect">
            <a:avLst/>
          </a:prstGeom>
          <a:solidFill>
            <a:srgbClr val="DD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5169756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-328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817086" y="3686860"/>
            <a:ext cx="614411" cy="124358"/>
          </a:xfrm>
          <a:prstGeom prst="rect">
            <a:avLst/>
          </a:prstGeom>
          <a:solidFill>
            <a:srgbClr val="EA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806113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-121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6453443" y="368686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7089800" y="3686860"/>
            <a:ext cx="614411" cy="124358"/>
          </a:xfrm>
          <a:prstGeom prst="rect">
            <a:avLst/>
          </a:prstGeom>
          <a:solidFill>
            <a:srgbClr val="D6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7078827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+72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7726157" y="3686860"/>
            <a:ext cx="614411" cy="124358"/>
          </a:xfrm>
          <a:prstGeom prst="rect">
            <a:avLst/>
          </a:prstGeom>
          <a:solidFill>
            <a:srgbClr val="D2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715184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+85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8362514" y="3686860"/>
            <a:ext cx="614411" cy="124358"/>
          </a:xfrm>
          <a:prstGeom prst="rect">
            <a:avLst/>
          </a:prstGeom>
          <a:solidFill>
            <a:srgbClr val="C9E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8351541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+120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8998871" y="3686860"/>
            <a:ext cx="614411" cy="124358"/>
          </a:xfrm>
          <a:prstGeom prst="rect">
            <a:avLst/>
          </a:prstGeom>
          <a:solidFill>
            <a:srgbClr val="C6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8987898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+128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9635228" y="3686860"/>
            <a:ext cx="614411" cy="124358"/>
          </a:xfrm>
          <a:prstGeom prst="rect">
            <a:avLst/>
          </a:prstGeom>
          <a:solidFill>
            <a:srgbClr val="C4DE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624255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+137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10271585" y="3686860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10260613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+149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10907942" y="3686860"/>
            <a:ext cx="614411" cy="124358"/>
          </a:xfrm>
          <a:prstGeom prst="rect">
            <a:avLst/>
          </a:prstGeom>
          <a:solidFill>
            <a:srgbClr val="BDD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10896970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+167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704088" y="3822191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2635300" y="3833164"/>
            <a:ext cx="614411" cy="124358"/>
          </a:xfrm>
          <a:prstGeom prst="rect">
            <a:avLst/>
          </a:prstGeom>
          <a:solidFill>
            <a:srgbClr val="C35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2624328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-882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3271657" y="3833164"/>
            <a:ext cx="614411" cy="124358"/>
          </a:xfrm>
          <a:prstGeom prst="rect">
            <a:avLst/>
          </a:prstGeom>
          <a:solidFill>
            <a:srgbClr val="CD7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3260685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-654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3908014" y="3833164"/>
            <a:ext cx="614411" cy="124358"/>
          </a:xfrm>
          <a:prstGeom prst="rect">
            <a:avLst/>
          </a:prstGeom>
          <a:solidFill>
            <a:srgbClr val="D18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3897042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-557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544372" y="3833164"/>
            <a:ext cx="614411" cy="124358"/>
          </a:xfrm>
          <a:prstGeom prst="rect">
            <a:avLst/>
          </a:prstGeom>
          <a:solidFill>
            <a:srgbClr val="D28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4533399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-537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5180729" y="3833164"/>
            <a:ext cx="614411" cy="124358"/>
          </a:xfrm>
          <a:prstGeom prst="rect">
            <a:avLst/>
          </a:prstGeom>
          <a:solidFill>
            <a:srgbClr val="D99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5169756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-400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817086" y="3833164"/>
            <a:ext cx="614411" cy="124358"/>
          </a:xfrm>
          <a:prstGeom prst="rect">
            <a:avLst/>
          </a:prstGeom>
          <a:solidFill>
            <a:srgbClr val="E5C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5806113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-192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6453443" y="3833164"/>
            <a:ext cx="614411" cy="124358"/>
          </a:xfrm>
          <a:prstGeom prst="rect">
            <a:avLst/>
          </a:prstGeom>
          <a:solidFill>
            <a:srgbClr val="EED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6442470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-72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7089800" y="383316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7726157" y="3833164"/>
            <a:ext cx="614411" cy="124358"/>
          </a:xfrm>
          <a:prstGeom prst="rect">
            <a:avLst/>
          </a:prstGeom>
          <a:solidFill>
            <a:srgbClr val="EC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7715184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8362514" y="3833164"/>
            <a:ext cx="614411" cy="124358"/>
          </a:xfrm>
          <a:prstGeom prst="rect">
            <a:avLst/>
          </a:prstGeom>
          <a:solidFill>
            <a:srgbClr val="DE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351541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8998871" y="3833164"/>
            <a:ext cx="614411" cy="124358"/>
          </a:xfrm>
          <a:prstGeom prst="rect">
            <a:avLst/>
          </a:prstGeom>
          <a:solidFill>
            <a:srgbClr val="DB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8987898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+57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9635228" y="3833164"/>
            <a:ext cx="614411" cy="124358"/>
          </a:xfrm>
          <a:prstGeom prst="rect">
            <a:avLst/>
          </a:prstGeom>
          <a:solidFill>
            <a:srgbClr val="D8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624255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10271585" y="3833164"/>
            <a:ext cx="614411" cy="124358"/>
          </a:xfrm>
          <a:prstGeom prst="rect">
            <a:avLst/>
          </a:prstGeom>
          <a:solidFill>
            <a:srgbClr val="D5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10260613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+77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10907942" y="3833164"/>
            <a:ext cx="614411" cy="124358"/>
          </a:xfrm>
          <a:prstGeom prst="rect">
            <a:avLst/>
          </a:prstGeom>
          <a:solidFill>
            <a:srgbClr val="C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10896970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+95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04088" y="396849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2635300" y="3979468"/>
            <a:ext cx="614411" cy="124358"/>
          </a:xfrm>
          <a:prstGeom prst="rect">
            <a:avLst/>
          </a:prstGeom>
          <a:solidFill>
            <a:srgbClr val="C3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2624328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-896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3271657" y="3979468"/>
            <a:ext cx="614411" cy="124358"/>
          </a:xfrm>
          <a:prstGeom prst="rect">
            <a:avLst/>
          </a:prstGeom>
          <a:solidFill>
            <a:srgbClr val="CC7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3260685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-668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3908014" y="3979468"/>
            <a:ext cx="614411" cy="124358"/>
          </a:xfrm>
          <a:prstGeom prst="rect">
            <a:avLst/>
          </a:prstGeom>
          <a:solidFill>
            <a:srgbClr val="D18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3897042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-570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4544372" y="3979468"/>
            <a:ext cx="614411" cy="124358"/>
          </a:xfrm>
          <a:prstGeom prst="rect">
            <a:avLst/>
          </a:prstGeom>
          <a:solidFill>
            <a:srgbClr val="D2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4533399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-551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5180729" y="3979468"/>
            <a:ext cx="614411" cy="124358"/>
          </a:xfrm>
          <a:prstGeom prst="rect">
            <a:avLst/>
          </a:prstGeom>
          <a:solidFill>
            <a:srgbClr val="D89B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5169756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-414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5817086" y="3979468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5806113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-206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6453443" y="3979468"/>
            <a:ext cx="614411" cy="124358"/>
          </a:xfrm>
          <a:prstGeom prst="rect">
            <a:avLst/>
          </a:prstGeom>
          <a:solidFill>
            <a:srgbClr val="ED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442470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-85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7089800" y="3979468"/>
            <a:ext cx="614411" cy="124358"/>
          </a:xfrm>
          <a:prstGeom prst="rect">
            <a:avLst/>
          </a:prstGeom>
          <a:solidFill>
            <a:srgbClr val="F4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078827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7726157" y="397946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8362514" y="3979468"/>
            <a:ext cx="614411" cy="124358"/>
          </a:xfrm>
          <a:prstGeom prst="rect">
            <a:avLst/>
          </a:prstGeom>
          <a:solidFill>
            <a:srgbClr val="E3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8351541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8998871" y="3979468"/>
            <a:ext cx="614411" cy="124358"/>
          </a:xfrm>
          <a:prstGeom prst="rect">
            <a:avLst/>
          </a:prstGeom>
          <a:solidFill>
            <a:srgbClr val="E0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8987898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+43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9635228" y="3979468"/>
            <a:ext cx="614411" cy="124358"/>
          </a:xfrm>
          <a:prstGeom prst="rect">
            <a:avLst/>
          </a:prstGeom>
          <a:solidFill>
            <a:srgbClr val="DD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9624255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+52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10271585" y="3979468"/>
            <a:ext cx="614411" cy="124358"/>
          </a:xfrm>
          <a:prstGeom prst="rect">
            <a:avLst/>
          </a:prstGeom>
          <a:solidFill>
            <a:srgbClr val="D9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0260613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+64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10907942" y="3979468"/>
            <a:ext cx="614411" cy="124358"/>
          </a:xfrm>
          <a:prstGeom prst="rect">
            <a:avLst/>
          </a:prstGeom>
          <a:solidFill>
            <a:srgbClr val="D3E5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0896970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+81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704088" y="411480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2635300" y="4125772"/>
            <a:ext cx="614411" cy="124358"/>
          </a:xfrm>
          <a:prstGeom prst="rect">
            <a:avLst/>
          </a:prstGeom>
          <a:solidFill>
            <a:srgbClr val="C15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2624328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-930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3271657" y="4125772"/>
            <a:ext cx="614411" cy="124358"/>
          </a:xfrm>
          <a:prstGeom prst="rect">
            <a:avLst/>
          </a:prstGeom>
          <a:solidFill>
            <a:srgbClr val="CB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3260685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-702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3908014" y="4125772"/>
            <a:ext cx="614411" cy="124358"/>
          </a:xfrm>
          <a:prstGeom prst="rect">
            <a:avLst/>
          </a:prstGeom>
          <a:solidFill>
            <a:srgbClr val="CF7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3897042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-605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4544372" y="4125772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4533399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-585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5180729" y="4125772"/>
            <a:ext cx="614411" cy="124358"/>
          </a:xfrm>
          <a:prstGeom prst="rect">
            <a:avLst/>
          </a:prstGeom>
          <a:solidFill>
            <a:srgbClr val="D795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5169756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-448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5817086" y="4125772"/>
            <a:ext cx="614411" cy="124358"/>
          </a:xfrm>
          <a:prstGeom prst="rect">
            <a:avLst/>
          </a:prstGeom>
          <a:solidFill>
            <a:srgbClr val="E2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5806113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-241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6453443" y="4125772"/>
            <a:ext cx="614411" cy="124358"/>
          </a:xfrm>
          <a:prstGeom prst="rect">
            <a:avLst/>
          </a:prstGeom>
          <a:solidFill>
            <a:srgbClr val="EA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6442470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-120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7089800" y="4125772"/>
            <a:ext cx="614411" cy="124358"/>
          </a:xfrm>
          <a:prstGeom prst="rect">
            <a:avLst/>
          </a:prstGeom>
          <a:solidFill>
            <a:srgbClr val="F0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7078827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7726157" y="4125772"/>
            <a:ext cx="614411" cy="124358"/>
          </a:xfrm>
          <a:prstGeom prst="rect">
            <a:avLst/>
          </a:prstGeom>
          <a:solidFill>
            <a:srgbClr val="F1E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7715184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8362514" y="412577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8998871" y="4125772"/>
            <a:ext cx="614411" cy="124358"/>
          </a:xfrm>
          <a:prstGeom prst="rect">
            <a:avLst/>
          </a:prstGeom>
          <a:solidFill>
            <a:srgbClr val="E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8987898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9635228" y="4125772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9624255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+18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10271585" y="4125772"/>
            <a:ext cx="614411" cy="124358"/>
          </a:xfrm>
          <a:prstGeom prst="rect">
            <a:avLst/>
          </a:prstGeom>
          <a:solidFill>
            <a:srgbClr val="E5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10260613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10907942" y="4125772"/>
            <a:ext cx="614411" cy="124358"/>
          </a:xfrm>
          <a:prstGeom prst="rect">
            <a:avLst/>
          </a:prstGeom>
          <a:solidFill>
            <a:srgbClr val="DF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10896970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+47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704088" y="426110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2635300" y="4272076"/>
            <a:ext cx="614411" cy="124358"/>
          </a:xfrm>
          <a:prstGeom prst="rect">
            <a:avLst/>
          </a:prstGeom>
          <a:solidFill>
            <a:srgbClr val="C155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2624328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-939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3271657" y="4272076"/>
            <a:ext cx="614411" cy="124358"/>
          </a:xfrm>
          <a:prstGeom prst="rect">
            <a:avLst/>
          </a:prstGeom>
          <a:solidFill>
            <a:srgbClr val="CA7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3260685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-711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908014" y="4272076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3897042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-613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544372" y="4272076"/>
            <a:ext cx="614411" cy="124358"/>
          </a:xfrm>
          <a:prstGeom prst="rect">
            <a:avLst/>
          </a:prstGeom>
          <a:solidFill>
            <a:srgbClr val="D08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4533399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-593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180729" y="4272076"/>
            <a:ext cx="614411" cy="124358"/>
          </a:xfrm>
          <a:prstGeom prst="rect">
            <a:avLst/>
          </a:prstGeom>
          <a:solidFill>
            <a:srgbClr val="D69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5169756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-457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817086" y="4272076"/>
            <a:ext cx="614411" cy="124358"/>
          </a:xfrm>
          <a:prstGeom prst="rect">
            <a:avLst/>
          </a:prstGeom>
          <a:solidFill>
            <a:srgbClr val="E1B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5806113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-249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453443" y="4272076"/>
            <a:ext cx="614411" cy="124358"/>
          </a:xfrm>
          <a:prstGeom prst="rect">
            <a:avLst/>
          </a:prstGeom>
          <a:solidFill>
            <a:srgbClr val="E9C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6442470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-128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9800" y="4272076"/>
            <a:ext cx="614411" cy="124358"/>
          </a:xfrm>
          <a:prstGeom prst="rect">
            <a:avLst/>
          </a:prstGeom>
          <a:solidFill>
            <a:srgbClr val="EF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7078827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-57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726157" y="4272076"/>
            <a:ext cx="614411" cy="124358"/>
          </a:xfrm>
          <a:prstGeom prst="rect">
            <a:avLst/>
          </a:prstGeom>
          <a:solidFill>
            <a:srgbClr val="F0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7715184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-43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362514" y="4272076"/>
            <a:ext cx="614411" cy="124358"/>
          </a:xfrm>
          <a:prstGeom prst="rect">
            <a:avLst/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8351541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998871" y="427207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9635228" y="4272076"/>
            <a:ext cx="614411" cy="124358"/>
          </a:xfrm>
          <a:prstGeom prst="rect">
            <a:avLst/>
          </a:prstGeom>
          <a:solidFill>
            <a:srgbClr val="E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9624255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0271585" y="4272076"/>
            <a:ext cx="614411" cy="124358"/>
          </a:xfrm>
          <a:prstGeom prst="rect">
            <a:avLst/>
          </a:prstGeom>
          <a:solidFill>
            <a:srgbClr val="E9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10260613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+21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0907942" y="4272076"/>
            <a:ext cx="614411" cy="124358"/>
          </a:xfrm>
          <a:prstGeom prst="rect">
            <a:avLst/>
          </a:prstGeom>
          <a:solidFill>
            <a:srgbClr val="E2E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10896970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+39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704088" y="440740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2635300" y="4418380"/>
            <a:ext cx="614411" cy="124358"/>
          </a:xfrm>
          <a:prstGeom prst="rect">
            <a:avLst/>
          </a:prstGeom>
          <a:solidFill>
            <a:srgbClr val="C15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2624328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-948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3271657" y="4418380"/>
            <a:ext cx="614411" cy="124358"/>
          </a:xfrm>
          <a:prstGeom prst="rect">
            <a:avLst/>
          </a:prstGeom>
          <a:solidFill>
            <a:srgbClr val="CA7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3260685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-720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908014" y="4418380"/>
            <a:ext cx="614411" cy="124358"/>
          </a:xfrm>
          <a:prstGeom prst="rect">
            <a:avLst/>
          </a:prstGeom>
          <a:solidFill>
            <a:srgbClr val="CE7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3897042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-623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544372" y="4418380"/>
            <a:ext cx="614411" cy="124358"/>
          </a:xfrm>
          <a:prstGeom prst="rect">
            <a:avLst/>
          </a:prstGeom>
          <a:solidFill>
            <a:srgbClr val="CF80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4533399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-603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5180729" y="4418380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5169756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-466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5817086" y="4418380"/>
            <a:ext cx="614411" cy="124358"/>
          </a:xfrm>
          <a:prstGeom prst="rect">
            <a:avLst/>
          </a:prstGeom>
          <a:solidFill>
            <a:srgbClr val="E1B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5806113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-258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6453443" y="4418380"/>
            <a:ext cx="614411" cy="124358"/>
          </a:xfrm>
          <a:prstGeom prst="rect">
            <a:avLst/>
          </a:prstGeom>
          <a:solidFill>
            <a:srgbClr val="E9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6442470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-137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7089800" y="4418380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7078827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7726157" y="4418380"/>
            <a:ext cx="614411" cy="124358"/>
          </a:xfrm>
          <a:prstGeom prst="rect">
            <a:avLst/>
          </a:prstGeom>
          <a:solidFill>
            <a:srgbClr val="EF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7715184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-52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8362514" y="4418380"/>
            <a:ext cx="614411" cy="124358"/>
          </a:xfrm>
          <a:prstGeom prst="rect">
            <a:avLst/>
          </a:prstGeom>
          <a:solidFill>
            <a:srgbClr val="F3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8351541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-18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998871" y="4418380"/>
            <a:ext cx="614411" cy="124358"/>
          </a:xfrm>
          <a:prstGeom prst="rect">
            <a:avLst/>
          </a:prstGeom>
          <a:solidFill>
            <a:srgbClr val="F4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8987898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9635228" y="441838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0271585" y="4418380"/>
            <a:ext cx="614411" cy="124358"/>
          </a:xfrm>
          <a:prstGeom prst="rect">
            <a:avLst/>
          </a:prstGeom>
          <a:solidFill>
            <a:srgbClr val="EE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10260613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+11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10907942" y="4418380"/>
            <a:ext cx="614411" cy="124358"/>
          </a:xfrm>
          <a:prstGeom prst="rect">
            <a:avLst/>
          </a:prstGeom>
          <a:solidFill>
            <a:srgbClr val="E5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10896970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704088" y="455371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2635300" y="4564684"/>
            <a:ext cx="614411" cy="124358"/>
          </a:xfrm>
          <a:prstGeom prst="rect">
            <a:avLst/>
          </a:prstGeom>
          <a:solidFill>
            <a:srgbClr val="C05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2624328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-960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3271657" y="4564684"/>
            <a:ext cx="614411" cy="124358"/>
          </a:xfrm>
          <a:prstGeom prst="rect">
            <a:avLst/>
          </a:prstGeom>
          <a:solidFill>
            <a:srgbClr val="CA6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3260685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-731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3908014" y="4564684"/>
            <a:ext cx="614411" cy="124358"/>
          </a:xfrm>
          <a:prstGeom prst="rect">
            <a:avLst/>
          </a:prstGeom>
          <a:solidFill>
            <a:srgbClr val="CE7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3897042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-634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4544372" y="4564684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4533399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-614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5180729" y="4564684"/>
            <a:ext cx="614411" cy="124358"/>
          </a:xfrm>
          <a:prstGeom prst="rect">
            <a:avLst/>
          </a:prstGeom>
          <a:solidFill>
            <a:srgbClr val="D59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5169756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-477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5817086" y="4564684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5806113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-270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6453443" y="4564684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6442470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-149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7089800" y="4564684"/>
            <a:ext cx="614411" cy="124358"/>
          </a:xfrm>
          <a:prstGeom prst="rect">
            <a:avLst/>
          </a:prstGeom>
          <a:solidFill>
            <a:srgbClr val="ED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7078827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-77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7726157" y="4564684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7715184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-64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8362514" y="4564684"/>
            <a:ext cx="614411" cy="124358"/>
          </a:xfrm>
          <a:prstGeom prst="rect">
            <a:avLst/>
          </a:prstGeom>
          <a:solidFill>
            <a:srgbClr val="F2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8351541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8998871" y="4564684"/>
            <a:ext cx="614411" cy="124358"/>
          </a:xfrm>
          <a:prstGeom prst="rect">
            <a:avLst/>
          </a:prstGeom>
          <a:solidFill>
            <a:srgbClr val="F3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8987898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-21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9635228" y="4564684"/>
            <a:ext cx="614411" cy="124358"/>
          </a:xfrm>
          <a:prstGeom prst="rect">
            <a:avLst/>
          </a:prstGeom>
          <a:solidFill>
            <a:srgbClr val="F4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9624255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-11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10271585" y="456468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10907942" y="4564684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10896970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+18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704088" y="470001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  <a:r>
              <a:rPr sz="650" b="0">
                <a:solidFill>
                  <a:srgbClr val="9A958C"/>
                </a:solidFill>
                <a:latin typeface="Helvetica Neue"/>
              </a:rPr>
              <a:t>  · ya tiene tren hoy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2635300" y="4710988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2624328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-977</a:t>
            </a:r>
          </a:p>
        </p:txBody>
      </p:sp>
      <p:sp>
        <p:nvSpPr>
          <p:cNvPr id="388" name="Rectangle 387"/>
          <p:cNvSpPr/>
          <p:nvPr/>
        </p:nvSpPr>
        <p:spPr>
          <a:xfrm>
            <a:off x="3271657" y="4710988"/>
            <a:ext cx="614411" cy="124358"/>
          </a:xfrm>
          <a:prstGeom prst="rect">
            <a:avLst/>
          </a:prstGeom>
          <a:solidFill>
            <a:srgbClr val="C96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3260685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-749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3908014" y="4710988"/>
            <a:ext cx="614411" cy="124358"/>
          </a:xfrm>
          <a:prstGeom prst="rect">
            <a:avLst/>
          </a:prstGeom>
          <a:solidFill>
            <a:srgbClr val="CD79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3897042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-652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4544372" y="4710988"/>
            <a:ext cx="614411" cy="124358"/>
          </a:xfrm>
          <a:prstGeom prst="rect">
            <a:avLst/>
          </a:prstGeom>
          <a:solidFill>
            <a:srgbClr val="CE7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4533399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-632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5180729" y="4710988"/>
            <a:ext cx="614411" cy="124358"/>
          </a:xfrm>
          <a:prstGeom prst="rect">
            <a:avLst/>
          </a:prstGeom>
          <a:solidFill>
            <a:srgbClr val="D4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5169756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-495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5817086" y="4710988"/>
            <a:ext cx="614411" cy="124358"/>
          </a:xfrm>
          <a:prstGeom prst="rect">
            <a:avLst/>
          </a:prstGeom>
          <a:solidFill>
            <a:srgbClr val="DFA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5806113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-287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6453443" y="4710988"/>
            <a:ext cx="614411" cy="124358"/>
          </a:xfrm>
          <a:prstGeom prst="rect">
            <a:avLst/>
          </a:prstGeom>
          <a:solidFill>
            <a:srgbClr val="E7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6442470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-167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7089800" y="4710988"/>
            <a:ext cx="614411" cy="124358"/>
          </a:xfrm>
          <a:prstGeom prst="rect">
            <a:avLst/>
          </a:prstGeom>
          <a:solidFill>
            <a:srgbClr val="ECD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7078827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-95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7726157" y="4710988"/>
            <a:ext cx="614411" cy="124358"/>
          </a:xfrm>
          <a:prstGeom prst="rect">
            <a:avLst/>
          </a:prstGeom>
          <a:solidFill>
            <a:srgbClr val="EDD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7715184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-81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8362514" y="4710988"/>
            <a:ext cx="614411" cy="124358"/>
          </a:xfrm>
          <a:prstGeom prst="rect">
            <a:avLst/>
          </a:prstGeom>
          <a:solidFill>
            <a:srgbClr val="F0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8351541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-47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8998871" y="4710988"/>
            <a:ext cx="614411" cy="124358"/>
          </a:xfrm>
          <a:prstGeom prst="rect">
            <a:avLst/>
          </a:prstGeom>
          <a:solidFill>
            <a:srgbClr val="F1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8987898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-39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9635228" y="4710988"/>
            <a:ext cx="614411" cy="124358"/>
          </a:xfrm>
          <a:prstGeom prst="rect">
            <a:avLst/>
          </a:prstGeom>
          <a:solidFill>
            <a:srgbClr val="F2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9624255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10271585" y="4710988"/>
            <a:ext cx="614411" cy="124358"/>
          </a:xfrm>
          <a:prstGeom prst="rect">
            <a:avLst/>
          </a:prstGeom>
          <a:solidFill>
            <a:srgbClr val="F3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10260613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-18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10907942" y="471098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658368" y="4956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Cada celda: UF que la FILA justifica por sobre la COLUMNA, solo por el tiempo que el tren le ahorra (valorizado al VTC de MIDESO y capitalizado). NOS ya cuenta con tren hoy: su ventaja ferroviaria está en sus tiempos actuales, no en este diferencial.</a:t>
            </a:r>
          </a:p>
        </p:txBody>
      </p:sp>
      <p:sp>
        <p:nvSpPr>
          <p:cNvPr id="414" name="Rectangle 4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Frente a las zonas sin estación nueva, el tren agrega cerca de 977 UF a Batuco y 652 a Estación Colina. Es el argumento de precio que responde al costo del auto de Batuco.</a:t>
            </a:r>
          </a:p>
        </p:txBody>
      </p:sp>
      <p:cxnSp>
        <p:nvCxnSpPr>
          <p:cNvPr id="418" name="Connector 4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TextBox 4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POSICIÓN POR PRODUCTO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Por producto, Estación Colina es 2ª en tres 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cuatro segmentos; Batuco depende del tren.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0515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60">
                <a:solidFill>
                  <a:srgbClr val="6E6A64"/>
                </a:solidFill>
                <a:latin typeface="Helvetica Neue"/>
              </a:rPr>
              <a:t>MINUTOS PROMEDIO EN AUTO, PUERTA A PUERTA, HOY · EN ORO, NUESTROS PROYECTOS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DS19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8 zonas compiten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93391" y="2768803"/>
            <a:ext cx="458696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97808" y="274777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93391" y="2992831"/>
            <a:ext cx="471881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10993" y="2971800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93391" y="3216859"/>
            <a:ext cx="521980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1092" y="3195827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93391" y="3440887"/>
            <a:ext cx="534895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74007" y="3419856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64388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" y="364388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93391" y="3664915"/>
            <a:ext cx="569443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08555" y="3643884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86791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386791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93391" y="3888943"/>
            <a:ext cx="609874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48986" y="386791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09194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09194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93391" y="4112971"/>
            <a:ext cx="629211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68323" y="4091940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4315968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" y="4315968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93391" y="4336999"/>
            <a:ext cx="784783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23895" y="4315968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99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299383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454831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CASAS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54831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13 zonas compiten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54831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74287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89855" y="2768803"/>
            <a:ext cx="318945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54521" y="274777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54831" y="292502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74287" y="292502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89855" y="2946056"/>
            <a:ext cx="397171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32746" y="2925024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54831" y="310227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74287" y="310227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789855" y="3123309"/>
            <a:ext cx="443754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79330" y="3102277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54831" y="327953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4287" y="327953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89855" y="3300561"/>
            <a:ext cx="454302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89878" y="3279530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54831" y="3456783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74287" y="3456783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89855" y="3477814"/>
            <a:ext cx="458696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94272" y="3456783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54831" y="363403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74287" y="363403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89855" y="3655067"/>
            <a:ext cx="471881" cy="8124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07456" y="3634036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54831" y="3811289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4287" y="3811289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789855" y="3832320"/>
            <a:ext cx="52198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357556" y="3811289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66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54831" y="398854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74287" y="398854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789855" y="4009573"/>
            <a:ext cx="534895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370471" y="398854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68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54831" y="4165795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74287" y="4165795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789855" y="4186826"/>
            <a:ext cx="569443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05019" y="4165795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72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454831" y="4343048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74287" y="4343048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789855" y="4364079"/>
            <a:ext cx="609874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45450" y="4343048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77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454831" y="4520301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74287" y="4520301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789855" y="4541332"/>
            <a:ext cx="647669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3244" y="4520301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82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54831" y="469755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74287" y="469755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789855" y="4718585"/>
            <a:ext cx="732047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567623" y="4697554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93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454831" y="487480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674287" y="487480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789855" y="4895838"/>
            <a:ext cx="784783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20359" y="4874807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99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6095847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251295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TOWNHOUSES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51295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4 zonas compiten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51295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70751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586319" y="2768803"/>
            <a:ext cx="491741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123780" y="274777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51295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470751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86319" y="2992831"/>
            <a:ext cx="505875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37914" y="2971800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60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51295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470751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86319" y="3216859"/>
            <a:ext cx="674539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306579" y="3195827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80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51295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470751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586319" y="3440887"/>
            <a:ext cx="784783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16823" y="3419856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93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8892311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9047759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EDIFICIOS · 4 PISOS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047759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6 zonas compiten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047759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267215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382783" y="2768803"/>
            <a:ext cx="458696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887200" y="274777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047759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267215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382783" y="2992831"/>
            <a:ext cx="471881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900384" y="2971800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60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047759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267215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382783" y="3216859"/>
            <a:ext cx="534895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963398" y="3195827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68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47759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267215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382783" y="3440887"/>
            <a:ext cx="629211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1057714" y="3419856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80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47759" y="364388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267215" y="364388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0382783" y="3664915"/>
            <a:ext cx="732047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160550" y="3643884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93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047759" y="386791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67215" y="386791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382783" y="3888943"/>
            <a:ext cx="784783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1213287" y="386791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99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es 2ª en DS19, townhouses y edificios, y 6ª de 13 en casas. Batuco es 3º de 4 en townhouses, 4º de 6 en edificios y 7º de 8 en DS19. La competencia relevante por producto es más corta que las 14 zonas.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NUESTROS PROYECTOS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Batuco y Estación Colina: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posición en cada indicador del estudio.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6048" y="21214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16368" y="21214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2432303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257860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tiempo · hoy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2578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16367" y="2578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6º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788920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999232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tiempo · con la Autopista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9992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11º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3º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16367" y="29992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6º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6E6A64"/>
                </a:solidFill>
                <a:latin typeface="Helvetica Neue"/>
              </a:rPr>
              <a:t>8º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209544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419856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costo de manejar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41985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6367" y="341985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6º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3630168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3840480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hoy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8404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7" y="38404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5º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050792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261104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con el tren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26110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11º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2º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7" y="426110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5º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4471416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46817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costo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4681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4681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12º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Perfiles complementarios: Batuco es el que más gana con la infraestructura en construcción; Estación Colina ya es competitiva hoy sin depender de obra alguna.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DEBILIDADES Y 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Tres debilidades del caso,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tres respuestas concretas.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es caro en auto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2359151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Cruza autopistas concesionadas: su costo de manejar está entre los más altos.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16368" y="2359151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08976" y="2359151"/>
            <a:ext cx="42729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4E48"/>
                </a:solidFill>
                <a:latin typeface="Helvetica Neue"/>
              </a:rPr>
              <a:t>La Autopista lo acerca y el tren reduce su dependencia del auto.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3136391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3264408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transporte público no es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04487" y="3291839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Batuco y Estación Colina pagan cada tramo por separado, sin bip! integrado.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329183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8976" y="3291839"/>
            <a:ext cx="42729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4E48"/>
                </a:solidFill>
                <a:latin typeface="Helvetica Neue"/>
              </a:rPr>
              <a:t>Integrarse a RED es gestión, no una obra: depende de nosotros.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4069080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4197096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valor depende de obra futura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4487" y="4224528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La Autopista y los trenes están en construcción (2028 a 2030), no operando hoy.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16368" y="42245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8976" y="4224528"/>
            <a:ext cx="42729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4E48"/>
                </a:solidFill>
                <a:latin typeface="Helvetica Neue"/>
              </a:rPr>
              <a:t>Se respalda con el cronograma oficial de EFE y del MOP.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Ninguna debilidad es estructural: dos se resuelven con obras ya en construcción y la tercera, la integración a RED, depende de nuestra gestión.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RECOMENDACIÓN · INTEGRAR 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Integrar Batuco y Estación Colina a RED: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gestión que depende de nosotros.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22219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Hoy · pagan por tramo (sin RED)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514600"/>
            <a:ext cx="3977639" cy="457200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22407" y="256946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≈ $103 mil/mes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9067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Integrado a RED (bip!)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383280"/>
            <a:ext cx="1410324" cy="457200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5092" y="343814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F9E6E"/>
                </a:solidFill>
                <a:latin typeface="Helvetica Neue"/>
              </a:rPr>
              <a:t>≈ $37 mil/mes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99592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Caso de referencia: viaje diario a Metro Tobalaba; tarifa integrada de una zona RED comparable.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F9E6E"/>
                </a:solidFill>
                <a:latin typeface="Helvetica Neue"/>
              </a:rPr>
              <a:t>65% menos</a:t>
            </a:r>
            <a:r>
              <a:rPr sz="1400" b="0">
                <a:solidFill>
                  <a:srgbClr val="6E6A64"/>
                </a:solidFill>
                <a:latin typeface="Helvetica Neue"/>
              </a:rPr>
              <a:t>  en el costo de transporte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00">
                <a:solidFill>
                  <a:srgbClr val="B07D24"/>
                </a:solidFill>
                <a:latin typeface="Helvetica Neue"/>
              </a:rPr>
              <a:t>NO ES UNA OBRA · ES GESTIÓN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2491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Batuco y Estación Colina quedan a un trámite de tarifa integrada. Gestionar su incorporación a RED con el Ministerio de Transportes y EFE completa su ventaja competitiva, y no depende de esperar a 2030.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recomendación central: gestionar la integración a RED. Baja el costo, sube el atractivo y depende de nosotros, no de una obra por construir.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IMPLICANCIAS PARA MODELA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Producto, precio y estrategia comercial: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las decisiones que abre el estudio.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PRODUCTO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Densificar donde la conectividad futura sube el techo de valor (Batuco, con Autopista y tren).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Estación Colina admite DS19, townhouse y edificio: producto para el que valora ubicación.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5754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5754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PRECIO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5754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La conectividad justifica sobreprecio en UF, o una mejor propuesta a igual precio.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5754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Fijar precio contra las comparables del corredor, no contra el promedio de la RM.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13140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3140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COMERCIAL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3140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Respaldar el argumento futuro con el cronograma oficial de la Autopista y de los trenes.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3140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Batuco es tesis de plusvalía; Estación Colina, conectividad ya disponible.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conectividad deja de ser un dato del estudio: define el pricing, la mezcla de producto y el relato de venta.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¿Cuánto vale la conectividad?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Seis conclusiones para decidir.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1945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Estación Colina,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1728" y="21945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En la mitad más rápida sin depender de obra futura: 6º de 14 en auto y 5º en transporte público.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697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Batuco, con infraestructura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9748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De 11º a 3º en auto con la Autopista, y de 11º a 2º en transporte público con el tren.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2004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El diferencial del tren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20040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Frente a las zonas sin estación nueva: +977 UF en Batuco y +652 en Estación Colina.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033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703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El costo de manejar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0332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Acota el sobreprecio de Batuco por auto. Su argumento de precio es el tren, no el auto.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06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206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Integración a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420624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D24"/>
                </a:solidFill>
                <a:latin typeface="Helvetica Neue"/>
              </a:rPr>
              <a:t>Reduce el costo mensual de transporte público en 65%. Es gestión, no obra.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709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091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Pricing por producto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47091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Fijar precio contra las comparables de cada producto, con el diferencial en UF de referencia.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Competitivos hoy y líderes del corredor con la infraestructura en construcción. La decisión que solo depende de nosotros: integrarlos a 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