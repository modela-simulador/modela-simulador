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822960"/>
            <a:ext cx="822960" cy="41148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220">
                <a:solidFill>
                  <a:srgbClr val="B9B4AA"/>
                </a:solidFill>
                <a:latin typeface="Helvetica Neue"/>
              </a:rPr>
              <a:t>MODELA  ·  DESARROLLO INMOBILIARIO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31720"/>
            <a:ext cx="108749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 spc="-20">
                <a:solidFill>
                  <a:srgbClr val="FFFFFF"/>
                </a:solidFill>
                <a:latin typeface="Helvetica Neue"/>
              </a:rPr>
              <a:t>¿Cuánto vale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 spc="-20">
                <a:solidFill>
                  <a:srgbClr val="B07D24"/>
                </a:solidFill>
                <a:latin typeface="Helvetica Neue"/>
              </a:rPr>
              <a:t>la conectividad?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434840"/>
            <a:ext cx="8412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FCBC2"/>
                </a:solidFill>
                <a:latin typeface="Helvetica Neue"/>
              </a:rPr>
              <a:t>Cómo la accesibilidad vial y ferroviaria se traduce en valor inmobiliario — y por qué Batuco y Estación Colina compiten hoy, y lideran mañana.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989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60">
                <a:solidFill>
                  <a:srgbClr val="8C8880"/>
                </a:solidFill>
                <a:latin typeface="Helvetica Neue"/>
              </a:rPr>
              <a:t>Evaluación de accesibilidad · Región Metropolitana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90127" y="59893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60">
                <a:solidFill>
                  <a:srgbClr val="8C8880"/>
                </a:solidFill>
                <a:latin typeface="Helvetica Neue"/>
              </a:rPr>
              <a:t>Documento de directorio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01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LA 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">
                <a:solidFill>
                  <a:srgbClr val="161616"/>
                </a:solidFill>
                <a:latin typeface="Helvetica Neue"/>
              </a:rPr>
              <a:t>La conectividad no es un atributo: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">
                <a:solidFill>
                  <a:srgbClr val="161616"/>
                </a:solidFill>
                <a:latin typeface="Helvetica Neue"/>
              </a:rPr>
              <a:t>es valor inmobiliario medible.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Menos tiempo y menos costo de traslado se capitalizan en cuánto puede pagar una familia por su vivienda. Medimos esa conexión, zona por zona — y el veredicto para el portafolio es claro.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161616"/>
                </a:solidFill>
                <a:latin typeface="Helvetica Neue"/>
              </a:rPr>
              <a:t>3º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Batuco en auto, con la Orbital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hoy 11º de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47287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B07D24"/>
                </a:solidFill>
                <a:latin typeface="Helvetica Neue"/>
              </a:rPr>
              <a:t>1º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47287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Estación Colina en transporte público, con el tren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7287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hoy 5º de 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7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161616"/>
                </a:solidFill>
                <a:latin typeface="Helvetica Neue"/>
              </a:rPr>
              <a:t>−1 h 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7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que recorta el tren a Batuco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6207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de 2h17 a 1h10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25128" y="3063240"/>
            <a:ext cx="2468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B07D24"/>
                </a:solidFill>
                <a:latin typeface="Helvetica Neue"/>
              </a:rPr>
              <a:t>+1.686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25128" y="3776472"/>
            <a:ext cx="2468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UF de mayor valor — Est. Colina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5128" y="443484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Batuco, +1.019 UF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Batuco y Estación Colina son competitivos hoy y de los más competitivos del norte con la infraestructura que ya está en construcción.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02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POR QUÉ IMPORTA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">
                <a:solidFill>
                  <a:srgbClr val="161616"/>
                </a:solidFill>
                <a:latin typeface="Helvetica Neue"/>
              </a:rPr>
              <a:t>¿Por qué la conectividad decide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">
                <a:solidFill>
                  <a:srgbClr val="161616"/>
                </a:solidFill>
                <a:latin typeface="Helvetica Neue"/>
              </a:rPr>
              <a:t>dónde se vive?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331720"/>
            <a:ext cx="384048" cy="41148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60">
                <a:solidFill>
                  <a:srgbClr val="134E48"/>
                </a:solidFill>
                <a:latin typeface="Helvetica Neue"/>
              </a:rPr>
              <a:t>TIEMPO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971800"/>
            <a:ext cx="332018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61616"/>
                </a:solidFill>
                <a:latin typeface="Helvetica Neue"/>
              </a:rPr>
              <a:t>Dos horas de viaje al día son 40 al mes. El tiempo a trabajo, colegio y servicios pesa en la decisión de compra tanto como los metros cuadrados.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5754" y="2331720"/>
            <a:ext cx="384048" cy="41148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5754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60">
                <a:solidFill>
                  <a:srgbClr val="134E48"/>
                </a:solidFill>
                <a:latin typeface="Helvetica Neue"/>
              </a:rPr>
              <a:t>COSTO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5754" y="2971800"/>
            <a:ext cx="332018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61616"/>
                </a:solidFill>
                <a:latin typeface="Helvetica Neue"/>
              </a:rPr>
              <a:t>Tener y usar un auto cuesta $430–750k al mes —seguro, cuota, permiso, mantención, bencina y TAG—: varias veces el transporte público. Ese diferencial es capacidad de compra.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13140" y="2331720"/>
            <a:ext cx="384048" cy="41148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13140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60">
                <a:solidFill>
                  <a:srgbClr val="134E48"/>
                </a:solidFill>
                <a:latin typeface="Helvetica Neue"/>
              </a:rPr>
              <a:t>VALOR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13140" y="2971800"/>
            <a:ext cx="332018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61616"/>
                </a:solidFill>
                <a:latin typeface="Helvetica Neue"/>
              </a:rPr>
              <a:t>A igual precio, la mejor conectada vale más. La conectividad se paga: en sobreprecio, o en una mejor propuesta al mismo precio.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La decisión de compra no es solo precio y producto: es cuánto cuesta —en tiempo y en dinero— vivir ahí todos los días.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03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QUÉ ANALIZAMOS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14 zonas del norte y sur, contra los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destinos que mueven una vida.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276925" y="1792224"/>
            <a:ext cx="2156309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ap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8365" y="1883664"/>
            <a:ext cx="1973429" cy="33467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09921" y="2186164"/>
            <a:ext cx="1554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7427" y="2644537"/>
            <a:ext cx="1554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pic>
        <p:nvPicPr>
          <p:cNvPr id="9" name="Picture 8" descr="d_ciudadempresar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5325" y="2961469"/>
            <a:ext cx="274320" cy="2593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03925" y="3043765"/>
            <a:ext cx="868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61616"/>
                </a:solidFill>
                <a:latin typeface="Helvetica Neue"/>
              </a:rPr>
              <a:t>Cd. Empresarial</a:t>
            </a:r>
          </a:p>
        </p:txBody>
      </p:sp>
      <p:pic>
        <p:nvPicPr>
          <p:cNvPr id="11" name="Picture 10" descr="d_aeropuert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7078" y="3060627"/>
            <a:ext cx="274320" cy="25935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974118" y="3152067"/>
            <a:ext cx="868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61616"/>
                </a:solidFill>
                <a:latin typeface="Helvetica Neue"/>
              </a:rPr>
              <a:t>Aeropuerto</a:t>
            </a:r>
          </a:p>
        </p:txBody>
      </p:sp>
      <p:pic>
        <p:nvPicPr>
          <p:cNvPr id="13" name="Picture 12" descr="d_tobalab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1474" y="3200881"/>
            <a:ext cx="274320" cy="25935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70074" y="3319753"/>
            <a:ext cx="868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61616"/>
                </a:solidFill>
                <a:latin typeface="Helvetica Neue"/>
              </a:rPr>
              <a:t>Tobalaba</a:t>
            </a:r>
          </a:p>
        </p:txBody>
      </p:sp>
      <p:pic>
        <p:nvPicPr>
          <p:cNvPr id="15" name="Picture 14" descr="d_centr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8572" y="3304116"/>
            <a:ext cx="274320" cy="25935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714484" y="3459564"/>
            <a:ext cx="868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61616"/>
                </a:solidFill>
                <a:latin typeface="Helvetica Neue"/>
              </a:rPr>
              <a:t>Centro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196596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60">
                <a:solidFill>
                  <a:srgbClr val="134E48"/>
                </a:solidFill>
                <a:latin typeface="Helvetica Neue"/>
              </a:rPr>
              <a:t>LOS 9 DESTINOS</a:t>
            </a:r>
          </a:p>
        </p:txBody>
      </p:sp>
      <p:pic>
        <p:nvPicPr>
          <p:cNvPr id="18" name="Picture 17" descr="d_tobalab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2322576"/>
            <a:ext cx="310896" cy="29393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78992" y="2313432"/>
            <a:ext cx="2834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1616"/>
                </a:solidFill>
                <a:latin typeface="Helvetica Neue"/>
              </a:rPr>
              <a:t>Trabajo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2482596"/>
            <a:ext cx="2834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Metro Tobalaba</a:t>
            </a:r>
          </a:p>
        </p:txBody>
      </p:sp>
      <p:pic>
        <p:nvPicPr>
          <p:cNvPr id="21" name="Picture 20" descr="d_centr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" y="2644444"/>
            <a:ext cx="310896" cy="29393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78992" y="2635300"/>
            <a:ext cx="2834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1616"/>
                </a:solidFill>
                <a:latin typeface="Helvetica Neue"/>
              </a:rPr>
              <a:t>Santiago Centro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" y="2804464"/>
            <a:ext cx="2834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Plaza de Armas</a:t>
            </a:r>
          </a:p>
        </p:txBody>
      </p:sp>
      <p:pic>
        <p:nvPicPr>
          <p:cNvPr id="24" name="Picture 23" descr="d_ciudadempresar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966313"/>
            <a:ext cx="310896" cy="29393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078992" y="2957169"/>
            <a:ext cx="2834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1616"/>
                </a:solidFill>
                <a:latin typeface="Helvetica Neue"/>
              </a:rPr>
              <a:t>Ciudad Empresarial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" y="3126333"/>
            <a:ext cx="2834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Huechuraba</a:t>
            </a:r>
          </a:p>
        </p:txBody>
      </p:sp>
      <p:pic>
        <p:nvPicPr>
          <p:cNvPr id="27" name="Picture 26" descr="d_aeropuert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288182"/>
            <a:ext cx="310896" cy="29393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078992" y="3279038"/>
            <a:ext cx="2834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1616"/>
                </a:solidFill>
                <a:latin typeface="Helvetica Neue"/>
              </a:rPr>
              <a:t>Aeropuerto SCL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" y="3448202"/>
            <a:ext cx="2834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Pudahuel</a:t>
            </a:r>
          </a:p>
        </p:txBody>
      </p:sp>
      <p:pic>
        <p:nvPicPr>
          <p:cNvPr id="30" name="Picture 29" descr="near_universida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3610051"/>
            <a:ext cx="310896" cy="29393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78992" y="3600907"/>
            <a:ext cx="2834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1616"/>
                </a:solidFill>
                <a:latin typeface="Helvetica Neue"/>
              </a:rPr>
              <a:t>Universidad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992" y="3770071"/>
            <a:ext cx="2834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más cercana</a:t>
            </a:r>
          </a:p>
        </p:txBody>
      </p:sp>
      <p:pic>
        <p:nvPicPr>
          <p:cNvPr id="33" name="Picture 32" descr="near_hospita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368" y="3931920"/>
            <a:ext cx="310896" cy="29393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78992" y="3922776"/>
            <a:ext cx="2834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1616"/>
                </a:solidFill>
                <a:latin typeface="Helvetica Neue"/>
              </a:rPr>
              <a:t>Hospital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8992" y="4091940"/>
            <a:ext cx="2834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más cercano</a:t>
            </a:r>
          </a:p>
        </p:txBody>
      </p:sp>
      <p:pic>
        <p:nvPicPr>
          <p:cNvPr id="36" name="Picture 35" descr="near_clinic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8368" y="4253788"/>
            <a:ext cx="310896" cy="29393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078992" y="4244644"/>
            <a:ext cx="2834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1616"/>
                </a:solidFill>
                <a:latin typeface="Helvetica Neue"/>
              </a:rPr>
              <a:t>Clínica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8992" y="4413808"/>
            <a:ext cx="2834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más cercana</a:t>
            </a:r>
          </a:p>
        </p:txBody>
      </p:sp>
      <p:pic>
        <p:nvPicPr>
          <p:cNvPr id="39" name="Picture 38" descr="near_mall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8368" y="4575657"/>
            <a:ext cx="310896" cy="293938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78992" y="4566513"/>
            <a:ext cx="2834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1616"/>
                </a:solidFill>
                <a:latin typeface="Helvetica Neue"/>
              </a:rPr>
              <a:t>Centro comercial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8992" y="4735677"/>
            <a:ext cx="2834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más cercano</a:t>
            </a:r>
          </a:p>
        </p:txBody>
      </p:sp>
      <p:pic>
        <p:nvPicPr>
          <p:cNvPr id="42" name="Picture 41" descr="near_industrial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8368" y="4897526"/>
            <a:ext cx="310896" cy="29393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78992" y="4888382"/>
            <a:ext cx="2834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1616"/>
                </a:solidFill>
                <a:latin typeface="Helvetica Neue"/>
              </a:rPr>
              <a:t>Barrio industrial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" y="5057546"/>
            <a:ext cx="2834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más cercano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06840" y="196596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60">
                <a:solidFill>
                  <a:srgbClr val="134E48"/>
                </a:solidFill>
                <a:latin typeface="Helvetica Neue"/>
              </a:rPr>
              <a:t>LAS 14 ZONAS</a:t>
            </a:r>
          </a:p>
        </p:txBody>
      </p:sp>
      <p:sp>
        <p:nvSpPr>
          <p:cNvPr id="46" name="Oval 45"/>
          <p:cNvSpPr/>
          <p:nvPr/>
        </p:nvSpPr>
        <p:spPr>
          <a:xfrm>
            <a:off x="9020555" y="2400300"/>
            <a:ext cx="173736" cy="173736"/>
          </a:xfrm>
          <a:prstGeom prst="ellipse">
            <a:avLst/>
          </a:prstGeom>
          <a:solidFill>
            <a:srgbClr val="B07D24"/>
          </a:solidFill>
          <a:ln w="165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17736" y="2377440"/>
            <a:ext cx="2651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07D24"/>
                </a:solidFill>
                <a:latin typeface="Helvetica Neue"/>
              </a:rPr>
              <a:t>Batuco y Estación Colina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17736" y="2560320"/>
            <a:ext cx="2651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A64"/>
                </a:solidFill>
                <a:latin typeface="Helvetica Neue"/>
              </a:rPr>
              <a:t>nuestros dos proyectos</a:t>
            </a:r>
          </a:p>
        </p:txBody>
      </p:sp>
      <p:sp>
        <p:nvSpPr>
          <p:cNvPr id="49" name="Oval 48"/>
          <p:cNvSpPr/>
          <p:nvPr/>
        </p:nvSpPr>
        <p:spPr>
          <a:xfrm>
            <a:off x="9047988" y="3012948"/>
            <a:ext cx="118872" cy="118872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317736" y="2962656"/>
            <a:ext cx="2651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61616"/>
                </a:solidFill>
                <a:latin typeface="Helvetica Neue"/>
              </a:rPr>
              <a:t>12 zonas comparables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17736" y="3145536"/>
            <a:ext cx="2651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A64"/>
                </a:solidFill>
                <a:latin typeface="Helvetica Neue"/>
              </a:rPr>
              <a:t>del norte y del sur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025128" y="3675887"/>
            <a:ext cx="182880" cy="0"/>
          </a:xfrm>
          <a:prstGeom prst="line">
            <a:avLst/>
          </a:prstGeom>
          <a:ln w="38100">
            <a:solidFill>
              <a:srgbClr val="78A4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317736" y="3566160"/>
            <a:ext cx="2651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61616"/>
                </a:solidFill>
                <a:latin typeface="Helvetica Neue"/>
              </a:rPr>
              <a:t>Corredor de tren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17736" y="3749039"/>
            <a:ext cx="2651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A64"/>
                </a:solidFill>
                <a:latin typeface="Helvetica Neue"/>
              </a:rPr>
              <a:t>Batuco y Melipilla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9025128" y="4261104"/>
            <a:ext cx="2468880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9025128" y="4389120"/>
            <a:ext cx="2651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Norte: Colina · Chicureo · Lampa.</a:t>
            </a:r>
            <a:r>
              <a:rPr sz="950" b="0">
                <a:solidFill>
                  <a:srgbClr val="6E6A64"/>
                </a:solidFill>
                <a:latin typeface="Helvetica Neue"/>
              </a:rPr>
              <a:t>  Sur: Buin · San Bernardo.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Un plano, cuatro destinos ancla y nueve tipos de viaje. Medimos cada zona contra todos — en auto y transporte público, hoy y con la infraestructura futura.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04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AUTO · TIEMPO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En auto no hay una sola distancia: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cada destino tiene su zona más cercana.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1656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1865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72074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2283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2492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2700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12909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311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45059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59736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144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9944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51656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153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1865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90362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2074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00571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2283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10780" y="2464308"/>
            <a:ext cx="973632" cy="141732"/>
          </a:xfrm>
          <a:prstGeom prst="rect">
            <a:avLst/>
          </a:prstGeom>
          <a:solidFill>
            <a:srgbClr val="5B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2492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20988" y="2464308"/>
            <a:ext cx="973632" cy="141732"/>
          </a:xfrm>
          <a:prstGeom prst="rect">
            <a:avLst/>
          </a:prstGeom>
          <a:solidFill>
            <a:srgbClr val="88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2700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31197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12909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541406" y="2464308"/>
            <a:ext cx="973632" cy="141732"/>
          </a:xfrm>
          <a:prstGeom prst="rect">
            <a:avLst/>
          </a:prstGeom>
          <a:solidFill>
            <a:srgbClr val="85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2311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261975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59736" y="2633472"/>
            <a:ext cx="973632" cy="141732"/>
          </a:xfrm>
          <a:prstGeom prst="rect">
            <a:avLst/>
          </a:prstGeom>
          <a:solidFill>
            <a:srgbClr val="7CA0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4144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69944" y="2633472"/>
            <a:ext cx="973632" cy="141732"/>
          </a:xfrm>
          <a:prstGeom prst="rect">
            <a:avLst/>
          </a:prstGeom>
          <a:solidFill>
            <a:srgbClr val="5C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51656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153" y="2633472"/>
            <a:ext cx="973632" cy="141732"/>
          </a:xfrm>
          <a:prstGeom prst="rect">
            <a:avLst/>
          </a:prstGeom>
          <a:solidFill>
            <a:srgbClr val="64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1865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90362" y="2633472"/>
            <a:ext cx="973632" cy="141732"/>
          </a:xfrm>
          <a:prstGeom prst="rect">
            <a:avLst/>
          </a:prstGeom>
          <a:solidFill>
            <a:srgbClr val="66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72074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00571" y="2633472"/>
            <a:ext cx="973632" cy="141732"/>
          </a:xfrm>
          <a:prstGeom prst="rect">
            <a:avLst/>
          </a:prstGeom>
          <a:solidFill>
            <a:srgbClr val="93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82283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10780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2492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20988" y="2633472"/>
            <a:ext cx="973632" cy="141732"/>
          </a:xfrm>
          <a:prstGeom prst="rect">
            <a:avLst/>
          </a:prstGeom>
          <a:solidFill>
            <a:srgbClr val="6A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02700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31197" y="2633472"/>
            <a:ext cx="973632" cy="141732"/>
          </a:xfrm>
          <a:prstGeom prst="rect">
            <a:avLst/>
          </a:prstGeom>
          <a:solidFill>
            <a:srgbClr val="85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12909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541406" y="2633472"/>
            <a:ext cx="973632" cy="141732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2311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" y="2788920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Ayres de Chicureo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59736" y="2802636"/>
            <a:ext cx="973632" cy="141732"/>
          </a:xfrm>
          <a:prstGeom prst="rect">
            <a:avLst/>
          </a:prstGeom>
          <a:solidFill>
            <a:srgbClr val="5B9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44144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69944" y="2802636"/>
            <a:ext cx="973632" cy="141732"/>
          </a:xfrm>
          <a:prstGeom prst="rect">
            <a:avLst/>
          </a:prstGeom>
          <a:solidFill>
            <a:srgbClr val="609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51656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480153" y="2802636"/>
            <a:ext cx="973632" cy="141732"/>
          </a:xfrm>
          <a:prstGeom prst="rect">
            <a:avLst/>
          </a:prstGeom>
          <a:solidFill>
            <a:srgbClr val="95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61865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90362" y="2802636"/>
            <a:ext cx="973632" cy="141732"/>
          </a:xfrm>
          <a:prstGeom prst="rect">
            <a:avLst/>
          </a:prstGeom>
          <a:solidFill>
            <a:srgbClr val="69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72074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00571" y="2802636"/>
            <a:ext cx="973632" cy="141732"/>
          </a:xfrm>
          <a:prstGeom prst="rect">
            <a:avLst/>
          </a:prstGeom>
          <a:solidFill>
            <a:srgbClr val="77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82283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10780" y="2802636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2492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20988" y="2802636"/>
            <a:ext cx="973632" cy="141732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02700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1:07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31197" y="2802636"/>
            <a:ext cx="973632" cy="141732"/>
          </a:xfrm>
          <a:prstGeom prst="rect">
            <a:avLst/>
          </a:prstGeom>
          <a:solidFill>
            <a:srgbClr val="729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12909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38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541406" y="2802636"/>
            <a:ext cx="973632" cy="141732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52311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3232" y="295808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Santa Elena de Chicureo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59736" y="2971799"/>
            <a:ext cx="973632" cy="141732"/>
          </a:xfrm>
          <a:prstGeom prst="rect">
            <a:avLst/>
          </a:prstGeom>
          <a:solidFill>
            <a:srgbClr val="62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4144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69944" y="2971799"/>
            <a:ext cx="973632" cy="141732"/>
          </a:xfrm>
          <a:prstGeom prst="rect">
            <a:avLst/>
          </a:prstGeom>
          <a:solidFill>
            <a:srgbClr val="67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51656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480153" y="2971799"/>
            <a:ext cx="973632" cy="141732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461865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490362" y="2971799"/>
            <a:ext cx="973632" cy="141732"/>
          </a:xfrm>
          <a:prstGeom prst="rect">
            <a:avLst/>
          </a:prstGeom>
          <a:solidFill>
            <a:srgbClr val="6F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72074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00571" y="2971799"/>
            <a:ext cx="973632" cy="141732"/>
          </a:xfrm>
          <a:prstGeom prst="rect">
            <a:avLst/>
          </a:prstGeom>
          <a:solidFill>
            <a:srgbClr val="7D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82283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1:01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10780" y="2971799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92492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1:03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20988" y="2971799"/>
            <a:ext cx="973632" cy="141732"/>
          </a:xfrm>
          <a:prstGeom prst="rect">
            <a:avLst/>
          </a:prstGeom>
          <a:solidFill>
            <a:srgbClr val="CC8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02700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1:14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531197" y="2971799"/>
            <a:ext cx="973632" cy="141732"/>
          </a:xfrm>
          <a:prstGeom prst="rect">
            <a:avLst/>
          </a:prstGeom>
          <a:solidFill>
            <a:srgbClr val="7F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512909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41406" y="2971799"/>
            <a:ext cx="973632" cy="141732"/>
          </a:xfrm>
          <a:prstGeom prst="rect">
            <a:avLst/>
          </a:prstGeom>
          <a:solidFill>
            <a:srgbClr val="CB9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2311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3232" y="312724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459736" y="3140964"/>
            <a:ext cx="973632" cy="141732"/>
          </a:xfrm>
          <a:prstGeom prst="rect">
            <a:avLst/>
          </a:prstGeom>
          <a:solidFill>
            <a:srgbClr val="87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44144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1:12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469944" y="3140964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451656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1:07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480153" y="3140964"/>
            <a:ext cx="973632" cy="141732"/>
          </a:xfrm>
          <a:prstGeom prst="rect">
            <a:avLst/>
          </a:prstGeom>
          <a:solidFill>
            <a:srgbClr val="6C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461865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90362" y="3140964"/>
            <a:ext cx="973632" cy="141732"/>
          </a:xfrm>
          <a:prstGeom prst="rect">
            <a:avLst/>
          </a:prstGeom>
          <a:solidFill>
            <a:srgbClr val="6F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72074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500571" y="3140964"/>
            <a:ext cx="973632" cy="141732"/>
          </a:xfrm>
          <a:prstGeom prst="rect">
            <a:avLst/>
          </a:prstGeom>
          <a:solidFill>
            <a:srgbClr val="88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82283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1:03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510780" y="3140964"/>
            <a:ext cx="973632" cy="141732"/>
          </a:xfrm>
          <a:prstGeom prst="rect">
            <a:avLst/>
          </a:prstGeom>
          <a:solidFill>
            <a:srgbClr val="9C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492492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60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520988" y="3140964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502700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1:11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531197" y="3140964"/>
            <a:ext cx="973632" cy="141732"/>
          </a:xfrm>
          <a:prstGeom prst="rect">
            <a:avLst/>
          </a:prstGeom>
          <a:solidFill>
            <a:srgbClr val="9D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512909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45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541406" y="3140964"/>
            <a:ext cx="973632" cy="141732"/>
          </a:xfrm>
          <a:prstGeom prst="rect">
            <a:avLst/>
          </a:prstGeom>
          <a:solidFill>
            <a:srgbClr val="ADA1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52311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58368" y="330555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3232" y="329641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459736" y="3310127"/>
            <a:ext cx="973632" cy="141732"/>
          </a:xfrm>
          <a:prstGeom prst="rect">
            <a:avLst/>
          </a:prstGeom>
          <a:solidFill>
            <a:srgbClr val="8E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44144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1:14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469944" y="3310127"/>
            <a:ext cx="973632" cy="141732"/>
          </a:xfrm>
          <a:prstGeom prst="rect">
            <a:avLst/>
          </a:prstGeom>
          <a:solidFill>
            <a:srgbClr val="7CA0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451656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480153" y="3310127"/>
            <a:ext cx="973632" cy="141732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461865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490362" y="3310127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472074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1:11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500571" y="3310127"/>
            <a:ext cx="973632" cy="141732"/>
          </a:xfrm>
          <a:prstGeom prst="rect">
            <a:avLst/>
          </a:prstGeom>
          <a:solidFill>
            <a:srgbClr val="93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482283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1:05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510780" y="3310127"/>
            <a:ext cx="973632" cy="141732"/>
          </a:xfrm>
          <a:prstGeom prst="rect">
            <a:avLst/>
          </a:prstGeom>
          <a:solidFill>
            <a:srgbClr val="A3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492492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1:02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520988" y="3310127"/>
            <a:ext cx="973632" cy="141732"/>
          </a:xfrm>
          <a:prstGeom prst="rect">
            <a:avLst/>
          </a:prstGeom>
          <a:solidFill>
            <a:srgbClr val="CC8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502700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1:13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531197" y="3310127"/>
            <a:ext cx="973632" cy="141732"/>
          </a:xfrm>
          <a:prstGeom prst="rect">
            <a:avLst/>
          </a:prstGeom>
          <a:solidFill>
            <a:srgbClr val="97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512909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44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541406" y="3310127"/>
            <a:ext cx="973632" cy="141732"/>
          </a:xfrm>
          <a:prstGeom prst="rect">
            <a:avLst/>
          </a:prstGeom>
          <a:solidFill>
            <a:srgbClr val="BA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052311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13232" y="3465575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459736" y="3479291"/>
            <a:ext cx="973632" cy="141732"/>
          </a:xfrm>
          <a:prstGeom prst="rect">
            <a:avLst/>
          </a:prstGeom>
          <a:solidFill>
            <a:srgbClr val="8E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44144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1:14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469944" y="3479291"/>
            <a:ext cx="973632" cy="141732"/>
          </a:xfrm>
          <a:prstGeom prst="rect">
            <a:avLst/>
          </a:prstGeom>
          <a:solidFill>
            <a:srgbClr val="98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451656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1:17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80153" y="3479291"/>
            <a:ext cx="973632" cy="141732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61865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46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490362" y="3479291"/>
            <a:ext cx="973632" cy="141732"/>
          </a:xfrm>
          <a:prstGeom prst="rect">
            <a:avLst/>
          </a:prstGeom>
          <a:solidFill>
            <a:srgbClr val="8F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472074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1:20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500571" y="3479291"/>
            <a:ext cx="973632" cy="141732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482283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1:12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510780" y="3479291"/>
            <a:ext cx="973632" cy="141732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7492492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1:09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8520988" y="3479291"/>
            <a:ext cx="973632" cy="141732"/>
          </a:xfrm>
          <a:prstGeom prst="rect">
            <a:avLst/>
          </a:prstGeom>
          <a:solidFill>
            <a:srgbClr val="D06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8502700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9531197" y="3479291"/>
            <a:ext cx="973632" cy="141732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9512909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51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0541406" y="3479291"/>
            <a:ext cx="973632" cy="141732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52311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13232" y="363473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459736" y="3648456"/>
            <a:ext cx="973632" cy="141732"/>
          </a:xfrm>
          <a:prstGeom prst="rect">
            <a:avLst/>
          </a:prstGeom>
          <a:solidFill>
            <a:srgbClr val="7A9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44144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469944" y="3648456"/>
            <a:ext cx="973632" cy="141732"/>
          </a:xfrm>
          <a:prstGeom prst="rect">
            <a:avLst/>
          </a:prstGeom>
          <a:solidFill>
            <a:srgbClr val="8DA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51656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1:14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480153" y="3648456"/>
            <a:ext cx="973632" cy="141732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61865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490362" y="3648456"/>
            <a:ext cx="973632" cy="141732"/>
          </a:xfrm>
          <a:prstGeom prst="rect">
            <a:avLst/>
          </a:prstGeom>
          <a:solidFill>
            <a:srgbClr val="CC8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72074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1:55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500571" y="3648456"/>
            <a:ext cx="973632" cy="141732"/>
          </a:xfrm>
          <a:prstGeom prst="rect">
            <a:avLst/>
          </a:prstGeom>
          <a:solidFill>
            <a:srgbClr val="C9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482283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510780" y="3648456"/>
            <a:ext cx="973632" cy="141732"/>
          </a:xfrm>
          <a:prstGeom prst="rect">
            <a:avLst/>
          </a:prstGeom>
          <a:solidFill>
            <a:srgbClr val="CF7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492492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1:35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520988" y="364845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502700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34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9531197" y="3648456"/>
            <a:ext cx="973632" cy="141732"/>
          </a:xfrm>
          <a:prstGeom prst="rect">
            <a:avLst/>
          </a:prstGeom>
          <a:solidFill>
            <a:srgbClr val="D35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9512909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1:12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10541406" y="364845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052311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13232" y="3803904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Colina · Reina Norte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459736" y="3817620"/>
            <a:ext cx="973632" cy="141732"/>
          </a:xfrm>
          <a:prstGeom prst="rect">
            <a:avLst/>
          </a:prstGeom>
          <a:solidFill>
            <a:srgbClr val="A0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4144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1:19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3469944" y="3817620"/>
            <a:ext cx="973632" cy="141732"/>
          </a:xfrm>
          <a:prstGeom prst="rect">
            <a:avLst/>
          </a:prstGeom>
          <a:solidFill>
            <a:srgbClr val="94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3451656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1:16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480153" y="3817620"/>
            <a:ext cx="973632" cy="141732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4461865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1:02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5490362" y="3817620"/>
            <a:ext cx="973632" cy="141732"/>
          </a:xfrm>
          <a:prstGeom prst="rect">
            <a:avLst/>
          </a:prstGeom>
          <a:solidFill>
            <a:srgbClr val="A4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472074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1:27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500571" y="3817620"/>
            <a:ext cx="973632" cy="141732"/>
          </a:xfrm>
          <a:prstGeom prst="rect">
            <a:avLst/>
          </a:prstGeom>
          <a:solidFill>
            <a:srgbClr val="C0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482283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1:13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510780" y="3817620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492492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1:22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520988" y="3817620"/>
            <a:ext cx="973632" cy="141732"/>
          </a:xfrm>
          <a:prstGeom prst="rect">
            <a:avLst/>
          </a:prstGeom>
          <a:solidFill>
            <a:srgbClr val="D25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502700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1:28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531197" y="3817620"/>
            <a:ext cx="973632" cy="141732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512909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51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0541406" y="3817620"/>
            <a:ext cx="973632" cy="141732"/>
          </a:xfrm>
          <a:prstGeom prst="rect">
            <a:avLst/>
          </a:prstGeom>
          <a:solidFill>
            <a:srgbClr val="CD8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52311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51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13232" y="397306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2459736" y="3986783"/>
            <a:ext cx="973632" cy="141732"/>
          </a:xfrm>
          <a:prstGeom prst="rect">
            <a:avLst/>
          </a:prstGeom>
          <a:solidFill>
            <a:srgbClr val="CD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244144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1:45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469944" y="3986783"/>
            <a:ext cx="973632" cy="141732"/>
          </a:xfrm>
          <a:prstGeom prst="rect">
            <a:avLst/>
          </a:prstGeom>
          <a:solidFill>
            <a:srgbClr val="C9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451656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1:31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4480153" y="3986783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461865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51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5490362" y="3986783"/>
            <a:ext cx="973632" cy="141732"/>
          </a:xfrm>
          <a:prstGeom prst="rect">
            <a:avLst/>
          </a:prstGeom>
          <a:solidFill>
            <a:srgbClr val="CD7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5472074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1:59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6500571" y="3986783"/>
            <a:ext cx="973632" cy="141732"/>
          </a:xfrm>
          <a:prstGeom prst="rect">
            <a:avLst/>
          </a:prstGeom>
          <a:solidFill>
            <a:srgbClr val="AA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6482283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1:09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7510780" y="3986783"/>
            <a:ext cx="973632" cy="141732"/>
          </a:xfrm>
          <a:prstGeom prst="rect">
            <a:avLst/>
          </a:prstGeom>
          <a:solidFill>
            <a:srgbClr val="CC8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7492492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1:26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8520988" y="3986783"/>
            <a:ext cx="973632" cy="141732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502700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1:06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9531197" y="3986783"/>
            <a:ext cx="973632" cy="141732"/>
          </a:xfrm>
          <a:prstGeom prst="rect">
            <a:avLst/>
          </a:prstGeom>
          <a:solidFill>
            <a:srgbClr val="D1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9512909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10541406" y="3986783"/>
            <a:ext cx="973632" cy="141732"/>
          </a:xfrm>
          <a:prstGeom prst="rect">
            <a:avLst/>
          </a:prstGeom>
          <a:solidFill>
            <a:srgbClr val="ADA1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1052311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658368" y="415137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713232" y="414223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2459736" y="4155947"/>
            <a:ext cx="973632" cy="141732"/>
          </a:xfrm>
          <a:prstGeom prst="rect">
            <a:avLst/>
          </a:prstGeom>
          <a:solidFill>
            <a:srgbClr val="C9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244144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1:30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3469944" y="4155947"/>
            <a:ext cx="973632" cy="141732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3451656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1:34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4480153" y="4155947"/>
            <a:ext cx="973632" cy="141732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4461865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1:01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5490362" y="4155947"/>
            <a:ext cx="973632" cy="141732"/>
          </a:xfrm>
          <a:prstGeom prst="rect">
            <a:avLst/>
          </a:prstGeom>
          <a:solidFill>
            <a:srgbClr val="C99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5472074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1:42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6500571" y="4155947"/>
            <a:ext cx="973632" cy="141732"/>
          </a:xfrm>
          <a:prstGeom prst="rect">
            <a:avLst/>
          </a:prstGeom>
          <a:solidFill>
            <a:srgbClr val="CF7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482283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1:28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7510780" y="4155947"/>
            <a:ext cx="973632" cy="141732"/>
          </a:xfrm>
          <a:prstGeom prst="rect">
            <a:avLst/>
          </a:prstGeom>
          <a:solidFill>
            <a:srgbClr val="BE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7492492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1:10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8520988" y="4155947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8502700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1:36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9531197" y="4155947"/>
            <a:ext cx="973632" cy="141732"/>
          </a:xfrm>
          <a:prstGeom prst="rect">
            <a:avLst/>
          </a:prstGeom>
          <a:solidFill>
            <a:srgbClr val="CF7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9512909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1:05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10541406" y="4155947"/>
            <a:ext cx="973632" cy="141732"/>
          </a:xfrm>
          <a:prstGeom prst="rect">
            <a:avLst/>
          </a:prstGeom>
          <a:solidFill>
            <a:srgbClr val="CD8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1052311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51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13232" y="431139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459736" y="4325112"/>
            <a:ext cx="973632" cy="141732"/>
          </a:xfrm>
          <a:prstGeom prst="rect">
            <a:avLst/>
          </a:prstGeom>
          <a:solidFill>
            <a:srgbClr val="CC8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244144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1:42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3469944" y="4325112"/>
            <a:ext cx="973632" cy="141732"/>
          </a:xfrm>
          <a:prstGeom prst="rect">
            <a:avLst/>
          </a:prstGeom>
          <a:solidFill>
            <a:srgbClr val="CB9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3451656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1:39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4480153" y="4325112"/>
            <a:ext cx="973632" cy="141732"/>
          </a:xfrm>
          <a:prstGeom prst="rect">
            <a:avLst/>
          </a:prstGeom>
          <a:solidFill>
            <a:srgbClr val="CA9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4461865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1:04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5490362" y="4325112"/>
            <a:ext cx="973632" cy="141732"/>
          </a:xfrm>
          <a:prstGeom prst="rect">
            <a:avLst/>
          </a:prstGeom>
          <a:solidFill>
            <a:srgbClr val="C99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5472074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1:41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6500571" y="4325112"/>
            <a:ext cx="973632" cy="141732"/>
          </a:xfrm>
          <a:prstGeom prst="rect">
            <a:avLst/>
          </a:prstGeom>
          <a:solidFill>
            <a:srgbClr val="D16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6482283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1:32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7510780" y="4325112"/>
            <a:ext cx="973632" cy="141732"/>
          </a:xfrm>
          <a:prstGeom prst="rect">
            <a:avLst/>
          </a:prstGeom>
          <a:solidFill>
            <a:srgbClr val="99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7492492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59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8520988" y="4325112"/>
            <a:ext cx="973632" cy="141732"/>
          </a:xfrm>
          <a:prstGeom prst="rect">
            <a:avLst/>
          </a:prstGeom>
          <a:solidFill>
            <a:srgbClr val="CE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8502700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1:18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9531197" y="4325112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9512909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1:17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541406" y="4325112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52311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1:06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13232" y="448055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2459736" y="4494275"/>
            <a:ext cx="973632" cy="141732"/>
          </a:xfrm>
          <a:prstGeom prst="rect">
            <a:avLst/>
          </a:prstGeom>
          <a:solidFill>
            <a:srgbClr val="D44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44144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2:08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469944" y="4494275"/>
            <a:ext cx="973632" cy="141732"/>
          </a:xfrm>
          <a:prstGeom prst="rect">
            <a:avLst/>
          </a:prstGeom>
          <a:solidFill>
            <a:srgbClr val="CE7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451656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1:51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4480153" y="4494275"/>
            <a:ext cx="973632" cy="141732"/>
          </a:xfrm>
          <a:prstGeom prst="rect">
            <a:avLst/>
          </a:prstGeom>
          <a:solidFill>
            <a:srgbClr val="D1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4461865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1:25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5490362" y="4494275"/>
            <a:ext cx="973632" cy="141732"/>
          </a:xfrm>
          <a:prstGeom prst="rect">
            <a:avLst/>
          </a:prstGeom>
          <a:solidFill>
            <a:srgbClr val="D16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5472074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2:12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6500571" y="4494275"/>
            <a:ext cx="973632" cy="141732"/>
          </a:xfrm>
          <a:prstGeom prst="rect">
            <a:avLst/>
          </a:prstGeom>
          <a:solidFill>
            <a:srgbClr val="CF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482283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1:29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7510780" y="4494275"/>
            <a:ext cx="973632" cy="141732"/>
          </a:xfrm>
          <a:prstGeom prst="rect">
            <a:avLst/>
          </a:prstGeom>
          <a:solidFill>
            <a:srgbClr val="CE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7492492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1:32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8520988" y="4494275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8502700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1:11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9531197" y="4494275"/>
            <a:ext cx="973632" cy="141732"/>
          </a:xfrm>
          <a:prstGeom prst="rect">
            <a:avLst/>
          </a:prstGeom>
          <a:solidFill>
            <a:srgbClr val="D35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9512909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1:12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10541406" y="4494275"/>
            <a:ext cx="973632" cy="141732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1052311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54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713232" y="464972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2459736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244144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2:12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3469944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3451656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2:15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4480153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4461865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1:37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5490362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5472074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2:32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6500571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6482283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1:42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7510780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7492492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1:58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8520988" y="4663439"/>
            <a:ext cx="973632" cy="141732"/>
          </a:xfrm>
          <a:prstGeom prst="rect">
            <a:avLst/>
          </a:prstGeom>
          <a:solidFill>
            <a:srgbClr val="6A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8502700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46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9531197" y="4663439"/>
            <a:ext cx="973632" cy="141732"/>
          </a:xfrm>
          <a:prstGeom prst="rect">
            <a:avLst/>
          </a:prstGeom>
          <a:solidFill>
            <a:srgbClr val="D44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9512909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1:15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10541406" y="4663439"/>
            <a:ext cx="973632" cy="141732"/>
          </a:xfrm>
          <a:prstGeom prst="rect">
            <a:avLst/>
          </a:prstGeom>
          <a:solidFill>
            <a:srgbClr val="A0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1052311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37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658368" y="4901184"/>
            <a:ext cx="1005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Minutos puerta a puerta (h:mm). Color por columna: verde = la más cercana a ese destino, rojo = la más lejana.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En auto y hoy, Estación Colina ya es de las más centrales; Batuco es el más lejano del set. Por eso la palanca de Batuco es la Orbital, no el volante de hoy.</a:t>
            </a:r>
          </a:p>
        </p:txBody>
      </p:sp>
      <p:cxnSp>
        <p:nvCxnSpPr>
          <p:cNvPr id="287" name="Connector 28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8" name="TextBox 28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05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AUTO · COSTO — EL REPARO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El reparo honesto: manejar desde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Batuco es caro hacia casi todos lados.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1656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1865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72074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2283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2492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2700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12909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311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45059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59736" y="2464308"/>
            <a:ext cx="973632" cy="141732"/>
          </a:xfrm>
          <a:prstGeom prst="rect">
            <a:avLst/>
          </a:prstGeom>
          <a:solidFill>
            <a:srgbClr val="A3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144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367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9944" y="2464308"/>
            <a:ext cx="973632" cy="141732"/>
          </a:xfrm>
          <a:prstGeom prst="rect">
            <a:avLst/>
          </a:prstGeom>
          <a:solidFill>
            <a:srgbClr val="38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51656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265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153" y="2464308"/>
            <a:ext cx="973632" cy="141732"/>
          </a:xfrm>
          <a:prstGeom prst="rect">
            <a:avLst/>
          </a:prstGeom>
          <a:solidFill>
            <a:srgbClr val="78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1865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90362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2074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00571" y="2464308"/>
            <a:ext cx="973632" cy="141732"/>
          </a:xfrm>
          <a:prstGeom prst="rect">
            <a:avLst/>
          </a:prstGeom>
          <a:solidFill>
            <a:srgbClr val="6B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2283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10780" y="2464308"/>
            <a:ext cx="973632" cy="141732"/>
          </a:xfrm>
          <a:prstGeom prst="rect">
            <a:avLst/>
          </a:prstGeom>
          <a:solidFill>
            <a:srgbClr val="36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2492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85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20988" y="2464308"/>
            <a:ext cx="973632" cy="141732"/>
          </a:xfrm>
          <a:prstGeom prst="rect">
            <a:avLst/>
          </a:prstGeom>
          <a:solidFill>
            <a:srgbClr val="9E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2700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266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31197" y="2464308"/>
            <a:ext cx="973632" cy="141732"/>
          </a:xfrm>
          <a:prstGeom prst="rect">
            <a:avLst/>
          </a:prstGeom>
          <a:solidFill>
            <a:srgbClr val="339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12909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541406" y="2464308"/>
            <a:ext cx="973632" cy="141732"/>
          </a:xfrm>
          <a:prstGeom prst="rect">
            <a:avLst/>
          </a:prstGeom>
          <a:solidFill>
            <a:srgbClr val="3B9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2311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261975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59736" y="2633472"/>
            <a:ext cx="973632" cy="141732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4144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462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69944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51656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256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153" y="2633472"/>
            <a:ext cx="973632" cy="141732"/>
          </a:xfrm>
          <a:prstGeom prst="rect">
            <a:avLst/>
          </a:prstGeom>
          <a:solidFill>
            <a:srgbClr val="69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1865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90362" y="2633472"/>
            <a:ext cx="973632" cy="141732"/>
          </a:xfrm>
          <a:prstGeom prst="rect">
            <a:avLst/>
          </a:prstGeom>
          <a:solidFill>
            <a:srgbClr val="54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72074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385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00571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82283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10780" y="2633472"/>
            <a:ext cx="973632" cy="141732"/>
          </a:xfrm>
          <a:prstGeom prst="rect">
            <a:avLst/>
          </a:prstGeom>
          <a:solidFill>
            <a:srgbClr val="339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2492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80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20988" y="2633472"/>
            <a:ext cx="973632" cy="141732"/>
          </a:xfrm>
          <a:prstGeom prst="rect">
            <a:avLst/>
          </a:prstGeom>
          <a:solidFill>
            <a:srgbClr val="68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02700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148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31197" y="2633472"/>
            <a:ext cx="973632" cy="141732"/>
          </a:xfrm>
          <a:prstGeom prst="rect">
            <a:avLst/>
          </a:prstGeom>
          <a:solidFill>
            <a:srgbClr val="64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12909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137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541406" y="2633472"/>
            <a:ext cx="973632" cy="141732"/>
          </a:xfrm>
          <a:prstGeom prst="rect">
            <a:avLst/>
          </a:prstGeom>
          <a:solidFill>
            <a:srgbClr val="9B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2311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" y="2788920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59736" y="2802636"/>
            <a:ext cx="973632" cy="141732"/>
          </a:xfrm>
          <a:prstGeom prst="rect">
            <a:avLst/>
          </a:prstGeom>
          <a:solidFill>
            <a:srgbClr val="A3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44144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368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69944" y="2802636"/>
            <a:ext cx="973632" cy="141732"/>
          </a:xfrm>
          <a:prstGeom prst="rect">
            <a:avLst/>
          </a:prstGeom>
          <a:solidFill>
            <a:srgbClr val="38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51656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266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480153" y="2802636"/>
            <a:ext cx="973632" cy="141732"/>
          </a:xfrm>
          <a:prstGeom prst="rect">
            <a:avLst/>
          </a:prstGeom>
          <a:solidFill>
            <a:srgbClr val="78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61865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90362" y="2802636"/>
            <a:ext cx="973632" cy="141732"/>
          </a:xfrm>
          <a:prstGeom prst="rect">
            <a:avLst/>
          </a:prstGeom>
          <a:solidFill>
            <a:srgbClr val="309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72074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00571" y="2802636"/>
            <a:ext cx="973632" cy="141732"/>
          </a:xfrm>
          <a:prstGeom prst="rect">
            <a:avLst/>
          </a:prstGeom>
          <a:solidFill>
            <a:srgbClr val="6B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82283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10780" y="2802636"/>
            <a:ext cx="973632" cy="141732"/>
          </a:xfrm>
          <a:prstGeom prst="rect">
            <a:avLst/>
          </a:prstGeom>
          <a:solidFill>
            <a:srgbClr val="9A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2492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289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20988" y="2802636"/>
            <a:ext cx="973632" cy="141732"/>
          </a:xfrm>
          <a:prstGeom prst="rect">
            <a:avLst/>
          </a:prstGeom>
          <a:solidFill>
            <a:srgbClr val="9E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02700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266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31197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12909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541406" y="2802636"/>
            <a:ext cx="973632" cy="141732"/>
          </a:xfrm>
          <a:prstGeom prst="rect">
            <a:avLst/>
          </a:prstGeom>
          <a:solidFill>
            <a:srgbClr val="A9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52311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128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3232" y="295808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59736" y="2971799"/>
            <a:ext cx="973632" cy="141732"/>
          </a:xfrm>
          <a:prstGeom prst="rect">
            <a:avLst/>
          </a:prstGeom>
          <a:solidFill>
            <a:srgbClr val="C99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4144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447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69944" y="2971799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51656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346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480153" y="2971799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461865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490362" y="2971799"/>
            <a:ext cx="973632" cy="141732"/>
          </a:xfrm>
          <a:prstGeom prst="rect">
            <a:avLst/>
          </a:prstGeom>
          <a:solidFill>
            <a:srgbClr val="4E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72074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00571" y="2971799"/>
            <a:ext cx="973632" cy="141732"/>
          </a:xfrm>
          <a:prstGeom prst="rect">
            <a:avLst/>
          </a:prstGeom>
          <a:solidFill>
            <a:srgbClr val="8E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82283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313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10780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92492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71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20988" y="2971799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02700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175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531197" y="2971799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512909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163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41406" y="2971799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2311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3232" y="312724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459736" y="3140964"/>
            <a:ext cx="973632" cy="141732"/>
          </a:xfrm>
          <a:prstGeom prst="rect">
            <a:avLst/>
          </a:prstGeom>
          <a:solidFill>
            <a:srgbClr val="C6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44144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427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469944" y="3140964"/>
            <a:ext cx="973632" cy="141732"/>
          </a:xfrm>
          <a:prstGeom prst="rect">
            <a:avLst/>
          </a:prstGeom>
          <a:solidFill>
            <a:srgbClr val="4F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451656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288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480153" y="3140964"/>
            <a:ext cx="973632" cy="141732"/>
          </a:xfrm>
          <a:prstGeom prst="rect">
            <a:avLst/>
          </a:prstGeom>
          <a:solidFill>
            <a:srgbClr val="CF7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461865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250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90362" y="3140964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72074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519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500571" y="3140964"/>
            <a:ext cx="973632" cy="141732"/>
          </a:xfrm>
          <a:prstGeom prst="rect">
            <a:avLst/>
          </a:prstGeom>
          <a:solidFill>
            <a:srgbClr val="6C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82283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236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510780" y="3140964"/>
            <a:ext cx="973632" cy="141732"/>
          </a:xfrm>
          <a:prstGeom prst="rect">
            <a:avLst/>
          </a:prstGeom>
          <a:solidFill>
            <a:srgbClr val="B4A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492492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342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520988" y="3140964"/>
            <a:ext cx="973632" cy="141732"/>
          </a:xfrm>
          <a:prstGeom prst="rect">
            <a:avLst/>
          </a:prstGeom>
          <a:solidFill>
            <a:srgbClr val="489E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502700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77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531197" y="3140964"/>
            <a:ext cx="973632" cy="141732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512909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162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541406" y="3140964"/>
            <a:ext cx="973632" cy="141732"/>
          </a:xfrm>
          <a:prstGeom prst="rect">
            <a:avLst/>
          </a:prstGeom>
          <a:solidFill>
            <a:srgbClr val="609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52311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62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58368" y="330555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3232" y="329641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459736" y="3310127"/>
            <a:ext cx="973632" cy="141732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44144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431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469944" y="3310127"/>
            <a:ext cx="973632" cy="141732"/>
          </a:xfrm>
          <a:prstGeom prst="rect">
            <a:avLst/>
          </a:prstGeom>
          <a:solidFill>
            <a:srgbClr val="78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451656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328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480153" y="3310127"/>
            <a:ext cx="973632" cy="141732"/>
          </a:xfrm>
          <a:prstGeom prst="rect">
            <a:avLst/>
          </a:prstGeom>
          <a:solidFill>
            <a:srgbClr val="BE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461865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170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490362" y="3310127"/>
            <a:ext cx="973632" cy="141732"/>
          </a:xfrm>
          <a:prstGeom prst="rect">
            <a:avLst/>
          </a:prstGeom>
          <a:solidFill>
            <a:srgbClr val="499E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472074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356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500571" y="3310127"/>
            <a:ext cx="973632" cy="141732"/>
          </a:xfrm>
          <a:prstGeom prst="rect">
            <a:avLst/>
          </a:prstGeom>
          <a:solidFill>
            <a:srgbClr val="86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482283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295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510780" y="3310127"/>
            <a:ext cx="973632" cy="141732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492492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352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520988" y="3310127"/>
            <a:ext cx="973632" cy="141732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502700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329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531197" y="3310127"/>
            <a:ext cx="973632" cy="141732"/>
          </a:xfrm>
          <a:prstGeom prst="rect">
            <a:avLst/>
          </a:prstGeom>
          <a:solidFill>
            <a:srgbClr val="53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512909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110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541406" y="3310127"/>
            <a:ext cx="973632" cy="141732"/>
          </a:xfrm>
          <a:prstGeom prst="rect">
            <a:avLst/>
          </a:prstGeom>
          <a:solidFill>
            <a:srgbClr val="CA9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052311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169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13232" y="3465575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459736" y="3479291"/>
            <a:ext cx="973632" cy="141732"/>
          </a:xfrm>
          <a:prstGeom prst="rect">
            <a:avLst/>
          </a:prstGeom>
          <a:solidFill>
            <a:srgbClr val="CE7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44144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541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469944" y="3479291"/>
            <a:ext cx="973632" cy="141732"/>
          </a:xfrm>
          <a:prstGeom prst="rect">
            <a:avLst/>
          </a:prstGeom>
          <a:solidFill>
            <a:srgbClr val="C3A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451656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402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80153" y="3479291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61865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41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490362" y="3479291"/>
            <a:ext cx="973632" cy="141732"/>
          </a:xfrm>
          <a:prstGeom prst="rect">
            <a:avLst/>
          </a:prstGeom>
          <a:solidFill>
            <a:srgbClr val="B7A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472074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633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500571" y="3479291"/>
            <a:ext cx="973632" cy="141732"/>
          </a:xfrm>
          <a:prstGeom prst="rect">
            <a:avLst/>
          </a:prstGeom>
          <a:solidFill>
            <a:srgbClr val="559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482283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184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510780" y="3479291"/>
            <a:ext cx="973632" cy="141732"/>
          </a:xfrm>
          <a:prstGeom prst="rect">
            <a:avLst/>
          </a:prstGeom>
          <a:solidFill>
            <a:srgbClr val="CF7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7492492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539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8520988" y="3479291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8502700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21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9531197" y="3479291"/>
            <a:ext cx="973632" cy="141732"/>
          </a:xfrm>
          <a:prstGeom prst="rect">
            <a:avLst/>
          </a:prstGeom>
          <a:solidFill>
            <a:srgbClr val="80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9512909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181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0541406" y="3479291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52311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13232" y="363473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459736" y="364845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44144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168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469944" y="3648456"/>
            <a:ext cx="973632" cy="141732"/>
          </a:xfrm>
          <a:prstGeom prst="rect">
            <a:avLst/>
          </a:prstGeom>
          <a:solidFill>
            <a:srgbClr val="C7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51656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406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480153" y="3648456"/>
            <a:ext cx="973632" cy="141732"/>
          </a:xfrm>
          <a:prstGeom prst="rect">
            <a:avLst/>
          </a:prstGeom>
          <a:solidFill>
            <a:srgbClr val="CD8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61865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223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490362" y="3648456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72074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1066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500571" y="3648456"/>
            <a:ext cx="973632" cy="141732"/>
          </a:xfrm>
          <a:prstGeom prst="rect">
            <a:avLst/>
          </a:prstGeom>
          <a:solidFill>
            <a:srgbClr val="2F9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482283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96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510780" y="3648456"/>
            <a:ext cx="973632" cy="141732"/>
          </a:xfrm>
          <a:prstGeom prst="rect">
            <a:avLst/>
          </a:prstGeom>
          <a:solidFill>
            <a:srgbClr val="CF7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492492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540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520988" y="3648456"/>
            <a:ext cx="973632" cy="141732"/>
          </a:xfrm>
          <a:prstGeom prst="rect">
            <a:avLst/>
          </a:prstGeom>
          <a:solidFill>
            <a:srgbClr val="37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502700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9531197" y="3648456"/>
            <a:ext cx="973632" cy="141732"/>
          </a:xfrm>
          <a:prstGeom prst="rect">
            <a:avLst/>
          </a:prstGeom>
          <a:solidFill>
            <a:srgbClr val="35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9512909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64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10541406" y="3648456"/>
            <a:ext cx="973632" cy="141732"/>
          </a:xfrm>
          <a:prstGeom prst="rect">
            <a:avLst/>
          </a:prstGeom>
          <a:solidFill>
            <a:srgbClr val="3D9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052311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13232" y="3803904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Santa Elena de Chicureo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459736" y="3817620"/>
            <a:ext cx="973632" cy="141732"/>
          </a:xfrm>
          <a:prstGeom prst="rect">
            <a:avLst/>
          </a:prstGeom>
          <a:solidFill>
            <a:srgbClr val="B0A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4144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390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3469944" y="3817620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3451656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428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480153" y="3817620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4461865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5490362" y="3817620"/>
            <a:ext cx="973632" cy="141732"/>
          </a:xfrm>
          <a:prstGeom prst="rect">
            <a:avLst/>
          </a:prstGeom>
          <a:solidFill>
            <a:srgbClr val="38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472074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313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500571" y="3817620"/>
            <a:ext cx="973632" cy="141732"/>
          </a:xfrm>
          <a:prstGeom prst="rect">
            <a:avLst/>
          </a:prstGeom>
          <a:solidFill>
            <a:srgbClr val="C99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482283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466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510780" y="3817620"/>
            <a:ext cx="973632" cy="141732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492492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415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520988" y="3817620"/>
            <a:ext cx="973632" cy="141732"/>
          </a:xfrm>
          <a:prstGeom prst="rect">
            <a:avLst/>
          </a:prstGeom>
          <a:solidFill>
            <a:srgbClr val="CB8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502700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432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531197" y="3817620"/>
            <a:ext cx="973632" cy="141732"/>
          </a:xfrm>
          <a:prstGeom prst="rect">
            <a:avLst/>
          </a:prstGeom>
          <a:solidFill>
            <a:srgbClr val="5C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512909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124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0541406" y="3817620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52311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294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13232" y="397306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2459736" y="3986783"/>
            <a:ext cx="973632" cy="141732"/>
          </a:xfrm>
          <a:prstGeom prst="rect">
            <a:avLst/>
          </a:prstGeom>
          <a:solidFill>
            <a:srgbClr val="CC8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244144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495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469944" y="3986783"/>
            <a:ext cx="973632" cy="141732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451656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392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4480153" y="3986783"/>
            <a:ext cx="973632" cy="141732"/>
          </a:xfrm>
          <a:prstGeom prst="rect">
            <a:avLst/>
          </a:prstGeom>
          <a:solidFill>
            <a:srgbClr val="CE7D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461865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234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5490362" y="3986783"/>
            <a:ext cx="973632" cy="141732"/>
          </a:xfrm>
          <a:prstGeom prst="rect">
            <a:avLst/>
          </a:prstGeom>
          <a:solidFill>
            <a:srgbClr val="62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5472074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420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6500571" y="3986783"/>
            <a:ext cx="973632" cy="141732"/>
          </a:xfrm>
          <a:prstGeom prst="rect">
            <a:avLst/>
          </a:prstGeom>
          <a:solidFill>
            <a:srgbClr val="A2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6482283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359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7510780" y="3986783"/>
            <a:ext cx="973632" cy="141732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7492492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416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8520988" y="3986783"/>
            <a:ext cx="973632" cy="141732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502700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393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9531197" y="3986783"/>
            <a:ext cx="973632" cy="141732"/>
          </a:xfrm>
          <a:prstGeom prst="rect">
            <a:avLst/>
          </a:prstGeom>
          <a:solidFill>
            <a:srgbClr val="7C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9512909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174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10541406" y="3986783"/>
            <a:ext cx="973632" cy="141732"/>
          </a:xfrm>
          <a:prstGeom prst="rect">
            <a:avLst/>
          </a:prstGeom>
          <a:solidFill>
            <a:srgbClr val="D06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1052311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233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658368" y="415137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713232" y="414223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2459736" y="4155947"/>
            <a:ext cx="973632" cy="141732"/>
          </a:xfrm>
          <a:prstGeom prst="rect">
            <a:avLst/>
          </a:prstGeom>
          <a:solidFill>
            <a:srgbClr val="CC8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244144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503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3469944" y="4155947"/>
            <a:ext cx="973632" cy="141732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3451656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401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4480153" y="4155947"/>
            <a:ext cx="973632" cy="141732"/>
          </a:xfrm>
          <a:prstGeom prst="rect">
            <a:avLst/>
          </a:prstGeom>
          <a:solidFill>
            <a:srgbClr val="CE7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4461865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243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5490362" y="4155947"/>
            <a:ext cx="973632" cy="141732"/>
          </a:xfrm>
          <a:prstGeom prst="rect">
            <a:avLst/>
          </a:prstGeom>
          <a:solidFill>
            <a:srgbClr val="66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5472074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429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6500571" y="4155947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482283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368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7510780" y="4155947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7492492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425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8520988" y="4155947"/>
            <a:ext cx="973632" cy="141732"/>
          </a:xfrm>
          <a:prstGeom prst="rect">
            <a:avLst/>
          </a:prstGeom>
          <a:solidFill>
            <a:srgbClr val="CA9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8502700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402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9531197" y="4155947"/>
            <a:ext cx="973632" cy="141732"/>
          </a:xfrm>
          <a:prstGeom prst="rect">
            <a:avLst/>
          </a:prstGeom>
          <a:solidFill>
            <a:srgbClr val="81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9512909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183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10541406" y="4155947"/>
            <a:ext cx="973632" cy="141732"/>
          </a:xfrm>
          <a:prstGeom prst="rect">
            <a:avLst/>
          </a:prstGeom>
          <a:solidFill>
            <a:srgbClr val="D16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1052311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242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13232" y="431139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Colina · Reina Norte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459736" y="4325112"/>
            <a:ext cx="973632" cy="141732"/>
          </a:xfrm>
          <a:prstGeom prst="rect">
            <a:avLst/>
          </a:prstGeom>
          <a:solidFill>
            <a:srgbClr val="CB9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244144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473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3469944" y="4325112"/>
            <a:ext cx="973632" cy="141732"/>
          </a:xfrm>
          <a:prstGeom prst="rect">
            <a:avLst/>
          </a:prstGeom>
          <a:solidFill>
            <a:srgbClr val="D16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3451656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509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4480153" y="4325112"/>
            <a:ext cx="973632" cy="141732"/>
          </a:xfrm>
          <a:prstGeom prst="rect">
            <a:avLst/>
          </a:prstGeom>
          <a:solidFill>
            <a:srgbClr val="D451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4461865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299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5490362" y="4325112"/>
            <a:ext cx="973632" cy="141732"/>
          </a:xfrm>
          <a:prstGeom prst="rect">
            <a:avLst/>
          </a:prstGeom>
          <a:solidFill>
            <a:srgbClr val="599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5472074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396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6500571" y="4325112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6482283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803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7510780" y="4325112"/>
            <a:ext cx="973632" cy="141732"/>
          </a:xfrm>
          <a:prstGeom prst="rect">
            <a:avLst/>
          </a:prstGeom>
          <a:solidFill>
            <a:srgbClr val="CD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7492492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496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8520988" y="4325112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8502700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427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9531197" y="4325112"/>
            <a:ext cx="973632" cy="141732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9512909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207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541406" y="4325112"/>
            <a:ext cx="973632" cy="141732"/>
          </a:xfrm>
          <a:prstGeom prst="rect">
            <a:avLst/>
          </a:prstGeom>
          <a:solidFill>
            <a:srgbClr val="D54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52311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293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13232" y="448055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Ayres de Chicureo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2459736" y="4494275"/>
            <a:ext cx="973632" cy="141732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44144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461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469944" y="4494275"/>
            <a:ext cx="973632" cy="141732"/>
          </a:xfrm>
          <a:prstGeom prst="rect">
            <a:avLst/>
          </a:prstGeom>
          <a:solidFill>
            <a:srgbClr val="D069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451656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500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4480153" y="4494275"/>
            <a:ext cx="973632" cy="141732"/>
          </a:xfrm>
          <a:prstGeom prst="rect">
            <a:avLst/>
          </a:prstGeom>
          <a:solidFill>
            <a:srgbClr val="D35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4461865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288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5490362" y="4494275"/>
            <a:ext cx="973632" cy="141732"/>
          </a:xfrm>
          <a:prstGeom prst="rect">
            <a:avLst/>
          </a:prstGeom>
          <a:solidFill>
            <a:srgbClr val="54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5472074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384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6500571" y="4494275"/>
            <a:ext cx="973632" cy="141732"/>
          </a:xfrm>
          <a:prstGeom prst="rect">
            <a:avLst/>
          </a:prstGeom>
          <a:solidFill>
            <a:srgbClr val="D54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482283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790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7510780" y="4494275"/>
            <a:ext cx="973632" cy="141732"/>
          </a:xfrm>
          <a:prstGeom prst="rect">
            <a:avLst/>
          </a:prstGeom>
          <a:solidFill>
            <a:srgbClr val="CD8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7492492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485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8520988" y="4494275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8502700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698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9531197" y="4494275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9512909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196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10541406" y="4494275"/>
            <a:ext cx="973632" cy="141732"/>
          </a:xfrm>
          <a:prstGeom prst="rect">
            <a:avLst/>
          </a:prstGeom>
          <a:solidFill>
            <a:srgbClr val="D44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1052311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280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713232" y="464972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2459736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244144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696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3469944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3451656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559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4480153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4461865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318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5490362" y="4663439"/>
            <a:ext cx="973632" cy="141732"/>
          </a:xfrm>
          <a:prstGeom prst="rect">
            <a:avLst/>
          </a:prstGeom>
          <a:solidFill>
            <a:srgbClr val="CC8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5472074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790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6500571" y="4663439"/>
            <a:ext cx="973632" cy="141732"/>
          </a:xfrm>
          <a:prstGeom prst="rect">
            <a:avLst/>
          </a:prstGeom>
          <a:solidFill>
            <a:srgbClr val="CC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6482283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537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7510780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7492492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696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8520988" y="4663439"/>
            <a:ext cx="973632" cy="141732"/>
          </a:xfrm>
          <a:prstGeom prst="rect">
            <a:avLst/>
          </a:prstGeom>
          <a:solidFill>
            <a:srgbClr val="93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8502700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242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9531197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9512909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535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10541406" y="4663439"/>
            <a:ext cx="973632" cy="141732"/>
          </a:xfrm>
          <a:prstGeom prst="rect">
            <a:avLst/>
          </a:prstGeom>
          <a:solidFill>
            <a:srgbClr val="82A0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1052311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93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658368" y="4901184"/>
            <a:ext cx="1005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Costo mensual de manejar —bencina + peajes TAG— en miles de pesos. Verde = barato, rojo = caro.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Batuco cruza autopistas concesionadas hacia el oriente y el centro: su costo en auto está entre los más altos del set. Por eso su ventaja real es el tren, no el volante.</a:t>
            </a:r>
          </a:p>
        </p:txBody>
      </p:sp>
      <p:cxnSp>
        <p:nvCxnSpPr>
          <p:cNvPr id="287" name="Connector 28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8" name="TextBox 28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06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EL SALTO · EL TREN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En transporte público, el tren lleva a nuestros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proyectos de los últimos a los primeros lugares.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59" y="210312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6E6A64"/>
                </a:solidFill>
                <a:latin typeface="Helvetica Neue"/>
              </a:rPr>
              <a:t>HOY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92440" y="21031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134E48"/>
                </a:solidFill>
                <a:latin typeface="Helvetica Neue"/>
              </a:rPr>
              <a:t>CON EL TREN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89320" y="2377440"/>
            <a:ext cx="0" cy="2615184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9372600" y="2377440"/>
            <a:ext cx="0" cy="2615184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989320" y="2487168"/>
            <a:ext cx="3383280" cy="552860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5961888" y="2459736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345168" y="3012596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5989320" y="2671454"/>
            <a:ext cx="3383280" cy="184287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961888" y="2644022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345168" y="2828309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18904" y="2746013"/>
            <a:ext cx="2377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A958C"/>
                </a:solidFill>
                <a:latin typeface="Helvetica Neue"/>
              </a:rPr>
              <a:t>3º  Valle Grande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989320" y="2855741"/>
            <a:ext cx="3383280" cy="737147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961888" y="2828309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345168" y="3565456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5989320" y="3040028"/>
            <a:ext cx="3383280" cy="368573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5961888" y="3012596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345168" y="3381169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 flipV="1">
            <a:off x="5989320" y="2487168"/>
            <a:ext cx="3383280" cy="737147"/>
          </a:xfrm>
          <a:prstGeom prst="line">
            <a:avLst/>
          </a:prstGeom>
          <a:ln w="45720">
            <a:solidFill>
              <a:srgbClr val="B07D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5925312" y="3160307"/>
            <a:ext cx="128016" cy="128016"/>
          </a:xfrm>
          <a:prstGeom prst="ellipse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308592" y="2423160"/>
            <a:ext cx="128016" cy="128016"/>
          </a:xfrm>
          <a:prstGeom prst="ellipse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51960" y="3105443"/>
            <a:ext cx="1600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07D24"/>
                </a:solidFill>
                <a:latin typeface="Helvetica Neue"/>
              </a:rPr>
              <a:t>5º  Estación Colina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18904" y="2368296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07D24"/>
                </a:solidFill>
                <a:latin typeface="Helvetica Neue"/>
              </a:rPr>
              <a:t>1º  Estación Colina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989320" y="3408601"/>
            <a:ext cx="3383280" cy="737147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5961888" y="3381169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345168" y="4118316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5989320" y="3592888"/>
            <a:ext cx="3383280" cy="737147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5961888" y="3565456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345168" y="4302603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5989320" y="3777175"/>
            <a:ext cx="3383280" cy="0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5961888" y="3749743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345168" y="3749743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5989320" y="3961462"/>
            <a:ext cx="3383280" cy="552860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5961888" y="3934030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345168" y="4486890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5989320" y="4145748"/>
            <a:ext cx="3383280" cy="552861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5961888" y="4118316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345168" y="4671177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5989320" y="2671454"/>
            <a:ext cx="3383280" cy="1658581"/>
          </a:xfrm>
          <a:prstGeom prst="line">
            <a:avLst/>
          </a:prstGeom>
          <a:ln w="45720">
            <a:solidFill>
              <a:srgbClr val="B07D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5925312" y="4266027"/>
            <a:ext cx="128016" cy="128016"/>
          </a:xfrm>
          <a:prstGeom prst="ellipse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308592" y="2607446"/>
            <a:ext cx="128016" cy="128016"/>
          </a:xfrm>
          <a:prstGeom prst="ellipse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51960" y="4211163"/>
            <a:ext cx="1600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07D24"/>
                </a:solidFill>
                <a:latin typeface="Helvetica Neue"/>
              </a:rPr>
              <a:t>11º  Batuco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18904" y="2552582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07D24"/>
                </a:solidFill>
                <a:latin typeface="Helvetica Neue"/>
              </a:rPr>
              <a:t>2º  Batuco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989320" y="4514322"/>
            <a:ext cx="3383280" cy="368574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5961888" y="4486890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345168" y="4855464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989320" y="3224315"/>
            <a:ext cx="3383280" cy="1474294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5961888" y="4671177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345168" y="3196883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 flipV="1">
            <a:off x="5989320" y="3961462"/>
            <a:ext cx="3383280" cy="921434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5961888" y="4855464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345168" y="3934030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8368" y="2395728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30">
                <a:solidFill>
                  <a:srgbClr val="134E48"/>
                </a:solidFill>
                <a:latin typeface="Helvetica Neue"/>
              </a:rPr>
              <a:t>POSICIÓN EN TRANSPORTE PÚBLICO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8368" y="2798064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Estación Colina   </a:t>
            </a:r>
            <a:r>
              <a:rPr sz="1500" b="1">
                <a:solidFill>
                  <a:srgbClr val="6E6A64"/>
                </a:solidFill>
                <a:latin typeface="Helvetica Neue"/>
              </a:rPr>
              <a:t>5º → </a:t>
            </a:r>
            <a:r>
              <a:rPr sz="1700" b="1">
                <a:solidFill>
                  <a:srgbClr val="B07D24"/>
                </a:solidFill>
                <a:latin typeface="Helvetica Neue"/>
              </a:rPr>
              <a:t>1º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  de 14</a:t>
            </a:r>
          </a:p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Batuco   </a:t>
            </a:r>
            <a:r>
              <a:rPr sz="1500" b="1">
                <a:solidFill>
                  <a:srgbClr val="6E6A64"/>
                </a:solidFill>
                <a:latin typeface="Helvetica Neue"/>
              </a:rPr>
              <a:t>11º → </a:t>
            </a:r>
            <a:r>
              <a:rPr sz="1700" b="1">
                <a:solidFill>
                  <a:srgbClr val="B07D24"/>
                </a:solidFill>
                <a:latin typeface="Helvetica Neue"/>
              </a:rPr>
              <a:t>2º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  de 14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8" y="411480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El Tren Santiago–Batuco recorta 45 min de viaje a Estación Colina y 67 a Batuco — cada uno con estación propia sobre el corredor.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El tren reordena el transporte público del corredor: Estación Colina queda primera del set y Batuco segundo. Es el cambio que ninguna zona sin estación puede igualar.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07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EL SALTO · LA AUTOPISTA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La Orbital acerca a Batuco en auto —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la mayor palanca vial del estudio.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215798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A64"/>
                </a:solidFill>
                <a:latin typeface="Helvetica Neue"/>
              </a:rPr>
              <a:t>Hoy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0" y="2468880"/>
            <a:ext cx="5120640" cy="45720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82528" y="2523744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80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302666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A64"/>
                </a:solidFill>
                <a:latin typeface="Helvetica Neue"/>
              </a:rPr>
              <a:t>Con la Orbital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3337560"/>
            <a:ext cx="3315428" cy="457200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77316" y="3392424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52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4805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B07D24"/>
                </a:solidFill>
                <a:latin typeface="Helvetica Neue"/>
              </a:rPr>
              <a:t>−</a:t>
            </a:r>
            <a:r>
              <a:rPr sz="3000" b="1">
                <a:solidFill>
                  <a:srgbClr val="B07D24"/>
                </a:solidFill>
                <a:latin typeface="Helvetica Neue"/>
              </a:rPr>
              <a:t>28 min</a:t>
            </a:r>
            <a:r>
              <a:rPr sz="1500" b="0">
                <a:solidFill>
                  <a:srgbClr val="6E6A64"/>
                </a:solidFill>
                <a:latin typeface="Helvetica Neue"/>
              </a:rPr>
              <a:t>   ·  del 11º al </a:t>
            </a:r>
            <a:r>
              <a:rPr sz="2000" b="1">
                <a:solidFill>
                  <a:srgbClr val="B07D24"/>
                </a:solidFill>
                <a:latin typeface="Helvetica Neue"/>
              </a:rPr>
              <a:t>3º</a:t>
            </a:r>
            <a:r>
              <a:rPr sz="1500" b="0">
                <a:solidFill>
                  <a:srgbClr val="6E6A64"/>
                </a:solidFill>
                <a:latin typeface="Helvetica Neue"/>
              </a:rPr>
              <a:t> en auto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331720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30">
                <a:solidFill>
                  <a:srgbClr val="134E48"/>
                </a:solidFill>
                <a:latin typeface="Helvetica Neue"/>
              </a:rPr>
              <a:t>SÓLO EL CORREDOR NORPONIENTE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697480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La autopista Orbital Norponiente cruza el terreno de Batuco: enlace a 7 minutos. Es la diferencia entre una zona periférica y una de las más rápidas del set en auto.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20624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A64"/>
                </a:solidFill>
                <a:latin typeface="Helvetica Neue"/>
              </a:rPr>
              <a:t>Estación Colina no depende de esta obra: su fortaleza es la centralidad y el tren. Cada proyecto tiene su propia palanca.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Comunicar “con la Orbital” no es un detalle de ingeniería: es el argumento vial de Batuco.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08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TRANSPORTE PÚBLICO · COSTO — EL CANDADO 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El otro reparo: su transporte público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no es RED, y eso se paga.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1656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1865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72074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2283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2492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2700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12909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311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45059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59736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144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9944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51656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153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1865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90362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2074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00571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2283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10780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2492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20988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2700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31197" y="2464308"/>
            <a:ext cx="973632" cy="141732"/>
          </a:xfrm>
          <a:prstGeom prst="rect">
            <a:avLst/>
          </a:prstGeom>
          <a:solidFill>
            <a:srgbClr val="41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12909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541406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2311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261975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59736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4144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69944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51656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153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1865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90362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72074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00571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82283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10780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2492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20988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02700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31197" y="2633472"/>
            <a:ext cx="973632" cy="141732"/>
          </a:xfrm>
          <a:prstGeom prst="rect">
            <a:avLst/>
          </a:prstGeom>
          <a:solidFill>
            <a:srgbClr val="41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12909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541406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2311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" y="2788920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59736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44144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69944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51656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480153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61865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90362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72074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00571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82283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10780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2492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20988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02700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31197" y="2802636"/>
            <a:ext cx="973632" cy="141732"/>
          </a:xfrm>
          <a:prstGeom prst="rect">
            <a:avLst/>
          </a:prstGeom>
          <a:solidFill>
            <a:srgbClr val="41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12909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541406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52311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3232" y="295808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59736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4144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69944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51656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480153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461865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490362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72074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00571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82283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10780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92492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20988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02700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531197" y="2971799"/>
            <a:ext cx="973632" cy="141732"/>
          </a:xfrm>
          <a:prstGeom prst="rect">
            <a:avLst/>
          </a:prstGeom>
          <a:solidFill>
            <a:srgbClr val="41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512909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41406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2311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3232" y="312724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459736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44144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469944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451656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480153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461865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90362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72074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500571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82283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510780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492492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520988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502700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531197" y="3140964"/>
            <a:ext cx="973632" cy="141732"/>
          </a:xfrm>
          <a:prstGeom prst="rect">
            <a:avLst/>
          </a:prstGeom>
          <a:solidFill>
            <a:srgbClr val="41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512909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541406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52311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13232" y="329641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2459736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4144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469944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451656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80153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61865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490362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472074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500571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482283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510780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492492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520988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502700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531197" y="3310127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512909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0541406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052311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13232" y="3465575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Colina · Reina Norte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2459736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244144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3469944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3451656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4480153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4461865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5490362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472074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6500571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482283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510780" y="3479291"/>
            <a:ext cx="973632" cy="141732"/>
          </a:xfrm>
          <a:prstGeom prst="rect">
            <a:avLst/>
          </a:prstGeom>
          <a:solidFill>
            <a:srgbClr val="CF7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7492492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103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8520988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8502700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9531197" y="3479291"/>
            <a:ext cx="973632" cy="141732"/>
          </a:xfrm>
          <a:prstGeom prst="rect">
            <a:avLst/>
          </a:prstGeom>
          <a:solidFill>
            <a:srgbClr val="A0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9512909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66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10541406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052311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658368" y="3643883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713232" y="363473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459736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44144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469944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51656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480153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61865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490362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72074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500571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482283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510780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492492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520988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502700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9531197" y="3648456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9512909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10541406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052311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13232" y="3803904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459736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4144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3469944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3451656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480153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4461865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5490362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472074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500571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482283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510780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492492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520988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502700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531197" y="3817620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512909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0541406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52311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13232" y="397306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2459736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244144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469944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451656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4480153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461865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5490362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5472074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6500571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6482283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7510780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7492492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8520988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502700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9531197" y="3986783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9512909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10541406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1052311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13232" y="414223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Santa Elena de Chicureo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2459736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244144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3469944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3451656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4480153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4461865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5490362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5472074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6500571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6482283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7510780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7492492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18" name="Rectangle 217"/>
          <p:cNvSpPr/>
          <p:nvPr/>
        </p:nvSpPr>
        <p:spPr>
          <a:xfrm>
            <a:off x="8520988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8502700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9531197" y="4155947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9512909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10541406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1052311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658368" y="4320540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713232" y="431139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459736" y="4325112"/>
            <a:ext cx="973632" cy="141732"/>
          </a:xfrm>
          <a:prstGeom prst="rect">
            <a:avLst/>
          </a:prstGeom>
          <a:solidFill>
            <a:srgbClr val="CF7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244144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103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3469944" y="4325112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3451656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4480153" y="4325112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4461865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5490362" y="4325112"/>
            <a:ext cx="973632" cy="141732"/>
          </a:xfrm>
          <a:prstGeom prst="rect">
            <a:avLst/>
          </a:prstGeom>
          <a:solidFill>
            <a:srgbClr val="579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5472074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48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6500571" y="4325112"/>
            <a:ext cx="973632" cy="141732"/>
          </a:xfrm>
          <a:prstGeom prst="rect">
            <a:avLst/>
          </a:prstGeom>
          <a:solidFill>
            <a:srgbClr val="CF7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6482283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103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7510780" y="4325112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7492492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8520988" y="4325112"/>
            <a:ext cx="973632" cy="141732"/>
          </a:xfrm>
          <a:prstGeom prst="rect">
            <a:avLst/>
          </a:prstGeom>
          <a:solidFill>
            <a:srgbClr val="CF7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8502700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103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9531197" y="4325112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9512909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541406" y="4325112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52311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13232" y="448055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Ayres de Chicureo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2459736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44144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469944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451656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4480153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4461865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5490362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5472074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6500571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482283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7510780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7492492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8520988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8502700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9531197" y="4494275"/>
            <a:ext cx="973632" cy="141732"/>
          </a:xfrm>
          <a:prstGeom prst="rect">
            <a:avLst/>
          </a:prstGeom>
          <a:solidFill>
            <a:srgbClr val="CD8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9512909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10541406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1052311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713232" y="464972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2459736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244144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3469944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3451656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4480153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4461865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5490362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5472074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6500571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6482283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7510780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7492492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8520988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8502700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9531197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9512909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10541406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1052311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658368" y="4901184"/>
            <a:ext cx="1005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Costo mensual de transporte público, en miles de pesos. Batuco y Estación Colina pagan por tramo, sin bip! integrado → tarifa más alta.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Estación Colina y Batuco quedan rojos: al no estar integrados a RED, pagan el tramo aparte. Es una debilidad — y una palanca que sí podemos mover (lámina 15).</a:t>
            </a:r>
          </a:p>
        </p:txBody>
      </p:sp>
      <p:cxnSp>
        <p:nvCxnSpPr>
          <p:cNvPr id="287" name="Connector 28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8" name="TextBox 28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09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EL DIRECTORIO · POSICIÓN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Cada zona, ubicada por tiempo y costo de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manejar. El ideal: rápida y barata.</a:t>
            </a:r>
          </a:p>
        </p:txBody>
      </p:sp>
      <p:sp>
        <p:nvSpPr>
          <p:cNvPr id="5" name="Rectangle 4"/>
          <p:cNvSpPr/>
          <p:nvPr/>
        </p:nvSpPr>
        <p:spPr>
          <a:xfrm>
            <a:off x="1207007" y="3908769"/>
            <a:ext cx="4489692" cy="754670"/>
          </a:xfrm>
          <a:prstGeom prst="rect">
            <a:avLst/>
          </a:prstGeom>
          <a:solidFill>
            <a:srgbClr val="EF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5696700" y="2514600"/>
            <a:ext cx="0" cy="2148840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07007" y="3908769"/>
            <a:ext cx="9594800" cy="0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207007" y="4718303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E6A64"/>
                </a:solidFill>
                <a:latin typeface="Helvetica Neue"/>
              </a:rPr>
              <a:t>← más rápido en auto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07247" y="4718303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E6A64"/>
                </a:solidFill>
                <a:latin typeface="Helvetica Neue"/>
              </a:rPr>
              <a:t>más lento 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" y="2258568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E6A64"/>
                </a:solidFill>
                <a:latin typeface="Helvetica Neue"/>
              </a:rPr>
              <a:t>↑ más caro de manejar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6736" y="4352544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40">
                <a:solidFill>
                  <a:srgbClr val="2F9E6E"/>
                </a:solidFill>
                <a:latin typeface="Helvetica Neue"/>
              </a:rPr>
              <a:t>RÁPIDA Y BARATA ✓</a:t>
            </a:r>
          </a:p>
        </p:txBody>
      </p:sp>
      <p:sp>
        <p:nvSpPr>
          <p:cNvPr id="12" name="Oval 11"/>
          <p:cNvSpPr/>
          <p:nvPr/>
        </p:nvSpPr>
        <p:spPr>
          <a:xfrm>
            <a:off x="7315529" y="3419108"/>
            <a:ext cx="182880" cy="182880"/>
          </a:xfrm>
          <a:prstGeom prst="ellipse">
            <a:avLst/>
          </a:prstGeom>
          <a:solidFill>
            <a:srgbClr val="B07D24"/>
          </a:solidFill>
          <a:ln w="165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4129" y="3400820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4" name="Oval 13"/>
          <p:cNvSpPr/>
          <p:nvPr/>
        </p:nvSpPr>
        <p:spPr>
          <a:xfrm>
            <a:off x="4462590" y="3882145"/>
            <a:ext cx="182880" cy="182880"/>
          </a:xfrm>
          <a:prstGeom prst="ellipse">
            <a:avLst/>
          </a:prstGeom>
          <a:solidFill>
            <a:srgbClr val="B07D24"/>
          </a:solidFill>
          <a:ln w="165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1190" y="3863857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6" name="Oval 15"/>
          <p:cNvSpPr/>
          <p:nvPr/>
        </p:nvSpPr>
        <p:spPr>
          <a:xfrm>
            <a:off x="4260093" y="4512919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86807" y="4225095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725919" y="4299016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989144" y="2826443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180402" y="3537148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173167" y="3853905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16875" y="4044395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001465" y="2555392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268307" y="2952740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144419" y="4464938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407644" y="3512145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41836" y="3905814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Estación Colina cae en la mitad rápida y de costo medio; Batuco es rápido con la Orbital, pero caro de manejar. Dos perfiles, dos argumentos de venta distintos.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10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CUÁNTO VALE · SOBREPRECIO, TODAS CON TODAS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Cuánto más —o menos— puede pedir cada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zona que otra, en UF de conectividad.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24328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60685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97042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3399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69756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113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2470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78827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15184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1541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87898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24255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60613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96970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2359152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35300" y="2370124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71657" y="2370124"/>
            <a:ext cx="614411" cy="155709"/>
          </a:xfrm>
          <a:prstGeom prst="rect">
            <a:avLst/>
          </a:prstGeom>
          <a:solidFill>
            <a:srgbClr val="F2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60685" y="2359152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908014" y="2370124"/>
            <a:ext cx="614411" cy="155709"/>
          </a:xfrm>
          <a:prstGeom prst="rect">
            <a:avLst/>
          </a:prstGeom>
          <a:solidFill>
            <a:srgbClr val="E0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97042" y="2359152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+84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44372" y="2370124"/>
            <a:ext cx="614411" cy="155709"/>
          </a:xfrm>
          <a:prstGeom prst="rect">
            <a:avLst/>
          </a:prstGeom>
          <a:solidFill>
            <a:srgbClr val="A0C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33399" y="2359152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+592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80729" y="2370124"/>
            <a:ext cx="614411" cy="155709"/>
          </a:xfrm>
          <a:prstGeom prst="rect">
            <a:avLst/>
          </a:prstGeom>
          <a:solidFill>
            <a:srgbClr val="98CB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69756" y="2359152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+667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17086" y="2370124"/>
            <a:ext cx="614411" cy="155709"/>
          </a:xfrm>
          <a:prstGeom prst="rect">
            <a:avLst/>
          </a:prstGeom>
          <a:solidFill>
            <a:srgbClr val="93C9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06113" y="2359152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+718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53443" y="2370124"/>
            <a:ext cx="614411" cy="155709"/>
          </a:xfrm>
          <a:prstGeom prst="rect">
            <a:avLst/>
          </a:prstGeom>
          <a:solidFill>
            <a:srgbClr val="85C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2470" y="2359152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+869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089800" y="2370124"/>
            <a:ext cx="614411" cy="155709"/>
          </a:xfrm>
          <a:prstGeom prst="rect">
            <a:avLst/>
          </a:prstGeom>
          <a:solidFill>
            <a:srgbClr val="7CB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78827" y="2359152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+970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26157" y="2370124"/>
            <a:ext cx="614411" cy="155709"/>
          </a:xfrm>
          <a:prstGeom prst="rect">
            <a:avLst/>
          </a:prstGeom>
          <a:solidFill>
            <a:srgbClr val="78B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15184" y="2359152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+1014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62514" y="2370124"/>
            <a:ext cx="614411" cy="155709"/>
          </a:xfrm>
          <a:prstGeom prst="rect">
            <a:avLst/>
          </a:prstGeom>
          <a:solidFill>
            <a:srgbClr val="66B6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51541" y="2359152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+1222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998871" y="2370124"/>
            <a:ext cx="614411" cy="155709"/>
          </a:xfrm>
          <a:prstGeom prst="rect">
            <a:avLst/>
          </a:prstGeom>
          <a:solidFill>
            <a:srgbClr val="64B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87898" y="2359152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+1258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35228" y="2370124"/>
            <a:ext cx="614411" cy="155709"/>
          </a:xfrm>
          <a:prstGeom prst="rect">
            <a:avLst/>
          </a:prstGeom>
          <a:solidFill>
            <a:srgbClr val="56AF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24255" y="2359152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+1427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271585" y="2370124"/>
            <a:ext cx="614411" cy="155709"/>
          </a:xfrm>
          <a:prstGeom prst="rect">
            <a:avLst/>
          </a:prstGeom>
          <a:solidFill>
            <a:srgbClr val="4CA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260613" y="2359152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+1557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907942" y="2370124"/>
            <a:ext cx="614411" cy="155709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896970" y="2359152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+1954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4088" y="2536806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2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35300" y="2547779"/>
            <a:ext cx="614411" cy="155709"/>
          </a:xfrm>
          <a:prstGeom prst="rect">
            <a:avLst/>
          </a:prstGeom>
          <a:solidFill>
            <a:srgbClr val="F5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624328" y="253680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-10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71657" y="2547779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908014" y="2547779"/>
            <a:ext cx="614411" cy="155709"/>
          </a:xfrm>
          <a:prstGeom prst="rect">
            <a:avLst/>
          </a:prstGeom>
          <a:solidFill>
            <a:srgbClr val="E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897042" y="253680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+75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44372" y="2547779"/>
            <a:ext cx="614411" cy="155709"/>
          </a:xfrm>
          <a:prstGeom prst="rect">
            <a:avLst/>
          </a:prstGeom>
          <a:solidFill>
            <a:srgbClr val="A1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33399" y="253680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+582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180729" y="2547779"/>
            <a:ext cx="614411" cy="155709"/>
          </a:xfrm>
          <a:prstGeom prst="rect">
            <a:avLst/>
          </a:prstGeom>
          <a:solidFill>
            <a:srgbClr val="99CC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169756" y="253680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+658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817086" y="2547779"/>
            <a:ext cx="614411" cy="155709"/>
          </a:xfrm>
          <a:prstGeom prst="rect">
            <a:avLst/>
          </a:prstGeom>
          <a:solidFill>
            <a:srgbClr val="94C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806113" y="253680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+709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53443" y="2547779"/>
            <a:ext cx="614411" cy="155709"/>
          </a:xfrm>
          <a:prstGeom prst="rect">
            <a:avLst/>
          </a:prstGeom>
          <a:solidFill>
            <a:srgbClr val="86C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42470" y="253680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+859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089800" y="2547779"/>
            <a:ext cx="614411" cy="155709"/>
          </a:xfrm>
          <a:prstGeom prst="rect">
            <a:avLst/>
          </a:prstGeom>
          <a:solidFill>
            <a:srgbClr val="7DC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78827" y="253680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+960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726157" y="2547779"/>
            <a:ext cx="614411" cy="155709"/>
          </a:xfrm>
          <a:prstGeom prst="rect">
            <a:avLst/>
          </a:prstGeom>
          <a:solidFill>
            <a:srgbClr val="79B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715184" y="253680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+1005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362514" y="2547779"/>
            <a:ext cx="614411" cy="155709"/>
          </a:xfrm>
          <a:prstGeom prst="rect">
            <a:avLst/>
          </a:prstGeom>
          <a:solidFill>
            <a:srgbClr val="67B6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51541" y="253680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+1213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998871" y="2547779"/>
            <a:ext cx="614411" cy="155709"/>
          </a:xfrm>
          <a:prstGeom prst="rect">
            <a:avLst/>
          </a:prstGeom>
          <a:solidFill>
            <a:srgbClr val="64B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987898" y="253680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+1249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635228" y="2547779"/>
            <a:ext cx="614411" cy="155709"/>
          </a:xfrm>
          <a:prstGeom prst="rect">
            <a:avLst/>
          </a:prstGeom>
          <a:solidFill>
            <a:srgbClr val="57A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624255" y="253680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+1417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271585" y="2547779"/>
            <a:ext cx="614411" cy="155709"/>
          </a:xfrm>
          <a:prstGeom prst="rect">
            <a:avLst/>
          </a:prstGeom>
          <a:solidFill>
            <a:srgbClr val="4DA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260613" y="253680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+1547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907942" y="2547779"/>
            <a:ext cx="614411" cy="155709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896970" y="253680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+1944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04088" y="2714461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3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635300" y="2725434"/>
            <a:ext cx="614411" cy="155709"/>
          </a:xfrm>
          <a:prstGeom prst="rect">
            <a:avLst/>
          </a:prstGeom>
          <a:solidFill>
            <a:srgbClr val="F0E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624328" y="271446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-84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271657" y="2725434"/>
            <a:ext cx="614411" cy="155709"/>
          </a:xfrm>
          <a:prstGeom prst="rect">
            <a:avLst/>
          </a:prstGeom>
          <a:solidFill>
            <a:srgbClr val="F1E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260685" y="271446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-75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908014" y="2725434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544372" y="2725434"/>
            <a:ext cx="614411" cy="155709"/>
          </a:xfrm>
          <a:prstGeom prst="rect">
            <a:avLst/>
          </a:prstGeom>
          <a:solidFill>
            <a:srgbClr val="A9D3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533399" y="271446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+507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180729" y="2725434"/>
            <a:ext cx="614411" cy="155709"/>
          </a:xfrm>
          <a:prstGeom prst="rect">
            <a:avLst/>
          </a:prstGeom>
          <a:solidFill>
            <a:srgbClr val="A1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169756" y="271446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+583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817086" y="2725434"/>
            <a:ext cx="614411" cy="155709"/>
          </a:xfrm>
          <a:prstGeom prst="rect">
            <a:avLst/>
          </a:prstGeom>
          <a:solidFill>
            <a:srgbClr val="9CC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806113" y="271446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+634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453443" y="2725434"/>
            <a:ext cx="614411" cy="155709"/>
          </a:xfrm>
          <a:prstGeom prst="rect">
            <a:avLst/>
          </a:prstGeom>
          <a:solidFill>
            <a:srgbClr val="8DC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442470" y="271446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+785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089800" y="2725434"/>
            <a:ext cx="614411" cy="155709"/>
          </a:xfrm>
          <a:prstGeom prst="rect">
            <a:avLst/>
          </a:prstGeom>
          <a:solidFill>
            <a:srgbClr val="84C3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078827" y="271446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+886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726157" y="2725434"/>
            <a:ext cx="614411" cy="155709"/>
          </a:xfrm>
          <a:prstGeom prst="rect">
            <a:avLst/>
          </a:prstGeom>
          <a:solidFill>
            <a:srgbClr val="80C1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715184" y="271446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+930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362514" y="2725434"/>
            <a:ext cx="614411" cy="155709"/>
          </a:xfrm>
          <a:prstGeom prst="rect">
            <a:avLst/>
          </a:prstGeom>
          <a:solidFill>
            <a:srgbClr val="6EB9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351541" y="271446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+1138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998871" y="2725434"/>
            <a:ext cx="614411" cy="155709"/>
          </a:xfrm>
          <a:prstGeom prst="rect">
            <a:avLst/>
          </a:prstGeom>
          <a:solidFill>
            <a:srgbClr val="6AB8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987898" y="271446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+1174</a:t>
            </a:r>
          </a:p>
        </p:txBody>
      </p:sp>
      <p:sp>
        <p:nvSpPr>
          <p:cNvPr id="97" name="Rectangle 96"/>
          <p:cNvSpPr/>
          <p:nvPr/>
        </p:nvSpPr>
        <p:spPr>
          <a:xfrm>
            <a:off x="9635228" y="2725434"/>
            <a:ext cx="614411" cy="155709"/>
          </a:xfrm>
          <a:prstGeom prst="rect">
            <a:avLst/>
          </a:prstGeom>
          <a:solidFill>
            <a:srgbClr val="5DB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624255" y="271446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+1343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0271585" y="2725434"/>
            <a:ext cx="614411" cy="155709"/>
          </a:xfrm>
          <a:prstGeom prst="rect">
            <a:avLst/>
          </a:prstGeom>
          <a:solidFill>
            <a:srgbClr val="52A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260613" y="271446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+1472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907942" y="2725434"/>
            <a:ext cx="614411" cy="155709"/>
          </a:xfrm>
          <a:prstGeom prst="rect">
            <a:avLst/>
          </a:prstGeom>
          <a:solidFill>
            <a:srgbClr val="35A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896970" y="271446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+1870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58368" y="2899431"/>
            <a:ext cx="1920240" cy="163024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04088" y="2892116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4  </a:t>
            </a: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635300" y="2903089"/>
            <a:ext cx="614411" cy="155709"/>
          </a:xfrm>
          <a:prstGeom prst="rect">
            <a:avLst/>
          </a:prstGeom>
          <a:solidFill>
            <a:srgbClr val="DFA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2624328" y="289211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-592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3271657" y="2903089"/>
            <a:ext cx="614411" cy="155709"/>
          </a:xfrm>
          <a:prstGeom prst="rect">
            <a:avLst/>
          </a:prstGeom>
          <a:solidFill>
            <a:srgbClr val="DFA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260685" y="289211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-582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3908014" y="2903089"/>
            <a:ext cx="614411" cy="155709"/>
          </a:xfrm>
          <a:prstGeom prst="rect">
            <a:avLst/>
          </a:prstGeom>
          <a:solidFill>
            <a:srgbClr val="E1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897042" y="289211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-507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4544372" y="2903089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5180729" y="2903089"/>
            <a:ext cx="614411" cy="155709"/>
          </a:xfrm>
          <a:prstGeom prst="rect">
            <a:avLst/>
          </a:prstGeom>
          <a:solidFill>
            <a:srgbClr val="E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69756" y="289211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+76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817086" y="2903089"/>
            <a:ext cx="614411" cy="155709"/>
          </a:xfrm>
          <a:prstGeom prst="rect">
            <a:avLst/>
          </a:prstGeom>
          <a:solidFill>
            <a:srgbClr val="D9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806113" y="289211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+127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453443" y="2903089"/>
            <a:ext cx="614411" cy="155709"/>
          </a:xfrm>
          <a:prstGeom prst="rect">
            <a:avLst/>
          </a:prstGeom>
          <a:solidFill>
            <a:srgbClr val="C3DE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442470" y="289211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+278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7089800" y="2903089"/>
            <a:ext cx="614411" cy="155709"/>
          </a:xfrm>
          <a:prstGeom prst="rect">
            <a:avLst/>
          </a:prstGeom>
          <a:solidFill>
            <a:srgbClr val="B7D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078827" y="289211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+379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726157" y="2903089"/>
            <a:ext cx="614411" cy="155709"/>
          </a:xfrm>
          <a:prstGeom prst="rect">
            <a:avLst/>
          </a:prstGeom>
          <a:solidFill>
            <a:srgbClr val="B2D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715184" y="289211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+423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362514" y="2903089"/>
            <a:ext cx="614411" cy="155709"/>
          </a:xfrm>
          <a:prstGeom prst="rect">
            <a:avLst/>
          </a:prstGeom>
          <a:solidFill>
            <a:srgbClr val="9CC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351541" y="289211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+631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998871" y="2903089"/>
            <a:ext cx="614411" cy="155709"/>
          </a:xfrm>
          <a:prstGeom prst="rect">
            <a:avLst/>
          </a:prstGeom>
          <a:solidFill>
            <a:srgbClr val="98CC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987898" y="289211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+667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635228" y="2903089"/>
            <a:ext cx="614411" cy="155709"/>
          </a:xfrm>
          <a:prstGeom prst="rect">
            <a:avLst/>
          </a:prstGeom>
          <a:solidFill>
            <a:srgbClr val="88C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624255" y="289211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+836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10271585" y="2903089"/>
            <a:ext cx="614411" cy="155709"/>
          </a:xfrm>
          <a:prstGeom prst="rect">
            <a:avLst/>
          </a:prstGeom>
          <a:solidFill>
            <a:srgbClr val="7CB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0260613" y="289211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+965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10907942" y="2903089"/>
            <a:ext cx="614411" cy="155709"/>
          </a:xfrm>
          <a:prstGeom prst="rect">
            <a:avLst/>
          </a:prstGeom>
          <a:solidFill>
            <a:srgbClr val="5BB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0896970" y="289211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+1363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04088" y="3069771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5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2635300" y="3080744"/>
            <a:ext cx="614411" cy="155709"/>
          </a:xfrm>
          <a:prstGeom prst="rect">
            <a:avLst/>
          </a:prstGeom>
          <a:solidFill>
            <a:srgbClr val="DDA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2624328" y="306977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-667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3271657" y="3080744"/>
            <a:ext cx="614411" cy="155709"/>
          </a:xfrm>
          <a:prstGeom prst="rect">
            <a:avLst/>
          </a:prstGeom>
          <a:solidFill>
            <a:srgbClr val="DD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3260685" y="306977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-658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3908014" y="3080744"/>
            <a:ext cx="614411" cy="155709"/>
          </a:xfrm>
          <a:prstGeom prst="rect">
            <a:avLst/>
          </a:prstGeom>
          <a:solidFill>
            <a:srgbClr val="DFA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3897042" y="306977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-583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4544372" y="3080744"/>
            <a:ext cx="614411" cy="155709"/>
          </a:xfrm>
          <a:prstGeom prst="rect">
            <a:avLst/>
          </a:prstGeom>
          <a:solidFill>
            <a:srgbClr val="F1E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4533399" y="306977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-76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5180729" y="3080744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5817086" y="3080744"/>
            <a:ext cx="614411" cy="155709"/>
          </a:xfrm>
          <a:prstGeom prst="rect">
            <a:avLst/>
          </a:prstGeom>
          <a:solidFill>
            <a:srgbClr val="E7E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806113" y="306977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+51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453443" y="3080744"/>
            <a:ext cx="614411" cy="155709"/>
          </a:xfrm>
          <a:prstGeom prst="rect">
            <a:avLst/>
          </a:prstGeom>
          <a:solidFill>
            <a:srgbClr val="CE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442470" y="306977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+202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7089800" y="3080744"/>
            <a:ext cx="614411" cy="155709"/>
          </a:xfrm>
          <a:prstGeom prst="rect">
            <a:avLst/>
          </a:prstGeom>
          <a:solidFill>
            <a:srgbClr val="C0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7078827" y="306977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+303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726157" y="3080744"/>
            <a:ext cx="614411" cy="155709"/>
          </a:xfrm>
          <a:prstGeom prst="rect">
            <a:avLst/>
          </a:prstGeom>
          <a:solidFill>
            <a:srgbClr val="BBDB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7715184" y="306977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+347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8362514" y="3080744"/>
            <a:ext cx="614411" cy="155709"/>
          </a:xfrm>
          <a:prstGeom prst="rect">
            <a:avLst/>
          </a:prstGeom>
          <a:solidFill>
            <a:srgbClr val="A4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8351541" y="306977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+555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998871" y="3080744"/>
            <a:ext cx="614411" cy="155709"/>
          </a:xfrm>
          <a:prstGeom prst="rect">
            <a:avLst/>
          </a:prstGeom>
          <a:solidFill>
            <a:srgbClr val="A0C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987898" y="306977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+591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9635228" y="3080744"/>
            <a:ext cx="614411" cy="155709"/>
          </a:xfrm>
          <a:prstGeom prst="rect">
            <a:avLst/>
          </a:prstGeom>
          <a:solidFill>
            <a:srgbClr val="8FC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9624255" y="306977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+760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10271585" y="3080744"/>
            <a:ext cx="614411" cy="155709"/>
          </a:xfrm>
          <a:prstGeom prst="rect">
            <a:avLst/>
          </a:prstGeom>
          <a:solidFill>
            <a:srgbClr val="83C2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10260613" y="306977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+889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10907942" y="3080744"/>
            <a:ext cx="614411" cy="155709"/>
          </a:xfrm>
          <a:prstGeom prst="rect">
            <a:avLst/>
          </a:prstGeom>
          <a:solidFill>
            <a:srgbClr val="61B4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10896970" y="306977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+1287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04088" y="3247426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6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2635300" y="3258399"/>
            <a:ext cx="614411" cy="155709"/>
          </a:xfrm>
          <a:prstGeom prst="rect">
            <a:avLst/>
          </a:prstGeom>
          <a:solidFill>
            <a:srgbClr val="DBA3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2624328" y="324742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-718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3271657" y="3258399"/>
            <a:ext cx="614411" cy="155709"/>
          </a:xfrm>
          <a:prstGeom prst="rect">
            <a:avLst/>
          </a:prstGeom>
          <a:solidFill>
            <a:srgbClr val="DBA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3260685" y="324742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-709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3908014" y="3258399"/>
            <a:ext cx="614411" cy="155709"/>
          </a:xfrm>
          <a:prstGeom prst="rect">
            <a:avLst/>
          </a:prstGeom>
          <a:solidFill>
            <a:srgbClr val="DDA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3897042" y="324742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-634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4544372" y="3258399"/>
            <a:ext cx="614411" cy="155709"/>
          </a:xfrm>
          <a:prstGeom prst="rect">
            <a:avLst/>
          </a:prstGeom>
          <a:solidFill>
            <a:srgbClr val="EE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33399" y="324742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-127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5180729" y="3258399"/>
            <a:ext cx="614411" cy="155709"/>
          </a:xfrm>
          <a:prstGeom prst="rect">
            <a:avLst/>
          </a:prstGeom>
          <a:solidFill>
            <a:srgbClr val="F2E8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5169756" y="324742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-51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5817086" y="3258399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6453443" y="3258399"/>
            <a:ext cx="614411" cy="155709"/>
          </a:xfrm>
          <a:prstGeom prst="rect">
            <a:avLst/>
          </a:prstGeom>
          <a:solidFill>
            <a:srgbClr val="D5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6442470" y="324742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+151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7089800" y="3258399"/>
            <a:ext cx="614411" cy="155709"/>
          </a:xfrm>
          <a:prstGeom prst="rect">
            <a:avLst/>
          </a:prstGeom>
          <a:solidFill>
            <a:srgbClr val="C7E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7078827" y="324742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+252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7726157" y="3258399"/>
            <a:ext cx="614411" cy="155709"/>
          </a:xfrm>
          <a:prstGeom prst="rect">
            <a:avLst/>
          </a:prstGeom>
          <a:solidFill>
            <a:srgbClr val="C1DD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7715184" y="324742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+296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362514" y="3258399"/>
            <a:ext cx="614411" cy="155709"/>
          </a:xfrm>
          <a:prstGeom prst="rect">
            <a:avLst/>
          </a:prstGeom>
          <a:solidFill>
            <a:srgbClr val="A9D3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351541" y="324742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+504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998871" y="3258399"/>
            <a:ext cx="614411" cy="155709"/>
          </a:xfrm>
          <a:prstGeom prst="rect">
            <a:avLst/>
          </a:prstGeom>
          <a:solidFill>
            <a:srgbClr val="A5D1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987898" y="324742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+540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635228" y="3258399"/>
            <a:ext cx="614411" cy="155709"/>
          </a:xfrm>
          <a:prstGeom prst="rect">
            <a:avLst/>
          </a:prstGeom>
          <a:solidFill>
            <a:srgbClr val="94C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624255" y="324742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+709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0271585" y="3258399"/>
            <a:ext cx="614411" cy="155709"/>
          </a:xfrm>
          <a:prstGeom prst="rect">
            <a:avLst/>
          </a:prstGeom>
          <a:solidFill>
            <a:srgbClr val="88C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260613" y="324742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+838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10907942" y="3258399"/>
            <a:ext cx="614411" cy="155709"/>
          </a:xfrm>
          <a:prstGeom prst="rect">
            <a:avLst/>
          </a:prstGeom>
          <a:solidFill>
            <a:srgbClr val="65B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10896970" y="324742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+1236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704088" y="3425081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7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Santa Elena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2635300" y="3436053"/>
            <a:ext cx="614411" cy="155709"/>
          </a:xfrm>
          <a:prstGeom prst="rect">
            <a:avLst/>
          </a:prstGeom>
          <a:solidFill>
            <a:srgbClr val="D797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2624328" y="342508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-869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271657" y="3436053"/>
            <a:ext cx="614411" cy="155709"/>
          </a:xfrm>
          <a:prstGeom prst="rect">
            <a:avLst/>
          </a:prstGeom>
          <a:solidFill>
            <a:srgbClr val="D89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3260685" y="342508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-859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3908014" y="3436053"/>
            <a:ext cx="614411" cy="155709"/>
          </a:xfrm>
          <a:prstGeom prst="rect">
            <a:avLst/>
          </a:prstGeom>
          <a:solidFill>
            <a:srgbClr val="D99E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3897042" y="342508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-785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4544372" y="3436053"/>
            <a:ext cx="614411" cy="155709"/>
          </a:xfrm>
          <a:prstGeom prst="rect">
            <a:avLst/>
          </a:prstGeom>
          <a:solidFill>
            <a:srgbClr val="E8C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4533399" y="342508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-278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5180729" y="3436053"/>
            <a:ext cx="614411" cy="155709"/>
          </a:xfrm>
          <a:prstGeom prst="rect">
            <a:avLst/>
          </a:prstGeom>
          <a:solidFill>
            <a:srgbClr val="EBD3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5169756" y="342508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-202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5817086" y="3436053"/>
            <a:ext cx="614411" cy="155709"/>
          </a:xfrm>
          <a:prstGeom prst="rect">
            <a:avLst/>
          </a:prstGeom>
          <a:solidFill>
            <a:srgbClr val="EDD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5806113" y="342508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-151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6453443" y="3436053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7089800" y="3436053"/>
            <a:ext cx="614411" cy="155709"/>
          </a:xfrm>
          <a:prstGeom prst="rect">
            <a:avLst/>
          </a:prstGeom>
          <a:solidFill>
            <a:srgbClr val="DD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7078827" y="342508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+101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7726157" y="3436053"/>
            <a:ext cx="614411" cy="155709"/>
          </a:xfrm>
          <a:prstGeom prst="rect">
            <a:avLst/>
          </a:prstGeom>
          <a:solidFill>
            <a:srgbClr val="D6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7715184" y="342508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+145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8362514" y="3436053"/>
            <a:ext cx="614411" cy="155709"/>
          </a:xfrm>
          <a:prstGeom prst="rect">
            <a:avLst/>
          </a:prstGeom>
          <a:solidFill>
            <a:srgbClr val="BAD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8351541" y="342508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+353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8998871" y="3436053"/>
            <a:ext cx="614411" cy="155709"/>
          </a:xfrm>
          <a:prstGeom prst="rect">
            <a:avLst/>
          </a:prstGeom>
          <a:solidFill>
            <a:srgbClr val="B6D8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8987898" y="342508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+389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9635228" y="3436053"/>
            <a:ext cx="614411" cy="155709"/>
          </a:xfrm>
          <a:prstGeom prst="rect">
            <a:avLst/>
          </a:prstGeom>
          <a:solidFill>
            <a:srgbClr val="A3D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9624255" y="342508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+558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10271585" y="3436053"/>
            <a:ext cx="614411" cy="155709"/>
          </a:xfrm>
          <a:prstGeom prst="rect">
            <a:avLst/>
          </a:prstGeom>
          <a:solidFill>
            <a:srgbClr val="96CB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10260613" y="342508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+688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0907942" y="3436053"/>
            <a:ext cx="614411" cy="155709"/>
          </a:xfrm>
          <a:prstGeom prst="rect">
            <a:avLst/>
          </a:prstGeom>
          <a:solidFill>
            <a:srgbClr val="72BB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10896970" y="342508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+1085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704088" y="3602736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8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2635300" y="3613708"/>
            <a:ext cx="614411" cy="155709"/>
          </a:xfrm>
          <a:prstGeom prst="rect">
            <a:avLst/>
          </a:prstGeom>
          <a:solidFill>
            <a:srgbClr val="D59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2624328" y="360273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-970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3271657" y="3613708"/>
            <a:ext cx="614411" cy="155709"/>
          </a:xfrm>
          <a:prstGeom prst="rect">
            <a:avLst/>
          </a:prstGeom>
          <a:solidFill>
            <a:srgbClr val="D59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3260685" y="360273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-960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3908014" y="3613708"/>
            <a:ext cx="614411" cy="155709"/>
          </a:xfrm>
          <a:prstGeom prst="rect">
            <a:avLst/>
          </a:prstGeom>
          <a:solidFill>
            <a:srgbClr val="D796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3897042" y="360273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-886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4544372" y="3613708"/>
            <a:ext cx="614411" cy="155709"/>
          </a:xfrm>
          <a:prstGeom prst="rect">
            <a:avLst/>
          </a:prstGeom>
          <a:solidFill>
            <a:srgbClr val="E5C1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4533399" y="360273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-379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5180729" y="3613708"/>
            <a:ext cx="614411" cy="155709"/>
          </a:xfrm>
          <a:prstGeom prst="rect">
            <a:avLst/>
          </a:prstGeom>
          <a:solidFill>
            <a:srgbClr val="E8C8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5169756" y="360273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-303</a:t>
            </a:r>
          </a:p>
        </p:txBody>
      </p:sp>
      <p:sp>
        <p:nvSpPr>
          <p:cNvPr id="227" name="Rectangle 226"/>
          <p:cNvSpPr/>
          <p:nvPr/>
        </p:nvSpPr>
        <p:spPr>
          <a:xfrm>
            <a:off x="5817086" y="3613708"/>
            <a:ext cx="614411" cy="155709"/>
          </a:xfrm>
          <a:prstGeom prst="rect">
            <a:avLst/>
          </a:prstGeom>
          <a:solidFill>
            <a:srgbClr val="E9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5806113" y="360273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-252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6453443" y="3613708"/>
            <a:ext cx="614411" cy="155709"/>
          </a:xfrm>
          <a:prstGeom prst="rect">
            <a:avLst/>
          </a:prstGeom>
          <a:solidFill>
            <a:srgbClr val="F0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6442470" y="360273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-101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7089800" y="3613708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7726157" y="3613708"/>
            <a:ext cx="614411" cy="155709"/>
          </a:xfrm>
          <a:prstGeom prst="rect">
            <a:avLst/>
          </a:prstGeom>
          <a:solidFill>
            <a:srgbClr val="E8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7715184" y="360273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+44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8362514" y="3613708"/>
            <a:ext cx="614411" cy="155709"/>
          </a:xfrm>
          <a:prstGeom prst="rect">
            <a:avLst/>
          </a:prstGeom>
          <a:solidFill>
            <a:srgbClr val="C7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8351541" y="360273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+252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8998871" y="3613708"/>
            <a:ext cx="614411" cy="155709"/>
          </a:xfrm>
          <a:prstGeom prst="rect">
            <a:avLst/>
          </a:prstGeom>
          <a:solidFill>
            <a:srgbClr val="C2DE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8987898" y="360273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+288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9635228" y="3613708"/>
            <a:ext cx="614411" cy="155709"/>
          </a:xfrm>
          <a:prstGeom prst="rect">
            <a:avLst/>
          </a:prstGeom>
          <a:solidFill>
            <a:srgbClr val="AE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9624255" y="360273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+457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10271585" y="3613708"/>
            <a:ext cx="614411" cy="155709"/>
          </a:xfrm>
          <a:prstGeom prst="rect">
            <a:avLst/>
          </a:prstGeom>
          <a:solidFill>
            <a:srgbClr val="A0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10260613" y="360273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+587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907942" y="3613708"/>
            <a:ext cx="614411" cy="155709"/>
          </a:xfrm>
          <a:prstGeom prst="rect">
            <a:avLst/>
          </a:prstGeom>
          <a:solidFill>
            <a:srgbClr val="7B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896970" y="360273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+984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04088" y="3780390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9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2635300" y="3791363"/>
            <a:ext cx="614411" cy="155709"/>
          </a:xfrm>
          <a:prstGeom prst="rect">
            <a:avLst/>
          </a:prstGeom>
          <a:solidFill>
            <a:srgbClr val="D48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624328" y="378039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-1014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271657" y="3791363"/>
            <a:ext cx="614411" cy="155709"/>
          </a:xfrm>
          <a:prstGeom prst="rect">
            <a:avLst/>
          </a:prstGeom>
          <a:solidFill>
            <a:srgbClr val="D48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260685" y="378039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-1005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3908014" y="3791363"/>
            <a:ext cx="614411" cy="155709"/>
          </a:xfrm>
          <a:prstGeom prst="rect">
            <a:avLst/>
          </a:prstGeom>
          <a:solidFill>
            <a:srgbClr val="D69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3897042" y="378039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-930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4544372" y="3791363"/>
            <a:ext cx="614411" cy="155709"/>
          </a:xfrm>
          <a:prstGeom prst="rect">
            <a:avLst/>
          </a:prstGeom>
          <a:solidFill>
            <a:srgbClr val="E4B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4533399" y="378039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-423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5180729" y="3791363"/>
            <a:ext cx="614411" cy="155709"/>
          </a:xfrm>
          <a:prstGeom prst="rect">
            <a:avLst/>
          </a:prstGeom>
          <a:solidFill>
            <a:srgbClr val="E6C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5169756" y="378039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-347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5817086" y="3791363"/>
            <a:ext cx="614411" cy="155709"/>
          </a:xfrm>
          <a:prstGeom prst="rect">
            <a:avLst/>
          </a:prstGeom>
          <a:solidFill>
            <a:srgbClr val="E8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5806113" y="378039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-296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6453443" y="3791363"/>
            <a:ext cx="614411" cy="155709"/>
          </a:xfrm>
          <a:prstGeom prst="rect">
            <a:avLst/>
          </a:prstGeom>
          <a:solidFill>
            <a:srgbClr val="EED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6442470" y="378039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-145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7089800" y="3791363"/>
            <a:ext cx="614411" cy="155709"/>
          </a:xfrm>
          <a:prstGeom prst="rect">
            <a:avLst/>
          </a:prstGeom>
          <a:solidFill>
            <a:srgbClr val="F3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7078827" y="378039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-44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7726157" y="3791363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8362514" y="3791363"/>
            <a:ext cx="614411" cy="155709"/>
          </a:xfrm>
          <a:prstGeom prst="rect">
            <a:avLst/>
          </a:prstGeom>
          <a:solidFill>
            <a:srgbClr val="CD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TextBox 262"/>
          <p:cNvSpPr txBox="1"/>
          <p:nvPr/>
        </p:nvSpPr>
        <p:spPr>
          <a:xfrm>
            <a:off x="8351541" y="378039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+208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8998871" y="3791363"/>
            <a:ext cx="614411" cy="155709"/>
          </a:xfrm>
          <a:prstGeom prst="rect">
            <a:avLst/>
          </a:prstGeom>
          <a:solidFill>
            <a:srgbClr val="C8E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8987898" y="378039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+244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9635228" y="3791363"/>
            <a:ext cx="614411" cy="155709"/>
          </a:xfrm>
          <a:prstGeom prst="rect">
            <a:avLst/>
          </a:prstGeom>
          <a:solidFill>
            <a:srgbClr val="B3D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9624255" y="378039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+413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10271585" y="3791363"/>
            <a:ext cx="614411" cy="155709"/>
          </a:xfrm>
          <a:prstGeom prst="rect">
            <a:avLst/>
          </a:prstGeom>
          <a:solidFill>
            <a:srgbClr val="A5D1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10260613" y="378039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+542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10907942" y="3791363"/>
            <a:ext cx="614411" cy="155709"/>
          </a:xfrm>
          <a:prstGeom prst="rect">
            <a:avLst/>
          </a:prstGeom>
          <a:solidFill>
            <a:srgbClr val="7FC0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10896970" y="378039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+940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704088" y="3958045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10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273" name="Rectangle 272"/>
          <p:cNvSpPr/>
          <p:nvPr/>
        </p:nvSpPr>
        <p:spPr>
          <a:xfrm>
            <a:off x="2635300" y="3969018"/>
            <a:ext cx="614411" cy="155709"/>
          </a:xfrm>
          <a:prstGeom prst="rect">
            <a:avLst/>
          </a:prstGeom>
          <a:solidFill>
            <a:srgbClr val="CF7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2624328" y="395804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-1222</a:t>
            </a:r>
          </a:p>
        </p:txBody>
      </p:sp>
      <p:sp>
        <p:nvSpPr>
          <p:cNvPr id="275" name="Rectangle 274"/>
          <p:cNvSpPr/>
          <p:nvPr/>
        </p:nvSpPr>
        <p:spPr>
          <a:xfrm>
            <a:off x="3271657" y="3969018"/>
            <a:ext cx="614411" cy="155709"/>
          </a:xfrm>
          <a:prstGeom prst="rect">
            <a:avLst/>
          </a:prstGeom>
          <a:solidFill>
            <a:srgbClr val="CF7F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3260685" y="395804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-1213</a:t>
            </a:r>
          </a:p>
        </p:txBody>
      </p:sp>
      <p:sp>
        <p:nvSpPr>
          <p:cNvPr id="277" name="Rectangle 276"/>
          <p:cNvSpPr/>
          <p:nvPr/>
        </p:nvSpPr>
        <p:spPr>
          <a:xfrm>
            <a:off x="3908014" y="3969018"/>
            <a:ext cx="614411" cy="155709"/>
          </a:xfrm>
          <a:prstGeom prst="rect">
            <a:avLst/>
          </a:prstGeom>
          <a:solidFill>
            <a:srgbClr val="D18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TextBox 277"/>
          <p:cNvSpPr txBox="1"/>
          <p:nvPr/>
        </p:nvSpPr>
        <p:spPr>
          <a:xfrm>
            <a:off x="3897042" y="395804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-1138</a:t>
            </a:r>
          </a:p>
        </p:txBody>
      </p:sp>
      <p:sp>
        <p:nvSpPr>
          <p:cNvPr id="279" name="Rectangle 278"/>
          <p:cNvSpPr/>
          <p:nvPr/>
        </p:nvSpPr>
        <p:spPr>
          <a:xfrm>
            <a:off x="4544372" y="3969018"/>
            <a:ext cx="614411" cy="155709"/>
          </a:xfrm>
          <a:prstGeom prst="rect">
            <a:avLst/>
          </a:prstGeom>
          <a:solidFill>
            <a:srgbClr val="DEA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4533399" y="395804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-631</a:t>
            </a:r>
          </a:p>
        </p:txBody>
      </p:sp>
      <p:sp>
        <p:nvSpPr>
          <p:cNvPr id="281" name="Rectangle 280"/>
          <p:cNvSpPr/>
          <p:nvPr/>
        </p:nvSpPr>
        <p:spPr>
          <a:xfrm>
            <a:off x="5180729" y="3969018"/>
            <a:ext cx="614411" cy="155709"/>
          </a:xfrm>
          <a:prstGeom prst="rect">
            <a:avLst/>
          </a:prstGeom>
          <a:solidFill>
            <a:srgbClr val="E0B1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TextBox 281"/>
          <p:cNvSpPr txBox="1"/>
          <p:nvPr/>
        </p:nvSpPr>
        <p:spPr>
          <a:xfrm>
            <a:off x="5169756" y="395804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-555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5817086" y="3969018"/>
            <a:ext cx="614411" cy="155709"/>
          </a:xfrm>
          <a:prstGeom prst="rect">
            <a:avLst/>
          </a:prstGeom>
          <a:solidFill>
            <a:srgbClr val="E1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TextBox 283"/>
          <p:cNvSpPr txBox="1"/>
          <p:nvPr/>
        </p:nvSpPr>
        <p:spPr>
          <a:xfrm>
            <a:off x="5806113" y="395804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-504</a:t>
            </a:r>
          </a:p>
        </p:txBody>
      </p:sp>
      <p:sp>
        <p:nvSpPr>
          <p:cNvPr id="285" name="Rectangle 284"/>
          <p:cNvSpPr/>
          <p:nvPr/>
        </p:nvSpPr>
        <p:spPr>
          <a:xfrm>
            <a:off x="6453443" y="3969018"/>
            <a:ext cx="614411" cy="155709"/>
          </a:xfrm>
          <a:prstGeom prst="rect">
            <a:avLst/>
          </a:prstGeom>
          <a:solidFill>
            <a:srgbClr val="E6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TextBox 285"/>
          <p:cNvSpPr txBox="1"/>
          <p:nvPr/>
        </p:nvSpPr>
        <p:spPr>
          <a:xfrm>
            <a:off x="6442470" y="395804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-353</a:t>
            </a:r>
          </a:p>
        </p:txBody>
      </p:sp>
      <p:sp>
        <p:nvSpPr>
          <p:cNvPr id="287" name="Rectangle 286"/>
          <p:cNvSpPr/>
          <p:nvPr/>
        </p:nvSpPr>
        <p:spPr>
          <a:xfrm>
            <a:off x="7089800" y="3969018"/>
            <a:ext cx="614411" cy="155709"/>
          </a:xfrm>
          <a:prstGeom prst="rect">
            <a:avLst/>
          </a:prstGeom>
          <a:solidFill>
            <a:srgbClr val="E9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7078827" y="395804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-252</a:t>
            </a:r>
          </a:p>
        </p:txBody>
      </p:sp>
      <p:sp>
        <p:nvSpPr>
          <p:cNvPr id="289" name="Rectangle 288"/>
          <p:cNvSpPr/>
          <p:nvPr/>
        </p:nvSpPr>
        <p:spPr>
          <a:xfrm>
            <a:off x="7726157" y="3969018"/>
            <a:ext cx="614411" cy="155709"/>
          </a:xfrm>
          <a:prstGeom prst="rect">
            <a:avLst/>
          </a:prstGeom>
          <a:solidFill>
            <a:srgbClr val="EBD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7715184" y="395804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-208</a:t>
            </a:r>
          </a:p>
        </p:txBody>
      </p:sp>
      <p:sp>
        <p:nvSpPr>
          <p:cNvPr id="291" name="Rectangle 290"/>
          <p:cNvSpPr/>
          <p:nvPr/>
        </p:nvSpPr>
        <p:spPr>
          <a:xfrm>
            <a:off x="8362514" y="3969018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8998871" y="3969018"/>
            <a:ext cx="614411" cy="155709"/>
          </a:xfrm>
          <a:prstGeom prst="rect">
            <a:avLst/>
          </a:prstGeom>
          <a:solidFill>
            <a:srgbClr val="EA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TextBox 292"/>
          <p:cNvSpPr txBox="1"/>
          <p:nvPr/>
        </p:nvSpPr>
        <p:spPr>
          <a:xfrm>
            <a:off x="8987898" y="395804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+36</a:t>
            </a:r>
          </a:p>
        </p:txBody>
      </p:sp>
      <p:sp>
        <p:nvSpPr>
          <p:cNvPr id="294" name="Rectangle 293"/>
          <p:cNvSpPr/>
          <p:nvPr/>
        </p:nvSpPr>
        <p:spPr>
          <a:xfrm>
            <a:off x="9635228" y="3969018"/>
            <a:ext cx="614411" cy="155709"/>
          </a:xfrm>
          <a:prstGeom prst="rect">
            <a:avLst/>
          </a:prstGeom>
          <a:solidFill>
            <a:srgbClr val="C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TextBox 294"/>
          <p:cNvSpPr txBox="1"/>
          <p:nvPr/>
        </p:nvSpPr>
        <p:spPr>
          <a:xfrm>
            <a:off x="9624255" y="395804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+205</a:t>
            </a:r>
          </a:p>
        </p:txBody>
      </p:sp>
      <p:sp>
        <p:nvSpPr>
          <p:cNvPr id="296" name="Rectangle 295"/>
          <p:cNvSpPr/>
          <p:nvPr/>
        </p:nvSpPr>
        <p:spPr>
          <a:xfrm>
            <a:off x="10271585" y="3969018"/>
            <a:ext cx="614411" cy="155709"/>
          </a:xfrm>
          <a:prstGeom prst="rect">
            <a:avLst/>
          </a:prstGeom>
          <a:solidFill>
            <a:srgbClr val="BCD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TextBox 296"/>
          <p:cNvSpPr txBox="1"/>
          <p:nvPr/>
        </p:nvSpPr>
        <p:spPr>
          <a:xfrm>
            <a:off x="10260613" y="395804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+334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10907942" y="3969018"/>
            <a:ext cx="614411" cy="155709"/>
          </a:xfrm>
          <a:prstGeom prst="rect">
            <a:avLst/>
          </a:prstGeom>
          <a:solidFill>
            <a:srgbClr val="92C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TextBox 298"/>
          <p:cNvSpPr txBox="1"/>
          <p:nvPr/>
        </p:nvSpPr>
        <p:spPr>
          <a:xfrm>
            <a:off x="10896970" y="395804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+732</a:t>
            </a:r>
          </a:p>
        </p:txBody>
      </p:sp>
      <p:sp>
        <p:nvSpPr>
          <p:cNvPr id="300" name="Rectangle 299"/>
          <p:cNvSpPr/>
          <p:nvPr/>
        </p:nvSpPr>
        <p:spPr>
          <a:xfrm>
            <a:off x="658368" y="4143015"/>
            <a:ext cx="1920240" cy="163024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TextBox 300"/>
          <p:cNvSpPr txBox="1"/>
          <p:nvPr/>
        </p:nvSpPr>
        <p:spPr>
          <a:xfrm>
            <a:off x="704088" y="4135700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11  </a:t>
            </a:r>
            <a:r>
              <a:rPr sz="8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302" name="Rectangle 301"/>
          <p:cNvSpPr/>
          <p:nvPr/>
        </p:nvSpPr>
        <p:spPr>
          <a:xfrm>
            <a:off x="2635300" y="4146673"/>
            <a:ext cx="614411" cy="155709"/>
          </a:xfrm>
          <a:prstGeom prst="rect">
            <a:avLst/>
          </a:prstGeom>
          <a:solidFill>
            <a:srgbClr val="CE7C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TextBox 302"/>
          <p:cNvSpPr txBox="1"/>
          <p:nvPr/>
        </p:nvSpPr>
        <p:spPr>
          <a:xfrm>
            <a:off x="2624328" y="413570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-1258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3271657" y="4146673"/>
            <a:ext cx="614411" cy="155709"/>
          </a:xfrm>
          <a:prstGeom prst="rect">
            <a:avLst/>
          </a:prstGeom>
          <a:solidFill>
            <a:srgbClr val="CE7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TextBox 304"/>
          <p:cNvSpPr txBox="1"/>
          <p:nvPr/>
        </p:nvSpPr>
        <p:spPr>
          <a:xfrm>
            <a:off x="3260685" y="413570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-1249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3908014" y="4146673"/>
            <a:ext cx="614411" cy="155709"/>
          </a:xfrm>
          <a:prstGeom prst="rect">
            <a:avLst/>
          </a:prstGeom>
          <a:solidFill>
            <a:srgbClr val="D08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TextBox 306"/>
          <p:cNvSpPr txBox="1"/>
          <p:nvPr/>
        </p:nvSpPr>
        <p:spPr>
          <a:xfrm>
            <a:off x="3897042" y="413570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-1174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544372" y="4146673"/>
            <a:ext cx="614411" cy="155709"/>
          </a:xfrm>
          <a:prstGeom prst="rect">
            <a:avLst/>
          </a:prstGeom>
          <a:solidFill>
            <a:srgbClr val="DDA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TextBox 308"/>
          <p:cNvSpPr txBox="1"/>
          <p:nvPr/>
        </p:nvSpPr>
        <p:spPr>
          <a:xfrm>
            <a:off x="4533399" y="413570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-667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5180729" y="4146673"/>
            <a:ext cx="614411" cy="155709"/>
          </a:xfrm>
          <a:prstGeom prst="rect">
            <a:avLst/>
          </a:prstGeom>
          <a:solidFill>
            <a:srgbClr val="DFA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TextBox 310"/>
          <p:cNvSpPr txBox="1"/>
          <p:nvPr/>
        </p:nvSpPr>
        <p:spPr>
          <a:xfrm>
            <a:off x="5169756" y="413570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-591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5817086" y="4146673"/>
            <a:ext cx="614411" cy="155709"/>
          </a:xfrm>
          <a:prstGeom prst="rect">
            <a:avLst/>
          </a:prstGeom>
          <a:solidFill>
            <a:srgbClr val="E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TextBox 312"/>
          <p:cNvSpPr txBox="1"/>
          <p:nvPr/>
        </p:nvSpPr>
        <p:spPr>
          <a:xfrm>
            <a:off x="5806113" y="413570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-540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6453443" y="4146673"/>
            <a:ext cx="614411" cy="155709"/>
          </a:xfrm>
          <a:prstGeom prst="rect">
            <a:avLst/>
          </a:prstGeom>
          <a:solidFill>
            <a:srgbClr val="E5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TextBox 314"/>
          <p:cNvSpPr txBox="1"/>
          <p:nvPr/>
        </p:nvSpPr>
        <p:spPr>
          <a:xfrm>
            <a:off x="6442470" y="413570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-389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089800" y="4146673"/>
            <a:ext cx="614411" cy="155709"/>
          </a:xfrm>
          <a:prstGeom prst="rect">
            <a:avLst/>
          </a:prstGeom>
          <a:solidFill>
            <a:srgbClr val="E8CA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TextBox 316"/>
          <p:cNvSpPr txBox="1"/>
          <p:nvPr/>
        </p:nvSpPr>
        <p:spPr>
          <a:xfrm>
            <a:off x="7078827" y="413570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-288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7726157" y="4146673"/>
            <a:ext cx="614411" cy="155709"/>
          </a:xfrm>
          <a:prstGeom prst="rect">
            <a:avLst/>
          </a:prstGeom>
          <a:solidFill>
            <a:srgbClr val="EA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TextBox 318"/>
          <p:cNvSpPr txBox="1"/>
          <p:nvPr/>
        </p:nvSpPr>
        <p:spPr>
          <a:xfrm>
            <a:off x="7715184" y="413570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-244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8362514" y="4146673"/>
            <a:ext cx="614411" cy="155709"/>
          </a:xfrm>
          <a:prstGeom prst="rect">
            <a:avLst/>
          </a:prstGeom>
          <a:solidFill>
            <a:srgbClr val="F3E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TextBox 320"/>
          <p:cNvSpPr txBox="1"/>
          <p:nvPr/>
        </p:nvSpPr>
        <p:spPr>
          <a:xfrm>
            <a:off x="8351541" y="413570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-36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8998871" y="4146673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9635228" y="4146673"/>
            <a:ext cx="614411" cy="155709"/>
          </a:xfrm>
          <a:prstGeom prst="rect">
            <a:avLst/>
          </a:prstGeom>
          <a:solidFill>
            <a:srgbClr val="D3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TextBox 323"/>
          <p:cNvSpPr txBox="1"/>
          <p:nvPr/>
        </p:nvSpPr>
        <p:spPr>
          <a:xfrm>
            <a:off x="9624255" y="413570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+169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10271585" y="4146673"/>
            <a:ext cx="614411" cy="155709"/>
          </a:xfrm>
          <a:prstGeom prst="rect">
            <a:avLst/>
          </a:prstGeom>
          <a:solidFill>
            <a:srgbClr val="C1DD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TextBox 325"/>
          <p:cNvSpPr txBox="1"/>
          <p:nvPr/>
        </p:nvSpPr>
        <p:spPr>
          <a:xfrm>
            <a:off x="10260613" y="413570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+298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10907942" y="4146673"/>
            <a:ext cx="614411" cy="155709"/>
          </a:xfrm>
          <a:prstGeom prst="rect">
            <a:avLst/>
          </a:prstGeom>
          <a:solidFill>
            <a:srgbClr val="95C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TextBox 327"/>
          <p:cNvSpPr txBox="1"/>
          <p:nvPr/>
        </p:nvSpPr>
        <p:spPr>
          <a:xfrm>
            <a:off x="10896970" y="413570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+696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704088" y="4313355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12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Ayres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2635300" y="4324328"/>
            <a:ext cx="614411" cy="155709"/>
          </a:xfrm>
          <a:prstGeom prst="rect">
            <a:avLst/>
          </a:prstGeom>
          <a:solidFill>
            <a:srgbClr val="CA7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TextBox 330"/>
          <p:cNvSpPr txBox="1"/>
          <p:nvPr/>
        </p:nvSpPr>
        <p:spPr>
          <a:xfrm>
            <a:off x="2624328" y="431335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-1427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3271657" y="4324328"/>
            <a:ext cx="614411" cy="155709"/>
          </a:xfrm>
          <a:prstGeom prst="rect">
            <a:avLst/>
          </a:prstGeom>
          <a:solidFill>
            <a:srgbClr val="CB72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3260685" y="431335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-1417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3908014" y="4324328"/>
            <a:ext cx="614411" cy="155709"/>
          </a:xfrm>
          <a:prstGeom prst="rect">
            <a:avLst/>
          </a:prstGeom>
          <a:solidFill>
            <a:srgbClr val="CC7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TextBox 334"/>
          <p:cNvSpPr txBox="1"/>
          <p:nvPr/>
        </p:nvSpPr>
        <p:spPr>
          <a:xfrm>
            <a:off x="3897042" y="431335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-1343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544372" y="4324328"/>
            <a:ext cx="614411" cy="155709"/>
          </a:xfrm>
          <a:prstGeom prst="rect">
            <a:avLst/>
          </a:prstGeom>
          <a:solidFill>
            <a:srgbClr val="D89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TextBox 336"/>
          <p:cNvSpPr txBox="1"/>
          <p:nvPr/>
        </p:nvSpPr>
        <p:spPr>
          <a:xfrm>
            <a:off x="4533399" y="431335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-836</a:t>
            </a:r>
          </a:p>
        </p:txBody>
      </p:sp>
      <p:sp>
        <p:nvSpPr>
          <p:cNvPr id="338" name="Rectangle 337"/>
          <p:cNvSpPr/>
          <p:nvPr/>
        </p:nvSpPr>
        <p:spPr>
          <a:xfrm>
            <a:off x="5180729" y="4324328"/>
            <a:ext cx="614411" cy="155709"/>
          </a:xfrm>
          <a:prstGeom prst="rect">
            <a:avLst/>
          </a:prstGeom>
          <a:solidFill>
            <a:srgbClr val="DAA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TextBox 338"/>
          <p:cNvSpPr txBox="1"/>
          <p:nvPr/>
        </p:nvSpPr>
        <p:spPr>
          <a:xfrm>
            <a:off x="5169756" y="431335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-760</a:t>
            </a:r>
          </a:p>
        </p:txBody>
      </p:sp>
      <p:sp>
        <p:nvSpPr>
          <p:cNvPr id="340" name="Rectangle 339"/>
          <p:cNvSpPr/>
          <p:nvPr/>
        </p:nvSpPr>
        <p:spPr>
          <a:xfrm>
            <a:off x="5817086" y="4324328"/>
            <a:ext cx="614411" cy="155709"/>
          </a:xfrm>
          <a:prstGeom prst="rect">
            <a:avLst/>
          </a:prstGeom>
          <a:solidFill>
            <a:srgbClr val="DBA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TextBox 340"/>
          <p:cNvSpPr txBox="1"/>
          <p:nvPr/>
        </p:nvSpPr>
        <p:spPr>
          <a:xfrm>
            <a:off x="5806113" y="431335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-709</a:t>
            </a:r>
          </a:p>
        </p:txBody>
      </p:sp>
      <p:sp>
        <p:nvSpPr>
          <p:cNvPr id="342" name="Rectangle 341"/>
          <p:cNvSpPr/>
          <p:nvPr/>
        </p:nvSpPr>
        <p:spPr>
          <a:xfrm>
            <a:off x="6453443" y="4324328"/>
            <a:ext cx="614411" cy="155709"/>
          </a:xfrm>
          <a:prstGeom prst="rect">
            <a:avLst/>
          </a:prstGeom>
          <a:solidFill>
            <a:srgbClr val="E0B0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TextBox 342"/>
          <p:cNvSpPr txBox="1"/>
          <p:nvPr/>
        </p:nvSpPr>
        <p:spPr>
          <a:xfrm>
            <a:off x="6442470" y="431335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-558</a:t>
            </a:r>
          </a:p>
        </p:txBody>
      </p:sp>
      <p:sp>
        <p:nvSpPr>
          <p:cNvPr id="344" name="Rectangle 343"/>
          <p:cNvSpPr/>
          <p:nvPr/>
        </p:nvSpPr>
        <p:spPr>
          <a:xfrm>
            <a:off x="7089800" y="4324328"/>
            <a:ext cx="614411" cy="155709"/>
          </a:xfrm>
          <a:prstGeom prst="rect">
            <a:avLst/>
          </a:prstGeom>
          <a:solidFill>
            <a:srgbClr val="E3B9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TextBox 344"/>
          <p:cNvSpPr txBox="1"/>
          <p:nvPr/>
        </p:nvSpPr>
        <p:spPr>
          <a:xfrm>
            <a:off x="7078827" y="431335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-457</a:t>
            </a:r>
          </a:p>
        </p:txBody>
      </p:sp>
      <p:sp>
        <p:nvSpPr>
          <p:cNvPr id="346" name="Rectangle 345"/>
          <p:cNvSpPr/>
          <p:nvPr/>
        </p:nvSpPr>
        <p:spPr>
          <a:xfrm>
            <a:off x="7726157" y="4324328"/>
            <a:ext cx="614411" cy="155709"/>
          </a:xfrm>
          <a:prstGeom prst="rect">
            <a:avLst/>
          </a:prstGeom>
          <a:solidFill>
            <a:srgbClr val="E4B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TextBox 346"/>
          <p:cNvSpPr txBox="1"/>
          <p:nvPr/>
        </p:nvSpPr>
        <p:spPr>
          <a:xfrm>
            <a:off x="7715184" y="431335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-413</a:t>
            </a:r>
          </a:p>
        </p:txBody>
      </p:sp>
      <p:sp>
        <p:nvSpPr>
          <p:cNvPr id="348" name="Rectangle 347"/>
          <p:cNvSpPr/>
          <p:nvPr/>
        </p:nvSpPr>
        <p:spPr>
          <a:xfrm>
            <a:off x="8362514" y="4324328"/>
            <a:ext cx="614411" cy="155709"/>
          </a:xfrm>
          <a:prstGeom prst="rect">
            <a:avLst/>
          </a:prstGeom>
          <a:solidFill>
            <a:srgbClr val="EBD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TextBox 348"/>
          <p:cNvSpPr txBox="1"/>
          <p:nvPr/>
        </p:nvSpPr>
        <p:spPr>
          <a:xfrm>
            <a:off x="8351541" y="431335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-205</a:t>
            </a:r>
          </a:p>
        </p:txBody>
      </p:sp>
      <p:sp>
        <p:nvSpPr>
          <p:cNvPr id="350" name="Rectangle 349"/>
          <p:cNvSpPr/>
          <p:nvPr/>
        </p:nvSpPr>
        <p:spPr>
          <a:xfrm>
            <a:off x="8998871" y="4324328"/>
            <a:ext cx="614411" cy="155709"/>
          </a:xfrm>
          <a:prstGeom prst="rect">
            <a:avLst/>
          </a:prstGeom>
          <a:solidFill>
            <a:srgbClr val="EDD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TextBox 350"/>
          <p:cNvSpPr txBox="1"/>
          <p:nvPr/>
        </p:nvSpPr>
        <p:spPr>
          <a:xfrm>
            <a:off x="8987898" y="431335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-169</a:t>
            </a:r>
          </a:p>
        </p:txBody>
      </p:sp>
      <p:sp>
        <p:nvSpPr>
          <p:cNvPr id="352" name="Rectangle 351"/>
          <p:cNvSpPr/>
          <p:nvPr/>
        </p:nvSpPr>
        <p:spPr>
          <a:xfrm>
            <a:off x="9635228" y="4324328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0271585" y="4324328"/>
            <a:ext cx="614411" cy="155709"/>
          </a:xfrm>
          <a:prstGeom prst="rect">
            <a:avLst/>
          </a:prstGeom>
          <a:solidFill>
            <a:srgbClr val="D9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10260613" y="431335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+130</a:t>
            </a:r>
          </a:p>
        </p:txBody>
      </p:sp>
      <p:sp>
        <p:nvSpPr>
          <p:cNvPr id="355" name="Rectangle 354"/>
          <p:cNvSpPr/>
          <p:nvPr/>
        </p:nvSpPr>
        <p:spPr>
          <a:xfrm>
            <a:off x="10907942" y="4324328"/>
            <a:ext cx="614411" cy="155709"/>
          </a:xfrm>
          <a:prstGeom prst="rect">
            <a:avLst/>
          </a:prstGeom>
          <a:solidFill>
            <a:srgbClr val="A7D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10896970" y="431335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+527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704088" y="4491010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13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Colina Norte</a:t>
            </a:r>
          </a:p>
        </p:txBody>
      </p:sp>
      <p:sp>
        <p:nvSpPr>
          <p:cNvPr id="358" name="Rectangle 357"/>
          <p:cNvSpPr/>
          <p:nvPr/>
        </p:nvSpPr>
        <p:spPr>
          <a:xfrm>
            <a:off x="2635300" y="4501983"/>
            <a:ext cx="614411" cy="155709"/>
          </a:xfrm>
          <a:prstGeom prst="rect">
            <a:avLst/>
          </a:prstGeom>
          <a:solidFill>
            <a:srgbClr val="C86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TextBox 358"/>
          <p:cNvSpPr txBox="1"/>
          <p:nvPr/>
        </p:nvSpPr>
        <p:spPr>
          <a:xfrm>
            <a:off x="2624328" y="449101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-1557</a:t>
            </a:r>
          </a:p>
        </p:txBody>
      </p:sp>
      <p:sp>
        <p:nvSpPr>
          <p:cNvPr id="360" name="Rectangle 359"/>
          <p:cNvSpPr/>
          <p:nvPr/>
        </p:nvSpPr>
        <p:spPr>
          <a:xfrm>
            <a:off x="3271657" y="4501983"/>
            <a:ext cx="614411" cy="155709"/>
          </a:xfrm>
          <a:prstGeom prst="rect">
            <a:avLst/>
          </a:prstGeom>
          <a:solidFill>
            <a:srgbClr val="C86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TextBox 360"/>
          <p:cNvSpPr txBox="1"/>
          <p:nvPr/>
        </p:nvSpPr>
        <p:spPr>
          <a:xfrm>
            <a:off x="3260685" y="449101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-1547</a:t>
            </a:r>
          </a:p>
        </p:txBody>
      </p:sp>
      <p:sp>
        <p:nvSpPr>
          <p:cNvPr id="362" name="Rectangle 361"/>
          <p:cNvSpPr/>
          <p:nvPr/>
        </p:nvSpPr>
        <p:spPr>
          <a:xfrm>
            <a:off x="3908014" y="4501983"/>
            <a:ext cx="614411" cy="155709"/>
          </a:xfrm>
          <a:prstGeom prst="rect">
            <a:avLst/>
          </a:prstGeom>
          <a:solidFill>
            <a:srgbClr val="C96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TextBox 362"/>
          <p:cNvSpPr txBox="1"/>
          <p:nvPr/>
        </p:nvSpPr>
        <p:spPr>
          <a:xfrm>
            <a:off x="3897042" y="449101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-1472</a:t>
            </a:r>
          </a:p>
        </p:txBody>
      </p:sp>
      <p:sp>
        <p:nvSpPr>
          <p:cNvPr id="364" name="Rectangle 363"/>
          <p:cNvSpPr/>
          <p:nvPr/>
        </p:nvSpPr>
        <p:spPr>
          <a:xfrm>
            <a:off x="4544372" y="4501983"/>
            <a:ext cx="614411" cy="155709"/>
          </a:xfrm>
          <a:prstGeom prst="rect">
            <a:avLst/>
          </a:prstGeom>
          <a:solidFill>
            <a:srgbClr val="D59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TextBox 364"/>
          <p:cNvSpPr txBox="1"/>
          <p:nvPr/>
        </p:nvSpPr>
        <p:spPr>
          <a:xfrm>
            <a:off x="4533399" y="449101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-965</a:t>
            </a:r>
          </a:p>
        </p:txBody>
      </p:sp>
      <p:sp>
        <p:nvSpPr>
          <p:cNvPr id="366" name="Rectangle 365"/>
          <p:cNvSpPr/>
          <p:nvPr/>
        </p:nvSpPr>
        <p:spPr>
          <a:xfrm>
            <a:off x="5180729" y="4501983"/>
            <a:ext cx="614411" cy="155709"/>
          </a:xfrm>
          <a:prstGeom prst="rect">
            <a:avLst/>
          </a:prstGeom>
          <a:solidFill>
            <a:srgbClr val="D796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TextBox 366"/>
          <p:cNvSpPr txBox="1"/>
          <p:nvPr/>
        </p:nvSpPr>
        <p:spPr>
          <a:xfrm>
            <a:off x="5169756" y="449101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-889</a:t>
            </a:r>
          </a:p>
        </p:txBody>
      </p:sp>
      <p:sp>
        <p:nvSpPr>
          <p:cNvPr id="368" name="Rectangle 367"/>
          <p:cNvSpPr/>
          <p:nvPr/>
        </p:nvSpPr>
        <p:spPr>
          <a:xfrm>
            <a:off x="5817086" y="4501983"/>
            <a:ext cx="614411" cy="155709"/>
          </a:xfrm>
          <a:prstGeom prst="rect">
            <a:avLst/>
          </a:prstGeom>
          <a:solidFill>
            <a:srgbClr val="D89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TextBox 368"/>
          <p:cNvSpPr txBox="1"/>
          <p:nvPr/>
        </p:nvSpPr>
        <p:spPr>
          <a:xfrm>
            <a:off x="5806113" y="449101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-838</a:t>
            </a:r>
          </a:p>
        </p:txBody>
      </p:sp>
      <p:sp>
        <p:nvSpPr>
          <p:cNvPr id="370" name="Rectangle 369"/>
          <p:cNvSpPr/>
          <p:nvPr/>
        </p:nvSpPr>
        <p:spPr>
          <a:xfrm>
            <a:off x="6453443" y="4501983"/>
            <a:ext cx="614411" cy="155709"/>
          </a:xfrm>
          <a:prstGeom prst="rect">
            <a:avLst/>
          </a:prstGeom>
          <a:solidFill>
            <a:srgbClr val="DCA6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TextBox 370"/>
          <p:cNvSpPr txBox="1"/>
          <p:nvPr/>
        </p:nvSpPr>
        <p:spPr>
          <a:xfrm>
            <a:off x="6442470" y="449101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-688</a:t>
            </a:r>
          </a:p>
        </p:txBody>
      </p:sp>
      <p:sp>
        <p:nvSpPr>
          <p:cNvPr id="372" name="Rectangle 371"/>
          <p:cNvSpPr/>
          <p:nvPr/>
        </p:nvSpPr>
        <p:spPr>
          <a:xfrm>
            <a:off x="7089800" y="4501983"/>
            <a:ext cx="614411" cy="155709"/>
          </a:xfrm>
          <a:prstGeom prst="rect">
            <a:avLst/>
          </a:prstGeom>
          <a:solidFill>
            <a:srgbClr val="DFA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TextBox 372"/>
          <p:cNvSpPr txBox="1"/>
          <p:nvPr/>
        </p:nvSpPr>
        <p:spPr>
          <a:xfrm>
            <a:off x="7078827" y="449101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-587</a:t>
            </a:r>
          </a:p>
        </p:txBody>
      </p:sp>
      <p:sp>
        <p:nvSpPr>
          <p:cNvPr id="374" name="Rectangle 373"/>
          <p:cNvSpPr/>
          <p:nvPr/>
        </p:nvSpPr>
        <p:spPr>
          <a:xfrm>
            <a:off x="7726157" y="4501983"/>
            <a:ext cx="614411" cy="155709"/>
          </a:xfrm>
          <a:prstGeom prst="rect">
            <a:avLst/>
          </a:prstGeom>
          <a:solidFill>
            <a:srgbClr val="E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TextBox 374"/>
          <p:cNvSpPr txBox="1"/>
          <p:nvPr/>
        </p:nvSpPr>
        <p:spPr>
          <a:xfrm>
            <a:off x="7715184" y="449101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-542</a:t>
            </a:r>
          </a:p>
        </p:txBody>
      </p:sp>
      <p:sp>
        <p:nvSpPr>
          <p:cNvPr id="376" name="Rectangle 375"/>
          <p:cNvSpPr/>
          <p:nvPr/>
        </p:nvSpPr>
        <p:spPr>
          <a:xfrm>
            <a:off x="8362514" y="4501983"/>
            <a:ext cx="614411" cy="155709"/>
          </a:xfrm>
          <a:prstGeom prst="rect">
            <a:avLst/>
          </a:prstGeom>
          <a:solidFill>
            <a:srgbClr val="E7C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TextBox 376"/>
          <p:cNvSpPr txBox="1"/>
          <p:nvPr/>
        </p:nvSpPr>
        <p:spPr>
          <a:xfrm>
            <a:off x="8351541" y="449101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-334</a:t>
            </a:r>
          </a:p>
        </p:txBody>
      </p:sp>
      <p:sp>
        <p:nvSpPr>
          <p:cNvPr id="378" name="Rectangle 377"/>
          <p:cNvSpPr/>
          <p:nvPr/>
        </p:nvSpPr>
        <p:spPr>
          <a:xfrm>
            <a:off x="8998871" y="4501983"/>
            <a:ext cx="614411" cy="155709"/>
          </a:xfrm>
          <a:prstGeom prst="rect">
            <a:avLst/>
          </a:prstGeom>
          <a:solidFill>
            <a:srgbClr val="E8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TextBox 378"/>
          <p:cNvSpPr txBox="1"/>
          <p:nvPr/>
        </p:nvSpPr>
        <p:spPr>
          <a:xfrm>
            <a:off x="8987898" y="449101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-298</a:t>
            </a:r>
          </a:p>
        </p:txBody>
      </p:sp>
      <p:sp>
        <p:nvSpPr>
          <p:cNvPr id="380" name="Rectangle 379"/>
          <p:cNvSpPr/>
          <p:nvPr/>
        </p:nvSpPr>
        <p:spPr>
          <a:xfrm>
            <a:off x="9635228" y="4501983"/>
            <a:ext cx="614411" cy="155709"/>
          </a:xfrm>
          <a:prstGeom prst="rect">
            <a:avLst/>
          </a:prstGeom>
          <a:solidFill>
            <a:srgbClr val="EE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TextBox 380"/>
          <p:cNvSpPr txBox="1"/>
          <p:nvPr/>
        </p:nvSpPr>
        <p:spPr>
          <a:xfrm>
            <a:off x="9624255" y="449101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-130</a:t>
            </a:r>
          </a:p>
        </p:txBody>
      </p:sp>
      <p:sp>
        <p:nvSpPr>
          <p:cNvPr id="382" name="Rectangle 381"/>
          <p:cNvSpPr/>
          <p:nvPr/>
        </p:nvSpPr>
        <p:spPr>
          <a:xfrm>
            <a:off x="10271585" y="4501983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10907942" y="4501983"/>
            <a:ext cx="614411" cy="155709"/>
          </a:xfrm>
          <a:prstGeom prst="rect">
            <a:avLst/>
          </a:prstGeom>
          <a:solidFill>
            <a:srgbClr val="B5D8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10896970" y="449101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+398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704088" y="4668665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14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386" name="Rectangle 385"/>
          <p:cNvSpPr/>
          <p:nvPr/>
        </p:nvSpPr>
        <p:spPr>
          <a:xfrm>
            <a:off x="2635300" y="4679637"/>
            <a:ext cx="614411" cy="155709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TextBox 386"/>
          <p:cNvSpPr txBox="1"/>
          <p:nvPr/>
        </p:nvSpPr>
        <p:spPr>
          <a:xfrm>
            <a:off x="2624328" y="466866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-1954</a:t>
            </a:r>
          </a:p>
        </p:txBody>
      </p:sp>
      <p:sp>
        <p:nvSpPr>
          <p:cNvPr id="388" name="Rectangle 387"/>
          <p:cNvSpPr/>
          <p:nvPr/>
        </p:nvSpPr>
        <p:spPr>
          <a:xfrm>
            <a:off x="3271657" y="4679637"/>
            <a:ext cx="614411" cy="155709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3260685" y="466866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-1944</a:t>
            </a:r>
          </a:p>
        </p:txBody>
      </p:sp>
      <p:sp>
        <p:nvSpPr>
          <p:cNvPr id="390" name="Rectangle 389"/>
          <p:cNvSpPr/>
          <p:nvPr/>
        </p:nvSpPr>
        <p:spPr>
          <a:xfrm>
            <a:off x="3908014" y="4679637"/>
            <a:ext cx="614411" cy="155709"/>
          </a:xfrm>
          <a:prstGeom prst="rect">
            <a:avLst/>
          </a:prstGeom>
          <a:solidFill>
            <a:srgbClr val="C15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TextBox 390"/>
          <p:cNvSpPr txBox="1"/>
          <p:nvPr/>
        </p:nvSpPr>
        <p:spPr>
          <a:xfrm>
            <a:off x="3897042" y="466866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-1870</a:t>
            </a:r>
          </a:p>
        </p:txBody>
      </p:sp>
      <p:sp>
        <p:nvSpPr>
          <p:cNvPr id="392" name="Rectangle 391"/>
          <p:cNvSpPr/>
          <p:nvPr/>
        </p:nvSpPr>
        <p:spPr>
          <a:xfrm>
            <a:off x="4544372" y="4679637"/>
            <a:ext cx="614411" cy="155709"/>
          </a:xfrm>
          <a:prstGeom prst="rect">
            <a:avLst/>
          </a:prstGeom>
          <a:solidFill>
            <a:srgbClr val="CC7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TextBox 392"/>
          <p:cNvSpPr txBox="1"/>
          <p:nvPr/>
        </p:nvSpPr>
        <p:spPr>
          <a:xfrm>
            <a:off x="4533399" y="466866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-1363</a:t>
            </a:r>
          </a:p>
        </p:txBody>
      </p:sp>
      <p:sp>
        <p:nvSpPr>
          <p:cNvPr id="394" name="Rectangle 393"/>
          <p:cNvSpPr/>
          <p:nvPr/>
        </p:nvSpPr>
        <p:spPr>
          <a:xfrm>
            <a:off x="5180729" y="4679637"/>
            <a:ext cx="614411" cy="155709"/>
          </a:xfrm>
          <a:prstGeom prst="rect">
            <a:avLst/>
          </a:prstGeom>
          <a:solidFill>
            <a:srgbClr val="CD7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TextBox 394"/>
          <p:cNvSpPr txBox="1"/>
          <p:nvPr/>
        </p:nvSpPr>
        <p:spPr>
          <a:xfrm>
            <a:off x="5169756" y="466866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-1287</a:t>
            </a:r>
          </a:p>
        </p:txBody>
      </p:sp>
      <p:sp>
        <p:nvSpPr>
          <p:cNvPr id="396" name="Rectangle 395"/>
          <p:cNvSpPr/>
          <p:nvPr/>
        </p:nvSpPr>
        <p:spPr>
          <a:xfrm>
            <a:off x="5817086" y="4679637"/>
            <a:ext cx="614411" cy="155709"/>
          </a:xfrm>
          <a:prstGeom prst="rect">
            <a:avLst/>
          </a:prstGeom>
          <a:solidFill>
            <a:srgbClr val="CF7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TextBox 396"/>
          <p:cNvSpPr txBox="1"/>
          <p:nvPr/>
        </p:nvSpPr>
        <p:spPr>
          <a:xfrm>
            <a:off x="5806113" y="466866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-1236</a:t>
            </a:r>
          </a:p>
        </p:txBody>
      </p:sp>
      <p:sp>
        <p:nvSpPr>
          <p:cNvPr id="398" name="Rectangle 397"/>
          <p:cNvSpPr/>
          <p:nvPr/>
        </p:nvSpPr>
        <p:spPr>
          <a:xfrm>
            <a:off x="6453443" y="4679637"/>
            <a:ext cx="614411" cy="155709"/>
          </a:xfrm>
          <a:prstGeom prst="rect">
            <a:avLst/>
          </a:prstGeom>
          <a:solidFill>
            <a:srgbClr val="D28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TextBox 398"/>
          <p:cNvSpPr txBox="1"/>
          <p:nvPr/>
        </p:nvSpPr>
        <p:spPr>
          <a:xfrm>
            <a:off x="6442470" y="466866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-1085</a:t>
            </a:r>
          </a:p>
        </p:txBody>
      </p:sp>
      <p:sp>
        <p:nvSpPr>
          <p:cNvPr id="400" name="Rectangle 399"/>
          <p:cNvSpPr/>
          <p:nvPr/>
        </p:nvSpPr>
        <p:spPr>
          <a:xfrm>
            <a:off x="7089800" y="4679637"/>
            <a:ext cx="614411" cy="155709"/>
          </a:xfrm>
          <a:prstGeom prst="rect">
            <a:avLst/>
          </a:prstGeom>
          <a:solidFill>
            <a:srgbClr val="D4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TextBox 400"/>
          <p:cNvSpPr txBox="1"/>
          <p:nvPr/>
        </p:nvSpPr>
        <p:spPr>
          <a:xfrm>
            <a:off x="7078827" y="466866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-984</a:t>
            </a:r>
          </a:p>
        </p:txBody>
      </p:sp>
      <p:sp>
        <p:nvSpPr>
          <p:cNvPr id="402" name="Rectangle 401"/>
          <p:cNvSpPr/>
          <p:nvPr/>
        </p:nvSpPr>
        <p:spPr>
          <a:xfrm>
            <a:off x="7726157" y="4679637"/>
            <a:ext cx="614411" cy="155709"/>
          </a:xfrm>
          <a:prstGeom prst="rect">
            <a:avLst/>
          </a:prstGeom>
          <a:solidFill>
            <a:srgbClr val="D692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TextBox 402"/>
          <p:cNvSpPr txBox="1"/>
          <p:nvPr/>
        </p:nvSpPr>
        <p:spPr>
          <a:xfrm>
            <a:off x="7715184" y="466866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-940</a:t>
            </a:r>
          </a:p>
        </p:txBody>
      </p:sp>
      <p:sp>
        <p:nvSpPr>
          <p:cNvPr id="404" name="Rectangle 403"/>
          <p:cNvSpPr/>
          <p:nvPr/>
        </p:nvSpPr>
        <p:spPr>
          <a:xfrm>
            <a:off x="8362514" y="4679637"/>
            <a:ext cx="614411" cy="155709"/>
          </a:xfrm>
          <a:prstGeom prst="rect">
            <a:avLst/>
          </a:prstGeom>
          <a:solidFill>
            <a:srgbClr val="DBA2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TextBox 404"/>
          <p:cNvSpPr txBox="1"/>
          <p:nvPr/>
        </p:nvSpPr>
        <p:spPr>
          <a:xfrm>
            <a:off x="8351541" y="466866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-732</a:t>
            </a:r>
          </a:p>
        </p:txBody>
      </p:sp>
      <p:sp>
        <p:nvSpPr>
          <p:cNvPr id="406" name="Rectangle 405"/>
          <p:cNvSpPr/>
          <p:nvPr/>
        </p:nvSpPr>
        <p:spPr>
          <a:xfrm>
            <a:off x="8998871" y="4679637"/>
            <a:ext cx="614411" cy="155709"/>
          </a:xfrm>
          <a:prstGeom prst="rect">
            <a:avLst/>
          </a:prstGeom>
          <a:solidFill>
            <a:srgbClr val="DC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TextBox 406"/>
          <p:cNvSpPr txBox="1"/>
          <p:nvPr/>
        </p:nvSpPr>
        <p:spPr>
          <a:xfrm>
            <a:off x="8987898" y="466866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-696</a:t>
            </a:r>
          </a:p>
        </p:txBody>
      </p:sp>
      <p:sp>
        <p:nvSpPr>
          <p:cNvPr id="408" name="Rectangle 407"/>
          <p:cNvSpPr/>
          <p:nvPr/>
        </p:nvSpPr>
        <p:spPr>
          <a:xfrm>
            <a:off x="9635228" y="4679637"/>
            <a:ext cx="614411" cy="155709"/>
          </a:xfrm>
          <a:prstGeom prst="rect">
            <a:avLst/>
          </a:prstGeom>
          <a:solidFill>
            <a:srgbClr val="E1B3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TextBox 408"/>
          <p:cNvSpPr txBox="1"/>
          <p:nvPr/>
        </p:nvSpPr>
        <p:spPr>
          <a:xfrm>
            <a:off x="9624255" y="466866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-527</a:t>
            </a:r>
          </a:p>
        </p:txBody>
      </p:sp>
      <p:sp>
        <p:nvSpPr>
          <p:cNvPr id="410" name="Rectangle 409"/>
          <p:cNvSpPr/>
          <p:nvPr/>
        </p:nvSpPr>
        <p:spPr>
          <a:xfrm>
            <a:off x="10271585" y="4679637"/>
            <a:ext cx="614411" cy="155709"/>
          </a:xfrm>
          <a:prstGeom prst="rect">
            <a:avLst/>
          </a:prstGeom>
          <a:solidFill>
            <a:srgbClr val="E4B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TextBox 410"/>
          <p:cNvSpPr txBox="1"/>
          <p:nvPr/>
        </p:nvSpPr>
        <p:spPr>
          <a:xfrm>
            <a:off x="10260613" y="466866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-398</a:t>
            </a:r>
          </a:p>
        </p:txBody>
      </p:sp>
      <p:sp>
        <p:nvSpPr>
          <p:cNvPr id="412" name="Rectangle 411"/>
          <p:cNvSpPr/>
          <p:nvPr/>
        </p:nvSpPr>
        <p:spPr>
          <a:xfrm>
            <a:off x="10907942" y="4679637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TextBox 412"/>
          <p:cNvSpPr txBox="1"/>
          <p:nvPr/>
        </p:nvSpPr>
        <p:spPr>
          <a:xfrm>
            <a:off x="658368" y="4956048"/>
            <a:ext cx="10607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Cada celda: UF que la vivienda de la FILA justifica por sobre la de la COLUMNA (tiempo + costo de auto ahorrados). Verde = puede pedir más; rojo = debe pedir menos.</a:t>
            </a:r>
          </a:p>
        </p:txBody>
      </p:sp>
      <p:sp>
        <p:nvSpPr>
          <p:cNvPr id="414" name="Rectangle 413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Rectangle 414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TextBox 415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417" name="TextBox 416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Ser justos: manejar desde Batuco es caro, así que su sobreprecio por auto es acotado — no puede pedir más UF que Valle Grande ni Chicauma. Su ventaja real no está en esta tabla, sino en el tren.</a:t>
            </a:r>
          </a:p>
        </p:txBody>
      </p:sp>
      <p:cxnSp>
        <p:nvCxnSpPr>
          <p:cNvPr id="418" name="Connector 417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9" name="TextBox 418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11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CUÁNTO VALE · EL PREMIO DEL TREN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El tren agrega un valor que las zonas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sin estación nueva no pueden ofrecer.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865376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40">
                <a:solidFill>
                  <a:srgbClr val="6E6A64"/>
                </a:solidFill>
                <a:latin typeface="Helvetica Neue"/>
              </a:rPr>
              <a:t>UF DE MAYOR VALOR — SOLO POR EL TIEMPO QUE AHORRA EL TREN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21408"/>
            <a:ext cx="320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07D24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121408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0" y="2139696"/>
            <a:ext cx="6366967" cy="114299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20679" y="2112264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+977 UF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308860"/>
            <a:ext cx="320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308860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2327148"/>
            <a:ext cx="4881138" cy="114299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34850" y="2299716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+749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496312"/>
            <a:ext cx="320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07D24"/>
                </a:solidFill>
                <a:latin typeface="Helvetica Neue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496312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14600"/>
            <a:ext cx="4246030" cy="114299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99742" y="2487168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+652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683764"/>
            <a:ext cx="320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" y="2683764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80560" y="2702052"/>
            <a:ext cx="4116454" cy="114299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70166" y="267462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+632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2871215"/>
            <a:ext cx="320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" y="2871215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0560" y="2889503"/>
            <a:ext cx="3224848" cy="114299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8560" y="2862072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+495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3058668"/>
            <a:ext cx="320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" y="3058668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3076956"/>
            <a:ext cx="1872380" cy="114299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26092" y="3049524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+287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3246120"/>
            <a:ext cx="320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" y="3246120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1616"/>
                </a:solidFill>
                <a:latin typeface="Helvetica Neue"/>
              </a:rPr>
              <a:t>Santa Elena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80560" y="3264408"/>
            <a:ext cx="1085122" cy="114299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38834" y="3236976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+167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3433571"/>
            <a:ext cx="320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7552" y="3433571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80560" y="3451859"/>
            <a:ext cx="619249" cy="114299"/>
          </a:xfrm>
          <a:prstGeom prst="rect">
            <a:avLst/>
          </a:prstGeom>
          <a:solidFill>
            <a:srgbClr val="CFC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72961" y="3424427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+95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3621023"/>
            <a:ext cx="320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7552" y="3621023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480560" y="3639311"/>
            <a:ext cx="529974" cy="114299"/>
          </a:xfrm>
          <a:prstGeom prst="rect">
            <a:avLst/>
          </a:prstGeom>
          <a:solidFill>
            <a:srgbClr val="CFC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83686" y="3611879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+81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3808476"/>
            <a:ext cx="320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7552" y="3808476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80560" y="3826763"/>
            <a:ext cx="305245" cy="114299"/>
          </a:xfrm>
          <a:prstGeom prst="rect">
            <a:avLst/>
          </a:prstGeom>
          <a:solidFill>
            <a:srgbClr val="CFC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58957" y="3799331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+47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" y="3995928"/>
            <a:ext cx="320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7552" y="3995928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80560" y="4014215"/>
            <a:ext cx="250834" cy="114299"/>
          </a:xfrm>
          <a:prstGeom prst="rect">
            <a:avLst/>
          </a:prstGeom>
          <a:solidFill>
            <a:srgbClr val="CFC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04546" y="3986783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+39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" y="4183380"/>
            <a:ext cx="320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7552" y="4183380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1616"/>
                </a:solidFill>
                <a:latin typeface="Helvetica Neue"/>
              </a:rPr>
              <a:t>Ayres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480560" y="4201668"/>
            <a:ext cx="190406" cy="114299"/>
          </a:xfrm>
          <a:prstGeom prst="rect">
            <a:avLst/>
          </a:prstGeom>
          <a:solidFill>
            <a:srgbClr val="CFC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44118" y="4174235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+29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8368" y="4370832"/>
            <a:ext cx="320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13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87552" y="4370832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1616"/>
                </a:solidFill>
                <a:latin typeface="Helvetica Neue"/>
              </a:rPr>
              <a:t>Colina Norte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480560" y="4389120"/>
            <a:ext cx="116127" cy="114299"/>
          </a:xfrm>
          <a:prstGeom prst="rect">
            <a:avLst/>
          </a:prstGeom>
          <a:solidFill>
            <a:srgbClr val="CFC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69839" y="4361688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+18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8" y="4558284"/>
            <a:ext cx="320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7552" y="4558284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480560" y="4576572"/>
            <a:ext cx="13716" cy="114299"/>
          </a:xfrm>
          <a:prstGeom prst="rect">
            <a:avLst/>
          </a:prstGeom>
          <a:solidFill>
            <a:srgbClr val="CFC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67428" y="454914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+0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8368" y="4846320"/>
            <a:ext cx="10607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Gris = zonas sin estación nueva: su transporte público no cambia con el tren, y no capturan este ahorro.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En auto Batuco es de las más caras y su sobreprecio es acotado; el tren se lo da vuelta: le suma ~977 UF de valor —y ~652 a Estación Colina— que ninguna zona sin estación puede igualar. Ese es su argumento de precio.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12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POR TIPO DE PRODUCTO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En los segmentos donde competimos,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quedamos entre los mejores.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331720"/>
            <a:ext cx="2478709" cy="2788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331720"/>
            <a:ext cx="2478709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2514600"/>
            <a:ext cx="215866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spc="20">
                <a:solidFill>
                  <a:srgbClr val="161616"/>
                </a:solidFill>
                <a:latin typeface="Helvetica Neue"/>
              </a:rPr>
              <a:t>DS19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852928"/>
            <a:ext cx="215866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58C"/>
                </a:solidFill>
                <a:latin typeface="Helvetica Neue"/>
              </a:rPr>
              <a:t>8 zonas · ranking en auto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200400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1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3415284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2  </a:t>
            </a:r>
            <a:r>
              <a:rPr sz="95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3630168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3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Hda. Batuco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3845052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4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4059935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5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Colina·Reina 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7" y="4274820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6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7" y="4489704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7  </a:t>
            </a:r>
            <a:r>
              <a:rPr sz="95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4704588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8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57117" y="2331720"/>
            <a:ext cx="2478709" cy="2788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57117" y="2331720"/>
            <a:ext cx="2478709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9997" y="2514600"/>
            <a:ext cx="215866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spc="20">
                <a:solidFill>
                  <a:srgbClr val="161616"/>
                </a:solidFill>
                <a:latin typeface="Helvetica Neue"/>
              </a:rPr>
              <a:t>Casa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9997" y="2852928"/>
            <a:ext cx="215866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58C"/>
                </a:solidFill>
                <a:latin typeface="Helvetica Neue"/>
              </a:rPr>
              <a:t>13 zonas · ranking en auto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9997" y="3200400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1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9997" y="3415284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2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39997" y="3630168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3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Ayres Chicureo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39997" y="3845052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4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Sta Elena Chic.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39997" y="4059935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5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39997" y="4274820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6  </a:t>
            </a:r>
            <a:r>
              <a:rPr sz="95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39997" y="4489704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7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Hda. Batuco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9997" y="4704588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8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39997" y="4919472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A958C"/>
                </a:solidFill>
                <a:latin typeface="Helvetica Neue"/>
              </a:rPr>
              <a:t>+5 más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5867" y="2331720"/>
            <a:ext cx="2478709" cy="2788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55867" y="2331720"/>
            <a:ext cx="2478709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38747" y="2514600"/>
            <a:ext cx="215866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spc="20">
                <a:solidFill>
                  <a:srgbClr val="161616"/>
                </a:solidFill>
                <a:latin typeface="Helvetica Neue"/>
              </a:rPr>
              <a:t>Townhouses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38747" y="2852928"/>
            <a:ext cx="215866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58C"/>
                </a:solidFill>
                <a:latin typeface="Helvetica Neue"/>
              </a:rPr>
              <a:t>4 zonas · ranking en auto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38747" y="3200400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1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38747" y="3415284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2  </a:t>
            </a:r>
            <a:r>
              <a:rPr sz="95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38747" y="3630168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3  </a:t>
            </a:r>
            <a:r>
              <a:rPr sz="95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38747" y="3845052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4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054617" y="2331720"/>
            <a:ext cx="2478709" cy="2788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054617" y="2331720"/>
            <a:ext cx="2478709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237497" y="2514600"/>
            <a:ext cx="215866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spc="20">
                <a:solidFill>
                  <a:srgbClr val="161616"/>
                </a:solidFill>
                <a:latin typeface="Helvetica Neue"/>
              </a:rPr>
              <a:t>Edificio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37497" y="2852928"/>
            <a:ext cx="215866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58C"/>
                </a:solidFill>
                <a:latin typeface="Helvetica Neue"/>
              </a:rPr>
              <a:t>6 zonas · ranking en auto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37497" y="3200400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1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37497" y="3415284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2  </a:t>
            </a:r>
            <a:r>
              <a:rPr sz="95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7497" y="3630168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3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7497" y="3845052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4  </a:t>
            </a:r>
            <a:r>
              <a:rPr sz="95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37497" y="4059935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5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37497" y="4274820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6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Estación Colina compite en DS19, townhouses y edificios; Batuco en townhouses y edificios — y en varios, entre los mejores del segmento.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13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LOS REPAROS, SIN VUELTAS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Dónde somos débiles hoy — y por qué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cada reparo tiene salida.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31720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Batuco es caro en auto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04487" y="2359151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E6A64"/>
                </a:solidFill>
                <a:latin typeface="Helvetica Neue"/>
              </a:rPr>
              <a:t>Cruza autopistas concesionadas: su costo de manejar está entre los más altos.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16368" y="2359151"/>
            <a:ext cx="45655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4E48"/>
                </a:solidFill>
                <a:latin typeface="Helvetica Neue"/>
              </a:rPr>
              <a:t>→  </a:t>
            </a:r>
            <a:r>
              <a:rPr sz="1250" b="1">
                <a:solidFill>
                  <a:srgbClr val="134E48"/>
                </a:solidFill>
                <a:latin typeface="Helvetica Neue"/>
              </a:rPr>
              <a:t>La Orbital lo acerca y el tren lo saca del auto.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3136391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3264408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El transporte público no es 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04487" y="3291839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E6A64"/>
                </a:solidFill>
                <a:latin typeface="Helvetica Neue"/>
              </a:rPr>
              <a:t>Batuco y Estación Colina pagan por tramo, sin bip! integrado: tarifa más alta.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16368" y="3291839"/>
            <a:ext cx="45655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4E48"/>
                </a:solidFill>
                <a:latin typeface="Helvetica Neue"/>
              </a:rPr>
              <a:t>→  </a:t>
            </a:r>
            <a:r>
              <a:rPr sz="1250" b="1">
                <a:solidFill>
                  <a:srgbClr val="134E48"/>
                </a:solidFill>
                <a:latin typeface="Helvetica Neue"/>
              </a:rPr>
              <a:t>Integrarse a RED es gestión, no una obra: depende de nosotros.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4069080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4197096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El valor depende de obra futura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04487" y="4224528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E6A64"/>
                </a:solidFill>
                <a:latin typeface="Helvetica Neue"/>
              </a:rPr>
              <a:t>La Orbital y los trenes están en construcción (2028–2030), no operando hoy.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16368" y="4224528"/>
            <a:ext cx="45655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4E48"/>
                </a:solidFill>
                <a:latin typeface="Helvetica Neue"/>
              </a:rPr>
              <a:t>→  </a:t>
            </a:r>
            <a:r>
              <a:rPr sz="1250" b="1">
                <a:solidFill>
                  <a:srgbClr val="134E48"/>
                </a:solidFill>
                <a:latin typeface="Helvetica Neue"/>
              </a:rPr>
              <a:t>Con cronograma oficial de EFE y el MOP como respaldo.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Ninguna debilidad es de fondo: dos se resuelven con la infraestructura que ya viene, y la tercera —RED— la podemos empujar nosotros.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14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LA RECOMENDACIÓN · INTEGRAR A 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La palanca que depende de nosotros: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integrar Batuco y Colina a 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222199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E6A64"/>
                </a:solidFill>
                <a:latin typeface="Helvetica Neue"/>
              </a:rPr>
              <a:t>Hoy · pagan por tramo (sin RED)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0" y="2514600"/>
            <a:ext cx="4937760" cy="457200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82528" y="2569464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~$103k/mes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309067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E6A64"/>
                </a:solidFill>
                <a:latin typeface="Helvetica Neue"/>
              </a:rPr>
              <a:t>Integrado a RED (bip!)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3383280"/>
            <a:ext cx="1750747" cy="457200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95515" y="3438144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F9E6E"/>
                </a:solidFill>
                <a:latin typeface="Helvetica Neue"/>
              </a:rPr>
              <a:t>~$37k/mes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44805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F9E6E"/>
                </a:solidFill>
                <a:latin typeface="Helvetica Neue"/>
              </a:rPr>
              <a:t>−</a:t>
            </a:r>
            <a:r>
              <a:rPr sz="2600" b="1">
                <a:solidFill>
                  <a:srgbClr val="2F9E6E"/>
                </a:solidFill>
                <a:latin typeface="Helvetica Neue"/>
              </a:rPr>
              <a:t>65%</a:t>
            </a:r>
            <a:r>
              <a:rPr sz="1400" b="0">
                <a:solidFill>
                  <a:srgbClr val="6E6A64"/>
                </a:solidFill>
                <a:latin typeface="Helvetica Neue"/>
              </a:rPr>
              <a:t>  en el costo de transporte público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395728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00">
                <a:solidFill>
                  <a:srgbClr val="B07D24"/>
                </a:solidFill>
                <a:latin typeface="Helvetica Neue"/>
              </a:rPr>
              <a:t>NO ES UNA OBRA · ES GESTIÓN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724912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Batuco y Estación Colina quedan a un trámite de tarifa integrada. Gestionar su incorporación a RED con el Ministerio de Transportes y EFE completa su ventaja competitiva — y no depende de esperar a 2030.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Es la recomendación central: gestionar la integración a RED. Baja el costo, sube el atractivo, y está bajo nuestra influencia — no la de una autopista por construir.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15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NUESTRO PROYECTO · BATUCO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spc="-10">
                <a:solidFill>
                  <a:srgbClr val="161616"/>
                </a:solidFill>
                <a:latin typeface="Helvetica Neue"/>
              </a:rPr>
              <a:t>Batuco: de periférico a los primeros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spc="-10">
                <a:solidFill>
                  <a:srgbClr val="161616"/>
                </a:solidFill>
                <a:latin typeface="Helvetica Neue"/>
              </a:rPr>
              <a:t>lugares con la infraestructura que viene.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488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50">
                <a:solidFill>
                  <a:srgbClr val="134E48"/>
                </a:solidFill>
                <a:latin typeface="Helvetica Neue"/>
              </a:rPr>
              <a:t>POSICIÓN COMPETITIVA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42032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1616"/>
                </a:solidFill>
                <a:latin typeface="Helvetica Neue"/>
              </a:rPr>
              <a:t>Auto  </a:t>
            </a:r>
            <a:r>
              <a:rPr sz="1400" b="1">
                <a:solidFill>
                  <a:srgbClr val="6E6A64"/>
                </a:solidFill>
                <a:latin typeface="Helvetica Neue"/>
              </a:rPr>
              <a:t>11º →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3º</a:t>
            </a:r>
            <a:r>
              <a:rPr sz="1200" b="0">
                <a:solidFill>
                  <a:srgbClr val="6E6A64"/>
                </a:solidFill>
                <a:latin typeface="Helvetica Neue"/>
              </a:rPr>
              <a:t>  con la Orbital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1616"/>
                </a:solidFill>
                <a:latin typeface="Helvetica Neue"/>
              </a:rPr>
              <a:t>Transp. público  </a:t>
            </a:r>
            <a:r>
              <a:rPr sz="1400" b="1">
                <a:solidFill>
                  <a:srgbClr val="6E6A64"/>
                </a:solidFill>
                <a:latin typeface="Helvetica Neue"/>
              </a:rPr>
              <a:t>11º →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2º</a:t>
            </a:r>
            <a:r>
              <a:rPr sz="1200" b="0">
                <a:solidFill>
                  <a:srgbClr val="6E6A64"/>
                </a:solidFill>
                <a:latin typeface="Helvetica Neue"/>
              </a:rPr>
              <a:t>  con el tren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1616"/>
                </a:solidFill>
                <a:latin typeface="Helvetica Neue"/>
              </a:rPr>
              <a:t>Costo de manejar  </a:t>
            </a:r>
            <a:r>
              <a:rPr sz="1400" b="1">
                <a:solidFill>
                  <a:srgbClr val="161616"/>
                </a:solidFill>
                <a:latin typeface="Helvetica Neue"/>
              </a:rPr>
              <a:t>$355k/mes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160520"/>
            <a:ext cx="4846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Su valor está amarrado a la obra futura: la Orbital lo acerca en auto, el Tren Batuco lo conecta en transporte público. Sin ellas es lejano; con ellas, entre los mejores del corredor.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1965960"/>
            <a:ext cx="4949647" cy="2971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H="1" flipV="1">
            <a:off x="9192237" y="3329297"/>
            <a:ext cx="6434" cy="57019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9100374" y="3183009"/>
            <a:ext cx="91863" cy="146288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 flipV="1">
            <a:off x="8940695" y="3006033"/>
            <a:ext cx="159679" cy="176976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8779222" y="2923393"/>
            <a:ext cx="161473" cy="82640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8567124" y="2814754"/>
            <a:ext cx="212098" cy="108639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 flipV="1">
            <a:off x="8257574" y="2655916"/>
            <a:ext cx="309550" cy="158838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 flipV="1">
            <a:off x="7793828" y="2418274"/>
            <a:ext cx="463746" cy="237642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9171239" y="3358884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64805" y="3301865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072942" y="3155577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13263" y="2978601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51790" y="2895961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39692" y="2787322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30142" y="2628484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766396" y="2390842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684806" y="2330003"/>
            <a:ext cx="201168" cy="201168"/>
          </a:xfrm>
          <a:prstGeom prst="ellipse">
            <a:avLst/>
          </a:prstGeom>
          <a:solidFill>
            <a:srgbClr val="B07D2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165305" y="2601409"/>
            <a:ext cx="100584" cy="100584"/>
          </a:xfrm>
          <a:prstGeom prst="ellipse">
            <a:avLst/>
          </a:prstGeom>
          <a:solidFill>
            <a:srgbClr val="D8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47876" y="2798921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074447" y="2646618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518314" y="2682610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491790" y="2203822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628001" y="2278648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969407" y="4029467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569095" y="3909179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518736" y="4711752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039329" y="2118815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547685" y="3069855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937920" y="2353947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19486" y="4186222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31694" y="2211131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66560" y="4626864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34E48"/>
                </a:solidFill>
                <a:latin typeface="Helvetica Neue"/>
              </a:rPr>
              <a:t>— corredor Tren Santiago–Batuco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Batuco no se vende por lo que es hoy, sino por lo que la infraestructura —ya en construcción— lo convierte: un proyecto de primer nivel.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16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NUESTRO PROYECTO · ESTACIÓN COLINA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spc="-10">
                <a:solidFill>
                  <a:srgbClr val="161616"/>
                </a:solidFill>
                <a:latin typeface="Helvetica Neue"/>
              </a:rPr>
              <a:t>Estación Colina: ya central hoy,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spc="-10">
                <a:solidFill>
                  <a:srgbClr val="161616"/>
                </a:solidFill>
                <a:latin typeface="Helvetica Neue"/>
              </a:rPr>
              <a:t>y #1 en transporte público mañana.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488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50">
                <a:solidFill>
                  <a:srgbClr val="134E48"/>
                </a:solidFill>
                <a:latin typeface="Helvetica Neue"/>
              </a:rPr>
              <a:t>POSICIÓN COMPETITIVA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42032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1616"/>
                </a:solidFill>
                <a:latin typeface="Helvetica Neue"/>
              </a:rPr>
              <a:t>Auto 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6º de 14</a:t>
            </a:r>
            <a:r>
              <a:rPr sz="1200" b="0">
                <a:solidFill>
                  <a:srgbClr val="6E6A64"/>
                </a:solidFill>
                <a:latin typeface="Helvetica Neue"/>
              </a:rPr>
              <a:t>  — ya central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1616"/>
                </a:solidFill>
                <a:latin typeface="Helvetica Neue"/>
              </a:rPr>
              <a:t>Transp. público  </a:t>
            </a:r>
            <a:r>
              <a:rPr sz="1400" b="1">
                <a:solidFill>
                  <a:srgbClr val="6E6A64"/>
                </a:solidFill>
                <a:latin typeface="Helvetica Neue"/>
              </a:rPr>
              <a:t>5º →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1º</a:t>
            </a:r>
            <a:r>
              <a:rPr sz="1200" b="0">
                <a:solidFill>
                  <a:srgbClr val="6E6A64"/>
                </a:solidFill>
                <a:latin typeface="Helvetica Neue"/>
              </a:rPr>
              <a:t>  con el tren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1616"/>
                </a:solidFill>
                <a:latin typeface="Helvetica Neue"/>
              </a:rPr>
              <a:t>Costo de manejar  </a:t>
            </a:r>
            <a:r>
              <a:rPr sz="1400" b="1">
                <a:solidFill>
                  <a:srgbClr val="161616"/>
                </a:solidFill>
                <a:latin typeface="Helvetica Neue"/>
              </a:rPr>
              <a:t>$282k/mes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160520"/>
            <a:ext cx="4846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Su fortaleza es la centralidad y una estación de tren propia — no depende de la Orbital. El tren la vuelve la mejor conectada del set en transporte público, y su tarifa se mantiene baja.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1965960"/>
            <a:ext cx="4949647" cy="2971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H="1" flipV="1">
            <a:off x="9192237" y="3329297"/>
            <a:ext cx="6434" cy="57019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9100374" y="3183009"/>
            <a:ext cx="91863" cy="146288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 flipV="1">
            <a:off x="8940695" y="3006033"/>
            <a:ext cx="159679" cy="176976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8779222" y="2923393"/>
            <a:ext cx="161473" cy="82640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8567124" y="2814754"/>
            <a:ext cx="212098" cy="108639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 flipV="1">
            <a:off x="8257574" y="2655916"/>
            <a:ext cx="309550" cy="158838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 flipV="1">
            <a:off x="7793828" y="2418274"/>
            <a:ext cx="463746" cy="237642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9171239" y="3358884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64805" y="3301865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072942" y="3155577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13263" y="2978601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51790" y="2895961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39692" y="2787322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30142" y="2628484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766396" y="2390842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735098" y="2380295"/>
            <a:ext cx="100584" cy="100584"/>
          </a:xfrm>
          <a:prstGeom prst="ellipse">
            <a:avLst/>
          </a:prstGeom>
          <a:solidFill>
            <a:srgbClr val="D8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115013" y="2551117"/>
            <a:ext cx="201168" cy="201168"/>
          </a:xfrm>
          <a:prstGeom prst="ellipse">
            <a:avLst/>
          </a:prstGeom>
          <a:solidFill>
            <a:srgbClr val="B07D2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47876" y="2798921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074447" y="2646618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518314" y="2682610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491790" y="2203822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628001" y="2278648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969407" y="4029467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569095" y="3909179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518736" y="4711752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039329" y="2118815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547685" y="3069855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937920" y="2353947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19486" y="4186222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61901" y="2432245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66560" y="4626864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34E48"/>
                </a:solidFill>
                <a:latin typeface="Helvetica Neue"/>
              </a:rPr>
              <a:t>— corredor Tren Santiago–Batuco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Estación Colina ya compite hoy por ubicación; el tren la convierte en la referencia de transporte público del corredor norte.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17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IMPLICANCIAS PARA MODELA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Qué hacemos con esto: producto,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precio y argumento comercial.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331720"/>
            <a:ext cx="384048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50">
                <a:solidFill>
                  <a:srgbClr val="134E48"/>
                </a:solidFill>
                <a:latin typeface="Helvetica Neue"/>
              </a:rPr>
              <a:t>PRODUCTO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017520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Densificar donde la conectividad futura sube el techo de valor (Batuco con Orbital + tren).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069079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Estación Colina admite DS19, townhouse y edificio: producto para el que valora ubicación.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35754" y="2331720"/>
            <a:ext cx="384048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5754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50">
                <a:solidFill>
                  <a:srgbClr val="134E48"/>
                </a:solidFill>
                <a:latin typeface="Helvetica Neue"/>
              </a:rPr>
              <a:t>PRECIO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5754" y="3017520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La conectividad justifica sobreprecio en UF — o mejor propuesta a igual precio.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5754" y="4069079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Fijar precio contra el set del corredor, no contra el promedio RM.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13140" y="2331720"/>
            <a:ext cx="384048" cy="45720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3140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50">
                <a:solidFill>
                  <a:srgbClr val="B07D24"/>
                </a:solidFill>
                <a:latin typeface="Helvetica Neue"/>
              </a:rPr>
              <a:t>COMERCIAL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3140" y="3017520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Vender el ‘mañana’ con respaldo: Orbital y trenes ya en construcción, con fuente.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3140" y="4069079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Batuco = tesis de plusvalía; Estación Colina = conectividad ya disponible.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La conectividad deja de ser un dato del estudio: es palanca de pricing, de mezcla de producto y de relato de venta.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18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¿Cuánto vale la conectividad? Lo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suficiente para decidir el portafolio.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945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19456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Dónde somos fuertes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1728" y="219456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Estación Colina ya es central hoy; ambos proyectos justifican sobreprecio en UF.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974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69748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Qué cambia con el tren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269748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El transporte público se reordena: Estación Colina pasa a 1º y Batuco a 2º del set.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2004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20040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Qué cambia con la Orbital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320040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Batuco sube del 11º al 3º en auto — la mayor palanca vial del estudio.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7033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7033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Dónde somos débiles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70332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Batuco es caro en auto, y ninguno es RED: hoy pagan tarifa por tramo.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206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420624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07D24"/>
                </a:solidFill>
                <a:latin typeface="Helvetica Neue"/>
              </a:rPr>
              <a:t>El paso inmediato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1728" y="420624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B07D24"/>
                </a:solidFill>
                <a:latin typeface="Helvetica Neue"/>
              </a:rPr>
              <a:t>Gestionar la integración de Batuco y Estación Colina a RED: baja el costo y depende de nosotros.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7091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470916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Cuánto vale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1728" y="470916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El ahorro de tiempo y de costo se capitaliza en UF y en capacidad de compra.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Competitivos hoy, y de los más competitivos del norte con la infraestructura que viene. La decisión que no depende de nadie más: integrarlos a RED.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