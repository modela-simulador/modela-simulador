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B9B4AA"/>
                </a:solidFill>
                <a:latin typeface="Helvetica Neue"/>
              </a:rPr>
              <a:t>MODELA  ·  DESARROLLO INMOBILIARIO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FFFFFF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FCBC2"/>
                </a:solidFill>
                <a:latin typeface="Helvetica Neue"/>
              </a:rPr>
              <a:t>Cómo la accesibilidad vial y ferroviaria se traduce en valor inmobiliario — y por qué Batuco y Estación Colina compiten hoy,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esa conexión, zona por zona — y el veredicto para el portafolio es claro.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Orbital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10º de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6º de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−1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que recorta el tren a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+1.686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de mayor valor — Est. Colina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+1.019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 son competitivos hoy y de los más competitivos del norte con la infraestructura que ya está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POR QUÉ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¿Por qué la conectividad decide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dónde se vive?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Cada hora diaria de viaje es tiempo que no se vive. La accesibilidad define la calidad de vida antes que los metros cuadrados.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5754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COSTO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Mantener y usar un auto pesa más que la vivienda misma. Buena conectividad libera ese gasto — y ese ahorro es capacidad de compra.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3140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VALOR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A igual precio, la zona mejor conectada vale más. La conectividad justifica sobreprecio, o una mejor propuesta al mismo precio.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decisión de compra no es solo precio y producto: es cuánto cuesta —en tiempo y en dinero— vivir ahí todos los días.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Cómo lo medimos: dato real donde existe,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modelo transparente donde aún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Tiempo y costo puerta a puerta, en hora punta, de 13 zonas a los 9 destinos que más pesan. Nunca inventamos calles ni tarifas: si un dato no es verificable, se declara.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880360"/>
            <a:ext cx="2444419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GOOGLE DIRECTIONS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Tiempos reales de la red que hoy existe, con tráfico (criterio conservador).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68547" y="2880360"/>
            <a:ext cx="2444419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68547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9715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MODELO PROPIO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9715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Proyecciones: Tren Batuco, Tren Melipilla y autopista Orbital.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2880360"/>
            <a:ext cx="2444419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9895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MIDESO / MDSF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9895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Valor social del tiempo — Precios Sociales 2025, no un sueldo elegido.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8907" y="2880360"/>
            <a:ext cx="2444419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88907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075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EFE · GTFS · OSM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075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Trazados y tarifas de trenes, red RED (bip!) y red vial real.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Híbrido honesto: Google mide lo que existe; el modelo proyecta lo que viene; el Estado (MIDESO) pone el valor del tiempo.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QUÉ ANALIZAMOS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13 zonas del norte y sur, contra los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destinos que mueven una vida.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874519"/>
            <a:ext cx="5132527" cy="3063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9105739" y="3279806"/>
            <a:ext cx="6671" cy="58774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9010481" y="3129017"/>
            <a:ext cx="95258" cy="150789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8844902" y="2946595"/>
            <a:ext cx="165579" cy="182422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8677463" y="2861413"/>
            <a:ext cx="167439" cy="85182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8457529" y="2749431"/>
            <a:ext cx="219934" cy="111982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136541" y="2585705"/>
            <a:ext cx="320988" cy="163726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7655660" y="2340752"/>
            <a:ext cx="480881" cy="244953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9380436" y="3239571"/>
            <a:ext cx="128016" cy="128016"/>
          </a:xfrm>
          <a:prstGeom prst="ellipse">
            <a:avLst/>
          </a:prstGeom>
          <a:solidFill>
            <a:srgbClr val="6E6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41524" y="3395019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Santiago</a:t>
            </a:r>
          </a:p>
        </p:txBody>
      </p:sp>
      <p:sp>
        <p:nvSpPr>
          <p:cNvPr id="15" name="Oval 14"/>
          <p:cNvSpPr/>
          <p:nvPr/>
        </p:nvSpPr>
        <p:spPr>
          <a:xfrm>
            <a:off x="7555471" y="2262004"/>
            <a:ext cx="182880" cy="182880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01573" y="2489921"/>
            <a:ext cx="182880" cy="182880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3244" y="271594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92763" y="255895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89978" y="259605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99423" y="210253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03719" y="217966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931635" y="3984357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05688" y="3860367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90416" y="468763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930244" y="201491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83487" y="299521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88140" y="2257282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1503" y="2152276"/>
            <a:ext cx="1645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605" y="2380193"/>
            <a:ext cx="1645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2084831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LOS 9 DESTINOS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5" y="243230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Trabajo (Metro Tobalaba)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72948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5" y="272948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Santiago Centro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02666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5" y="302666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Barrio industrial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332384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5" y="332384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Ciudad Empresarial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362102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5" y="362102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Universidad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9182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5" y="391820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Aeropuerto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21538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5" y="421538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Hospital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451256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2415" y="451256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Clínica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480974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2415" y="480974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Centro comercial</a:t>
            </a:r>
          </a:p>
        </p:txBody>
      </p:sp>
      <p:sp>
        <p:nvSpPr>
          <p:cNvPr id="49" name="Oval 48"/>
          <p:cNvSpPr/>
          <p:nvPr/>
        </p:nvSpPr>
        <p:spPr>
          <a:xfrm>
            <a:off x="6487668" y="5015483"/>
            <a:ext cx="118872" cy="118872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02552" y="5029200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Nuestros proyectos</a:t>
            </a:r>
          </a:p>
        </p:txBody>
      </p:sp>
      <p:sp>
        <p:nvSpPr>
          <p:cNvPr id="51" name="Oval 50"/>
          <p:cNvSpPr/>
          <p:nvPr/>
        </p:nvSpPr>
        <p:spPr>
          <a:xfrm>
            <a:off x="8270748" y="5024628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58200" y="5029200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Zonas analizadas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829800" y="5102352"/>
            <a:ext cx="274320" cy="0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0168128" y="5029200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Corredor tren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Auto y transporte público, hoy y con la infraestructura futura. Nuestros dos proyectos, en oro, dentro del análisis.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SET COMPETITIVO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No competimos en abstracto: contra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corredor norte de Santiago.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El mercado real donde decide un comprador — desarrollos de Chicureo, Colina, Lampa y del sur. Contra este set, la conectividad es lo que nos separa.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B07D24"/>
                </a:solidFill>
                <a:latin typeface="Helvetica Neue"/>
              </a:rPr>
              <a:t>NUESTRO PORTAFOLIO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816352"/>
            <a:ext cx="2651760" cy="566928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816352"/>
            <a:ext cx="45720" cy="56692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169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163824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A64"/>
                </a:solidFill>
                <a:latin typeface="Helvetica Neue"/>
              </a:rPr>
              <a:t>Lampa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8728" y="2816352"/>
            <a:ext cx="2651760" cy="566928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38728" y="2816352"/>
            <a:ext cx="45720" cy="56692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9169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3163824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A64"/>
                </a:solidFill>
                <a:latin typeface="Helvetica Neue"/>
              </a:rPr>
              <a:t>Colina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6941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134E48"/>
                </a:solidFill>
                <a:latin typeface="Helvetica Neue"/>
              </a:rPr>
              <a:t>11 COMPARABLES DEL MERCADO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005072"/>
            <a:ext cx="33506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LAMPA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61104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1616"/>
                </a:solidFill>
                <a:latin typeface="Helvetica Neue"/>
              </a:rPr>
              <a:t>·  Valle Grande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475988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1616"/>
                </a:solidFill>
                <a:latin typeface="Helvetica Neue"/>
              </a:rPr>
              <a:t>·  Larapinta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690872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1616"/>
                </a:solidFill>
                <a:latin typeface="Helvetica Neue"/>
              </a:rPr>
              <a:t>·  Chicauma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905756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1616"/>
                </a:solidFill>
                <a:latin typeface="Helvetica Neue"/>
              </a:rPr>
              <a:t>·  Hacienda Batuco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83354" y="4005072"/>
            <a:ext cx="33506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COLINA · CHICUREO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3354" y="4261104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1616"/>
                </a:solidFill>
                <a:latin typeface="Helvetica Neue"/>
              </a:rPr>
              <a:t>·  Ayres de Chicureo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3354" y="4475988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1616"/>
                </a:solidFill>
                <a:latin typeface="Helvetica Neue"/>
              </a:rPr>
              <a:t>·  Santa Elena de Chicureo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3354" y="4690872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1616"/>
                </a:solidFill>
                <a:latin typeface="Helvetica Neue"/>
              </a:rPr>
              <a:t>·  Colina · Reina Norte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8340" y="4005072"/>
            <a:ext cx="33506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SUR Y PONIENTE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8340" y="4261104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1616"/>
                </a:solidFill>
                <a:latin typeface="Helvetica Neue"/>
              </a:rPr>
              <a:t>·  El Peñón — Puente Alto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8340" y="4475988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1616"/>
                </a:solidFill>
                <a:latin typeface="Helvetica Neue"/>
              </a:rPr>
              <a:t>·  Laguna del Sol — P. Hurtado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8340" y="4690872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1616"/>
                </a:solidFill>
                <a:latin typeface="Helvetica Neue"/>
              </a:rPr>
              <a:t>·  Buin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8340" y="4905756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1616"/>
                </a:solidFill>
                <a:latin typeface="Helvetica Neue"/>
              </a:rPr>
              <a:t>·  Urbanya — Pudahuel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Mismo corredor, misma demanda. Nuestra ventaja frente a este set es qué tan bien conectados estamos — hoy y con la infraestructura que viene.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En auto, la cercanía define quién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llega rápido a cada destino.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54744"/>
          </a:xfrm>
          <a:prstGeom prst="rect">
            <a:avLst/>
          </a:prstGeom>
          <a:solidFill>
            <a:srgbClr val="5B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54744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32768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46484"/>
            <a:ext cx="973632" cy="154744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46484"/>
            <a:ext cx="973632" cy="154744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46484"/>
            <a:ext cx="973632" cy="154744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46484"/>
            <a:ext cx="973632" cy="154744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46484"/>
            <a:ext cx="973632" cy="154744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46484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46484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46484"/>
            <a:ext cx="973632" cy="154744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46484"/>
            <a:ext cx="973632" cy="154744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814945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28661"/>
            <a:ext cx="973632" cy="154744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28661"/>
            <a:ext cx="973632" cy="154744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28661"/>
            <a:ext cx="973632" cy="154744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28661"/>
            <a:ext cx="973632" cy="154744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28661"/>
            <a:ext cx="973632" cy="154744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28661"/>
            <a:ext cx="973632" cy="154744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28661"/>
            <a:ext cx="973632" cy="154744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28661"/>
            <a:ext cx="973632" cy="154744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28661"/>
            <a:ext cx="973632" cy="154744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97121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3010837"/>
            <a:ext cx="973632" cy="154744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3010837"/>
            <a:ext cx="973632" cy="154744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3010837"/>
            <a:ext cx="973632" cy="154744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3010837"/>
            <a:ext cx="973632" cy="154744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3010837"/>
            <a:ext cx="973632" cy="154744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3010837"/>
            <a:ext cx="973632" cy="154744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3010837"/>
            <a:ext cx="973632" cy="154744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3010837"/>
            <a:ext cx="973632" cy="154744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3010837"/>
            <a:ext cx="973632" cy="154744"/>
          </a:xfrm>
          <a:prstGeom prst="rect">
            <a:avLst/>
          </a:prstGeom>
          <a:solidFill>
            <a:srgbClr val="B1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79298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93014"/>
            <a:ext cx="973632" cy="154744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93014"/>
            <a:ext cx="973632" cy="154744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93014"/>
            <a:ext cx="973632" cy="154744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93014"/>
            <a:ext cx="973632" cy="154744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93014"/>
            <a:ext cx="973632" cy="154744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93014"/>
            <a:ext cx="973632" cy="154744"/>
          </a:xfrm>
          <a:prstGeom prst="rect">
            <a:avLst/>
          </a:prstGeom>
          <a:solidFill>
            <a:srgbClr val="9C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93014"/>
            <a:ext cx="973632" cy="154744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93014"/>
            <a:ext cx="973632" cy="154744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93014"/>
            <a:ext cx="973632" cy="154744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70619"/>
            <a:ext cx="1737360" cy="163888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361475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75191"/>
            <a:ext cx="973632" cy="154744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75191"/>
            <a:ext cx="973632" cy="154744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75191"/>
            <a:ext cx="973632" cy="154744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75191"/>
            <a:ext cx="973632" cy="154744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75191"/>
            <a:ext cx="973632" cy="154744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75191"/>
            <a:ext cx="973632" cy="154744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75191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75191"/>
            <a:ext cx="973632" cy="154744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75191"/>
            <a:ext cx="973632" cy="154744"/>
          </a:xfrm>
          <a:prstGeom prst="rect">
            <a:avLst/>
          </a:prstGeom>
          <a:solidFill>
            <a:srgbClr val="79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543651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557367"/>
            <a:ext cx="973632" cy="154744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557367"/>
            <a:ext cx="973632" cy="154744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557367"/>
            <a:ext cx="973632" cy="154744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557367"/>
            <a:ext cx="973632" cy="154744"/>
          </a:xfrm>
          <a:prstGeom prst="rect">
            <a:avLst/>
          </a:prstGeom>
          <a:solidFill>
            <a:srgbClr val="8F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557367"/>
            <a:ext cx="973632" cy="154744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557367"/>
            <a:ext cx="973632" cy="154744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557367"/>
            <a:ext cx="973632" cy="154744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557367"/>
            <a:ext cx="973632" cy="154744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557367"/>
            <a:ext cx="973632" cy="154744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725828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739544"/>
            <a:ext cx="973632" cy="154744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739544"/>
            <a:ext cx="973632" cy="154744"/>
          </a:xfrm>
          <a:prstGeom prst="rect">
            <a:avLst/>
          </a:prstGeom>
          <a:solidFill>
            <a:srgbClr val="94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739544"/>
            <a:ext cx="973632" cy="154744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739544"/>
            <a:ext cx="973632" cy="154744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739544"/>
            <a:ext cx="973632" cy="154744"/>
          </a:xfrm>
          <a:prstGeom prst="rect">
            <a:avLst/>
          </a:prstGeom>
          <a:solidFill>
            <a:srgbClr val="C0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739544"/>
            <a:ext cx="973632" cy="154744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1:22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739544"/>
            <a:ext cx="973632" cy="154744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739544"/>
            <a:ext cx="973632" cy="154744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739544"/>
            <a:ext cx="973632" cy="154744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908004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921720"/>
            <a:ext cx="973632" cy="154744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1:45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921720"/>
            <a:ext cx="973632" cy="154744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921720"/>
            <a:ext cx="973632" cy="154744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921720"/>
            <a:ext cx="973632" cy="154744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1:59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921720"/>
            <a:ext cx="973632" cy="154744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921720"/>
            <a:ext cx="973632" cy="154744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1:26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921720"/>
            <a:ext cx="973632" cy="154744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1:06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921720"/>
            <a:ext cx="973632" cy="154744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921720"/>
            <a:ext cx="973632" cy="154744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658368" y="4099325"/>
            <a:ext cx="1737360" cy="163888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13232" y="4090181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2459736" y="4103897"/>
            <a:ext cx="973632" cy="154744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2441448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3469944" y="4103897"/>
            <a:ext cx="973632" cy="154744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3451656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4480153" y="4103897"/>
            <a:ext cx="973632" cy="154744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4461865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1:01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5490362" y="4103897"/>
            <a:ext cx="973632" cy="154744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5472074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500571" y="4103897"/>
            <a:ext cx="973632" cy="154744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6482283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510780" y="4103897"/>
            <a:ext cx="973632" cy="154744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492492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1:10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8520988" y="410389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8502700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1:36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9531197" y="4103897"/>
            <a:ext cx="973632" cy="154744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512909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10541406" y="4103897"/>
            <a:ext cx="973632" cy="154744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0523118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713232" y="4272358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286074"/>
            <a:ext cx="973632" cy="154744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286074"/>
            <a:ext cx="973632" cy="154744"/>
          </a:xfrm>
          <a:prstGeom prst="rect">
            <a:avLst/>
          </a:prstGeom>
          <a:solidFill>
            <a:srgbClr val="CB9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1:39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286074"/>
            <a:ext cx="973632" cy="154744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1:04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286074"/>
            <a:ext cx="973632" cy="154744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286074"/>
            <a:ext cx="973632" cy="154744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286074"/>
            <a:ext cx="973632" cy="154744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59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286074"/>
            <a:ext cx="973632" cy="154744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1:18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286074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286074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454534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468250"/>
            <a:ext cx="973632" cy="154744"/>
          </a:xfrm>
          <a:prstGeom prst="rect">
            <a:avLst/>
          </a:prstGeom>
          <a:solidFill>
            <a:srgbClr val="D4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2:08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468250"/>
            <a:ext cx="973632" cy="154744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1:51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468250"/>
            <a:ext cx="973632" cy="154744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468250"/>
            <a:ext cx="973632" cy="154744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468250"/>
            <a:ext cx="973632" cy="154744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1:29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468250"/>
            <a:ext cx="973632" cy="154744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468250"/>
            <a:ext cx="973632" cy="154744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468250"/>
            <a:ext cx="973632" cy="154744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468250"/>
            <a:ext cx="973632" cy="154744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54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636711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2:15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2:32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1:42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1:58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650427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650427"/>
            <a:ext cx="973632" cy="154744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650427"/>
            <a:ext cx="973632" cy="154744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(h:mm). Color por columna: verde = la más cercana a ese destino, rojo = la más lejana.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Las zonas de Lampa y Chicureo llegan rápido a casi todo. Estación Colina ya es central; Batuco es el más lejano — y ahí entra la Orbital.</a:t>
            </a:r>
          </a:p>
        </p:txBody>
      </p:sp>
      <p:cxnSp>
        <p:nvCxnSpPr>
          <p:cNvPr id="268" name="Connector 26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 — EL REPARO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reparo honesto: manejar desde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Batuco es caro hacia casi todos lados.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54744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54744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54744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54744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54744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54744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54744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32768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46484"/>
            <a:ext cx="973632" cy="154744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46484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46484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46484"/>
            <a:ext cx="973632" cy="154744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46484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46484"/>
            <a:ext cx="973632" cy="154744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46484"/>
            <a:ext cx="973632" cy="154744"/>
          </a:xfrm>
          <a:prstGeom prst="rect">
            <a:avLst/>
          </a:prstGeom>
          <a:solidFill>
            <a:srgbClr val="61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46484"/>
            <a:ext cx="973632" cy="154744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46484"/>
            <a:ext cx="973632" cy="154744"/>
          </a:xfrm>
          <a:prstGeom prst="rect">
            <a:avLst/>
          </a:prstGeom>
          <a:solidFill>
            <a:srgbClr val="92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814945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28661"/>
            <a:ext cx="973632" cy="154744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28661"/>
            <a:ext cx="973632" cy="154744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28661"/>
            <a:ext cx="973632" cy="154744"/>
          </a:xfrm>
          <a:prstGeom prst="rect">
            <a:avLst/>
          </a:prstGeom>
          <a:solidFill>
            <a:srgbClr val="42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28661"/>
            <a:ext cx="973632" cy="154744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28661"/>
            <a:ext cx="973632" cy="154744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28661"/>
            <a:ext cx="973632" cy="154744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28661"/>
            <a:ext cx="973632" cy="154744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28661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28661"/>
            <a:ext cx="973632" cy="154744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97121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3010837"/>
            <a:ext cx="973632" cy="154744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3010837"/>
            <a:ext cx="973632" cy="154744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3010837"/>
            <a:ext cx="973632" cy="154744"/>
          </a:xfrm>
          <a:prstGeom prst="rect">
            <a:avLst/>
          </a:prstGeom>
          <a:solidFill>
            <a:srgbClr val="57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3010837"/>
            <a:ext cx="973632" cy="154744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3010837"/>
            <a:ext cx="973632" cy="154744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3010837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3010837"/>
            <a:ext cx="973632" cy="154744"/>
          </a:xfrm>
          <a:prstGeom prst="rect">
            <a:avLst/>
          </a:prstGeom>
          <a:solidFill>
            <a:srgbClr val="6E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3010837"/>
            <a:ext cx="973632" cy="154744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3010837"/>
            <a:ext cx="973632" cy="154744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79298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93014"/>
            <a:ext cx="973632" cy="154744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93014"/>
            <a:ext cx="973632" cy="154744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93014"/>
            <a:ext cx="973632" cy="154744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93014"/>
            <a:ext cx="973632" cy="154744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93014"/>
            <a:ext cx="973632" cy="154744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93014"/>
            <a:ext cx="973632" cy="154744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93014"/>
            <a:ext cx="973632" cy="154744"/>
          </a:xfrm>
          <a:prstGeom prst="rect">
            <a:avLst/>
          </a:prstGeom>
          <a:solidFill>
            <a:srgbClr val="40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93014"/>
            <a:ext cx="973632" cy="154744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93014"/>
            <a:ext cx="973632" cy="154744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70619"/>
            <a:ext cx="1737360" cy="163888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361475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75191"/>
            <a:ext cx="973632" cy="154744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75191"/>
            <a:ext cx="973632" cy="154744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75191"/>
            <a:ext cx="973632" cy="154744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75191"/>
            <a:ext cx="973632" cy="154744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75191"/>
            <a:ext cx="973632" cy="154744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75191"/>
            <a:ext cx="973632" cy="154744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75191"/>
            <a:ext cx="973632" cy="154744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75191"/>
            <a:ext cx="973632" cy="154744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75191"/>
            <a:ext cx="973632" cy="154744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543651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557367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557367"/>
            <a:ext cx="973632" cy="154744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557367"/>
            <a:ext cx="973632" cy="154744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55736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557367"/>
            <a:ext cx="973632" cy="154744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557367"/>
            <a:ext cx="973632" cy="154744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557367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557367"/>
            <a:ext cx="973632" cy="154744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557367"/>
            <a:ext cx="973632" cy="154744"/>
          </a:xfrm>
          <a:prstGeom prst="rect">
            <a:avLst/>
          </a:prstGeom>
          <a:solidFill>
            <a:srgbClr val="31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725828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739544"/>
            <a:ext cx="973632" cy="154744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739544"/>
            <a:ext cx="973632" cy="154744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739544"/>
            <a:ext cx="973632" cy="154744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739544"/>
            <a:ext cx="973632" cy="154744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739544"/>
            <a:ext cx="973632" cy="154744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739544"/>
            <a:ext cx="973632" cy="154744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739544"/>
            <a:ext cx="973632" cy="154744"/>
          </a:xfrm>
          <a:prstGeom prst="rect">
            <a:avLst/>
          </a:prstGeom>
          <a:solidFill>
            <a:srgbClr val="CB9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739544"/>
            <a:ext cx="973632" cy="154744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739544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908004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921720"/>
            <a:ext cx="973632" cy="154744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921720"/>
            <a:ext cx="973632" cy="154744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921720"/>
            <a:ext cx="973632" cy="154744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234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921720"/>
            <a:ext cx="973632" cy="154744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921720"/>
            <a:ext cx="973632" cy="154744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921720"/>
            <a:ext cx="973632" cy="154744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921720"/>
            <a:ext cx="973632" cy="154744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921720"/>
            <a:ext cx="973632" cy="154744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921720"/>
            <a:ext cx="973632" cy="154744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658368" y="4099325"/>
            <a:ext cx="1737360" cy="163888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13232" y="4090181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2459736" y="4103897"/>
            <a:ext cx="973632" cy="154744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2441448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3469944" y="4103897"/>
            <a:ext cx="973632" cy="154744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3451656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4480153" y="4103897"/>
            <a:ext cx="973632" cy="154744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4461865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5490362" y="4103897"/>
            <a:ext cx="973632" cy="154744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5472074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500571" y="4103897"/>
            <a:ext cx="973632" cy="154744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6482283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510780" y="4103897"/>
            <a:ext cx="973632" cy="154744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492492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8520988" y="4103897"/>
            <a:ext cx="973632" cy="154744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8502700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9531197" y="4103897"/>
            <a:ext cx="973632" cy="154744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512909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10541406" y="4103897"/>
            <a:ext cx="973632" cy="154744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0523118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713232" y="4272358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286074"/>
            <a:ext cx="973632" cy="154744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286074"/>
            <a:ext cx="973632" cy="154744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286074"/>
            <a:ext cx="973632" cy="154744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286074"/>
            <a:ext cx="973632" cy="154744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286074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286074"/>
            <a:ext cx="973632" cy="154744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286074"/>
            <a:ext cx="973632" cy="154744"/>
          </a:xfrm>
          <a:prstGeom prst="rect">
            <a:avLst/>
          </a:prstGeom>
          <a:solidFill>
            <a:srgbClr val="CB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286074"/>
            <a:ext cx="973632" cy="154744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286074"/>
            <a:ext cx="973632" cy="154744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454534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468250"/>
            <a:ext cx="973632" cy="154744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468250"/>
            <a:ext cx="973632" cy="154744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468250"/>
            <a:ext cx="973632" cy="154744"/>
          </a:xfrm>
          <a:prstGeom prst="rect">
            <a:avLst/>
          </a:prstGeom>
          <a:solidFill>
            <a:srgbClr val="D2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468250"/>
            <a:ext cx="973632" cy="154744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468250"/>
            <a:ext cx="973632" cy="154744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468250"/>
            <a:ext cx="973632" cy="154744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468250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468250"/>
            <a:ext cx="973632" cy="154744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468250"/>
            <a:ext cx="973632" cy="154744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636711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650427"/>
            <a:ext cx="973632" cy="154744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650427"/>
            <a:ext cx="973632" cy="154744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650427"/>
            <a:ext cx="973632" cy="154744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650427"/>
            <a:ext cx="973632" cy="154744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—bencina + peajes TAG— en miles de pesos. Verde = barato, rojo = caro.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del set. Por eso su ventaja real es el tren, no el volante.</a:t>
            </a:r>
          </a:p>
        </p:txBody>
      </p:sp>
      <p:cxnSp>
        <p:nvCxnSpPr>
          <p:cNvPr id="268" name="Connector 26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Los tiempos en transporte público: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mismo mapa, hoy y con el tren.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47307" y="214884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9312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8696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081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465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6850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6234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5618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003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642615"/>
            <a:ext cx="1005839" cy="13575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633472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28216" y="2647188"/>
            <a:ext cx="422808" cy="126609"/>
          </a:xfrm>
          <a:prstGeom prst="rect">
            <a:avLst/>
          </a:prstGeom>
          <a:solidFill>
            <a:srgbClr val="CB9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87600" y="2647188"/>
            <a:ext cx="422808" cy="126609"/>
          </a:xfrm>
          <a:prstGeom prst="rect">
            <a:avLst/>
          </a:prstGeom>
          <a:solidFill>
            <a:srgbClr val="D06B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46984" y="2647188"/>
            <a:ext cx="422808" cy="126609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06369" y="2647188"/>
            <a:ext cx="422808" cy="126609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65753" y="2647188"/>
            <a:ext cx="422808" cy="126609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25138" y="2647188"/>
            <a:ext cx="422808" cy="126609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4522" y="2647188"/>
            <a:ext cx="422808" cy="126609"/>
          </a:xfrm>
          <a:prstGeom prst="rect">
            <a:avLst/>
          </a:prstGeom>
          <a:solidFill>
            <a:srgbClr val="D16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43906" y="2647188"/>
            <a:ext cx="422808" cy="126609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03291" y="2647188"/>
            <a:ext cx="422808" cy="126609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2796657"/>
            <a:ext cx="1005839" cy="13575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2787513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28216" y="2801229"/>
            <a:ext cx="422808" cy="126609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87600" y="2801229"/>
            <a:ext cx="422808" cy="126609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646984" y="2801229"/>
            <a:ext cx="422808" cy="126609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6369" y="2801229"/>
            <a:ext cx="422808" cy="126609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65753" y="2801229"/>
            <a:ext cx="422808" cy="126609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25138" y="2801229"/>
            <a:ext cx="422808" cy="126609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84522" y="2801229"/>
            <a:ext cx="422808" cy="126609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43906" y="2801229"/>
            <a:ext cx="422808" cy="126609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03291" y="2801229"/>
            <a:ext cx="422808" cy="126609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2941554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28216" y="2955270"/>
            <a:ext cx="422808" cy="126609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87600" y="2955270"/>
            <a:ext cx="422808" cy="126609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46984" y="2955270"/>
            <a:ext cx="422808" cy="126609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06369" y="2955270"/>
            <a:ext cx="422808" cy="126609"/>
          </a:xfrm>
          <a:prstGeom prst="rect">
            <a:avLst/>
          </a:prstGeom>
          <a:solidFill>
            <a:srgbClr val="B1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65753" y="2955270"/>
            <a:ext cx="422808" cy="126609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025138" y="2955270"/>
            <a:ext cx="422808" cy="126609"/>
          </a:xfrm>
          <a:prstGeom prst="rect">
            <a:avLst/>
          </a:prstGeom>
          <a:solidFill>
            <a:srgbClr val="83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84522" y="2955270"/>
            <a:ext cx="422808" cy="126609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43906" y="2955270"/>
            <a:ext cx="422808" cy="126609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03291" y="2955270"/>
            <a:ext cx="422808" cy="126609"/>
          </a:xfrm>
          <a:prstGeom prst="rect">
            <a:avLst/>
          </a:prstGeom>
          <a:solidFill>
            <a:srgbClr val="43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3095595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8216" y="3109311"/>
            <a:ext cx="422808" cy="126609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187600" y="3109311"/>
            <a:ext cx="422808" cy="126609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46984" y="3109311"/>
            <a:ext cx="422808" cy="126609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06369" y="3109311"/>
            <a:ext cx="422808" cy="126609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565753" y="3109311"/>
            <a:ext cx="422808" cy="126609"/>
          </a:xfrm>
          <a:prstGeom prst="rect">
            <a:avLst/>
          </a:prstGeom>
          <a:solidFill>
            <a:srgbClr val="CB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25138" y="3109311"/>
            <a:ext cx="422808" cy="126609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84522" y="3109311"/>
            <a:ext cx="422808" cy="126609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43906" y="3109311"/>
            <a:ext cx="422808" cy="126609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03291" y="3109311"/>
            <a:ext cx="422808" cy="126609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3249636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28216" y="3263352"/>
            <a:ext cx="422808" cy="126609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87600" y="3263352"/>
            <a:ext cx="422808" cy="126609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46984" y="3263352"/>
            <a:ext cx="422808" cy="126609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106369" y="3263352"/>
            <a:ext cx="422808" cy="126609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565753" y="3263352"/>
            <a:ext cx="422808" cy="126609"/>
          </a:xfrm>
          <a:prstGeom prst="rect">
            <a:avLst/>
          </a:prstGeom>
          <a:solidFill>
            <a:srgbClr val="CA9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25138" y="3263352"/>
            <a:ext cx="422808" cy="126609"/>
          </a:xfrm>
          <a:prstGeom prst="rect">
            <a:avLst/>
          </a:prstGeom>
          <a:solidFill>
            <a:srgbClr val="50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84522" y="3263352"/>
            <a:ext cx="422808" cy="126609"/>
          </a:xfrm>
          <a:prstGeom prst="rect">
            <a:avLst/>
          </a:prstGeom>
          <a:solidFill>
            <a:srgbClr val="96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943906" y="3263352"/>
            <a:ext cx="422808" cy="126609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403291" y="3263352"/>
            <a:ext cx="422808" cy="126609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403678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28216" y="3417394"/>
            <a:ext cx="422808" cy="126609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87600" y="3417394"/>
            <a:ext cx="422808" cy="126609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646984" y="3417394"/>
            <a:ext cx="422808" cy="126609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106369" y="3417394"/>
            <a:ext cx="422808" cy="126609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65753" y="3417394"/>
            <a:ext cx="422808" cy="126609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25138" y="3417394"/>
            <a:ext cx="422808" cy="126609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84522" y="3417394"/>
            <a:ext cx="422808" cy="126609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943906" y="3417394"/>
            <a:ext cx="422808" cy="126609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403291" y="3417394"/>
            <a:ext cx="422808" cy="126609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" y="3557719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28216" y="3571435"/>
            <a:ext cx="422808" cy="126609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187600" y="3571435"/>
            <a:ext cx="422808" cy="126609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46984" y="3571435"/>
            <a:ext cx="422808" cy="126609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106369" y="3571435"/>
            <a:ext cx="422808" cy="126609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565753" y="3571435"/>
            <a:ext cx="422808" cy="126609"/>
          </a:xfrm>
          <a:prstGeom prst="rect">
            <a:avLst/>
          </a:prstGeom>
          <a:solidFill>
            <a:srgbClr val="D06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25138" y="3571435"/>
            <a:ext cx="422808" cy="126609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84522" y="3571435"/>
            <a:ext cx="422808" cy="126609"/>
          </a:xfrm>
          <a:prstGeom prst="rect">
            <a:avLst/>
          </a:prstGeom>
          <a:solidFill>
            <a:srgbClr val="CB9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43906" y="3571435"/>
            <a:ext cx="422808" cy="126609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03291" y="3571435"/>
            <a:ext cx="422808" cy="126609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3232" y="3711760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728216" y="3725476"/>
            <a:ext cx="422808" cy="126609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187600" y="3725476"/>
            <a:ext cx="422808" cy="126609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646984" y="3725476"/>
            <a:ext cx="422808" cy="126609"/>
          </a:xfrm>
          <a:prstGeom prst="rect">
            <a:avLst/>
          </a:prstGeom>
          <a:solidFill>
            <a:srgbClr val="A2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106369" y="3725476"/>
            <a:ext cx="422808" cy="126609"/>
          </a:xfrm>
          <a:prstGeom prst="rect">
            <a:avLst/>
          </a:prstGeom>
          <a:solidFill>
            <a:srgbClr val="CB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565753" y="3725476"/>
            <a:ext cx="422808" cy="126609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5138" y="3725476"/>
            <a:ext cx="422808" cy="126609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84522" y="3725476"/>
            <a:ext cx="422808" cy="126609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943906" y="3725476"/>
            <a:ext cx="422808" cy="126609"/>
          </a:xfrm>
          <a:prstGeom prst="rect">
            <a:avLst/>
          </a:prstGeom>
          <a:solidFill>
            <a:srgbClr val="D06B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03291" y="3725476"/>
            <a:ext cx="422808" cy="126609"/>
          </a:xfrm>
          <a:prstGeom prst="rect">
            <a:avLst/>
          </a:prstGeom>
          <a:solidFill>
            <a:srgbClr val="CA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13232" y="3865801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728216" y="3879517"/>
            <a:ext cx="422808" cy="126609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187600" y="3879517"/>
            <a:ext cx="422808" cy="126609"/>
          </a:xfrm>
          <a:prstGeom prst="rect">
            <a:avLst/>
          </a:prstGeom>
          <a:solidFill>
            <a:srgbClr val="CB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46984" y="3879517"/>
            <a:ext cx="422808" cy="126609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106369" y="3879517"/>
            <a:ext cx="422808" cy="126609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565753" y="3879517"/>
            <a:ext cx="422808" cy="126609"/>
          </a:xfrm>
          <a:prstGeom prst="rect">
            <a:avLst/>
          </a:prstGeom>
          <a:solidFill>
            <a:srgbClr val="D26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025138" y="3879517"/>
            <a:ext cx="422808" cy="126609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4522" y="3879517"/>
            <a:ext cx="422808" cy="126609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943906" y="3879517"/>
            <a:ext cx="422808" cy="126609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403291" y="3879517"/>
            <a:ext cx="422808" cy="126609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13232" y="4019843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728216" y="4033559"/>
            <a:ext cx="422808" cy="126609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87600" y="4033559"/>
            <a:ext cx="422808" cy="126609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646984" y="4033559"/>
            <a:ext cx="422808" cy="126609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106369" y="4033559"/>
            <a:ext cx="422808" cy="126609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565753" y="4033559"/>
            <a:ext cx="422808" cy="126609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025138" y="4033559"/>
            <a:ext cx="422808" cy="126609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484522" y="4033559"/>
            <a:ext cx="422808" cy="126609"/>
          </a:xfrm>
          <a:prstGeom prst="rect">
            <a:avLst/>
          </a:prstGeom>
          <a:solidFill>
            <a:srgbClr val="D35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43906" y="4033559"/>
            <a:ext cx="422808" cy="126609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403291" y="4033559"/>
            <a:ext cx="422808" cy="126609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3232" y="4173884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728216" y="4187600"/>
            <a:ext cx="422808" cy="126609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187600" y="4187600"/>
            <a:ext cx="422808" cy="126609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46984" y="4187600"/>
            <a:ext cx="422808" cy="126609"/>
          </a:xfrm>
          <a:prstGeom prst="rect">
            <a:avLst/>
          </a:prstGeom>
          <a:solidFill>
            <a:srgbClr val="D25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106369" y="4187600"/>
            <a:ext cx="422808" cy="126609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565753" y="4187600"/>
            <a:ext cx="422808" cy="126609"/>
          </a:xfrm>
          <a:prstGeom prst="rect">
            <a:avLst/>
          </a:prstGeom>
          <a:solidFill>
            <a:srgbClr val="D54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25138" y="4187600"/>
            <a:ext cx="422808" cy="126609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484522" y="4187600"/>
            <a:ext cx="422808" cy="126609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943906" y="4187600"/>
            <a:ext cx="422808" cy="1266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03291" y="4187600"/>
            <a:ext cx="422808" cy="126609"/>
          </a:xfrm>
          <a:prstGeom prst="rect">
            <a:avLst/>
          </a:prstGeom>
          <a:solidFill>
            <a:srgbClr val="A8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13232" y="4327925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728216" y="4341641"/>
            <a:ext cx="422808" cy="126609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187600" y="4341641"/>
            <a:ext cx="422808" cy="126609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646984" y="4341641"/>
            <a:ext cx="422808" cy="126609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106369" y="4341641"/>
            <a:ext cx="422808" cy="126609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565753" y="4341641"/>
            <a:ext cx="422808" cy="126609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025138" y="4341641"/>
            <a:ext cx="422808" cy="126609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484522" y="4341641"/>
            <a:ext cx="422808" cy="126609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943906" y="4341641"/>
            <a:ext cx="422808" cy="126609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403291" y="4341641"/>
            <a:ext cx="422808" cy="126609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13232" y="4481966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728216" y="4495682"/>
            <a:ext cx="422808" cy="126609"/>
          </a:xfrm>
          <a:prstGeom prst="rect">
            <a:avLst/>
          </a:prstGeom>
          <a:solidFill>
            <a:srgbClr val="CB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187600" y="4495682"/>
            <a:ext cx="422808" cy="126609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46984" y="4495682"/>
            <a:ext cx="422808" cy="126609"/>
          </a:xfrm>
          <a:prstGeom prst="rect">
            <a:avLst/>
          </a:prstGeom>
          <a:solidFill>
            <a:srgbClr val="CB9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106369" y="4495682"/>
            <a:ext cx="422808" cy="126609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565753" y="4495682"/>
            <a:ext cx="422808" cy="126609"/>
          </a:xfrm>
          <a:prstGeom prst="rect">
            <a:avLst/>
          </a:prstGeom>
          <a:solidFill>
            <a:srgbClr val="C4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025138" y="4495682"/>
            <a:ext cx="422808" cy="126609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484522" y="4495682"/>
            <a:ext cx="422808" cy="126609"/>
          </a:xfrm>
          <a:prstGeom prst="rect">
            <a:avLst/>
          </a:prstGeom>
          <a:solidFill>
            <a:srgbClr val="D35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943906" y="4495682"/>
            <a:ext cx="422808" cy="126609"/>
          </a:xfrm>
          <a:prstGeom prst="rect">
            <a:avLst/>
          </a:prstGeom>
          <a:solidFill>
            <a:srgbClr val="D26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403291" y="4495682"/>
            <a:ext cx="422808" cy="126609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398867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858252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317636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777020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236405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695789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155174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614558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1073942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347307" y="2642615"/>
            <a:ext cx="1005839" cy="13575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02171" y="2633472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417155" y="2647188"/>
            <a:ext cx="422808" cy="1266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876540" y="2647188"/>
            <a:ext cx="422808" cy="1266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8335924" y="2647188"/>
            <a:ext cx="422808" cy="1266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8795308" y="2647188"/>
            <a:ext cx="422808" cy="126609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9254693" y="2647188"/>
            <a:ext cx="422808" cy="1266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9714077" y="2647188"/>
            <a:ext cx="422808" cy="126609"/>
          </a:xfrm>
          <a:prstGeom prst="rect">
            <a:avLst/>
          </a:prstGeom>
          <a:solidFill>
            <a:srgbClr val="51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0173462" y="2647188"/>
            <a:ext cx="422808" cy="1266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0632846" y="2647188"/>
            <a:ext cx="422808" cy="126609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092230" y="2647188"/>
            <a:ext cx="422808" cy="1266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6347307" y="2796657"/>
            <a:ext cx="1005839" cy="13575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402171" y="2787513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417155" y="2801229"/>
            <a:ext cx="422808" cy="126609"/>
          </a:xfrm>
          <a:prstGeom prst="rect">
            <a:avLst/>
          </a:prstGeom>
          <a:solidFill>
            <a:srgbClr val="409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876540" y="2801229"/>
            <a:ext cx="422808" cy="126609"/>
          </a:xfrm>
          <a:prstGeom prst="rect">
            <a:avLst/>
          </a:prstGeom>
          <a:solidFill>
            <a:srgbClr val="44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335924" y="2801229"/>
            <a:ext cx="422808" cy="126609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8795308" y="2801229"/>
            <a:ext cx="422808" cy="126609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9254693" y="2801229"/>
            <a:ext cx="422808" cy="126609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9714077" y="2801229"/>
            <a:ext cx="422808" cy="126609"/>
          </a:xfrm>
          <a:prstGeom prst="rect">
            <a:avLst/>
          </a:prstGeom>
          <a:solidFill>
            <a:srgbClr val="5A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173462" y="2801229"/>
            <a:ext cx="422808" cy="126609"/>
          </a:xfrm>
          <a:prstGeom prst="rect">
            <a:avLst/>
          </a:prstGeom>
          <a:solidFill>
            <a:srgbClr val="3E9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0632846" y="2801229"/>
            <a:ext cx="422808" cy="126609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1092230" y="2801229"/>
            <a:ext cx="422808" cy="126609"/>
          </a:xfrm>
          <a:prstGeom prst="rect">
            <a:avLst/>
          </a:prstGeom>
          <a:solidFill>
            <a:srgbClr val="3E9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402171" y="2941554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417155" y="2955270"/>
            <a:ext cx="422808" cy="126609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6540" y="2955270"/>
            <a:ext cx="422808" cy="126609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335924" y="2955270"/>
            <a:ext cx="422808" cy="126609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795308" y="2955270"/>
            <a:ext cx="422808" cy="1266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9254693" y="2955270"/>
            <a:ext cx="422808" cy="126609"/>
          </a:xfrm>
          <a:prstGeom prst="rect">
            <a:avLst/>
          </a:prstGeom>
          <a:solidFill>
            <a:srgbClr val="4D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9714077" y="2955270"/>
            <a:ext cx="422808" cy="126609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0173462" y="2955270"/>
            <a:ext cx="422808" cy="126609"/>
          </a:xfrm>
          <a:prstGeom prst="rect">
            <a:avLst/>
          </a:prstGeom>
          <a:solidFill>
            <a:srgbClr val="58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0632846" y="2955270"/>
            <a:ext cx="422808" cy="126609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092230" y="2955270"/>
            <a:ext cx="422808" cy="126609"/>
          </a:xfrm>
          <a:prstGeom prst="rect">
            <a:avLst/>
          </a:prstGeom>
          <a:solidFill>
            <a:srgbClr val="43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402171" y="3095595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7417155" y="3109311"/>
            <a:ext cx="422808" cy="126609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6540" y="3109311"/>
            <a:ext cx="422808" cy="126609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335924" y="3109311"/>
            <a:ext cx="422808" cy="126609"/>
          </a:xfrm>
          <a:prstGeom prst="rect">
            <a:avLst/>
          </a:prstGeom>
          <a:solidFill>
            <a:srgbClr val="61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795308" y="3109311"/>
            <a:ext cx="422808" cy="126609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9254693" y="3109311"/>
            <a:ext cx="422808" cy="126609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714077" y="3109311"/>
            <a:ext cx="422808" cy="126609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10173462" y="3109311"/>
            <a:ext cx="422808" cy="126609"/>
          </a:xfrm>
          <a:prstGeom prst="rect">
            <a:avLst/>
          </a:prstGeom>
          <a:solidFill>
            <a:srgbClr val="76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0632846" y="3109311"/>
            <a:ext cx="422808" cy="126609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092230" y="3109311"/>
            <a:ext cx="422808" cy="126609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402171" y="3249636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417155" y="3263352"/>
            <a:ext cx="422808" cy="126609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6540" y="3263352"/>
            <a:ext cx="422808" cy="126609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335924" y="3263352"/>
            <a:ext cx="422808" cy="126609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795308" y="3263352"/>
            <a:ext cx="422808" cy="126609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254693" y="3263352"/>
            <a:ext cx="422808" cy="126609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9714077" y="3263352"/>
            <a:ext cx="422808" cy="1266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0173462" y="3263352"/>
            <a:ext cx="422808" cy="126609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0632846" y="3263352"/>
            <a:ext cx="422808" cy="126609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1092230" y="3263352"/>
            <a:ext cx="422808" cy="126609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402171" y="3403678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7417155" y="3417394"/>
            <a:ext cx="422808" cy="126609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6540" y="3417394"/>
            <a:ext cx="422808" cy="126609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335924" y="3417394"/>
            <a:ext cx="422808" cy="126609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795308" y="3417394"/>
            <a:ext cx="422808" cy="126609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254693" y="3417394"/>
            <a:ext cx="422808" cy="126609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9714077" y="3417394"/>
            <a:ext cx="422808" cy="126609"/>
          </a:xfrm>
          <a:prstGeom prst="rect">
            <a:avLst/>
          </a:prstGeom>
          <a:solidFill>
            <a:srgbClr val="AE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0173462" y="3417394"/>
            <a:ext cx="422808" cy="126609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0632846" y="3417394"/>
            <a:ext cx="422808" cy="126609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1092230" y="3417394"/>
            <a:ext cx="422808" cy="126609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402171" y="3557719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417155" y="3571435"/>
            <a:ext cx="422808" cy="126609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6540" y="3571435"/>
            <a:ext cx="422808" cy="126609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335924" y="3571435"/>
            <a:ext cx="422808" cy="126609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795308" y="3571435"/>
            <a:ext cx="422808" cy="126609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254693" y="3571435"/>
            <a:ext cx="422808" cy="126609"/>
          </a:xfrm>
          <a:prstGeom prst="rect">
            <a:avLst/>
          </a:prstGeom>
          <a:solidFill>
            <a:srgbClr val="6E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714077" y="3571435"/>
            <a:ext cx="422808" cy="126609"/>
          </a:xfrm>
          <a:prstGeom prst="rect">
            <a:avLst/>
          </a:prstGeom>
          <a:solidFill>
            <a:srgbClr val="B4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0173462" y="3571435"/>
            <a:ext cx="422808" cy="126609"/>
          </a:xfrm>
          <a:prstGeom prst="rect">
            <a:avLst/>
          </a:prstGeom>
          <a:solidFill>
            <a:srgbClr val="A5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0632846" y="3571435"/>
            <a:ext cx="422808" cy="126609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1092230" y="3571435"/>
            <a:ext cx="422808" cy="126609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6402171" y="3711760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7417155" y="3725476"/>
            <a:ext cx="422808" cy="126609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7876540" y="3725476"/>
            <a:ext cx="422808" cy="126609"/>
          </a:xfrm>
          <a:prstGeom prst="rect">
            <a:avLst/>
          </a:prstGeom>
          <a:solidFill>
            <a:srgbClr val="CB9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8335924" y="3725476"/>
            <a:ext cx="422808" cy="126609"/>
          </a:xfrm>
          <a:prstGeom prst="rect">
            <a:avLst/>
          </a:prstGeom>
          <a:solidFill>
            <a:srgbClr val="A2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8795308" y="3725476"/>
            <a:ext cx="422808" cy="126609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9254693" y="3725476"/>
            <a:ext cx="422808" cy="126609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9714077" y="3725476"/>
            <a:ext cx="422808" cy="126609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173462" y="3725476"/>
            <a:ext cx="422808" cy="126609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632846" y="3725476"/>
            <a:ext cx="422808" cy="126609"/>
          </a:xfrm>
          <a:prstGeom prst="rect">
            <a:avLst/>
          </a:prstGeom>
          <a:solidFill>
            <a:srgbClr val="D06B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1092230" y="3725476"/>
            <a:ext cx="422808" cy="126609"/>
          </a:xfrm>
          <a:prstGeom prst="rect">
            <a:avLst/>
          </a:prstGeom>
          <a:solidFill>
            <a:srgbClr val="CA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402171" y="3865801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7417155" y="3879517"/>
            <a:ext cx="422808" cy="126609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7876540" y="3879517"/>
            <a:ext cx="422808" cy="126609"/>
          </a:xfrm>
          <a:prstGeom prst="rect">
            <a:avLst/>
          </a:prstGeom>
          <a:solidFill>
            <a:srgbClr val="CB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335924" y="3879517"/>
            <a:ext cx="422808" cy="126609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795308" y="3879517"/>
            <a:ext cx="422808" cy="126609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9254693" y="3879517"/>
            <a:ext cx="422808" cy="126609"/>
          </a:xfrm>
          <a:prstGeom prst="rect">
            <a:avLst/>
          </a:prstGeom>
          <a:solidFill>
            <a:srgbClr val="D26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9714077" y="3879517"/>
            <a:ext cx="422808" cy="126609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0173462" y="3879517"/>
            <a:ext cx="422808" cy="126609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0632846" y="3879517"/>
            <a:ext cx="422808" cy="126609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1092230" y="3879517"/>
            <a:ext cx="422808" cy="126609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402171" y="4019843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417155" y="4033559"/>
            <a:ext cx="422808" cy="126609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7876540" y="4033559"/>
            <a:ext cx="422808" cy="126609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335924" y="4033559"/>
            <a:ext cx="422808" cy="126609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795308" y="4033559"/>
            <a:ext cx="422808" cy="126609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9254693" y="4033559"/>
            <a:ext cx="422808" cy="126609"/>
          </a:xfrm>
          <a:prstGeom prst="rect">
            <a:avLst/>
          </a:prstGeom>
          <a:solidFill>
            <a:srgbClr val="D2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9714077" y="4033559"/>
            <a:ext cx="422808" cy="126609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0173462" y="4033559"/>
            <a:ext cx="422808" cy="126609"/>
          </a:xfrm>
          <a:prstGeom prst="rect">
            <a:avLst/>
          </a:prstGeom>
          <a:solidFill>
            <a:srgbClr val="D35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0632846" y="4033559"/>
            <a:ext cx="422808" cy="126609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1092230" y="4033559"/>
            <a:ext cx="422808" cy="126609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02171" y="4173884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417155" y="4187600"/>
            <a:ext cx="422808" cy="126609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7876540" y="4187600"/>
            <a:ext cx="422808" cy="126609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35924" y="4187600"/>
            <a:ext cx="422808" cy="126609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795308" y="4187600"/>
            <a:ext cx="422808" cy="126609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9254693" y="4187600"/>
            <a:ext cx="422808" cy="126609"/>
          </a:xfrm>
          <a:prstGeom prst="rect">
            <a:avLst/>
          </a:prstGeom>
          <a:solidFill>
            <a:srgbClr val="D35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9714077" y="4187600"/>
            <a:ext cx="422808" cy="126609"/>
          </a:xfrm>
          <a:prstGeom prst="rect">
            <a:avLst/>
          </a:prstGeom>
          <a:solidFill>
            <a:srgbClr val="D06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173462" y="4187600"/>
            <a:ext cx="422808" cy="126609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0632846" y="4187600"/>
            <a:ext cx="422808" cy="1266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1092230" y="4187600"/>
            <a:ext cx="422808" cy="126609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6402171" y="4327925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7417155" y="4341641"/>
            <a:ext cx="422808" cy="126609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876540" y="4341641"/>
            <a:ext cx="422808" cy="126609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8335924" y="4341641"/>
            <a:ext cx="422808" cy="126609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8795308" y="4341641"/>
            <a:ext cx="422808" cy="126609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254693" y="4341641"/>
            <a:ext cx="422808" cy="126609"/>
          </a:xfrm>
          <a:prstGeom prst="rect">
            <a:avLst/>
          </a:prstGeom>
          <a:solidFill>
            <a:srgbClr val="C9A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9714077" y="4341641"/>
            <a:ext cx="422808" cy="126609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0173462" y="4341641"/>
            <a:ext cx="422808" cy="126609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0632846" y="4341641"/>
            <a:ext cx="422808" cy="126609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1092230" y="4341641"/>
            <a:ext cx="422808" cy="126609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6402171" y="4481966"/>
            <a:ext cx="905255" cy="1540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7417155" y="4495682"/>
            <a:ext cx="422808" cy="126609"/>
          </a:xfrm>
          <a:prstGeom prst="rect">
            <a:avLst/>
          </a:prstGeom>
          <a:solidFill>
            <a:srgbClr val="CB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7876540" y="4495682"/>
            <a:ext cx="422808" cy="126609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8335924" y="4495682"/>
            <a:ext cx="422808" cy="126609"/>
          </a:xfrm>
          <a:prstGeom prst="rect">
            <a:avLst/>
          </a:prstGeom>
          <a:solidFill>
            <a:srgbClr val="CB9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795308" y="4495682"/>
            <a:ext cx="422808" cy="126609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9254693" y="4495682"/>
            <a:ext cx="422808" cy="126609"/>
          </a:xfrm>
          <a:prstGeom prst="rect">
            <a:avLst/>
          </a:prstGeom>
          <a:solidFill>
            <a:srgbClr val="C4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9714077" y="4495682"/>
            <a:ext cx="422808" cy="126609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0173462" y="4495682"/>
            <a:ext cx="422808" cy="126609"/>
          </a:xfrm>
          <a:prstGeom prst="rect">
            <a:avLst/>
          </a:prstGeom>
          <a:solidFill>
            <a:srgbClr val="CD7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0632846" y="4495682"/>
            <a:ext cx="422808" cy="126609"/>
          </a:xfrm>
          <a:prstGeom prst="rect">
            <a:avLst/>
          </a:prstGeom>
          <a:solidFill>
            <a:srgbClr val="D26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1092230" y="4495682"/>
            <a:ext cx="422808" cy="126609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658368" y="4791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Estación Colina 6º → 1º</a:t>
            </a:r>
            <a:r>
              <a:rPr sz="1150" b="1">
                <a:solidFill>
                  <a:srgbClr val="B07D24"/>
                </a:solidFill>
                <a:latin typeface="Helvetica Neue"/>
              </a:rPr>
              <a:t>      Batuco 11º → 2º</a:t>
            </a:r>
            <a:r>
              <a:rPr sz="1100" b="0">
                <a:solidFill>
                  <a:srgbClr val="6E6A64"/>
                </a:solidFill>
                <a:latin typeface="Helvetica Neue"/>
              </a:rPr>
              <a:t>   del set en transporte público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Las filas que hoy son rojas para nuestros proyectos se vuelven verdes con el tren: Estación Colina pasa a ser la mejor conectada, y Batuco la segunda.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COSTO — EL CANDADO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otro reparo: su transporte público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no es RED, y eso se paga.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54744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32768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46484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46484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46484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46484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46484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46484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46484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46484"/>
            <a:ext cx="973632" cy="154744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46484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3276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814945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28661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28661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28661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28661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28661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28661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28661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28661"/>
            <a:ext cx="973632" cy="154744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28661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81494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97121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3010837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3010837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3010837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3010837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3010837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3010837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3010837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3010837"/>
            <a:ext cx="973632" cy="154744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3010837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9712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79298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9301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9301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9301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9301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9301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9301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9301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93014"/>
            <a:ext cx="973632" cy="154744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9301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7929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13232" y="3361475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459736" y="3375191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41448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69944" y="3375191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51656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80153" y="3375191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61865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490362" y="3375191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472074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500571" y="3375191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82283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10780" y="3375191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492492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20988" y="3375191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502700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531197" y="3375191"/>
            <a:ext cx="973632" cy="154744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12909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66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541406" y="3375191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523118" y="3361475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58368" y="3552795"/>
            <a:ext cx="1737360" cy="163888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13232" y="3543651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55736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55736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55736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55736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55736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55736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55736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557367"/>
            <a:ext cx="973632" cy="154744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55736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54365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725828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73954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73954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73954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73954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73954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73954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73954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739544"/>
            <a:ext cx="973632" cy="154744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739544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72582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908004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921720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921720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921720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921720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921720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921720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921720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921720"/>
            <a:ext cx="973632" cy="154744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921720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90800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4090181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410389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410389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410389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410389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410389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410389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410389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4103897"/>
            <a:ext cx="973632" cy="154744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4103897"/>
            <a:ext cx="973632" cy="154744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409018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13232" y="4272358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2459736" y="4286074"/>
            <a:ext cx="973632" cy="154744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2441448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3469944" y="4286074"/>
            <a:ext cx="973632" cy="154744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3451656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4480153" y="4286074"/>
            <a:ext cx="973632" cy="154744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4461865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490362" y="4286074"/>
            <a:ext cx="973632" cy="154744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5472074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500571" y="4286074"/>
            <a:ext cx="973632" cy="154744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482283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510780" y="4286074"/>
            <a:ext cx="973632" cy="154744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492492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8520988" y="4286074"/>
            <a:ext cx="973632" cy="154744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8502700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9531197" y="4286074"/>
            <a:ext cx="973632" cy="154744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512909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541406" y="4286074"/>
            <a:ext cx="973632" cy="154744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523118" y="4272358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658368" y="4463678"/>
            <a:ext cx="1737360" cy="163888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713232" y="4454534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468250"/>
            <a:ext cx="973632" cy="154744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468250"/>
            <a:ext cx="973632" cy="154744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468250"/>
            <a:ext cx="973632" cy="154744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468250"/>
            <a:ext cx="973632" cy="154744"/>
          </a:xfrm>
          <a:prstGeom prst="rect">
            <a:avLst/>
          </a:prstGeom>
          <a:solidFill>
            <a:srgbClr val="57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468250"/>
            <a:ext cx="973632" cy="154744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468250"/>
            <a:ext cx="973632" cy="154744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468250"/>
            <a:ext cx="973632" cy="154744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468250"/>
            <a:ext cx="973632" cy="154744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468250"/>
            <a:ext cx="973632" cy="154744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454534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636711"/>
            <a:ext cx="1636776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650427"/>
            <a:ext cx="973632" cy="15474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636711"/>
            <a:ext cx="1010208" cy="182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transporte público, en miles de pesos. Batuco y Estación Colina pagan por tramo, sin bip! integrado → tarifa más alta.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y Batuco quedan rojos: al no estar integrados a RED, pagan el tramo aparte. Es una debilidad — y una palanca que sí podemos mover (lámina 15).</a:t>
            </a:r>
          </a:p>
        </p:txBody>
      </p:sp>
      <p:cxnSp>
        <p:nvCxnSpPr>
          <p:cNvPr id="268" name="Connector 26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CAMBIO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La Orbital sube a Batuco al podio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vial — la mayor palanca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Orbital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B07D24"/>
                </a:solidFill>
                <a:latin typeface="Helvetica Neue"/>
              </a:rPr>
              <a:t>−</a:t>
            </a:r>
            <a:r>
              <a:rPr sz="3000" b="1">
                <a:solidFill>
                  <a:srgbClr val="B07D24"/>
                </a:solidFill>
                <a:latin typeface="Helvetica Neue"/>
              </a:rPr>
              <a:t>28 min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10º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lugar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30">
                <a:solidFill>
                  <a:srgbClr val="134E48"/>
                </a:solidFill>
                <a:latin typeface="Helvetica Neue"/>
              </a:rPr>
              <a:t>SÓLO EL CORREDOR NORPONIENTE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Orbital Norponiente cruza el terreno de Batuco: enlace a 7 minutos. Es la diferencia entre una zona periférica y una que pelea el podio en auto.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fuerte es la centralidad y el tren. Cada proyecto juega su carta.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“con la Orbital” no es un detalle de ingeniería: es EL argumento vial de Batuco.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DIRECTORIO · POSICIÓN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Cada zona, ubicada por tiempo y costo 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manejar. El ideal: rápida y barata.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1207007" y="3908769"/>
            <a:ext cx="4255500" cy="754670"/>
          </a:xfrm>
          <a:prstGeom prst="rect">
            <a:avLst/>
          </a:prstGeom>
          <a:solidFill>
            <a:srgbClr val="EF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462508" y="2514600"/>
            <a:ext cx="0" cy="214884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07007" y="3908769"/>
            <a:ext cx="9594800" cy="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07007" y="4718303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← más rápido en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7247" y="4718303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más lento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" y="2258568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↑ más caro de manejar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435254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40">
                <a:solidFill>
                  <a:srgbClr val="2F9E6E"/>
                </a:solidFill>
                <a:latin typeface="Helvetica Neue"/>
              </a:rPr>
              <a:t>RÁPIDA Y BARATA ✓</a:t>
            </a:r>
          </a:p>
        </p:txBody>
      </p:sp>
      <p:sp>
        <p:nvSpPr>
          <p:cNvPr id="12" name="Oval 11"/>
          <p:cNvSpPr/>
          <p:nvPr/>
        </p:nvSpPr>
        <p:spPr>
          <a:xfrm>
            <a:off x="7315529" y="3419108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4129" y="3400820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" name="Oval 13"/>
          <p:cNvSpPr/>
          <p:nvPr/>
        </p:nvSpPr>
        <p:spPr>
          <a:xfrm>
            <a:off x="4462590" y="3882145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1190" y="3863857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6" name="Oval 15"/>
          <p:cNvSpPr/>
          <p:nvPr/>
        </p:nvSpPr>
        <p:spPr>
          <a:xfrm>
            <a:off x="4260093" y="451291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86807" y="42250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25919" y="429901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989144" y="2826443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80402" y="353714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73167" y="385390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16875" y="40443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01465" y="2555392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68307" y="2952740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144419" y="446493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07644" y="351214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cae en la mitad rápida y de costo medio; Batuco es rápido con la Orbital, pero caro de manejar. Dos perfiles, dos argumentos de venta distintos.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EN 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sobreprecio en UF: cuánto más puede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pedir cada zona por su conectividad.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00">
                <a:solidFill>
                  <a:srgbClr val="6E6A64"/>
                </a:solidFill>
                <a:latin typeface="Helvetica Neue"/>
              </a:rPr>
              <a:t>UF QUE JUSTIFICA UNA VIVIENDA POR SOBRE LA ZONA MENOS CONECTADA DEL SET · TIEMPO + COSTO AHORRADOS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7685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" y="227685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2286000"/>
            <a:ext cx="6138367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6983" y="22677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2.277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02712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" y="2502712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2511856"/>
            <a:ext cx="611222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0838" y="249356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2.268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8569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5" y="2728569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737713"/>
            <a:ext cx="5910933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9549" y="2719425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2.193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95442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295442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2963570"/>
            <a:ext cx="4543934" cy="1344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72550" y="294528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07D24"/>
                </a:solidFill>
                <a:latin typeface="Helvetica Neue"/>
              </a:rPr>
              <a:t>1.686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180283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5" y="3180283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3189427"/>
            <a:ext cx="433957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8188" y="3171139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1.610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40614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5" y="34061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3415284"/>
            <a:ext cx="379579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24407" y="339699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1.408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363199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5" y="363199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641140"/>
            <a:ext cx="3523654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2270" y="362285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1.307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857853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5" y="3857853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866997"/>
            <a:ext cx="340402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32637" y="3848709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1.263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08371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5" y="408371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092854"/>
            <a:ext cx="2843859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75" y="407456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1.055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4309567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5" y="4309567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4318711"/>
            <a:ext cx="2746403" cy="1344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75019" y="4300423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07D24"/>
                </a:solidFill>
                <a:latin typeface="Helvetica Neue"/>
              </a:rPr>
              <a:t>1.019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453542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5" y="4535424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46320" y="4544568"/>
            <a:ext cx="229180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0418" y="452628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850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76128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5" y="476128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46320" y="4770424"/>
            <a:ext cx="1942530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71146" y="475213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721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4987137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5" y="4987137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46320" y="4996281"/>
            <a:ext cx="87097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99588" y="4977993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323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Se mide contra la peor zona del set (Buin): una vivienda en Estación Colina justifica ~1.686 UF más, y Batuco ~1.019 UF más — solo por lo que su gente ahorra en traslados, capitalizado.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POR TIPO DE 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En cada segmento donde competimos,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estamos bien parados.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DS19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7 zonas · ranking en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Hda. Batuco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Colina·Reina 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4059935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427482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6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448970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57117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57117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99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Casa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999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12 zonas · ranking en auto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99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99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99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Ayres Chicureo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99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Sta Elena Chic.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997" y="4059935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9997" y="427482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6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9997" y="448970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Hda. Batuco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9997" y="470458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Colina·Reina 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9997" y="491947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+4 más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5867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55867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874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Townhouses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874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4 zonas · ranking en auto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874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874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874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3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874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4617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54617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3749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Edificio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749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5 zonas · ranking en auto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749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749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749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3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749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7497" y="4059935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compite en DS19, townhouses y edificios; Batuco en townhouses y edificios — y en varios, entre los mejores del segmento.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LOS REPAROS, SIN VUELTAS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Dónde somos débiles hoy — y por qué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cada reparo tiene salida.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es caro en auto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2359151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Cruza autopistas concesionadas: su costo de manejar está entre los más altos.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8" y="2359151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La Orbital lo acerca y el tren lo saca del auto.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3136391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326440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transporte público no es 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4487" y="3291839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Batuco y Estación Colina pagan por tramo, sin bip! integrado: tarifa más alta.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3291839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Integrarse a RED es gestión, no una obra: está en nuestra cancha.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069080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197096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valor depende de obra futura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4487" y="422452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La Orbital y los trenes están en construcción (2028–2030), no operando hoy.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4224528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Con cronograma oficial de EFE y el MOP como respaldo.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Ninguna debilidad es de fondo: dos se resuelven con la infraestructura que ya viene, y la tercera —RED— la podemos empujar nosotros.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JUGADA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La palanca que está en nuestra cancha: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integrar Batuco y Colina a 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4937760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6946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~$103k/mes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750747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95515" y="34381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9E6E"/>
                </a:solidFill>
                <a:latin typeface="Helvetica Neue"/>
              </a:rPr>
              <a:t>~$37k/mes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F9E6E"/>
                </a:solidFill>
                <a:latin typeface="Helvetica Neue"/>
              </a:rPr>
              <a:t>−</a:t>
            </a:r>
            <a:r>
              <a:rPr sz="2600" b="1">
                <a:solidFill>
                  <a:srgbClr val="2F9E6E"/>
                </a:solidFill>
                <a:latin typeface="Helvetica Neue"/>
              </a:rPr>
              <a:t>65%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 — y no depende de esperar a 2030.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la recomendación central: pelear por la integración a RED. Baja el costo, sube el atractivo, y está bajo nuestra influencia — no la de una autopista por construir.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 PROYECTO · BATUCO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Batuco: de periférico a podio con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la infraestructura que ya viene.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134E48"/>
                </a:solidFill>
                <a:latin typeface="Helvetica Neue"/>
              </a:rPr>
              <a:t>POSICIÓN COMPETITIVA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Auto  </a:t>
            </a:r>
            <a:r>
              <a:rPr sz="1400" b="1">
                <a:solidFill>
                  <a:srgbClr val="6E6A64"/>
                </a:solidFill>
                <a:latin typeface="Helvetica Neue"/>
              </a:rPr>
              <a:t>10º 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con la Orbital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Transp. público  </a:t>
            </a:r>
            <a:r>
              <a:rPr sz="14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con el tren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Costo de manejar  </a:t>
            </a:r>
            <a:r>
              <a:rPr sz="1400" b="1">
                <a:solidFill>
                  <a:srgbClr val="161616"/>
                </a:solidFill>
                <a:latin typeface="Helvetica Neue"/>
              </a:rPr>
              <a:t>$355k/mes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16052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Su valor está amarrado a la obra futura: la Orbital lo acerca en auto, el Tren Batuco lo conecta en transporte público. Sin ellas es lejano; con ellas, top del corredor.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965960"/>
            <a:ext cx="4949647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9192237" y="3329297"/>
            <a:ext cx="6434" cy="5701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9100374" y="3183009"/>
            <a:ext cx="91863" cy="14628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940695" y="3006033"/>
            <a:ext cx="159679" cy="176976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8779222" y="2923393"/>
            <a:ext cx="161473" cy="82640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8567124" y="2814754"/>
            <a:ext cx="212098" cy="10863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8257574" y="2655916"/>
            <a:ext cx="309550" cy="15883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7793828" y="2418274"/>
            <a:ext cx="463746" cy="237642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71239" y="33588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64805" y="3301865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72942" y="3155577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3263" y="297860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51790" y="289596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39692" y="278732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30142" y="26284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66396" y="239084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84806" y="2330003"/>
            <a:ext cx="201168" cy="201168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65305" y="2601409"/>
            <a:ext cx="100584" cy="100584"/>
          </a:xfrm>
          <a:prstGeom prst="ellipse">
            <a:avLst/>
          </a:prstGeom>
          <a:solidFill>
            <a:srgbClr val="D8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7876" y="2798921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074447" y="264661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8314" y="2682610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91790" y="22038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28001" y="227864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69407" y="402946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69095" y="3909179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18736" y="471175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39329" y="211881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547685" y="306985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37920" y="235394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31694" y="2211131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626864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4E48"/>
                </a:solidFill>
                <a:latin typeface="Helvetica Neue"/>
              </a:rPr>
              <a:t>— corredor Tren Santiago–Batuco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no se vende por lo que es hoy, sino por lo que la infraestructura —ya en construcción— lo convierte: un proyecto de podio.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 PROYECTO · ESTACIÓN COLINA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Estación Colina: ya central hoy,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y #1 en transporte público mañana.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134E48"/>
                </a:solidFill>
                <a:latin typeface="Helvetica Neue"/>
              </a:rPr>
              <a:t>POSICIÓN COMPETITIVA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Auto 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6º de 13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— ya central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Transp. público  </a:t>
            </a:r>
            <a:r>
              <a:rPr sz="1400" b="1">
                <a:solidFill>
                  <a:srgbClr val="6E6A64"/>
                </a:solidFill>
                <a:latin typeface="Helvetica Neue"/>
              </a:rPr>
              <a:t>6º 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con el tren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Costo de manejar  </a:t>
            </a:r>
            <a:r>
              <a:rPr sz="1400" b="1">
                <a:solidFill>
                  <a:srgbClr val="161616"/>
                </a:solidFill>
                <a:latin typeface="Helvetica Neue"/>
              </a:rPr>
              <a:t>$282k/mes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16052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Su carta es la centralidad y una estación de tren propia — no depende de la Orbital. El tren la vuelve la mejor conectada del set en transporte público, y su tarifa se mantiene baja.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965960"/>
            <a:ext cx="4949647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9192237" y="3329297"/>
            <a:ext cx="6434" cy="5701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9100374" y="3183009"/>
            <a:ext cx="91863" cy="14628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940695" y="3006033"/>
            <a:ext cx="159679" cy="176976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8779222" y="2923393"/>
            <a:ext cx="161473" cy="82640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8567124" y="2814754"/>
            <a:ext cx="212098" cy="10863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8257574" y="2655916"/>
            <a:ext cx="309550" cy="15883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7793828" y="2418274"/>
            <a:ext cx="463746" cy="237642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71239" y="33588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64805" y="3301865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72942" y="3155577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3263" y="297860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51790" y="289596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39692" y="278732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30142" y="26284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66396" y="239084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35098" y="2380295"/>
            <a:ext cx="100584" cy="100584"/>
          </a:xfrm>
          <a:prstGeom prst="ellipse">
            <a:avLst/>
          </a:prstGeom>
          <a:solidFill>
            <a:srgbClr val="D8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15013" y="2551117"/>
            <a:ext cx="201168" cy="201168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7876" y="2798921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074447" y="264661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8314" y="2682610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91790" y="22038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28001" y="227864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69407" y="402946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69095" y="3909179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18736" y="471175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39329" y="211881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547685" y="306985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37920" y="235394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1901" y="2432245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626864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4E48"/>
                </a:solidFill>
                <a:latin typeface="Helvetica Neue"/>
              </a:rPr>
              <a:t>— corredor Tren Santiago–Batuco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ya compite hoy por ubicación; el tren la convierte en la referencia de transporte público del corredor norte.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IMPLICANCIAS PARA MODELA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Qué hacemos con esto: producto,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precio y argumento comercial.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Densificar donde la conectividad futura sube el techo de valor (Batuco con Orbital + tren).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Estación Colina admite DS19, townhouse y edificio: producto para el que valora ubicación.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5754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PRECIO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La conectividad justifica sobreprecio en UF — o mejor propuesta a igual precio.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5754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Fijar precio contra el set del corredor, no contra el promedio RM.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3140" y="2331720"/>
            <a:ext cx="384048" cy="4572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B07D24"/>
                </a:solidFill>
                <a:latin typeface="Helvetica Neue"/>
              </a:rPr>
              <a:t>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3140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Vender el ‘mañana’ con respaldo: Orbital y trenes ya en construcción, con fuente.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3140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Batuco = tesis de plusvalía; Estación Colina = conectividad ya disponible.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conectividad deja de ser un dato del estudio: es palanca de pricing, de mezcla de producto y de relato de venta.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 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suficiente para decidir el portafolio.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fuertes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Estación Colina ya es central hoy; ambos proyectos justifican sobreprecio en UF.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el tren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transporte público se reordena: Estación Colina pasa a 1º y Batuco a 2º del 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la Orbital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sube del 10º al 3º en auto — la mayor palanca vial del estudio.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débiles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es caro en auto, y ninguno es RED: hoy pagan tarifa por tramo.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La jugada inmediata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Pelear por integrar Batuco y Estación Colina a RED: baja el costo y está en nuestra cancha.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Cuánto vale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ahorro de tiempo y de costo se capitaliza en UF y en capacidad de compra.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hoy, y de los más competitivos del norte con la infraestructura que viene. La jugada que no depende de nadie más: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