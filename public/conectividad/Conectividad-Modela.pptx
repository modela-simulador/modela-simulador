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1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58368" y="822960"/>
            <a:ext cx="822960" cy="41148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spc="220">
                <a:solidFill>
                  <a:srgbClr val="B9B4AA"/>
                </a:solidFill>
                <a:latin typeface="Helvetica Neue"/>
              </a:rPr>
              <a:t>MODELA  ·  DESARROLLO INMOBILIARIO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108749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FFFFFF"/>
                </a:solidFill>
                <a:latin typeface="Helvetica Neue"/>
              </a:rPr>
              <a:t>¿Cuánto vale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0" b="1" spc="-20">
                <a:solidFill>
                  <a:srgbClr val="B07D24"/>
                </a:solidFill>
                <a:latin typeface="Helvetica Neue"/>
              </a:rPr>
              <a:t>la conectividad?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434840"/>
            <a:ext cx="8412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CFCBC2"/>
                </a:solidFill>
                <a:latin typeface="Helvetica Neue"/>
              </a:rPr>
              <a:t>Cómo la accesibilidad vial y ferroviaria se traduce en valor inmobiliario — y por qué Batuco y Estación Colina compiten hoy, y lideran mañana.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989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Evaluación de accesibilidad · Región Metropolitana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90127" y="59893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spc="60">
                <a:solidFill>
                  <a:srgbClr val="8C8880"/>
                </a:solidFill>
                <a:latin typeface="Helvetica Neue"/>
              </a:rPr>
              <a:t>Documento de directorio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La conectividad no es un atributo: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es valor inmobiliario medible.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Menos tiempo y menos costo de traslado se capitalizan en cuánto puede pagar una familia por su vivienda. Medimos esa conexión, zona por zona — y el veredicto para el portafolio es claro.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3º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Batuco en auto, con la Orbital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11º de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4728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1º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4728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Estación Colina en transporte público, con el tren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4728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hoy 5º de 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6207" y="306324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161616"/>
                </a:solidFill>
                <a:latin typeface="Helvetica Neue"/>
              </a:rPr>
              <a:t>−1 h 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7" y="3776472"/>
            <a:ext cx="26517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que recorta el tren a Batuco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7" y="443484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de 2h17 a 1h10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3063240"/>
            <a:ext cx="24688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spc="-20">
                <a:solidFill>
                  <a:srgbClr val="B07D24"/>
                </a:solidFill>
                <a:latin typeface="Helvetica Neue"/>
              </a:rPr>
              <a:t>+1.686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25128" y="3776472"/>
            <a:ext cx="2468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61616"/>
                </a:solidFill>
                <a:latin typeface="Helvetica Neue"/>
              </a:rPr>
              <a:t>UF de mayor valor — Est. Colina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25128" y="4434840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E6A64"/>
                </a:solidFill>
                <a:latin typeface="Helvetica Neue"/>
              </a:rPr>
              <a:t>Batuco, +1.019 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y Estación Colina son competitivos hoy y de los más competitivos del norte con la infraestructura que ya está en construcción.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QUÉ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¿Por qué la conectividad decide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spc="-10">
                <a:solidFill>
                  <a:srgbClr val="161616"/>
                </a:solidFill>
                <a:latin typeface="Helvetica Neue"/>
              </a:rPr>
              <a:t>dónde se vive?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TIEMPO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Dos horas de viaje al día son 40 al mes. El tiempo a trabajo, colegio y servicios pesa en la decisión de compra tanto como los metros cuadrados.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5754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COSTO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5754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Tener y usar un auto cuesta $430–750k al mes —seguro, cuota, permiso, mantención, bencina y TAG—: varias veces el transporte público. Ese diferencial es capacidad de compra.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13140" y="2331720"/>
            <a:ext cx="384048" cy="41148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60">
                <a:solidFill>
                  <a:srgbClr val="134E48"/>
                </a:solidFill>
                <a:latin typeface="Helvetica Neue"/>
              </a:rPr>
              <a:t>VALOR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3140" y="2971800"/>
            <a:ext cx="3320186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61616"/>
                </a:solidFill>
                <a:latin typeface="Helvetica Neue"/>
              </a:rPr>
              <a:t>A igual precio, la mejor conectada vale más. La conectividad se paga: en sobreprecio, o en una mejor propuesta al mismo precio.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decisión de compra no es solo precio y producto: es cuánto cuesta —en tiempo y en dinero— vivir ahí todos los días.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QUÉ ANALIZAMOS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14 zonas del norte y sur, contra los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destinos que mueven una vida.</a:t>
            </a:r>
          </a:p>
        </p:txBody>
      </p:sp>
      <p:sp>
        <p:nvSpPr>
          <p:cNvPr id="5" name="Rectangle 4"/>
          <p:cNvSpPr/>
          <p:nvPr/>
        </p:nvSpPr>
        <p:spPr>
          <a:xfrm>
            <a:off x="4626864" y="1874520"/>
            <a:ext cx="2860831" cy="343814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ap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956816"/>
            <a:ext cx="2696239" cy="32735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383457" y="2604754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15286" y="3212366"/>
            <a:ext cx="15544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9" name="Oval 8"/>
          <p:cNvSpPr/>
          <p:nvPr/>
        </p:nvSpPr>
        <p:spPr>
          <a:xfrm>
            <a:off x="5277496" y="4045928"/>
            <a:ext cx="338328" cy="3383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291212" y="4059644"/>
            <a:ext cx="310896" cy="31089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_aeropuer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0956" y="4109387"/>
            <a:ext cx="211409" cy="211409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5800884" y="3732806"/>
            <a:ext cx="338328" cy="3383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14600" y="3746522"/>
            <a:ext cx="310896" cy="31089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ear_indust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4343" y="3796265"/>
            <a:ext cx="211409" cy="211409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6213250" y="3770760"/>
            <a:ext cx="338328" cy="3383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26966" y="3784476"/>
            <a:ext cx="310896" cy="31089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ar_ma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6709" y="3834219"/>
            <a:ext cx="211409" cy="211409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6665267" y="3894111"/>
            <a:ext cx="338328" cy="3383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78983" y="3907827"/>
            <a:ext cx="310896" cy="31089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d_ciudadempresari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8726" y="3957570"/>
            <a:ext cx="211409" cy="211409"/>
          </a:xfrm>
          <a:prstGeom prst="rect">
            <a:avLst/>
          </a:prstGeom>
        </p:spPr>
      </p:pic>
      <p:sp>
        <p:nvSpPr>
          <p:cNvPr id="21" name="Oval 20"/>
          <p:cNvSpPr/>
          <p:nvPr/>
        </p:nvSpPr>
        <p:spPr>
          <a:xfrm>
            <a:off x="6490804" y="4169279"/>
            <a:ext cx="338328" cy="3383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04520" y="4182995"/>
            <a:ext cx="310896" cy="31089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ear_hospit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4263" y="4232739"/>
            <a:ext cx="211409" cy="211409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6332202" y="4529844"/>
            <a:ext cx="338328" cy="3383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45918" y="4543560"/>
            <a:ext cx="310896" cy="31089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d_centr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95661" y="4593304"/>
            <a:ext cx="211409" cy="211409"/>
          </a:xfrm>
          <a:prstGeom prst="rect">
            <a:avLst/>
          </a:prstGeom>
        </p:spPr>
      </p:pic>
      <p:sp>
        <p:nvSpPr>
          <p:cNvPr id="27" name="Oval 26"/>
          <p:cNvSpPr/>
          <p:nvPr/>
        </p:nvSpPr>
        <p:spPr>
          <a:xfrm>
            <a:off x="6070508" y="4643707"/>
            <a:ext cx="338328" cy="3383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4224" y="4657423"/>
            <a:ext cx="310896" cy="31089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near_universida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3967" y="4707166"/>
            <a:ext cx="211409" cy="211409"/>
          </a:xfrm>
          <a:prstGeom prst="rect">
            <a:avLst/>
          </a:prstGeom>
        </p:spPr>
      </p:pic>
      <p:sp>
        <p:nvSpPr>
          <p:cNvPr id="30" name="Oval 29"/>
          <p:cNvSpPr/>
          <p:nvPr/>
        </p:nvSpPr>
        <p:spPr>
          <a:xfrm>
            <a:off x="7085563" y="4102859"/>
            <a:ext cx="338328" cy="3383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099279" y="4116575"/>
            <a:ext cx="310896" cy="31089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near_clinic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49022" y="4166319"/>
            <a:ext cx="211409" cy="211409"/>
          </a:xfrm>
          <a:prstGeom prst="rect">
            <a:avLst/>
          </a:prstGeom>
        </p:spPr>
      </p:pic>
      <p:sp>
        <p:nvSpPr>
          <p:cNvPr id="33" name="Oval 32"/>
          <p:cNvSpPr/>
          <p:nvPr/>
        </p:nvSpPr>
        <p:spPr>
          <a:xfrm>
            <a:off x="6919030" y="4330585"/>
            <a:ext cx="338328" cy="3383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932746" y="4344301"/>
            <a:ext cx="310896" cy="310896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d_tobalab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82490" y="4394044"/>
            <a:ext cx="211409" cy="21140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58368" y="184708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LOS 9 DESTINOS</a:t>
            </a:r>
          </a:p>
        </p:txBody>
      </p:sp>
      <p:pic>
        <p:nvPicPr>
          <p:cNvPr id="37" name="Picture 36" descr="d_tobalab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656" y="2212848"/>
            <a:ext cx="256032" cy="25603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60704" y="2185416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Trabajo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" y="2354579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Metro Tobalaba</a:t>
            </a:r>
          </a:p>
        </p:txBody>
      </p:sp>
      <p:pic>
        <p:nvPicPr>
          <p:cNvPr id="40" name="Picture 39" descr="d_centr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656" y="2534716"/>
            <a:ext cx="256032" cy="2560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60704" y="2507284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Santiago Centro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" y="2676448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Plaza de Armas</a:t>
            </a:r>
          </a:p>
        </p:txBody>
      </p:sp>
      <p:pic>
        <p:nvPicPr>
          <p:cNvPr id="43" name="Picture 42" descr="d_ciudadempresari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" y="2856585"/>
            <a:ext cx="256032" cy="25603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1060704" y="2829153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Ciudad Empresarial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0704" y="2998317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Huechuraba</a:t>
            </a:r>
          </a:p>
        </p:txBody>
      </p:sp>
      <p:pic>
        <p:nvPicPr>
          <p:cNvPr id="46" name="Picture 45" descr="d_aeropuer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3178454"/>
            <a:ext cx="256032" cy="256032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060704" y="3151022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Aeropuerto SCL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704" y="3320186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Pudahuel</a:t>
            </a:r>
          </a:p>
        </p:txBody>
      </p:sp>
      <p:pic>
        <p:nvPicPr>
          <p:cNvPr id="49" name="Picture 48" descr="near_universida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656" y="3500323"/>
            <a:ext cx="256032" cy="256032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1060704" y="3472891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Universidad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60704" y="3642055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más cercana</a:t>
            </a:r>
          </a:p>
        </p:txBody>
      </p:sp>
      <p:pic>
        <p:nvPicPr>
          <p:cNvPr id="52" name="Picture 51" descr="near_hospit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6656" y="3822191"/>
            <a:ext cx="256032" cy="256032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60704" y="3794759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Hospital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0704" y="3963924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más cercano</a:t>
            </a:r>
          </a:p>
        </p:txBody>
      </p:sp>
      <p:pic>
        <p:nvPicPr>
          <p:cNvPr id="55" name="Picture 54" descr="near_clinic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656" y="4144060"/>
            <a:ext cx="256032" cy="256032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060704" y="4116628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Clínica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0704" y="4285792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más cercana</a:t>
            </a:r>
          </a:p>
        </p:txBody>
      </p:sp>
      <p:pic>
        <p:nvPicPr>
          <p:cNvPr id="58" name="Picture 57" descr="near_ma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656" y="4465929"/>
            <a:ext cx="256032" cy="256032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1060704" y="4438497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Centro comercial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60704" y="4607661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más cercano</a:t>
            </a:r>
          </a:p>
        </p:txBody>
      </p:sp>
      <p:pic>
        <p:nvPicPr>
          <p:cNvPr id="61" name="Picture 60" descr="near_industr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6" y="4787798"/>
            <a:ext cx="256032" cy="256032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60704" y="4760366"/>
            <a:ext cx="28346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61616"/>
                </a:solidFill>
                <a:latin typeface="Helvetica Neue"/>
              </a:rPr>
              <a:t>Barrio industrial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60704" y="4929530"/>
            <a:ext cx="2834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más cercano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11312" y="184708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60">
                <a:solidFill>
                  <a:srgbClr val="134E48"/>
                </a:solidFill>
                <a:latin typeface="Helvetica Neue"/>
              </a:rPr>
              <a:t>LAS 14 ZONAS</a:t>
            </a:r>
          </a:p>
        </p:txBody>
      </p:sp>
      <p:sp>
        <p:nvSpPr>
          <p:cNvPr id="65" name="Oval 64"/>
          <p:cNvSpPr/>
          <p:nvPr/>
        </p:nvSpPr>
        <p:spPr>
          <a:xfrm>
            <a:off x="8225027" y="2272284"/>
            <a:ext cx="173736" cy="173736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22208" y="2249424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Batuco y Estación Colina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22208" y="243230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nuestros dos proyectos</a:t>
            </a:r>
          </a:p>
        </p:txBody>
      </p:sp>
      <p:sp>
        <p:nvSpPr>
          <p:cNvPr id="68" name="Oval 67"/>
          <p:cNvSpPr/>
          <p:nvPr/>
        </p:nvSpPr>
        <p:spPr>
          <a:xfrm>
            <a:off x="8252460" y="2884932"/>
            <a:ext cx="118872" cy="118872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22208" y="2834640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1616"/>
                </a:solidFill>
                <a:latin typeface="Helvetica Neue"/>
              </a:rPr>
              <a:t>12 zonas comparables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22208" y="3017520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del norte y del sur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229600" y="3547872"/>
            <a:ext cx="182880" cy="0"/>
          </a:xfrm>
          <a:prstGeom prst="line">
            <a:avLst/>
          </a:prstGeom>
          <a:ln w="38100">
            <a:solidFill>
              <a:srgbClr val="78A49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8522208" y="3438144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1616"/>
                </a:solidFill>
                <a:latin typeface="Helvetica Neue"/>
              </a:rPr>
              <a:t>Corredor de tren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22208" y="3621024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Batuco y Melipilla</a:t>
            </a:r>
          </a:p>
        </p:txBody>
      </p:sp>
      <p:sp>
        <p:nvSpPr>
          <p:cNvPr id="74" name="Oval 73"/>
          <p:cNvSpPr/>
          <p:nvPr/>
        </p:nvSpPr>
        <p:spPr>
          <a:xfrm>
            <a:off x="8161020" y="3982211"/>
            <a:ext cx="301751" cy="30175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174736" y="3995927"/>
            <a:ext cx="274320" cy="274320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34E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near_hospit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8627" y="4039819"/>
            <a:ext cx="186537" cy="186537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522208" y="4023360"/>
            <a:ext cx="2926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61616"/>
                </a:solidFill>
                <a:latin typeface="Helvetica Neue"/>
              </a:rPr>
              <a:t>Los 9 destinos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522208" y="4206240"/>
            <a:ext cx="29260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E6A64"/>
                </a:solidFill>
                <a:latin typeface="Helvetica Neue"/>
              </a:rPr>
              <a:t>ícono según su tipo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229600" y="4626864"/>
            <a:ext cx="3017520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8229600" y="47365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Fuera del plano, al sur: Buin, NOS, Laguna del Sol y El Peñón.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Un plano, nueve destinos que mueven una vida y 14 zonas. Medimos cada una contra todos — en auto y transporte público, hoy y con la infraestructura futura.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TIEMPO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En auto no hay una sola distancia: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cada destino tiene su zona más cercana.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5B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85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5B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95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77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729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1:02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67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7D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1:01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1:03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1:14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F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CB9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87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6F9F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88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9C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9D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45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CA0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93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C8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97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BA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98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8F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1:20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1:12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7A9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8DA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1:14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C86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1:55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9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D355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94A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1:16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1:02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A4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1:27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0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1:13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1:22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D25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1:31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51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D7F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1:59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A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1:26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1:06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1:09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ADA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9A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1:30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99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1:34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99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1:01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F74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1:36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F7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1:05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D8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1:42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B9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1:39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1:04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C99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1:41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166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99A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59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1:18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1:06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D44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2:08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1:51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1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1:25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F7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1:29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E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1:11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D35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1:12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F75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2:12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2:15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1:37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2:32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1:42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1:58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6A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44C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1:15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37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Minutos puerta a puerta (h:mm). Color por columna: verde = la más cercana a ese destino, rojo = la más lejana.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En auto y hoy, Estación Colina ya es de las más centrales; Batuco es el más lejano del set. Por eso la palanca de Batuco es la Orbital, no el volante de hoy.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AUTO · COSTO — EL REPARO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reparo honesto: manejar desde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Batuco es caro hacia casi todos lados.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36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3B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69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339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689F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64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9B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A3A1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266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30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6B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9AA0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9EA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266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A9A1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128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C99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447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346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4E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8EA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71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75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163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C6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4F9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CF7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250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519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6C9F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B4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342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48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749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609F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58368" y="330555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8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431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789F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328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BEA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170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499E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356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86A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295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352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BBA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329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53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110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169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E7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541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3A1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41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B7A1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633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55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184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539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80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181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168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7A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406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223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1066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2F9E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96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F7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540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37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359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64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3D9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32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B0A1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390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428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217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38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313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99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B8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432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5C9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124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294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C8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495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B9A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392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E7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234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629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420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A2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359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416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8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393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7CA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174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D06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233</a:t>
            </a:r>
          </a:p>
        </p:txBody>
      </p:sp>
      <p:sp>
        <p:nvSpPr>
          <p:cNvPr id="205" name="Rectangle 204"/>
          <p:cNvSpPr/>
          <p:nvPr/>
        </p:nvSpPr>
        <p:spPr>
          <a:xfrm>
            <a:off x="658368" y="4151375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C8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503</a:t>
            </a:r>
          </a:p>
        </p:txBody>
      </p:sp>
      <p:sp>
        <p:nvSpPr>
          <p:cNvPr id="209" name="Rectangle 208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2A1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401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E7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243</a:t>
            </a:r>
          </a:p>
        </p:txBody>
      </p:sp>
      <p:sp>
        <p:nvSpPr>
          <p:cNvPr id="213" name="Rectangle 212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669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429</a:t>
            </a:r>
          </a:p>
        </p:txBody>
      </p:sp>
      <p:sp>
        <p:nvSpPr>
          <p:cNvPr id="215" name="Rectangle 214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A6A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368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425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402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81A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183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D16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B93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473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D163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509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D451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299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99F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396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803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D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496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B8F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427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91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207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D546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293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A97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461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D069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500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D35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288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549E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384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D54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790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D8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485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698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8AA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196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D44E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280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559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318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CC8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790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CC8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537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696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93A0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242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535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82A0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93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manejar —bencina + peajes TAG— en miles de pesos. Verde = barato, rojo = caro.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cruza autopistas concesionadas hacia el oriente y el centro: su costo en auto está entre los más altos del set. Por eso su ventaja real es el tren, no el volante.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En transporte público, el tren lleva a nuestros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proyectos de los últimos a los primeros lugares.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59" y="21031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92440" y="2103120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60">
                <a:solidFill>
                  <a:srgbClr val="134E48"/>
                </a:solidFill>
                <a:latin typeface="Helvetica Neue"/>
              </a:rPr>
              <a:t>CON EL TREN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98932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372600" y="2377440"/>
            <a:ext cx="0" cy="2615184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89320" y="2487168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961888" y="245973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345168" y="301259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5989320" y="2671454"/>
            <a:ext cx="3383280" cy="18428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961888" y="2644022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345168" y="282830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8904" y="2746013"/>
            <a:ext cx="2377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3º  Valle Grande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989320" y="285574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961888" y="282830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45168" y="356545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5989320" y="3040028"/>
            <a:ext cx="3383280" cy="368573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5961888" y="301259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45168" y="3381169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 flipV="1">
            <a:off x="5989320" y="2487168"/>
            <a:ext cx="3383280" cy="737147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925312" y="316030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08592" y="2423160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51960" y="310544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5º  Estación Colina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18904" y="2368296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1º  Estación Colina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89320" y="3408601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961888" y="3381169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345168" y="4118316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5989320" y="3592888"/>
            <a:ext cx="3383280" cy="737147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961888" y="356545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45168" y="430260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5989320" y="3777175"/>
            <a:ext cx="3383280" cy="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5961888" y="3749743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9345168" y="374974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5989320" y="3961462"/>
            <a:ext cx="3383280" cy="552860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Oval 36"/>
          <p:cNvSpPr/>
          <p:nvPr/>
        </p:nvSpPr>
        <p:spPr>
          <a:xfrm>
            <a:off x="5961888" y="393403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345168" y="448689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5989320" y="4145748"/>
            <a:ext cx="3383280" cy="552861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5961888" y="4118316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345168" y="4671177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 flipV="1">
            <a:off x="5989320" y="2671454"/>
            <a:ext cx="3383280" cy="1658581"/>
          </a:xfrm>
          <a:prstGeom prst="line">
            <a:avLst/>
          </a:prstGeom>
          <a:ln w="45720">
            <a:solidFill>
              <a:srgbClr val="B07D2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Oval 42"/>
          <p:cNvSpPr/>
          <p:nvPr/>
        </p:nvSpPr>
        <p:spPr>
          <a:xfrm>
            <a:off x="5925312" y="4266027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08592" y="2607446"/>
            <a:ext cx="128016" cy="128016"/>
          </a:xfrm>
          <a:prstGeom prst="ellipse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51960" y="4211163"/>
            <a:ext cx="1600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7D24"/>
                </a:solidFill>
                <a:latin typeface="Helvetica Neue"/>
              </a:rPr>
              <a:t>11º  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18904" y="2552582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07D24"/>
                </a:solidFill>
                <a:latin typeface="Helvetica Neue"/>
              </a:rPr>
              <a:t>2º  Batuco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989320" y="4514322"/>
            <a:ext cx="3383280" cy="36857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5961888" y="4486890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9345168" y="4855464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5989320" y="3224315"/>
            <a:ext cx="3383280" cy="147429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5961888" y="4671177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345168" y="3196883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 flipV="1">
            <a:off x="5989320" y="3961462"/>
            <a:ext cx="3383280" cy="921434"/>
          </a:xfrm>
          <a:prstGeom prst="line">
            <a:avLst/>
          </a:prstGeom>
          <a:ln w="12700">
            <a:solidFill>
              <a:srgbClr val="DED9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5961888" y="4855464"/>
            <a:ext cx="54864" cy="54864"/>
          </a:xfrm>
          <a:prstGeom prst="ellipse">
            <a:avLst/>
          </a:prstGeom>
          <a:solidFill>
            <a:srgbClr val="DED9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345168" y="3934030"/>
            <a:ext cx="54864" cy="54864"/>
          </a:xfrm>
          <a:prstGeom prst="ellipse">
            <a:avLst/>
          </a:prstGeom>
          <a:solidFill>
            <a:srgbClr val="CCC7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2395728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spc="130">
                <a:solidFill>
                  <a:srgbClr val="134E48"/>
                </a:solidFill>
                <a:latin typeface="Helvetica Neue"/>
              </a:rPr>
              <a:t>POSICIÓN EN TRANSPORTE PÚBLICO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" y="2798064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Estación Colina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5º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  </a:t>
            </a:r>
            <a:r>
              <a:rPr sz="15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7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9A958C"/>
                </a:solidFill>
                <a:latin typeface="Helvetica Neue"/>
              </a:rPr>
              <a:t>  de 14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11480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Tren Santiago–Batuco recorta 45 min de viaje a Estación Colina y 67 a Batuco — cada uno con estación propia sobre el corredor.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El tren reordena el transporte público del corredor: Estación Colina queda primera del set y Batuco segundo. Es el cambio que ninguna zona sin estación puede igualar.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SALTO · LA AUTOPISTA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Orbital acerca a Batuco en auto —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la mayor palanca vial del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52160" y="21579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852160" y="2468880"/>
            <a:ext cx="5120640" cy="457200"/>
          </a:xfrm>
          <a:prstGeom prst="rect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2374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80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302666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E6A64"/>
                </a:solidFill>
                <a:latin typeface="Helvetica Neue"/>
              </a:rPr>
              <a:t>Con la Orbital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3337560"/>
            <a:ext cx="3315428" cy="45720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77316" y="3392424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52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B07D24"/>
                </a:solidFill>
                <a:latin typeface="Helvetica Neue"/>
              </a:rPr>
              <a:t>−</a:t>
            </a:r>
            <a:r>
              <a:rPr sz="3000" b="1">
                <a:solidFill>
                  <a:srgbClr val="B07D24"/>
                </a:solidFill>
                <a:latin typeface="Helvetica Neue"/>
              </a:rPr>
              <a:t>28 min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  ·  del 11º al </a:t>
            </a:r>
            <a:r>
              <a:rPr sz="20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500" b="0">
                <a:solidFill>
                  <a:srgbClr val="6E6A64"/>
                </a:solidFill>
                <a:latin typeface="Helvetica Neue"/>
              </a:rPr>
              <a:t> en auto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31720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30">
                <a:solidFill>
                  <a:srgbClr val="134E48"/>
                </a:solidFill>
                <a:latin typeface="Helvetica Neue"/>
              </a:rPr>
              <a:t>SÓLO EL CORREDOR NORPONIENTE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69748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La autopista Orbital Norponiente cruza el terreno de Batuco: enlace a 7 minutos. Es la diferencia entre una zona periférica y una de las más rápidas del set en auto.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4206240"/>
            <a:ext cx="4480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6E6A64"/>
                </a:solidFill>
                <a:latin typeface="Helvetica Neue"/>
              </a:rPr>
              <a:t>Estación Colina no depende de esta obra: su fortaleza es la centralidad y el tren. Cada proyecto tiene su propia palanca.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Comunicar “con la Orbital” no es un detalle de ingeniería: es el argumento vial de Batuco.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TRANSPORTE PÚBLICO · COSTO — EL CANDADO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El otro reparo: su transporte público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no es RED, y eso se paga.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44144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Tobalaba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51656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Centro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1865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Industrial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72074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Cd. Empr.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2283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Univ.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2492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Aerop.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2700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Hospital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12909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Clínica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23118" y="2212848"/>
            <a:ext cx="101020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>
                <a:solidFill>
                  <a:srgbClr val="6E6A64"/>
                </a:solidFill>
                <a:latin typeface="Helvetica Neue"/>
              </a:rPr>
              <a:t>C. Comercial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5973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4144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9944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51656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153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61865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90362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72074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00571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2283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10780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2492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20988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02700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31197" y="2464308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12909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541406" y="2464308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23118" y="245059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" y="261975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45973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4144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69944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51656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153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61865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90362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72074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00571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82283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10780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2492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20988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02700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31197" y="2633472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12909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541406" y="2633472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523118" y="261975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3232" y="2788920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45973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44144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469944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451656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480153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461865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90362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72074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500571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82283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510780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492492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20988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2700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31197" y="2802636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12909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541406" y="2802636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523118" y="2788920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3232" y="295808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5973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4144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69944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51656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480153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461865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490362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72074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500571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82283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510780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2492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520988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502700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531197" y="2971799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512909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41406" y="2971799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23118" y="295808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3232" y="312724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45973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44144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469944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451656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480153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461865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90362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72074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00571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82283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10780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492492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520988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502700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531197" y="3140964"/>
            <a:ext cx="973632" cy="141732"/>
          </a:xfrm>
          <a:prstGeom prst="rect">
            <a:avLst/>
          </a:prstGeom>
          <a:solidFill>
            <a:srgbClr val="419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512909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0541406" y="3140964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3118" y="312724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13232" y="329641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45973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4144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469944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51656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80153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61865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490362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472074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500571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482283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510780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492492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520988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502700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9531197" y="3310127"/>
            <a:ext cx="973632" cy="141732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512909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31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541406" y="331012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0523118" y="329641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13232" y="3465575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Colina · Reina Norte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245973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44144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469944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3451656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4480153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461865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5490362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472074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500571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6482283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7510780" y="3479291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7492492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8520988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502700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9531197" y="3479291"/>
            <a:ext cx="973632" cy="141732"/>
          </a:xfrm>
          <a:prstGeom prst="rect">
            <a:avLst/>
          </a:prstGeom>
          <a:solidFill>
            <a:srgbClr val="A0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9512909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66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0541406" y="3479291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0523118" y="3465575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658368" y="3643883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713232" y="363473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245973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44144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3469944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51656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480153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4461865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5490362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72074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6500571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482283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7510780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7492492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520988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502700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9531197" y="3648456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9512909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10541406" y="3648456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0523118" y="363473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13232" y="3803904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45973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4144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3469944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51656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4480153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461865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490362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472074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500571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482283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10780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492492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520988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502700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531197" y="3817620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512909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541406" y="3817620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523118" y="3803904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13232" y="3973068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187" name="Rectangle 186"/>
          <p:cNvSpPr/>
          <p:nvPr/>
        </p:nvSpPr>
        <p:spPr>
          <a:xfrm>
            <a:off x="245973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244144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3469944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3451656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4480153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4461865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5490362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5472074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6500571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6482283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7510780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7492492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8520988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502700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9531197" y="3986783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TextBox 201"/>
          <p:cNvSpPr txBox="1"/>
          <p:nvPr/>
        </p:nvSpPr>
        <p:spPr>
          <a:xfrm>
            <a:off x="9512909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3" name="Rectangle 202"/>
          <p:cNvSpPr/>
          <p:nvPr/>
        </p:nvSpPr>
        <p:spPr>
          <a:xfrm>
            <a:off x="10541406" y="3986783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0523118" y="3973068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13232" y="4142231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Santa Elena de Chicureo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245973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244144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3469944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3451656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4480153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4461865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490362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472074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6500571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482283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7510780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492492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8520988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8502700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9531197" y="4155947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9512909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10541406" y="4155947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10523118" y="4142231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658368" y="4320540"/>
            <a:ext cx="1737360" cy="150876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713232" y="4311396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459736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44144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28" name="Rectangle 227"/>
          <p:cNvSpPr/>
          <p:nvPr/>
        </p:nvSpPr>
        <p:spPr>
          <a:xfrm>
            <a:off x="3469944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51656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0" name="Rectangle 229"/>
          <p:cNvSpPr/>
          <p:nvPr/>
        </p:nvSpPr>
        <p:spPr>
          <a:xfrm>
            <a:off x="4480153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461865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2" name="Rectangle 231"/>
          <p:cNvSpPr/>
          <p:nvPr/>
        </p:nvSpPr>
        <p:spPr>
          <a:xfrm>
            <a:off x="5490362" y="4325112"/>
            <a:ext cx="973632" cy="141732"/>
          </a:xfrm>
          <a:prstGeom prst="rect">
            <a:avLst/>
          </a:prstGeom>
          <a:solidFill>
            <a:srgbClr val="579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5472074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48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6500571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6482283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7510780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7492492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8520988" y="4325112"/>
            <a:ext cx="973632" cy="141732"/>
          </a:xfrm>
          <a:prstGeom prst="rect">
            <a:avLst/>
          </a:prstGeom>
          <a:solidFill>
            <a:srgbClr val="CF7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8502700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103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9531197" y="4325112"/>
            <a:ext cx="973632" cy="141732"/>
          </a:xfrm>
          <a:prstGeom prst="rect">
            <a:avLst/>
          </a:prstGeom>
          <a:solidFill>
            <a:srgbClr val="CA95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9512909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541406" y="4325112"/>
            <a:ext cx="973632" cy="141732"/>
          </a:xfrm>
          <a:prstGeom prst="rect">
            <a:avLst/>
          </a:prstGeom>
          <a:solidFill>
            <a:srgbClr val="CA9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523118" y="4311396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85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13232" y="4480559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Ayres de Chicureo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45973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44144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469944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451656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4480153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4461865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5490362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5472074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6500571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6482283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7510780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7492492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8520988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8502700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9531197" y="4494275"/>
            <a:ext cx="973632" cy="141732"/>
          </a:xfrm>
          <a:prstGeom prst="rect">
            <a:avLst/>
          </a:prstGeom>
          <a:solidFill>
            <a:srgbClr val="CD8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9512909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10541406" y="4494275"/>
            <a:ext cx="973632" cy="141732"/>
          </a:xfrm>
          <a:prstGeom prst="rect">
            <a:avLst/>
          </a:prstGeom>
          <a:solidFill>
            <a:srgbClr val="CC88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10523118" y="4480559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161616"/>
                </a:solidFill>
                <a:latin typeface="Helvetica Neue"/>
              </a:rPr>
              <a:t>94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13232" y="4649723"/>
            <a:ext cx="1636776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4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245973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44144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3469944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3451656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4480153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4461865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5490362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5472074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2" name="Rectangle 271"/>
          <p:cNvSpPr/>
          <p:nvPr/>
        </p:nvSpPr>
        <p:spPr>
          <a:xfrm>
            <a:off x="6500571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6482283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4" name="Rectangle 273"/>
          <p:cNvSpPr/>
          <p:nvPr/>
        </p:nvSpPr>
        <p:spPr>
          <a:xfrm>
            <a:off x="7510780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7492492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6" name="Rectangle 275"/>
          <p:cNvSpPr/>
          <p:nvPr/>
        </p:nvSpPr>
        <p:spPr>
          <a:xfrm>
            <a:off x="8520988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8502700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78" name="Rectangle 277"/>
          <p:cNvSpPr/>
          <p:nvPr/>
        </p:nvSpPr>
        <p:spPr>
          <a:xfrm>
            <a:off x="9531197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9512909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0" name="Rectangle 279"/>
          <p:cNvSpPr/>
          <p:nvPr/>
        </p:nvSpPr>
        <p:spPr>
          <a:xfrm>
            <a:off x="10541406" y="4663439"/>
            <a:ext cx="973632" cy="141732"/>
          </a:xfrm>
          <a:prstGeom prst="rect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10523118" y="4649723"/>
            <a:ext cx="1010208" cy="1691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>
                <a:solidFill>
                  <a:srgbClr val="FFFFFF"/>
                </a:solidFill>
                <a:latin typeface="Helvetica Neue"/>
              </a:rPr>
              <a:t>126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658368" y="4901184"/>
            <a:ext cx="1005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9A958C"/>
                </a:solidFill>
                <a:latin typeface="Helvetica Neue"/>
              </a:rPr>
              <a:t>Costo mensual de transporte público, en miles de pesos. Batuco y Estación Colina pagan por tramo, sin bip! integrado → tarifa más alta.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ectangle 28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TextBox 28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86" name="TextBox 28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y Batuco quedan rojos: al no estar integrados a RED, pagan el tramo aparte. Es una debilidad — y una palanca que sí podemos mover (lámina 15).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8" name="TextBox 28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09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EL DIRECTORIO · POSICIÓN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Cada zona, ubicada por tiempo y costo de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spc="-10">
                <a:solidFill>
                  <a:srgbClr val="161616"/>
                </a:solidFill>
                <a:latin typeface="Helvetica Neue"/>
              </a:rPr>
              <a:t>manejar. El ideal: rápida y barata.</a:t>
            </a:r>
          </a:p>
        </p:txBody>
      </p:sp>
      <p:sp>
        <p:nvSpPr>
          <p:cNvPr id="5" name="Rectangle 4"/>
          <p:cNvSpPr/>
          <p:nvPr/>
        </p:nvSpPr>
        <p:spPr>
          <a:xfrm>
            <a:off x="1207007" y="3908769"/>
            <a:ext cx="4489692" cy="754670"/>
          </a:xfrm>
          <a:prstGeom prst="rect">
            <a:avLst/>
          </a:prstGeom>
          <a:solidFill>
            <a:srgbClr val="EFF3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5696700" y="2514600"/>
            <a:ext cx="0" cy="214884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207007" y="3908769"/>
            <a:ext cx="9594800" cy="0"/>
          </a:xfrm>
          <a:prstGeom prst="line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207007" y="4718303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← más rápido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7247" y="4718303"/>
            <a:ext cx="21945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más lento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" y="2258568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E6A64"/>
                </a:solidFill>
                <a:latin typeface="Helvetica Neue"/>
              </a:rPr>
              <a:t>↑ más caro de manejar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16736" y="4352544"/>
            <a:ext cx="2743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40">
                <a:solidFill>
                  <a:srgbClr val="2F9E6E"/>
                </a:solidFill>
                <a:latin typeface="Helvetica Neue"/>
              </a:rPr>
              <a:t>RÁPIDA Y BARATA ✓</a:t>
            </a:r>
          </a:p>
        </p:txBody>
      </p:sp>
      <p:sp>
        <p:nvSpPr>
          <p:cNvPr id="12" name="Oval 11"/>
          <p:cNvSpPr/>
          <p:nvPr/>
        </p:nvSpPr>
        <p:spPr>
          <a:xfrm>
            <a:off x="7315529" y="3419108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4129" y="3400820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4" name="Oval 13"/>
          <p:cNvSpPr/>
          <p:nvPr/>
        </p:nvSpPr>
        <p:spPr>
          <a:xfrm>
            <a:off x="4462590" y="3882145"/>
            <a:ext cx="182880" cy="182880"/>
          </a:xfrm>
          <a:prstGeom prst="ellipse">
            <a:avLst/>
          </a:prstGeom>
          <a:solidFill>
            <a:srgbClr val="B07D24"/>
          </a:solidFill>
          <a:ln w="1651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1190" y="3863857"/>
            <a:ext cx="2011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6" name="Oval 15"/>
          <p:cNvSpPr/>
          <p:nvPr/>
        </p:nvSpPr>
        <p:spPr>
          <a:xfrm>
            <a:off x="4260093" y="4512919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86807" y="42250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25919" y="4299016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989144" y="2826443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180402" y="353714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173167" y="385390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216875" y="404439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001465" y="2555392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268307" y="2952740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44419" y="4464938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407644" y="3512145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41836" y="3905814"/>
            <a:ext cx="109728" cy="109728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cae en la mitad rápida y de costo medio; Batuco es rápido con la Orbital, pero caro de manejar. Dos perfiles, dos argumentos de venta distintos.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10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SOBREPRECIO, TODAS CON TODAS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Cuánto más —o menos— puede pedir cada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zona que otra, en UF de conectividad.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24328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0685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97042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3399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9756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06113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2470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8827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15184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1541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87898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4255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0613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96970" y="2121408"/>
            <a:ext cx="636357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E6A64"/>
                </a:solidFill>
                <a:latin typeface="Helvetica Neue"/>
              </a:rPr>
              <a:t>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" y="2359152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35300" y="2370124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71657" y="2370124"/>
            <a:ext cx="614411" cy="155709"/>
          </a:xfrm>
          <a:prstGeom prst="rect">
            <a:avLst/>
          </a:prstGeom>
          <a:solidFill>
            <a:srgbClr val="F2F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60685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08014" y="2370124"/>
            <a:ext cx="614411" cy="155709"/>
          </a:xfrm>
          <a:prstGeom prst="rect">
            <a:avLst/>
          </a:prstGeom>
          <a:solidFill>
            <a:srgbClr val="E0EB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97042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44372" y="2370124"/>
            <a:ext cx="614411" cy="155709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33399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80729" y="2370124"/>
            <a:ext cx="614411" cy="155709"/>
          </a:xfrm>
          <a:prstGeom prst="rect">
            <a:avLst/>
          </a:prstGeom>
          <a:solidFill>
            <a:srgbClr val="98CB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9756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+667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17086" y="2370124"/>
            <a:ext cx="614411" cy="155709"/>
          </a:xfrm>
          <a:prstGeom prst="rect">
            <a:avLst/>
          </a:prstGeom>
          <a:solidFill>
            <a:srgbClr val="93C9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113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+718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53443" y="2370124"/>
            <a:ext cx="614411" cy="155709"/>
          </a:xfrm>
          <a:prstGeom prst="rect">
            <a:avLst/>
          </a:prstGeom>
          <a:solidFill>
            <a:srgbClr val="85C3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2470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+869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9800" y="2370124"/>
            <a:ext cx="614411" cy="155709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78827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+970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26157" y="2370124"/>
            <a:ext cx="614411" cy="155709"/>
          </a:xfrm>
          <a:prstGeom prst="rect">
            <a:avLst/>
          </a:prstGeom>
          <a:solidFill>
            <a:srgbClr val="78BE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15184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+1014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2514" y="2370124"/>
            <a:ext cx="614411" cy="155709"/>
          </a:xfrm>
          <a:prstGeom prst="rect">
            <a:avLst/>
          </a:prstGeom>
          <a:solidFill>
            <a:srgbClr val="66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51541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+1222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98871" y="2370124"/>
            <a:ext cx="614411" cy="155709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87898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+1258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35228" y="2370124"/>
            <a:ext cx="614411" cy="155709"/>
          </a:xfrm>
          <a:prstGeom prst="rect">
            <a:avLst/>
          </a:prstGeom>
          <a:solidFill>
            <a:srgbClr val="56AF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24255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+1427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271585" y="2370124"/>
            <a:ext cx="614411" cy="155709"/>
          </a:xfrm>
          <a:prstGeom prst="rect">
            <a:avLst/>
          </a:prstGeom>
          <a:solidFill>
            <a:srgbClr val="4CA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60613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+1557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07942" y="2370124"/>
            <a:ext cx="614411" cy="1557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896970" y="2359152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+1954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" y="253680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35300" y="2547779"/>
            <a:ext cx="614411" cy="155709"/>
          </a:xfrm>
          <a:prstGeom prst="rect">
            <a:avLst/>
          </a:prstGeom>
          <a:solidFill>
            <a:srgbClr val="F5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624328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71657" y="2547779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08014" y="2547779"/>
            <a:ext cx="614411" cy="155709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897042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44372" y="2547779"/>
            <a:ext cx="614411" cy="155709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533399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+582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180729" y="2547779"/>
            <a:ext cx="614411" cy="155709"/>
          </a:xfrm>
          <a:prstGeom prst="rect">
            <a:avLst/>
          </a:prstGeom>
          <a:solidFill>
            <a:srgbClr val="99CC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69756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+658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17086" y="2547779"/>
            <a:ext cx="614411" cy="155709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06113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+709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53443" y="2547779"/>
            <a:ext cx="614411" cy="155709"/>
          </a:xfrm>
          <a:prstGeom prst="rect">
            <a:avLst/>
          </a:prstGeom>
          <a:solidFill>
            <a:srgbClr val="86C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42470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089800" y="2547779"/>
            <a:ext cx="614411" cy="155709"/>
          </a:xfrm>
          <a:prstGeom prst="rect">
            <a:avLst/>
          </a:prstGeom>
          <a:solidFill>
            <a:srgbClr val="7DC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078827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+960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726157" y="2547779"/>
            <a:ext cx="614411" cy="155709"/>
          </a:xfrm>
          <a:prstGeom prst="rect">
            <a:avLst/>
          </a:prstGeom>
          <a:solidFill>
            <a:srgbClr val="79B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15184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+1005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62514" y="2547779"/>
            <a:ext cx="614411" cy="155709"/>
          </a:xfrm>
          <a:prstGeom prst="rect">
            <a:avLst/>
          </a:prstGeom>
          <a:solidFill>
            <a:srgbClr val="67B6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51541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998871" y="2547779"/>
            <a:ext cx="614411" cy="155709"/>
          </a:xfrm>
          <a:prstGeom prst="rect">
            <a:avLst/>
          </a:prstGeom>
          <a:solidFill>
            <a:srgbClr val="64B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987898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+1249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635228" y="2547779"/>
            <a:ext cx="614411" cy="155709"/>
          </a:xfrm>
          <a:prstGeom prst="rect">
            <a:avLst/>
          </a:prstGeom>
          <a:solidFill>
            <a:srgbClr val="57AF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624255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+1417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271585" y="2547779"/>
            <a:ext cx="614411" cy="155709"/>
          </a:xfrm>
          <a:prstGeom prst="rect">
            <a:avLst/>
          </a:prstGeom>
          <a:solidFill>
            <a:srgbClr val="4DA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260613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+1547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907942" y="2547779"/>
            <a:ext cx="614411" cy="155709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896970" y="253680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+1944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4088" y="2714461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635300" y="2725434"/>
            <a:ext cx="614411" cy="155709"/>
          </a:xfrm>
          <a:prstGeom prst="rect">
            <a:avLst/>
          </a:prstGeom>
          <a:solidFill>
            <a:srgbClr val="F0E2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624328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71657" y="2725434"/>
            <a:ext cx="614411" cy="155709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260685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908014" y="2725434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544372" y="2725434"/>
            <a:ext cx="614411" cy="155709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33399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+507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180729" y="2725434"/>
            <a:ext cx="614411" cy="155709"/>
          </a:xfrm>
          <a:prstGeom prst="rect">
            <a:avLst/>
          </a:prstGeom>
          <a:solidFill>
            <a:srgbClr val="A1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169756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+583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17086" y="2725434"/>
            <a:ext cx="614411" cy="155709"/>
          </a:xfrm>
          <a:prstGeom prst="rect">
            <a:avLst/>
          </a:prstGeom>
          <a:solidFill>
            <a:srgbClr val="9CC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06113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+634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453443" y="2725434"/>
            <a:ext cx="614411" cy="155709"/>
          </a:xfrm>
          <a:prstGeom prst="rect">
            <a:avLst/>
          </a:prstGeom>
          <a:solidFill>
            <a:srgbClr val="8DC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42470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+785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089800" y="2725434"/>
            <a:ext cx="614411" cy="155709"/>
          </a:xfrm>
          <a:prstGeom prst="rect">
            <a:avLst/>
          </a:prstGeom>
          <a:solidFill>
            <a:srgbClr val="84C3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078827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+886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26157" y="2725434"/>
            <a:ext cx="614411" cy="155709"/>
          </a:xfrm>
          <a:prstGeom prst="rect">
            <a:avLst/>
          </a:prstGeom>
          <a:solidFill>
            <a:srgbClr val="80C1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7715184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+930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362514" y="2725434"/>
            <a:ext cx="614411" cy="155709"/>
          </a:xfrm>
          <a:prstGeom prst="rect">
            <a:avLst/>
          </a:prstGeom>
          <a:solidFill>
            <a:srgbClr val="6EB9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351541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+1138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998871" y="2725434"/>
            <a:ext cx="614411" cy="155709"/>
          </a:xfrm>
          <a:prstGeom prst="rect">
            <a:avLst/>
          </a:prstGeom>
          <a:solidFill>
            <a:srgbClr val="6AB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987898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+1174</a:t>
            </a:r>
          </a:p>
        </p:txBody>
      </p:sp>
      <p:sp>
        <p:nvSpPr>
          <p:cNvPr id="97" name="Rectangle 96"/>
          <p:cNvSpPr/>
          <p:nvPr/>
        </p:nvSpPr>
        <p:spPr>
          <a:xfrm>
            <a:off x="9635228" y="2725434"/>
            <a:ext cx="614411" cy="155709"/>
          </a:xfrm>
          <a:prstGeom prst="rect">
            <a:avLst/>
          </a:prstGeom>
          <a:solidFill>
            <a:srgbClr val="5DB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624255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+1343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271585" y="2725434"/>
            <a:ext cx="614411" cy="155709"/>
          </a:xfrm>
          <a:prstGeom prst="rect">
            <a:avLst/>
          </a:prstGeom>
          <a:solidFill>
            <a:srgbClr val="52A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260613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+1472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907942" y="2725434"/>
            <a:ext cx="614411" cy="155709"/>
          </a:xfrm>
          <a:prstGeom prst="rect">
            <a:avLst/>
          </a:prstGeom>
          <a:solidFill>
            <a:srgbClr val="35A0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896970" y="271446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+1870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58368" y="2899431"/>
            <a:ext cx="1920240" cy="163024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704088" y="289211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635300" y="2903089"/>
            <a:ext cx="614411" cy="155709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2624328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-592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271657" y="2903089"/>
            <a:ext cx="614411" cy="155709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3260685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-582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908014" y="2903089"/>
            <a:ext cx="614411" cy="155709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897042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-507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544372" y="2903089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5180729" y="2903089"/>
            <a:ext cx="614411" cy="155709"/>
          </a:xfrm>
          <a:prstGeom prst="rect">
            <a:avLst/>
          </a:prstGeom>
          <a:solidFill>
            <a:srgbClr val="E2EC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69756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+76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817086" y="2903089"/>
            <a:ext cx="614411" cy="155709"/>
          </a:xfrm>
          <a:prstGeom prst="rect">
            <a:avLst/>
          </a:prstGeom>
          <a:solidFill>
            <a:srgbClr val="D9E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806113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+127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453443" y="2903089"/>
            <a:ext cx="614411" cy="155709"/>
          </a:xfrm>
          <a:prstGeom prst="rect">
            <a:avLst/>
          </a:prstGeom>
          <a:solidFill>
            <a:srgbClr val="C3DE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442470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+278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7089800" y="2903089"/>
            <a:ext cx="614411" cy="155709"/>
          </a:xfrm>
          <a:prstGeom prst="rect">
            <a:avLst/>
          </a:prstGeom>
          <a:solidFill>
            <a:srgbClr val="B7D9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7078827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+379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726157" y="2903089"/>
            <a:ext cx="614411" cy="155709"/>
          </a:xfrm>
          <a:prstGeom prst="rect">
            <a:avLst/>
          </a:prstGeom>
          <a:solidFill>
            <a:srgbClr val="B2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715184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+423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362514" y="2903089"/>
            <a:ext cx="614411" cy="155709"/>
          </a:xfrm>
          <a:prstGeom prst="rect">
            <a:avLst/>
          </a:prstGeom>
          <a:solidFill>
            <a:srgbClr val="9CCD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51541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+631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998871" y="2903089"/>
            <a:ext cx="614411" cy="155709"/>
          </a:xfrm>
          <a:prstGeom prst="rect">
            <a:avLst/>
          </a:prstGeom>
          <a:solidFill>
            <a:srgbClr val="98CC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987898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+667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635228" y="2903089"/>
            <a:ext cx="614411" cy="155709"/>
          </a:xfrm>
          <a:prstGeom prst="rect">
            <a:avLst/>
          </a:prstGeom>
          <a:solidFill>
            <a:srgbClr val="88C5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24255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+836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0271585" y="2903089"/>
            <a:ext cx="614411" cy="155709"/>
          </a:xfrm>
          <a:prstGeom prst="rect">
            <a:avLst/>
          </a:prstGeom>
          <a:solidFill>
            <a:srgbClr val="7CB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0260613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+965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10907942" y="2903089"/>
            <a:ext cx="614411" cy="155709"/>
          </a:xfrm>
          <a:prstGeom prst="rect">
            <a:avLst/>
          </a:prstGeom>
          <a:solidFill>
            <a:srgbClr val="5BB1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10896970" y="289211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+1363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04088" y="3069771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2635300" y="3080744"/>
            <a:ext cx="614411" cy="155709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2624328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-667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271657" y="3080744"/>
            <a:ext cx="614411" cy="155709"/>
          </a:xfrm>
          <a:prstGeom prst="rect">
            <a:avLst/>
          </a:prstGeom>
          <a:solidFill>
            <a:srgbClr val="DDA8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3260685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-658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908014" y="3080744"/>
            <a:ext cx="614411" cy="155709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897042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-583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544372" y="3080744"/>
            <a:ext cx="614411" cy="155709"/>
          </a:xfrm>
          <a:prstGeom prst="rect">
            <a:avLst/>
          </a:prstGeom>
          <a:solidFill>
            <a:srgbClr val="F1E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533399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-76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5180729" y="3080744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5817086" y="3080744"/>
            <a:ext cx="614411" cy="155709"/>
          </a:xfrm>
          <a:prstGeom prst="rect">
            <a:avLst/>
          </a:prstGeom>
          <a:solidFill>
            <a:srgbClr val="E7E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806113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+51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53443" y="3080744"/>
            <a:ext cx="614411" cy="155709"/>
          </a:xfrm>
          <a:prstGeom prst="rect">
            <a:avLst/>
          </a:prstGeom>
          <a:solidFill>
            <a:srgbClr val="CE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42470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+202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7089800" y="3080744"/>
            <a:ext cx="614411" cy="155709"/>
          </a:xfrm>
          <a:prstGeom prst="rect">
            <a:avLst/>
          </a:prstGeom>
          <a:solidFill>
            <a:srgbClr val="C0DD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078827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+303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7726157" y="3080744"/>
            <a:ext cx="614411" cy="155709"/>
          </a:xfrm>
          <a:prstGeom prst="rect">
            <a:avLst/>
          </a:prstGeom>
          <a:solidFill>
            <a:srgbClr val="BBDB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715184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+347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362514" y="3080744"/>
            <a:ext cx="614411" cy="155709"/>
          </a:xfrm>
          <a:prstGeom prst="rect">
            <a:avLst/>
          </a:prstGeom>
          <a:solidFill>
            <a:srgbClr val="A4D0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8351541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+555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998871" y="3080744"/>
            <a:ext cx="614411" cy="155709"/>
          </a:xfrm>
          <a:prstGeom prst="rect">
            <a:avLst/>
          </a:prstGeom>
          <a:solidFill>
            <a:srgbClr val="A0C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987898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+591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635228" y="3080744"/>
            <a:ext cx="614411" cy="155709"/>
          </a:xfrm>
          <a:prstGeom prst="rect">
            <a:avLst/>
          </a:prstGeom>
          <a:solidFill>
            <a:srgbClr val="8FC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624255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+760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10271585" y="3080744"/>
            <a:ext cx="614411" cy="155709"/>
          </a:xfrm>
          <a:prstGeom prst="rect">
            <a:avLst/>
          </a:prstGeom>
          <a:solidFill>
            <a:srgbClr val="83C2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10260613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+889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10907942" y="3080744"/>
            <a:ext cx="614411" cy="155709"/>
          </a:xfrm>
          <a:prstGeom prst="rect">
            <a:avLst/>
          </a:prstGeom>
          <a:solidFill>
            <a:srgbClr val="61B4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10896970" y="306977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+1287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04088" y="324742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2635300" y="3258399"/>
            <a:ext cx="614411" cy="155709"/>
          </a:xfrm>
          <a:prstGeom prst="rect">
            <a:avLst/>
          </a:prstGeom>
          <a:solidFill>
            <a:srgbClr val="DBA3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2624328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-718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3271657" y="3258399"/>
            <a:ext cx="614411" cy="155709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3260685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-709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3908014" y="3258399"/>
            <a:ext cx="614411" cy="155709"/>
          </a:xfrm>
          <a:prstGeom prst="rect">
            <a:avLst/>
          </a:prstGeom>
          <a:solidFill>
            <a:srgbClr val="DD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897042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-634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4544372" y="3258399"/>
            <a:ext cx="614411" cy="155709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33399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-127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5180729" y="3258399"/>
            <a:ext cx="614411" cy="155709"/>
          </a:xfrm>
          <a:prstGeom prst="rect">
            <a:avLst/>
          </a:prstGeom>
          <a:solidFill>
            <a:srgbClr val="F2E8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5169756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-51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5817086" y="3258399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Rectangle 171"/>
          <p:cNvSpPr/>
          <p:nvPr/>
        </p:nvSpPr>
        <p:spPr>
          <a:xfrm>
            <a:off x="6453443" y="3258399"/>
            <a:ext cx="614411" cy="155709"/>
          </a:xfrm>
          <a:prstGeom prst="rect">
            <a:avLst/>
          </a:prstGeom>
          <a:solidFill>
            <a:srgbClr val="D5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442470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+151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7089800" y="3258399"/>
            <a:ext cx="614411" cy="155709"/>
          </a:xfrm>
          <a:prstGeom prst="rect">
            <a:avLst/>
          </a:prstGeom>
          <a:solidFill>
            <a:srgbClr val="C7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078827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+252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7726157" y="3258399"/>
            <a:ext cx="614411" cy="155709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715184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+296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362514" y="3258399"/>
            <a:ext cx="614411" cy="155709"/>
          </a:xfrm>
          <a:prstGeom prst="rect">
            <a:avLst/>
          </a:prstGeom>
          <a:solidFill>
            <a:srgbClr val="A9D3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351541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+504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998871" y="3258399"/>
            <a:ext cx="614411" cy="155709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987898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+540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635228" y="3258399"/>
            <a:ext cx="614411" cy="155709"/>
          </a:xfrm>
          <a:prstGeom prst="rect">
            <a:avLst/>
          </a:prstGeom>
          <a:solidFill>
            <a:srgbClr val="94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624255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+709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10271585" y="3258399"/>
            <a:ext cx="614411" cy="155709"/>
          </a:xfrm>
          <a:prstGeom prst="rect">
            <a:avLst/>
          </a:prstGeom>
          <a:solidFill>
            <a:srgbClr val="88C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0260613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+838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10907942" y="3258399"/>
            <a:ext cx="614411" cy="155709"/>
          </a:xfrm>
          <a:prstGeom prst="rect">
            <a:avLst/>
          </a:prstGeom>
          <a:solidFill>
            <a:srgbClr val="65B5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10896970" y="324742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+1236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704088" y="3425081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2635300" y="3436053"/>
            <a:ext cx="614411" cy="155709"/>
          </a:xfrm>
          <a:prstGeom prst="rect">
            <a:avLst/>
          </a:prstGeom>
          <a:solidFill>
            <a:srgbClr val="D797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2624328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-869</a:t>
            </a:r>
          </a:p>
        </p:txBody>
      </p:sp>
      <p:sp>
        <p:nvSpPr>
          <p:cNvPr id="191" name="Rectangle 190"/>
          <p:cNvSpPr/>
          <p:nvPr/>
        </p:nvSpPr>
        <p:spPr>
          <a:xfrm>
            <a:off x="3271657" y="3436053"/>
            <a:ext cx="614411" cy="155709"/>
          </a:xfrm>
          <a:prstGeom prst="rect">
            <a:avLst/>
          </a:prstGeom>
          <a:solidFill>
            <a:srgbClr val="D898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TextBox 191"/>
          <p:cNvSpPr txBox="1"/>
          <p:nvPr/>
        </p:nvSpPr>
        <p:spPr>
          <a:xfrm>
            <a:off x="3260685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-859</a:t>
            </a:r>
          </a:p>
        </p:txBody>
      </p:sp>
      <p:sp>
        <p:nvSpPr>
          <p:cNvPr id="193" name="Rectangle 192"/>
          <p:cNvSpPr/>
          <p:nvPr/>
        </p:nvSpPr>
        <p:spPr>
          <a:xfrm>
            <a:off x="3908014" y="3436053"/>
            <a:ext cx="614411" cy="155709"/>
          </a:xfrm>
          <a:prstGeom prst="rect">
            <a:avLst/>
          </a:prstGeom>
          <a:solidFill>
            <a:srgbClr val="D99E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3897042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-785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4544372" y="3436053"/>
            <a:ext cx="614411" cy="155709"/>
          </a:xfrm>
          <a:prstGeom prst="rect">
            <a:avLst/>
          </a:prstGeom>
          <a:solidFill>
            <a:srgbClr val="E8C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TextBox 195"/>
          <p:cNvSpPr txBox="1"/>
          <p:nvPr/>
        </p:nvSpPr>
        <p:spPr>
          <a:xfrm>
            <a:off x="4533399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-278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5180729" y="3436053"/>
            <a:ext cx="614411" cy="155709"/>
          </a:xfrm>
          <a:prstGeom prst="rect">
            <a:avLst/>
          </a:prstGeom>
          <a:solidFill>
            <a:srgbClr val="EBD3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5169756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-202</a:t>
            </a:r>
          </a:p>
        </p:txBody>
      </p:sp>
      <p:sp>
        <p:nvSpPr>
          <p:cNvPr id="199" name="Rectangle 198"/>
          <p:cNvSpPr/>
          <p:nvPr/>
        </p:nvSpPr>
        <p:spPr>
          <a:xfrm>
            <a:off x="5817086" y="3436053"/>
            <a:ext cx="614411" cy="155709"/>
          </a:xfrm>
          <a:prstGeom prst="rect">
            <a:avLst/>
          </a:prstGeom>
          <a:solidFill>
            <a:srgbClr val="EDD9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5806113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-151</a:t>
            </a:r>
          </a:p>
        </p:txBody>
      </p:sp>
      <p:sp>
        <p:nvSpPr>
          <p:cNvPr id="201" name="Rectangle 200"/>
          <p:cNvSpPr/>
          <p:nvPr/>
        </p:nvSpPr>
        <p:spPr>
          <a:xfrm>
            <a:off x="6453443" y="343605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7089800" y="3436053"/>
            <a:ext cx="614411" cy="155709"/>
          </a:xfrm>
          <a:prstGeom prst="rect">
            <a:avLst/>
          </a:prstGeom>
          <a:solidFill>
            <a:srgbClr val="DD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7078827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+101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7726157" y="3436053"/>
            <a:ext cx="614411" cy="155709"/>
          </a:xfrm>
          <a:prstGeom prst="rect">
            <a:avLst/>
          </a:prstGeom>
          <a:solidFill>
            <a:srgbClr val="D6E6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7715184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+145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362514" y="3436053"/>
            <a:ext cx="614411" cy="155709"/>
          </a:xfrm>
          <a:prstGeom prst="rect">
            <a:avLst/>
          </a:prstGeom>
          <a:solidFill>
            <a:srgbClr val="BADA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8351541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+353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998871" y="3436053"/>
            <a:ext cx="614411" cy="155709"/>
          </a:xfrm>
          <a:prstGeom prst="rect">
            <a:avLst/>
          </a:prstGeom>
          <a:solidFill>
            <a:srgbClr val="B6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987898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+389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635228" y="3436053"/>
            <a:ext cx="614411" cy="155709"/>
          </a:xfrm>
          <a:prstGeom prst="rect">
            <a:avLst/>
          </a:prstGeom>
          <a:solidFill>
            <a:srgbClr val="A3D0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624255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+558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10271585" y="3436053"/>
            <a:ext cx="614411" cy="155709"/>
          </a:xfrm>
          <a:prstGeom prst="rect">
            <a:avLst/>
          </a:prstGeom>
          <a:solidFill>
            <a:srgbClr val="96CB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10260613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+688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0907942" y="3436053"/>
            <a:ext cx="614411" cy="155709"/>
          </a:xfrm>
          <a:prstGeom prst="rect">
            <a:avLst/>
          </a:prstGeom>
          <a:solidFill>
            <a:srgbClr val="72BB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0896970" y="3425081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+1085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704088" y="3602736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2635300" y="3613708"/>
            <a:ext cx="614411" cy="155709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TextBox 217"/>
          <p:cNvSpPr txBox="1"/>
          <p:nvPr/>
        </p:nvSpPr>
        <p:spPr>
          <a:xfrm>
            <a:off x="2624328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-970</a:t>
            </a:r>
          </a:p>
        </p:txBody>
      </p:sp>
      <p:sp>
        <p:nvSpPr>
          <p:cNvPr id="219" name="Rectangle 218"/>
          <p:cNvSpPr/>
          <p:nvPr/>
        </p:nvSpPr>
        <p:spPr>
          <a:xfrm>
            <a:off x="3271657" y="3613708"/>
            <a:ext cx="614411" cy="155709"/>
          </a:xfrm>
          <a:prstGeom prst="rect">
            <a:avLst/>
          </a:prstGeom>
          <a:solidFill>
            <a:srgbClr val="D59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TextBox 219"/>
          <p:cNvSpPr txBox="1"/>
          <p:nvPr/>
        </p:nvSpPr>
        <p:spPr>
          <a:xfrm>
            <a:off x="3260685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-960</a:t>
            </a:r>
          </a:p>
        </p:txBody>
      </p:sp>
      <p:sp>
        <p:nvSpPr>
          <p:cNvPr id="221" name="Rectangle 220"/>
          <p:cNvSpPr/>
          <p:nvPr/>
        </p:nvSpPr>
        <p:spPr>
          <a:xfrm>
            <a:off x="3908014" y="3613708"/>
            <a:ext cx="614411" cy="155709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3897042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-886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4544372" y="3613708"/>
            <a:ext cx="614411" cy="155709"/>
          </a:xfrm>
          <a:prstGeom prst="rect">
            <a:avLst/>
          </a:prstGeom>
          <a:solidFill>
            <a:srgbClr val="E5C1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4533399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-379</a:t>
            </a:r>
          </a:p>
        </p:txBody>
      </p:sp>
      <p:sp>
        <p:nvSpPr>
          <p:cNvPr id="225" name="Rectangle 224"/>
          <p:cNvSpPr/>
          <p:nvPr/>
        </p:nvSpPr>
        <p:spPr>
          <a:xfrm>
            <a:off x="5180729" y="3613708"/>
            <a:ext cx="614411" cy="155709"/>
          </a:xfrm>
          <a:prstGeom prst="rect">
            <a:avLst/>
          </a:prstGeom>
          <a:solidFill>
            <a:srgbClr val="E8C8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TextBox 225"/>
          <p:cNvSpPr txBox="1"/>
          <p:nvPr/>
        </p:nvSpPr>
        <p:spPr>
          <a:xfrm>
            <a:off x="5169756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-303</a:t>
            </a:r>
          </a:p>
        </p:txBody>
      </p:sp>
      <p:sp>
        <p:nvSpPr>
          <p:cNvPr id="227" name="Rectangle 226"/>
          <p:cNvSpPr/>
          <p:nvPr/>
        </p:nvSpPr>
        <p:spPr>
          <a:xfrm>
            <a:off x="5817086" y="3613708"/>
            <a:ext cx="614411" cy="155709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TextBox 227"/>
          <p:cNvSpPr txBox="1"/>
          <p:nvPr/>
        </p:nvSpPr>
        <p:spPr>
          <a:xfrm>
            <a:off x="5806113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-252</a:t>
            </a:r>
          </a:p>
        </p:txBody>
      </p:sp>
      <p:sp>
        <p:nvSpPr>
          <p:cNvPr id="229" name="Rectangle 228"/>
          <p:cNvSpPr/>
          <p:nvPr/>
        </p:nvSpPr>
        <p:spPr>
          <a:xfrm>
            <a:off x="6453443" y="3613708"/>
            <a:ext cx="614411" cy="155709"/>
          </a:xfrm>
          <a:prstGeom prst="rect">
            <a:avLst/>
          </a:prstGeom>
          <a:solidFill>
            <a:srgbClr val="F0E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TextBox 229"/>
          <p:cNvSpPr txBox="1"/>
          <p:nvPr/>
        </p:nvSpPr>
        <p:spPr>
          <a:xfrm>
            <a:off x="6442470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-101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089800" y="3613708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ectangle 231"/>
          <p:cNvSpPr/>
          <p:nvPr/>
        </p:nvSpPr>
        <p:spPr>
          <a:xfrm>
            <a:off x="7726157" y="3613708"/>
            <a:ext cx="614411" cy="155709"/>
          </a:xfrm>
          <a:prstGeom prst="rect">
            <a:avLst/>
          </a:prstGeom>
          <a:solidFill>
            <a:srgbClr val="E8E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7715184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+44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8362514" y="3613708"/>
            <a:ext cx="614411" cy="155709"/>
          </a:xfrm>
          <a:prstGeom prst="rect">
            <a:avLst/>
          </a:prstGeom>
          <a:solidFill>
            <a:srgbClr val="C7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8351541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+252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8998871" y="3613708"/>
            <a:ext cx="614411" cy="155709"/>
          </a:xfrm>
          <a:prstGeom prst="rect">
            <a:avLst/>
          </a:prstGeom>
          <a:solidFill>
            <a:srgbClr val="C2DE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8987898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+288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9635228" y="3613708"/>
            <a:ext cx="614411" cy="155709"/>
          </a:xfrm>
          <a:prstGeom prst="rect">
            <a:avLst/>
          </a:prstGeom>
          <a:solidFill>
            <a:srgbClr val="AED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9624255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+457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0271585" y="3613708"/>
            <a:ext cx="614411" cy="155709"/>
          </a:xfrm>
          <a:prstGeom prst="rect">
            <a:avLst/>
          </a:prstGeom>
          <a:solidFill>
            <a:srgbClr val="A0C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0260613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+587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10907942" y="3613708"/>
            <a:ext cx="614411" cy="155709"/>
          </a:xfrm>
          <a:prstGeom prst="rect">
            <a:avLst/>
          </a:prstGeom>
          <a:solidFill>
            <a:srgbClr val="7BBF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10896970" y="3602736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+984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04088" y="3780390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9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245" name="Rectangle 244"/>
          <p:cNvSpPr/>
          <p:nvPr/>
        </p:nvSpPr>
        <p:spPr>
          <a:xfrm>
            <a:off x="2635300" y="3791363"/>
            <a:ext cx="614411" cy="155709"/>
          </a:xfrm>
          <a:prstGeom prst="rect">
            <a:avLst/>
          </a:prstGeom>
          <a:solidFill>
            <a:srgbClr val="D48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TextBox 245"/>
          <p:cNvSpPr txBox="1"/>
          <p:nvPr/>
        </p:nvSpPr>
        <p:spPr>
          <a:xfrm>
            <a:off x="2624328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-1014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3271657" y="3791363"/>
            <a:ext cx="614411" cy="155709"/>
          </a:xfrm>
          <a:prstGeom prst="rect">
            <a:avLst/>
          </a:prstGeom>
          <a:solidFill>
            <a:srgbClr val="D48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TextBox 247"/>
          <p:cNvSpPr txBox="1"/>
          <p:nvPr/>
        </p:nvSpPr>
        <p:spPr>
          <a:xfrm>
            <a:off x="3260685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-1005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3908014" y="3791363"/>
            <a:ext cx="614411" cy="155709"/>
          </a:xfrm>
          <a:prstGeom prst="rect">
            <a:avLst/>
          </a:prstGeom>
          <a:solidFill>
            <a:srgbClr val="D69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3897042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-930</a:t>
            </a:r>
          </a:p>
        </p:txBody>
      </p:sp>
      <p:sp>
        <p:nvSpPr>
          <p:cNvPr id="251" name="Rectangle 250"/>
          <p:cNvSpPr/>
          <p:nvPr/>
        </p:nvSpPr>
        <p:spPr>
          <a:xfrm>
            <a:off x="4544372" y="3791363"/>
            <a:ext cx="614411" cy="155709"/>
          </a:xfrm>
          <a:prstGeom prst="rect">
            <a:avLst/>
          </a:prstGeom>
          <a:solidFill>
            <a:srgbClr val="E4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TextBox 251"/>
          <p:cNvSpPr txBox="1"/>
          <p:nvPr/>
        </p:nvSpPr>
        <p:spPr>
          <a:xfrm>
            <a:off x="4533399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-423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5180729" y="3791363"/>
            <a:ext cx="614411" cy="155709"/>
          </a:xfrm>
          <a:prstGeom prst="rect">
            <a:avLst/>
          </a:prstGeom>
          <a:solidFill>
            <a:srgbClr val="E6C4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169756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-347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5817086" y="3791363"/>
            <a:ext cx="614411" cy="155709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5806113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-296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6453443" y="3791363"/>
            <a:ext cx="614411" cy="155709"/>
          </a:xfrm>
          <a:prstGeom prst="rect">
            <a:avLst/>
          </a:prstGeom>
          <a:solidFill>
            <a:srgbClr val="EED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6442470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-145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7089800" y="3791363"/>
            <a:ext cx="614411" cy="155709"/>
          </a:xfrm>
          <a:prstGeom prst="rect">
            <a:avLst/>
          </a:prstGeom>
          <a:solidFill>
            <a:srgbClr val="F3E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7078827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7726157" y="379136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Rectangle 261"/>
          <p:cNvSpPr/>
          <p:nvPr/>
        </p:nvSpPr>
        <p:spPr>
          <a:xfrm>
            <a:off x="8362514" y="3791363"/>
            <a:ext cx="614411" cy="155709"/>
          </a:xfrm>
          <a:prstGeom prst="rect">
            <a:avLst/>
          </a:prstGeom>
          <a:solidFill>
            <a:srgbClr val="CDE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8351541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+208</a:t>
            </a:r>
          </a:p>
        </p:txBody>
      </p:sp>
      <p:sp>
        <p:nvSpPr>
          <p:cNvPr id="264" name="Rectangle 263"/>
          <p:cNvSpPr/>
          <p:nvPr/>
        </p:nvSpPr>
        <p:spPr>
          <a:xfrm>
            <a:off x="8998871" y="3791363"/>
            <a:ext cx="614411" cy="155709"/>
          </a:xfrm>
          <a:prstGeom prst="rect">
            <a:avLst/>
          </a:prstGeom>
          <a:solidFill>
            <a:srgbClr val="C8E0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8987898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+244</a:t>
            </a:r>
          </a:p>
        </p:txBody>
      </p:sp>
      <p:sp>
        <p:nvSpPr>
          <p:cNvPr id="266" name="Rectangle 265"/>
          <p:cNvSpPr/>
          <p:nvPr/>
        </p:nvSpPr>
        <p:spPr>
          <a:xfrm>
            <a:off x="9635228" y="3791363"/>
            <a:ext cx="614411" cy="155709"/>
          </a:xfrm>
          <a:prstGeom prst="rect">
            <a:avLst/>
          </a:prstGeom>
          <a:solidFill>
            <a:srgbClr val="B3D7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9624255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+413</a:t>
            </a:r>
          </a:p>
        </p:txBody>
      </p:sp>
      <p:sp>
        <p:nvSpPr>
          <p:cNvPr id="268" name="Rectangle 267"/>
          <p:cNvSpPr/>
          <p:nvPr/>
        </p:nvSpPr>
        <p:spPr>
          <a:xfrm>
            <a:off x="10271585" y="3791363"/>
            <a:ext cx="614411" cy="155709"/>
          </a:xfrm>
          <a:prstGeom prst="rect">
            <a:avLst/>
          </a:prstGeom>
          <a:solidFill>
            <a:srgbClr val="A5D1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10260613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+542</a:t>
            </a:r>
          </a:p>
        </p:txBody>
      </p:sp>
      <p:sp>
        <p:nvSpPr>
          <p:cNvPr id="270" name="Rectangle 269"/>
          <p:cNvSpPr/>
          <p:nvPr/>
        </p:nvSpPr>
        <p:spPr>
          <a:xfrm>
            <a:off x="10907942" y="3791363"/>
            <a:ext cx="614411" cy="155709"/>
          </a:xfrm>
          <a:prstGeom prst="rect">
            <a:avLst/>
          </a:prstGeom>
          <a:solidFill>
            <a:srgbClr val="7FC0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10896970" y="378039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+940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704088" y="3958045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10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273" name="Rectangle 272"/>
          <p:cNvSpPr/>
          <p:nvPr/>
        </p:nvSpPr>
        <p:spPr>
          <a:xfrm>
            <a:off x="2635300" y="3969018"/>
            <a:ext cx="614411" cy="155709"/>
          </a:xfrm>
          <a:prstGeom prst="rect">
            <a:avLst/>
          </a:prstGeom>
          <a:solidFill>
            <a:srgbClr val="CF7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624328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-1222</a:t>
            </a:r>
          </a:p>
        </p:txBody>
      </p:sp>
      <p:sp>
        <p:nvSpPr>
          <p:cNvPr id="275" name="Rectangle 274"/>
          <p:cNvSpPr/>
          <p:nvPr/>
        </p:nvSpPr>
        <p:spPr>
          <a:xfrm>
            <a:off x="3271657" y="3969018"/>
            <a:ext cx="614411" cy="155709"/>
          </a:xfrm>
          <a:prstGeom prst="rect">
            <a:avLst/>
          </a:prstGeom>
          <a:solidFill>
            <a:srgbClr val="CF7F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3260685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-1213</a:t>
            </a:r>
          </a:p>
        </p:txBody>
      </p:sp>
      <p:sp>
        <p:nvSpPr>
          <p:cNvPr id="277" name="Rectangle 276"/>
          <p:cNvSpPr/>
          <p:nvPr/>
        </p:nvSpPr>
        <p:spPr>
          <a:xfrm>
            <a:off x="3908014" y="3969018"/>
            <a:ext cx="614411" cy="155709"/>
          </a:xfrm>
          <a:prstGeom prst="rect">
            <a:avLst/>
          </a:prstGeom>
          <a:solidFill>
            <a:srgbClr val="D18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3897042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-1138</a:t>
            </a:r>
          </a:p>
        </p:txBody>
      </p:sp>
      <p:sp>
        <p:nvSpPr>
          <p:cNvPr id="279" name="Rectangle 278"/>
          <p:cNvSpPr/>
          <p:nvPr/>
        </p:nvSpPr>
        <p:spPr>
          <a:xfrm>
            <a:off x="4544372" y="3969018"/>
            <a:ext cx="614411" cy="155709"/>
          </a:xfrm>
          <a:prstGeom prst="rect">
            <a:avLst/>
          </a:prstGeom>
          <a:solidFill>
            <a:srgbClr val="DEA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4533399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-631</a:t>
            </a:r>
          </a:p>
        </p:txBody>
      </p:sp>
      <p:sp>
        <p:nvSpPr>
          <p:cNvPr id="281" name="Rectangle 280"/>
          <p:cNvSpPr/>
          <p:nvPr/>
        </p:nvSpPr>
        <p:spPr>
          <a:xfrm>
            <a:off x="5180729" y="3969018"/>
            <a:ext cx="614411" cy="155709"/>
          </a:xfrm>
          <a:prstGeom prst="rect">
            <a:avLst/>
          </a:prstGeom>
          <a:solidFill>
            <a:srgbClr val="E0B1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TextBox 281"/>
          <p:cNvSpPr txBox="1"/>
          <p:nvPr/>
        </p:nvSpPr>
        <p:spPr>
          <a:xfrm>
            <a:off x="5169756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-555</a:t>
            </a:r>
          </a:p>
        </p:txBody>
      </p:sp>
      <p:sp>
        <p:nvSpPr>
          <p:cNvPr id="283" name="Rectangle 282"/>
          <p:cNvSpPr/>
          <p:nvPr/>
        </p:nvSpPr>
        <p:spPr>
          <a:xfrm>
            <a:off x="5817086" y="3969018"/>
            <a:ext cx="614411" cy="155709"/>
          </a:xfrm>
          <a:prstGeom prst="rect">
            <a:avLst/>
          </a:prstGeom>
          <a:solidFill>
            <a:srgbClr val="E1B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TextBox 283"/>
          <p:cNvSpPr txBox="1"/>
          <p:nvPr/>
        </p:nvSpPr>
        <p:spPr>
          <a:xfrm>
            <a:off x="5806113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-504</a:t>
            </a:r>
          </a:p>
        </p:txBody>
      </p:sp>
      <p:sp>
        <p:nvSpPr>
          <p:cNvPr id="285" name="Rectangle 284"/>
          <p:cNvSpPr/>
          <p:nvPr/>
        </p:nvSpPr>
        <p:spPr>
          <a:xfrm>
            <a:off x="6453443" y="3969018"/>
            <a:ext cx="614411" cy="155709"/>
          </a:xfrm>
          <a:prstGeom prst="rect">
            <a:avLst/>
          </a:prstGeom>
          <a:solidFill>
            <a:srgbClr val="E6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6442470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-353</a:t>
            </a:r>
          </a:p>
        </p:txBody>
      </p:sp>
      <p:sp>
        <p:nvSpPr>
          <p:cNvPr id="287" name="Rectangle 286"/>
          <p:cNvSpPr/>
          <p:nvPr/>
        </p:nvSpPr>
        <p:spPr>
          <a:xfrm>
            <a:off x="7089800" y="3969018"/>
            <a:ext cx="614411" cy="155709"/>
          </a:xfrm>
          <a:prstGeom prst="rect">
            <a:avLst/>
          </a:prstGeom>
          <a:solidFill>
            <a:srgbClr val="E9CD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TextBox 287"/>
          <p:cNvSpPr txBox="1"/>
          <p:nvPr/>
        </p:nvSpPr>
        <p:spPr>
          <a:xfrm>
            <a:off x="7078827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-252</a:t>
            </a:r>
          </a:p>
        </p:txBody>
      </p:sp>
      <p:sp>
        <p:nvSpPr>
          <p:cNvPr id="289" name="Rectangle 288"/>
          <p:cNvSpPr/>
          <p:nvPr/>
        </p:nvSpPr>
        <p:spPr>
          <a:xfrm>
            <a:off x="7726157" y="3969018"/>
            <a:ext cx="614411" cy="155709"/>
          </a:xfrm>
          <a:prstGeom prst="rect">
            <a:avLst/>
          </a:prstGeom>
          <a:solidFill>
            <a:srgbClr val="EBD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TextBox 289"/>
          <p:cNvSpPr txBox="1"/>
          <p:nvPr/>
        </p:nvSpPr>
        <p:spPr>
          <a:xfrm>
            <a:off x="7715184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-208</a:t>
            </a:r>
          </a:p>
        </p:txBody>
      </p:sp>
      <p:sp>
        <p:nvSpPr>
          <p:cNvPr id="291" name="Rectangle 290"/>
          <p:cNvSpPr/>
          <p:nvPr/>
        </p:nvSpPr>
        <p:spPr>
          <a:xfrm>
            <a:off x="8362514" y="3969018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Rectangle 291"/>
          <p:cNvSpPr/>
          <p:nvPr/>
        </p:nvSpPr>
        <p:spPr>
          <a:xfrm>
            <a:off x="8998871" y="3969018"/>
            <a:ext cx="614411" cy="155709"/>
          </a:xfrm>
          <a:prstGeom prst="rect">
            <a:avLst/>
          </a:prstGeom>
          <a:solidFill>
            <a:srgbClr val="EA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TextBox 292"/>
          <p:cNvSpPr txBox="1"/>
          <p:nvPr/>
        </p:nvSpPr>
        <p:spPr>
          <a:xfrm>
            <a:off x="8987898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+36</a:t>
            </a:r>
          </a:p>
        </p:txBody>
      </p:sp>
      <p:sp>
        <p:nvSpPr>
          <p:cNvPr id="294" name="Rectangle 293"/>
          <p:cNvSpPr/>
          <p:nvPr/>
        </p:nvSpPr>
        <p:spPr>
          <a:xfrm>
            <a:off x="9635228" y="3969018"/>
            <a:ext cx="614411" cy="155709"/>
          </a:xfrm>
          <a:prstGeom prst="rect">
            <a:avLst/>
          </a:prstGeom>
          <a:solidFill>
            <a:srgbClr val="CDE3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TextBox 294"/>
          <p:cNvSpPr txBox="1"/>
          <p:nvPr/>
        </p:nvSpPr>
        <p:spPr>
          <a:xfrm>
            <a:off x="9624255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+205</a:t>
            </a:r>
          </a:p>
        </p:txBody>
      </p:sp>
      <p:sp>
        <p:nvSpPr>
          <p:cNvPr id="296" name="Rectangle 295"/>
          <p:cNvSpPr/>
          <p:nvPr/>
        </p:nvSpPr>
        <p:spPr>
          <a:xfrm>
            <a:off x="10271585" y="3969018"/>
            <a:ext cx="614411" cy="155709"/>
          </a:xfrm>
          <a:prstGeom prst="rect">
            <a:avLst/>
          </a:prstGeom>
          <a:solidFill>
            <a:srgbClr val="BCD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TextBox 296"/>
          <p:cNvSpPr txBox="1"/>
          <p:nvPr/>
        </p:nvSpPr>
        <p:spPr>
          <a:xfrm>
            <a:off x="10260613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+334</a:t>
            </a:r>
          </a:p>
        </p:txBody>
      </p:sp>
      <p:sp>
        <p:nvSpPr>
          <p:cNvPr id="298" name="Rectangle 297"/>
          <p:cNvSpPr/>
          <p:nvPr/>
        </p:nvSpPr>
        <p:spPr>
          <a:xfrm>
            <a:off x="10907942" y="3969018"/>
            <a:ext cx="614411" cy="155709"/>
          </a:xfrm>
          <a:prstGeom prst="rect">
            <a:avLst/>
          </a:prstGeom>
          <a:solidFill>
            <a:srgbClr val="92C9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TextBox 298"/>
          <p:cNvSpPr txBox="1"/>
          <p:nvPr/>
        </p:nvSpPr>
        <p:spPr>
          <a:xfrm>
            <a:off x="10896970" y="395804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+732</a:t>
            </a:r>
          </a:p>
        </p:txBody>
      </p:sp>
      <p:sp>
        <p:nvSpPr>
          <p:cNvPr id="300" name="Rectangle 299"/>
          <p:cNvSpPr/>
          <p:nvPr/>
        </p:nvSpPr>
        <p:spPr>
          <a:xfrm>
            <a:off x="658368" y="4143015"/>
            <a:ext cx="1920240" cy="163024"/>
          </a:xfrm>
          <a:prstGeom prst="rect">
            <a:avLst/>
          </a:prstGeom>
          <a:solidFill>
            <a:srgbClr val="F3EA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TextBox 300"/>
          <p:cNvSpPr txBox="1"/>
          <p:nvPr/>
        </p:nvSpPr>
        <p:spPr>
          <a:xfrm>
            <a:off x="704088" y="4135700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11  </a:t>
            </a:r>
            <a:r>
              <a:rPr sz="8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02" name="Rectangle 301"/>
          <p:cNvSpPr/>
          <p:nvPr/>
        </p:nvSpPr>
        <p:spPr>
          <a:xfrm>
            <a:off x="2635300" y="4146673"/>
            <a:ext cx="614411" cy="155709"/>
          </a:xfrm>
          <a:prstGeom prst="rect">
            <a:avLst/>
          </a:prstGeom>
          <a:solidFill>
            <a:srgbClr val="CE7C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TextBox 302"/>
          <p:cNvSpPr txBox="1"/>
          <p:nvPr/>
        </p:nvSpPr>
        <p:spPr>
          <a:xfrm>
            <a:off x="2624328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-1258</a:t>
            </a:r>
          </a:p>
        </p:txBody>
      </p:sp>
      <p:sp>
        <p:nvSpPr>
          <p:cNvPr id="304" name="Rectangle 303"/>
          <p:cNvSpPr/>
          <p:nvPr/>
        </p:nvSpPr>
        <p:spPr>
          <a:xfrm>
            <a:off x="3271657" y="4146673"/>
            <a:ext cx="614411" cy="155709"/>
          </a:xfrm>
          <a:prstGeom prst="rect">
            <a:avLst/>
          </a:prstGeom>
          <a:solidFill>
            <a:srgbClr val="CE7D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3260685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-1249</a:t>
            </a:r>
          </a:p>
        </p:txBody>
      </p:sp>
      <p:sp>
        <p:nvSpPr>
          <p:cNvPr id="306" name="Rectangle 305"/>
          <p:cNvSpPr/>
          <p:nvPr/>
        </p:nvSpPr>
        <p:spPr>
          <a:xfrm>
            <a:off x="3908014" y="4146673"/>
            <a:ext cx="614411" cy="155709"/>
          </a:xfrm>
          <a:prstGeom prst="rect">
            <a:avLst/>
          </a:prstGeom>
          <a:solidFill>
            <a:srgbClr val="D08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TextBox 306"/>
          <p:cNvSpPr txBox="1"/>
          <p:nvPr/>
        </p:nvSpPr>
        <p:spPr>
          <a:xfrm>
            <a:off x="3897042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-1174</a:t>
            </a:r>
          </a:p>
        </p:txBody>
      </p:sp>
      <p:sp>
        <p:nvSpPr>
          <p:cNvPr id="308" name="Rectangle 307"/>
          <p:cNvSpPr/>
          <p:nvPr/>
        </p:nvSpPr>
        <p:spPr>
          <a:xfrm>
            <a:off x="4544372" y="4146673"/>
            <a:ext cx="614411" cy="155709"/>
          </a:xfrm>
          <a:prstGeom prst="rect">
            <a:avLst/>
          </a:prstGeom>
          <a:solidFill>
            <a:srgbClr val="DDA7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TextBox 308"/>
          <p:cNvSpPr txBox="1"/>
          <p:nvPr/>
        </p:nvSpPr>
        <p:spPr>
          <a:xfrm>
            <a:off x="4533399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-667</a:t>
            </a:r>
          </a:p>
        </p:txBody>
      </p:sp>
      <p:sp>
        <p:nvSpPr>
          <p:cNvPr id="310" name="Rectangle 309"/>
          <p:cNvSpPr/>
          <p:nvPr/>
        </p:nvSpPr>
        <p:spPr>
          <a:xfrm>
            <a:off x="5180729" y="4146673"/>
            <a:ext cx="614411" cy="155709"/>
          </a:xfrm>
          <a:prstGeom prst="rect">
            <a:avLst/>
          </a:prstGeom>
          <a:solidFill>
            <a:srgbClr val="DFAD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TextBox 310"/>
          <p:cNvSpPr txBox="1"/>
          <p:nvPr/>
        </p:nvSpPr>
        <p:spPr>
          <a:xfrm>
            <a:off x="5169756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-591</a:t>
            </a:r>
          </a:p>
        </p:txBody>
      </p:sp>
      <p:sp>
        <p:nvSpPr>
          <p:cNvPr id="312" name="Rectangle 311"/>
          <p:cNvSpPr/>
          <p:nvPr/>
        </p:nvSpPr>
        <p:spPr>
          <a:xfrm>
            <a:off x="5817086" y="4146673"/>
            <a:ext cx="614411" cy="155709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TextBox 312"/>
          <p:cNvSpPr txBox="1"/>
          <p:nvPr/>
        </p:nvSpPr>
        <p:spPr>
          <a:xfrm>
            <a:off x="5806113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-540</a:t>
            </a:r>
          </a:p>
        </p:txBody>
      </p:sp>
      <p:sp>
        <p:nvSpPr>
          <p:cNvPr id="314" name="Rectangle 313"/>
          <p:cNvSpPr/>
          <p:nvPr/>
        </p:nvSpPr>
        <p:spPr>
          <a:xfrm>
            <a:off x="6453443" y="4146673"/>
            <a:ext cx="614411" cy="155709"/>
          </a:xfrm>
          <a:prstGeom prst="rect">
            <a:avLst/>
          </a:prstGeom>
          <a:solidFill>
            <a:srgbClr val="E5B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TextBox 314"/>
          <p:cNvSpPr txBox="1"/>
          <p:nvPr/>
        </p:nvSpPr>
        <p:spPr>
          <a:xfrm>
            <a:off x="6442470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-389</a:t>
            </a:r>
          </a:p>
        </p:txBody>
      </p:sp>
      <p:sp>
        <p:nvSpPr>
          <p:cNvPr id="316" name="Rectangle 315"/>
          <p:cNvSpPr/>
          <p:nvPr/>
        </p:nvSpPr>
        <p:spPr>
          <a:xfrm>
            <a:off x="7089800" y="4146673"/>
            <a:ext cx="614411" cy="155709"/>
          </a:xfrm>
          <a:prstGeom prst="rect">
            <a:avLst/>
          </a:prstGeom>
          <a:solidFill>
            <a:srgbClr val="E8CA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7078827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-288</a:t>
            </a:r>
          </a:p>
        </p:txBody>
      </p:sp>
      <p:sp>
        <p:nvSpPr>
          <p:cNvPr id="318" name="Rectangle 317"/>
          <p:cNvSpPr/>
          <p:nvPr/>
        </p:nvSpPr>
        <p:spPr>
          <a:xfrm>
            <a:off x="7726157" y="4146673"/>
            <a:ext cx="614411" cy="155709"/>
          </a:xfrm>
          <a:prstGeom prst="rect">
            <a:avLst/>
          </a:prstGeom>
          <a:solidFill>
            <a:srgbClr val="EAC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TextBox 318"/>
          <p:cNvSpPr txBox="1"/>
          <p:nvPr/>
        </p:nvSpPr>
        <p:spPr>
          <a:xfrm>
            <a:off x="7715184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-244</a:t>
            </a:r>
          </a:p>
        </p:txBody>
      </p:sp>
      <p:sp>
        <p:nvSpPr>
          <p:cNvPr id="320" name="Rectangle 319"/>
          <p:cNvSpPr/>
          <p:nvPr/>
        </p:nvSpPr>
        <p:spPr>
          <a:xfrm>
            <a:off x="8362514" y="4146673"/>
            <a:ext cx="614411" cy="155709"/>
          </a:xfrm>
          <a:prstGeom prst="rect">
            <a:avLst/>
          </a:prstGeom>
          <a:solidFill>
            <a:srgbClr val="F3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TextBox 320"/>
          <p:cNvSpPr txBox="1"/>
          <p:nvPr/>
        </p:nvSpPr>
        <p:spPr>
          <a:xfrm>
            <a:off x="8351541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-36</a:t>
            </a:r>
          </a:p>
        </p:txBody>
      </p:sp>
      <p:sp>
        <p:nvSpPr>
          <p:cNvPr id="322" name="Rectangle 321"/>
          <p:cNvSpPr/>
          <p:nvPr/>
        </p:nvSpPr>
        <p:spPr>
          <a:xfrm>
            <a:off x="8998871" y="414667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Rectangle 322"/>
          <p:cNvSpPr/>
          <p:nvPr/>
        </p:nvSpPr>
        <p:spPr>
          <a:xfrm>
            <a:off x="9635228" y="4146673"/>
            <a:ext cx="614411" cy="155709"/>
          </a:xfrm>
          <a:prstGeom prst="rect">
            <a:avLst/>
          </a:prstGeom>
          <a:solidFill>
            <a:srgbClr val="D3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TextBox 323"/>
          <p:cNvSpPr txBox="1"/>
          <p:nvPr/>
        </p:nvSpPr>
        <p:spPr>
          <a:xfrm>
            <a:off x="9624255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+169</a:t>
            </a:r>
          </a:p>
        </p:txBody>
      </p:sp>
      <p:sp>
        <p:nvSpPr>
          <p:cNvPr id="325" name="Rectangle 324"/>
          <p:cNvSpPr/>
          <p:nvPr/>
        </p:nvSpPr>
        <p:spPr>
          <a:xfrm>
            <a:off x="10271585" y="4146673"/>
            <a:ext cx="614411" cy="155709"/>
          </a:xfrm>
          <a:prstGeom prst="rect">
            <a:avLst/>
          </a:prstGeom>
          <a:solidFill>
            <a:srgbClr val="C1DD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TextBox 325"/>
          <p:cNvSpPr txBox="1"/>
          <p:nvPr/>
        </p:nvSpPr>
        <p:spPr>
          <a:xfrm>
            <a:off x="10260613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+298</a:t>
            </a:r>
          </a:p>
        </p:txBody>
      </p:sp>
      <p:sp>
        <p:nvSpPr>
          <p:cNvPr id="327" name="Rectangle 326"/>
          <p:cNvSpPr/>
          <p:nvPr/>
        </p:nvSpPr>
        <p:spPr>
          <a:xfrm>
            <a:off x="10907942" y="4146673"/>
            <a:ext cx="614411" cy="155709"/>
          </a:xfrm>
          <a:prstGeom prst="rect">
            <a:avLst/>
          </a:prstGeom>
          <a:solidFill>
            <a:srgbClr val="95CA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TextBox 327"/>
          <p:cNvSpPr txBox="1"/>
          <p:nvPr/>
        </p:nvSpPr>
        <p:spPr>
          <a:xfrm>
            <a:off x="10896970" y="413570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+696</a:t>
            </a:r>
          </a:p>
        </p:txBody>
      </p:sp>
      <p:sp>
        <p:nvSpPr>
          <p:cNvPr id="329" name="TextBox 328"/>
          <p:cNvSpPr txBox="1"/>
          <p:nvPr/>
        </p:nvSpPr>
        <p:spPr>
          <a:xfrm>
            <a:off x="704088" y="4313355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12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330" name="Rectangle 329"/>
          <p:cNvSpPr/>
          <p:nvPr/>
        </p:nvSpPr>
        <p:spPr>
          <a:xfrm>
            <a:off x="2635300" y="4324328"/>
            <a:ext cx="614411" cy="155709"/>
          </a:xfrm>
          <a:prstGeom prst="rect">
            <a:avLst/>
          </a:prstGeom>
          <a:solidFill>
            <a:srgbClr val="CA7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TextBox 330"/>
          <p:cNvSpPr txBox="1"/>
          <p:nvPr/>
        </p:nvSpPr>
        <p:spPr>
          <a:xfrm>
            <a:off x="2624328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-1427</a:t>
            </a:r>
          </a:p>
        </p:txBody>
      </p:sp>
      <p:sp>
        <p:nvSpPr>
          <p:cNvPr id="332" name="Rectangle 331"/>
          <p:cNvSpPr/>
          <p:nvPr/>
        </p:nvSpPr>
        <p:spPr>
          <a:xfrm>
            <a:off x="3271657" y="4324328"/>
            <a:ext cx="614411" cy="155709"/>
          </a:xfrm>
          <a:prstGeom prst="rect">
            <a:avLst/>
          </a:prstGeom>
          <a:solidFill>
            <a:srgbClr val="CB72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TextBox 332"/>
          <p:cNvSpPr txBox="1"/>
          <p:nvPr/>
        </p:nvSpPr>
        <p:spPr>
          <a:xfrm>
            <a:off x="3260685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-1417</a:t>
            </a:r>
          </a:p>
        </p:txBody>
      </p:sp>
      <p:sp>
        <p:nvSpPr>
          <p:cNvPr id="334" name="Rectangle 333"/>
          <p:cNvSpPr/>
          <p:nvPr/>
        </p:nvSpPr>
        <p:spPr>
          <a:xfrm>
            <a:off x="3908014" y="4324328"/>
            <a:ext cx="614411" cy="155709"/>
          </a:xfrm>
          <a:prstGeom prst="rect">
            <a:avLst/>
          </a:prstGeom>
          <a:solidFill>
            <a:srgbClr val="CC7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TextBox 334"/>
          <p:cNvSpPr txBox="1"/>
          <p:nvPr/>
        </p:nvSpPr>
        <p:spPr>
          <a:xfrm>
            <a:off x="3897042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-1343</a:t>
            </a:r>
          </a:p>
        </p:txBody>
      </p:sp>
      <p:sp>
        <p:nvSpPr>
          <p:cNvPr id="336" name="Rectangle 335"/>
          <p:cNvSpPr/>
          <p:nvPr/>
        </p:nvSpPr>
        <p:spPr>
          <a:xfrm>
            <a:off x="4544372" y="4324328"/>
            <a:ext cx="614411" cy="155709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TextBox 336"/>
          <p:cNvSpPr txBox="1"/>
          <p:nvPr/>
        </p:nvSpPr>
        <p:spPr>
          <a:xfrm>
            <a:off x="4533399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-836</a:t>
            </a:r>
          </a:p>
        </p:txBody>
      </p:sp>
      <p:sp>
        <p:nvSpPr>
          <p:cNvPr id="338" name="Rectangle 337"/>
          <p:cNvSpPr/>
          <p:nvPr/>
        </p:nvSpPr>
        <p:spPr>
          <a:xfrm>
            <a:off x="5180729" y="4324328"/>
            <a:ext cx="614411" cy="155709"/>
          </a:xfrm>
          <a:prstGeom prst="rect">
            <a:avLst/>
          </a:prstGeom>
          <a:solidFill>
            <a:srgbClr val="DAA0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TextBox 338"/>
          <p:cNvSpPr txBox="1"/>
          <p:nvPr/>
        </p:nvSpPr>
        <p:spPr>
          <a:xfrm>
            <a:off x="5169756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-760</a:t>
            </a:r>
          </a:p>
        </p:txBody>
      </p:sp>
      <p:sp>
        <p:nvSpPr>
          <p:cNvPr id="340" name="Rectangle 339"/>
          <p:cNvSpPr/>
          <p:nvPr/>
        </p:nvSpPr>
        <p:spPr>
          <a:xfrm>
            <a:off x="5817086" y="4324328"/>
            <a:ext cx="614411" cy="155709"/>
          </a:xfrm>
          <a:prstGeom prst="rect">
            <a:avLst/>
          </a:prstGeom>
          <a:solidFill>
            <a:srgbClr val="DBA4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TextBox 340"/>
          <p:cNvSpPr txBox="1"/>
          <p:nvPr/>
        </p:nvSpPr>
        <p:spPr>
          <a:xfrm>
            <a:off x="5806113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-709</a:t>
            </a:r>
          </a:p>
        </p:txBody>
      </p:sp>
      <p:sp>
        <p:nvSpPr>
          <p:cNvPr id="342" name="Rectangle 341"/>
          <p:cNvSpPr/>
          <p:nvPr/>
        </p:nvSpPr>
        <p:spPr>
          <a:xfrm>
            <a:off x="6453443" y="4324328"/>
            <a:ext cx="614411" cy="155709"/>
          </a:xfrm>
          <a:prstGeom prst="rect">
            <a:avLst/>
          </a:prstGeom>
          <a:solidFill>
            <a:srgbClr val="E0B0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TextBox 342"/>
          <p:cNvSpPr txBox="1"/>
          <p:nvPr/>
        </p:nvSpPr>
        <p:spPr>
          <a:xfrm>
            <a:off x="6442470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-558</a:t>
            </a:r>
          </a:p>
        </p:txBody>
      </p:sp>
      <p:sp>
        <p:nvSpPr>
          <p:cNvPr id="344" name="Rectangle 343"/>
          <p:cNvSpPr/>
          <p:nvPr/>
        </p:nvSpPr>
        <p:spPr>
          <a:xfrm>
            <a:off x="7089800" y="4324328"/>
            <a:ext cx="614411" cy="155709"/>
          </a:xfrm>
          <a:prstGeom prst="rect">
            <a:avLst/>
          </a:prstGeom>
          <a:solidFill>
            <a:srgbClr val="E3B9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TextBox 344"/>
          <p:cNvSpPr txBox="1"/>
          <p:nvPr/>
        </p:nvSpPr>
        <p:spPr>
          <a:xfrm>
            <a:off x="7078827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-457</a:t>
            </a:r>
          </a:p>
        </p:txBody>
      </p:sp>
      <p:sp>
        <p:nvSpPr>
          <p:cNvPr id="346" name="Rectangle 345"/>
          <p:cNvSpPr/>
          <p:nvPr/>
        </p:nvSpPr>
        <p:spPr>
          <a:xfrm>
            <a:off x="7726157" y="4324328"/>
            <a:ext cx="614411" cy="155709"/>
          </a:xfrm>
          <a:prstGeom prst="rect">
            <a:avLst/>
          </a:prstGeom>
          <a:solidFill>
            <a:srgbClr val="E4B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TextBox 346"/>
          <p:cNvSpPr txBox="1"/>
          <p:nvPr/>
        </p:nvSpPr>
        <p:spPr>
          <a:xfrm>
            <a:off x="7715184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-413</a:t>
            </a:r>
          </a:p>
        </p:txBody>
      </p:sp>
      <p:sp>
        <p:nvSpPr>
          <p:cNvPr id="348" name="Rectangle 347"/>
          <p:cNvSpPr/>
          <p:nvPr/>
        </p:nvSpPr>
        <p:spPr>
          <a:xfrm>
            <a:off x="8362514" y="4324328"/>
            <a:ext cx="614411" cy="155709"/>
          </a:xfrm>
          <a:prstGeom prst="rect">
            <a:avLst/>
          </a:prstGeom>
          <a:solidFill>
            <a:srgbClr val="EBD3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TextBox 348"/>
          <p:cNvSpPr txBox="1"/>
          <p:nvPr/>
        </p:nvSpPr>
        <p:spPr>
          <a:xfrm>
            <a:off x="8351541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-205</a:t>
            </a:r>
          </a:p>
        </p:txBody>
      </p:sp>
      <p:sp>
        <p:nvSpPr>
          <p:cNvPr id="350" name="Rectangle 349"/>
          <p:cNvSpPr/>
          <p:nvPr/>
        </p:nvSpPr>
        <p:spPr>
          <a:xfrm>
            <a:off x="8998871" y="4324328"/>
            <a:ext cx="614411" cy="155709"/>
          </a:xfrm>
          <a:prstGeom prst="rect">
            <a:avLst/>
          </a:prstGeom>
          <a:solidFill>
            <a:srgbClr val="EDD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TextBox 350"/>
          <p:cNvSpPr txBox="1"/>
          <p:nvPr/>
        </p:nvSpPr>
        <p:spPr>
          <a:xfrm>
            <a:off x="8987898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-169</a:t>
            </a:r>
          </a:p>
        </p:txBody>
      </p:sp>
      <p:sp>
        <p:nvSpPr>
          <p:cNvPr id="352" name="Rectangle 351"/>
          <p:cNvSpPr/>
          <p:nvPr/>
        </p:nvSpPr>
        <p:spPr>
          <a:xfrm>
            <a:off x="9635228" y="4324328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0271585" y="4324328"/>
            <a:ext cx="614411" cy="155709"/>
          </a:xfrm>
          <a:prstGeom prst="rect">
            <a:avLst/>
          </a:prstGeom>
          <a:solidFill>
            <a:srgbClr val="D9E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TextBox 353"/>
          <p:cNvSpPr txBox="1"/>
          <p:nvPr/>
        </p:nvSpPr>
        <p:spPr>
          <a:xfrm>
            <a:off x="10260613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+130</a:t>
            </a:r>
          </a:p>
        </p:txBody>
      </p:sp>
      <p:sp>
        <p:nvSpPr>
          <p:cNvPr id="355" name="Rectangle 354"/>
          <p:cNvSpPr/>
          <p:nvPr/>
        </p:nvSpPr>
        <p:spPr>
          <a:xfrm>
            <a:off x="10907942" y="4324328"/>
            <a:ext cx="614411" cy="155709"/>
          </a:xfrm>
          <a:prstGeom prst="rect">
            <a:avLst/>
          </a:prstGeom>
          <a:solidFill>
            <a:srgbClr val="A7D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10896970" y="431335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+527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704088" y="4491010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13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Colina Norte</a:t>
            </a:r>
          </a:p>
        </p:txBody>
      </p:sp>
      <p:sp>
        <p:nvSpPr>
          <p:cNvPr id="358" name="Rectangle 357"/>
          <p:cNvSpPr/>
          <p:nvPr/>
        </p:nvSpPr>
        <p:spPr>
          <a:xfrm>
            <a:off x="2635300" y="4501983"/>
            <a:ext cx="614411" cy="155709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TextBox 358"/>
          <p:cNvSpPr txBox="1"/>
          <p:nvPr/>
        </p:nvSpPr>
        <p:spPr>
          <a:xfrm>
            <a:off x="2624328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-1557</a:t>
            </a:r>
          </a:p>
        </p:txBody>
      </p:sp>
      <p:sp>
        <p:nvSpPr>
          <p:cNvPr id="360" name="Rectangle 359"/>
          <p:cNvSpPr/>
          <p:nvPr/>
        </p:nvSpPr>
        <p:spPr>
          <a:xfrm>
            <a:off x="3271657" y="4501983"/>
            <a:ext cx="614411" cy="155709"/>
          </a:xfrm>
          <a:prstGeom prst="rect">
            <a:avLst/>
          </a:prstGeom>
          <a:solidFill>
            <a:srgbClr val="C86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TextBox 360"/>
          <p:cNvSpPr txBox="1"/>
          <p:nvPr/>
        </p:nvSpPr>
        <p:spPr>
          <a:xfrm>
            <a:off x="3260685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-1547</a:t>
            </a:r>
          </a:p>
        </p:txBody>
      </p:sp>
      <p:sp>
        <p:nvSpPr>
          <p:cNvPr id="362" name="Rectangle 361"/>
          <p:cNvSpPr/>
          <p:nvPr/>
        </p:nvSpPr>
        <p:spPr>
          <a:xfrm>
            <a:off x="3908014" y="4501983"/>
            <a:ext cx="614411" cy="155709"/>
          </a:xfrm>
          <a:prstGeom prst="rect">
            <a:avLst/>
          </a:prstGeom>
          <a:solidFill>
            <a:srgbClr val="C96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TextBox 362"/>
          <p:cNvSpPr txBox="1"/>
          <p:nvPr/>
        </p:nvSpPr>
        <p:spPr>
          <a:xfrm>
            <a:off x="3897042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-1472</a:t>
            </a:r>
          </a:p>
        </p:txBody>
      </p:sp>
      <p:sp>
        <p:nvSpPr>
          <p:cNvPr id="364" name="Rectangle 363"/>
          <p:cNvSpPr/>
          <p:nvPr/>
        </p:nvSpPr>
        <p:spPr>
          <a:xfrm>
            <a:off x="4544372" y="4501983"/>
            <a:ext cx="614411" cy="155709"/>
          </a:xfrm>
          <a:prstGeom prst="rect">
            <a:avLst/>
          </a:prstGeom>
          <a:solidFill>
            <a:srgbClr val="D590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TextBox 364"/>
          <p:cNvSpPr txBox="1"/>
          <p:nvPr/>
        </p:nvSpPr>
        <p:spPr>
          <a:xfrm>
            <a:off x="4533399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-965</a:t>
            </a:r>
          </a:p>
        </p:txBody>
      </p:sp>
      <p:sp>
        <p:nvSpPr>
          <p:cNvPr id="366" name="Rectangle 365"/>
          <p:cNvSpPr/>
          <p:nvPr/>
        </p:nvSpPr>
        <p:spPr>
          <a:xfrm>
            <a:off x="5180729" y="4501983"/>
            <a:ext cx="614411" cy="155709"/>
          </a:xfrm>
          <a:prstGeom prst="rect">
            <a:avLst/>
          </a:prstGeom>
          <a:solidFill>
            <a:srgbClr val="D79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TextBox 366"/>
          <p:cNvSpPr txBox="1"/>
          <p:nvPr/>
        </p:nvSpPr>
        <p:spPr>
          <a:xfrm>
            <a:off x="5169756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-889</a:t>
            </a:r>
          </a:p>
        </p:txBody>
      </p:sp>
      <p:sp>
        <p:nvSpPr>
          <p:cNvPr id="368" name="Rectangle 367"/>
          <p:cNvSpPr/>
          <p:nvPr/>
        </p:nvSpPr>
        <p:spPr>
          <a:xfrm>
            <a:off x="5817086" y="4501983"/>
            <a:ext cx="614411" cy="155709"/>
          </a:xfrm>
          <a:prstGeom prst="rect">
            <a:avLst/>
          </a:prstGeom>
          <a:solidFill>
            <a:srgbClr val="D89A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TextBox 368"/>
          <p:cNvSpPr txBox="1"/>
          <p:nvPr/>
        </p:nvSpPr>
        <p:spPr>
          <a:xfrm>
            <a:off x="5806113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-838</a:t>
            </a:r>
          </a:p>
        </p:txBody>
      </p:sp>
      <p:sp>
        <p:nvSpPr>
          <p:cNvPr id="370" name="Rectangle 369"/>
          <p:cNvSpPr/>
          <p:nvPr/>
        </p:nvSpPr>
        <p:spPr>
          <a:xfrm>
            <a:off x="6453443" y="4501983"/>
            <a:ext cx="614411" cy="155709"/>
          </a:xfrm>
          <a:prstGeom prst="rect">
            <a:avLst/>
          </a:prstGeom>
          <a:solidFill>
            <a:srgbClr val="DCA6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TextBox 370"/>
          <p:cNvSpPr txBox="1"/>
          <p:nvPr/>
        </p:nvSpPr>
        <p:spPr>
          <a:xfrm>
            <a:off x="6442470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-688</a:t>
            </a:r>
          </a:p>
        </p:txBody>
      </p:sp>
      <p:sp>
        <p:nvSpPr>
          <p:cNvPr id="372" name="Rectangle 371"/>
          <p:cNvSpPr/>
          <p:nvPr/>
        </p:nvSpPr>
        <p:spPr>
          <a:xfrm>
            <a:off x="7089800" y="4501983"/>
            <a:ext cx="614411" cy="155709"/>
          </a:xfrm>
          <a:prstGeom prst="rect">
            <a:avLst/>
          </a:prstGeom>
          <a:solidFill>
            <a:srgbClr val="DFA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TextBox 372"/>
          <p:cNvSpPr txBox="1"/>
          <p:nvPr/>
        </p:nvSpPr>
        <p:spPr>
          <a:xfrm>
            <a:off x="7078827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-587</a:t>
            </a:r>
          </a:p>
        </p:txBody>
      </p:sp>
      <p:sp>
        <p:nvSpPr>
          <p:cNvPr id="374" name="Rectangle 373"/>
          <p:cNvSpPr/>
          <p:nvPr/>
        </p:nvSpPr>
        <p:spPr>
          <a:xfrm>
            <a:off x="7726157" y="4501983"/>
            <a:ext cx="614411" cy="155709"/>
          </a:xfrm>
          <a:prstGeom prst="rect">
            <a:avLst/>
          </a:prstGeom>
          <a:solidFill>
            <a:srgbClr val="E0B2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TextBox 374"/>
          <p:cNvSpPr txBox="1"/>
          <p:nvPr/>
        </p:nvSpPr>
        <p:spPr>
          <a:xfrm>
            <a:off x="7715184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-542</a:t>
            </a:r>
          </a:p>
        </p:txBody>
      </p:sp>
      <p:sp>
        <p:nvSpPr>
          <p:cNvPr id="376" name="Rectangle 375"/>
          <p:cNvSpPr/>
          <p:nvPr/>
        </p:nvSpPr>
        <p:spPr>
          <a:xfrm>
            <a:off x="8362514" y="4501983"/>
            <a:ext cx="614411" cy="155709"/>
          </a:xfrm>
          <a:prstGeom prst="rect">
            <a:avLst/>
          </a:prstGeom>
          <a:solidFill>
            <a:srgbClr val="E7C5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TextBox 376"/>
          <p:cNvSpPr txBox="1"/>
          <p:nvPr/>
        </p:nvSpPr>
        <p:spPr>
          <a:xfrm>
            <a:off x="8351541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-334</a:t>
            </a:r>
          </a:p>
        </p:txBody>
      </p:sp>
      <p:sp>
        <p:nvSpPr>
          <p:cNvPr id="378" name="Rectangle 377"/>
          <p:cNvSpPr/>
          <p:nvPr/>
        </p:nvSpPr>
        <p:spPr>
          <a:xfrm>
            <a:off x="8998871" y="4501983"/>
            <a:ext cx="614411" cy="155709"/>
          </a:xfrm>
          <a:prstGeom prst="rect">
            <a:avLst/>
          </a:prstGeom>
          <a:solidFill>
            <a:srgbClr val="E8C9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TextBox 378"/>
          <p:cNvSpPr txBox="1"/>
          <p:nvPr/>
        </p:nvSpPr>
        <p:spPr>
          <a:xfrm>
            <a:off x="8987898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-298</a:t>
            </a:r>
          </a:p>
        </p:txBody>
      </p:sp>
      <p:sp>
        <p:nvSpPr>
          <p:cNvPr id="380" name="Rectangle 379"/>
          <p:cNvSpPr/>
          <p:nvPr/>
        </p:nvSpPr>
        <p:spPr>
          <a:xfrm>
            <a:off x="9635228" y="4501983"/>
            <a:ext cx="614411" cy="155709"/>
          </a:xfrm>
          <a:prstGeom prst="rect">
            <a:avLst/>
          </a:prstGeom>
          <a:solidFill>
            <a:srgbClr val="EE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TextBox 380"/>
          <p:cNvSpPr txBox="1"/>
          <p:nvPr/>
        </p:nvSpPr>
        <p:spPr>
          <a:xfrm>
            <a:off x="9624255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-130</a:t>
            </a:r>
          </a:p>
        </p:txBody>
      </p:sp>
      <p:sp>
        <p:nvSpPr>
          <p:cNvPr id="382" name="Rectangle 381"/>
          <p:cNvSpPr/>
          <p:nvPr/>
        </p:nvSpPr>
        <p:spPr>
          <a:xfrm>
            <a:off x="10271585" y="4501983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10907942" y="4501983"/>
            <a:ext cx="614411" cy="155709"/>
          </a:xfrm>
          <a:prstGeom prst="rect">
            <a:avLst/>
          </a:prstGeom>
          <a:solidFill>
            <a:srgbClr val="B5D8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TextBox 383"/>
          <p:cNvSpPr txBox="1"/>
          <p:nvPr/>
        </p:nvSpPr>
        <p:spPr>
          <a:xfrm>
            <a:off x="10896970" y="4491010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+398</a:t>
            </a:r>
          </a:p>
        </p:txBody>
      </p:sp>
      <p:sp>
        <p:nvSpPr>
          <p:cNvPr id="385" name="TextBox 384"/>
          <p:cNvSpPr txBox="1"/>
          <p:nvPr/>
        </p:nvSpPr>
        <p:spPr>
          <a:xfrm>
            <a:off x="704088" y="4668665"/>
            <a:ext cx="1856231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9A958C"/>
                </a:solidFill>
                <a:latin typeface="Helvetica Neue"/>
              </a:rPr>
              <a:t>14  </a:t>
            </a:r>
            <a:r>
              <a:rPr sz="80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386" name="Rectangle 385"/>
          <p:cNvSpPr/>
          <p:nvPr/>
        </p:nvSpPr>
        <p:spPr>
          <a:xfrm>
            <a:off x="2635300" y="4679637"/>
            <a:ext cx="614411" cy="155709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2624328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-1954</a:t>
            </a:r>
          </a:p>
        </p:txBody>
      </p:sp>
      <p:sp>
        <p:nvSpPr>
          <p:cNvPr id="388" name="Rectangle 387"/>
          <p:cNvSpPr/>
          <p:nvPr/>
        </p:nvSpPr>
        <p:spPr>
          <a:xfrm>
            <a:off x="3271657" y="4679637"/>
            <a:ext cx="614411" cy="155709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3260685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-1944</a:t>
            </a:r>
          </a:p>
        </p:txBody>
      </p:sp>
      <p:sp>
        <p:nvSpPr>
          <p:cNvPr id="390" name="Rectangle 389"/>
          <p:cNvSpPr/>
          <p:nvPr/>
        </p:nvSpPr>
        <p:spPr>
          <a:xfrm>
            <a:off x="3908014" y="4679637"/>
            <a:ext cx="614411" cy="155709"/>
          </a:xfrm>
          <a:prstGeom prst="rect">
            <a:avLst/>
          </a:prstGeom>
          <a:solidFill>
            <a:srgbClr val="C15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3897042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-1870</a:t>
            </a:r>
          </a:p>
        </p:txBody>
      </p:sp>
      <p:sp>
        <p:nvSpPr>
          <p:cNvPr id="392" name="Rectangle 391"/>
          <p:cNvSpPr/>
          <p:nvPr/>
        </p:nvSpPr>
        <p:spPr>
          <a:xfrm>
            <a:off x="4544372" y="4679637"/>
            <a:ext cx="614411" cy="155709"/>
          </a:xfrm>
          <a:prstGeom prst="rect">
            <a:avLst/>
          </a:prstGeom>
          <a:solidFill>
            <a:srgbClr val="CC7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533399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-1363</a:t>
            </a:r>
          </a:p>
        </p:txBody>
      </p:sp>
      <p:sp>
        <p:nvSpPr>
          <p:cNvPr id="394" name="Rectangle 393"/>
          <p:cNvSpPr/>
          <p:nvPr/>
        </p:nvSpPr>
        <p:spPr>
          <a:xfrm>
            <a:off x="5180729" y="4679637"/>
            <a:ext cx="614411" cy="155709"/>
          </a:xfrm>
          <a:prstGeom prst="rect">
            <a:avLst/>
          </a:prstGeom>
          <a:solidFill>
            <a:srgbClr val="CD7A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169756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-1287</a:t>
            </a:r>
          </a:p>
        </p:txBody>
      </p:sp>
      <p:sp>
        <p:nvSpPr>
          <p:cNvPr id="396" name="Rectangle 395"/>
          <p:cNvSpPr/>
          <p:nvPr/>
        </p:nvSpPr>
        <p:spPr>
          <a:xfrm>
            <a:off x="5817086" y="4679637"/>
            <a:ext cx="614411" cy="155709"/>
          </a:xfrm>
          <a:prstGeom prst="rect">
            <a:avLst/>
          </a:prstGeom>
          <a:solidFill>
            <a:srgbClr val="CF7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5806113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-1236</a:t>
            </a:r>
          </a:p>
        </p:txBody>
      </p:sp>
      <p:sp>
        <p:nvSpPr>
          <p:cNvPr id="398" name="Rectangle 397"/>
          <p:cNvSpPr/>
          <p:nvPr/>
        </p:nvSpPr>
        <p:spPr>
          <a:xfrm>
            <a:off x="6453443" y="4679637"/>
            <a:ext cx="614411" cy="155709"/>
          </a:xfrm>
          <a:prstGeom prst="rect">
            <a:avLst/>
          </a:prstGeom>
          <a:solidFill>
            <a:srgbClr val="D28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TextBox 398"/>
          <p:cNvSpPr txBox="1"/>
          <p:nvPr/>
        </p:nvSpPr>
        <p:spPr>
          <a:xfrm>
            <a:off x="6442470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FFFFFF"/>
                </a:solidFill>
                <a:latin typeface="Helvetica Neue"/>
              </a:rPr>
              <a:t>-1085</a:t>
            </a:r>
          </a:p>
        </p:txBody>
      </p:sp>
      <p:sp>
        <p:nvSpPr>
          <p:cNvPr id="400" name="Rectangle 399"/>
          <p:cNvSpPr/>
          <p:nvPr/>
        </p:nvSpPr>
        <p:spPr>
          <a:xfrm>
            <a:off x="7089800" y="4679637"/>
            <a:ext cx="614411" cy="155709"/>
          </a:xfrm>
          <a:prstGeom prst="rect">
            <a:avLst/>
          </a:prstGeom>
          <a:solidFill>
            <a:srgbClr val="D48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7078827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-984</a:t>
            </a:r>
          </a:p>
        </p:txBody>
      </p:sp>
      <p:sp>
        <p:nvSpPr>
          <p:cNvPr id="402" name="Rectangle 401"/>
          <p:cNvSpPr/>
          <p:nvPr/>
        </p:nvSpPr>
        <p:spPr>
          <a:xfrm>
            <a:off x="7726157" y="4679637"/>
            <a:ext cx="614411" cy="155709"/>
          </a:xfrm>
          <a:prstGeom prst="rect">
            <a:avLst/>
          </a:prstGeom>
          <a:solidFill>
            <a:srgbClr val="D692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TextBox 402"/>
          <p:cNvSpPr txBox="1"/>
          <p:nvPr/>
        </p:nvSpPr>
        <p:spPr>
          <a:xfrm>
            <a:off x="7715184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-940</a:t>
            </a:r>
          </a:p>
        </p:txBody>
      </p:sp>
      <p:sp>
        <p:nvSpPr>
          <p:cNvPr id="404" name="Rectangle 403"/>
          <p:cNvSpPr/>
          <p:nvPr/>
        </p:nvSpPr>
        <p:spPr>
          <a:xfrm>
            <a:off x="8362514" y="4679637"/>
            <a:ext cx="614411" cy="155709"/>
          </a:xfrm>
          <a:prstGeom prst="rect">
            <a:avLst/>
          </a:prstGeom>
          <a:solidFill>
            <a:srgbClr val="DBA2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8351541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-732</a:t>
            </a:r>
          </a:p>
        </p:txBody>
      </p:sp>
      <p:sp>
        <p:nvSpPr>
          <p:cNvPr id="406" name="Rectangle 405"/>
          <p:cNvSpPr/>
          <p:nvPr/>
        </p:nvSpPr>
        <p:spPr>
          <a:xfrm>
            <a:off x="8998871" y="4679637"/>
            <a:ext cx="614411" cy="155709"/>
          </a:xfrm>
          <a:prstGeom prst="rect">
            <a:avLst/>
          </a:prstGeom>
          <a:solidFill>
            <a:srgbClr val="DCA5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87898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-696</a:t>
            </a:r>
          </a:p>
        </p:txBody>
      </p:sp>
      <p:sp>
        <p:nvSpPr>
          <p:cNvPr id="408" name="Rectangle 407"/>
          <p:cNvSpPr/>
          <p:nvPr/>
        </p:nvSpPr>
        <p:spPr>
          <a:xfrm>
            <a:off x="9635228" y="4679637"/>
            <a:ext cx="614411" cy="155709"/>
          </a:xfrm>
          <a:prstGeom prst="rect">
            <a:avLst/>
          </a:prstGeom>
          <a:solidFill>
            <a:srgbClr val="E1B3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9624255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-527</a:t>
            </a:r>
          </a:p>
        </p:txBody>
      </p:sp>
      <p:sp>
        <p:nvSpPr>
          <p:cNvPr id="410" name="Rectangle 409"/>
          <p:cNvSpPr/>
          <p:nvPr/>
        </p:nvSpPr>
        <p:spPr>
          <a:xfrm>
            <a:off x="10271585" y="4679637"/>
            <a:ext cx="614411" cy="155709"/>
          </a:xfrm>
          <a:prstGeom prst="rect">
            <a:avLst/>
          </a:prstGeom>
          <a:solidFill>
            <a:srgbClr val="E4B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TextBox 410"/>
          <p:cNvSpPr txBox="1"/>
          <p:nvPr/>
        </p:nvSpPr>
        <p:spPr>
          <a:xfrm>
            <a:off x="10260613" y="4668665"/>
            <a:ext cx="636357" cy="1776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>
                <a:solidFill>
                  <a:srgbClr val="6E6A64"/>
                </a:solidFill>
                <a:latin typeface="Helvetica Neue"/>
              </a:rPr>
              <a:t>-398</a:t>
            </a:r>
          </a:p>
        </p:txBody>
      </p:sp>
      <p:sp>
        <p:nvSpPr>
          <p:cNvPr id="412" name="Rectangle 411"/>
          <p:cNvSpPr/>
          <p:nvPr/>
        </p:nvSpPr>
        <p:spPr>
          <a:xfrm>
            <a:off x="10907942" y="4679637"/>
            <a:ext cx="614411" cy="155709"/>
          </a:xfrm>
          <a:prstGeom prst="rect">
            <a:avLst/>
          </a:prstGeom>
          <a:solidFill>
            <a:srgbClr val="E9E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658368" y="4956048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Cada celda: UF que la vivienda de la FILA justifica por sobre la de la COLUMNA (tiempo + costo de auto ahorrados). Verde = puede pedir más; rojo = debe pedir menos.</a:t>
            </a:r>
          </a:p>
        </p:txBody>
      </p:sp>
      <p:sp>
        <p:nvSpPr>
          <p:cNvPr id="414" name="Rectangle 4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Rectangle 4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TextBox 4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17" name="TextBox 4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Ser justos: manejar desde Batuco es caro, así que su sobreprecio por auto es acotado — no puede pedir más UF que Valle Grande ni Chicauma. Su ventaja real no está en esta tabla, sino en el tren.</a:t>
            </a:r>
          </a:p>
        </p:txBody>
      </p:sp>
      <p:cxnSp>
        <p:nvCxnSpPr>
          <p:cNvPr id="418" name="Connector 4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9" name="TextBox 4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20" name="TextBox 4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11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CUÁNTO VALE · EL PREMIO DEL TREN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El tren agrega un valor que las zonas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spc="-10">
                <a:solidFill>
                  <a:srgbClr val="161616"/>
                </a:solidFill>
                <a:latin typeface="Helvetica Neue"/>
              </a:rPr>
              <a:t>sin estación nueva no pueden ofrecer.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865376"/>
            <a:ext cx="7772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spc="40">
                <a:solidFill>
                  <a:srgbClr val="6E6A64"/>
                </a:solidFill>
                <a:latin typeface="Helvetica Neue"/>
              </a:rPr>
              <a:t>UF DE MAYOR VALOR — SOLO POR EL TIEMPO QUE AHORRA EL TREN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121408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12140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2139696"/>
            <a:ext cx="6366967" cy="114299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20679" y="211226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+977 UF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308860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30886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Hacienda Batuco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27148"/>
            <a:ext cx="4881138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34850" y="229971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+749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496312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249631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80560" y="2514600"/>
            <a:ext cx="4246030" cy="114299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99742" y="2487168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+652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683764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268376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2702052"/>
            <a:ext cx="4116454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70166" y="267462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+632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2871215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2871215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80560" y="2889503"/>
            <a:ext cx="3224848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8560" y="2862072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+495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3058668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" y="305866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80560" y="3076956"/>
            <a:ext cx="1872380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26092" y="3049524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+287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3246120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7552" y="324612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Santa Elena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80560" y="3264408"/>
            <a:ext cx="1085122" cy="114299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38834" y="3236976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+167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3433571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7552" y="3433571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80560" y="3451859"/>
            <a:ext cx="619249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2961" y="3424427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+95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3621023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7552" y="3621023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480560" y="3639311"/>
            <a:ext cx="529974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83686" y="3611879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+81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" y="3808476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7552" y="3808476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Larapinta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60" y="3826763"/>
            <a:ext cx="305245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8957" y="3799331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" y="3995928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" y="3995928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80560" y="4014215"/>
            <a:ext cx="250834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04546" y="3986783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+39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8368" y="4183380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7552" y="4183380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Ayres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480560" y="4201668"/>
            <a:ext cx="190406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44118" y="4174235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" y="4370832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87552" y="4370832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Colina Norte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480560" y="4389120"/>
            <a:ext cx="116127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69839" y="4361688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58368" y="4558284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7552" y="4558284"/>
            <a:ext cx="2743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61616"/>
                </a:solidFill>
                <a:latin typeface="Helvetica Neue"/>
              </a:rPr>
              <a:t>NOS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480560" y="4576572"/>
            <a:ext cx="13716" cy="114299"/>
          </a:xfrm>
          <a:prstGeom prst="rect">
            <a:avLst/>
          </a:prstGeom>
          <a:solidFill>
            <a:srgbClr val="CFC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67428" y="4549140"/>
            <a:ext cx="9144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E6A64"/>
                </a:solidFill>
                <a:latin typeface="Helvetica Neue"/>
              </a:rPr>
              <a:t>+0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" y="4846320"/>
            <a:ext cx="10607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9A958C"/>
                </a:solidFill>
                <a:latin typeface="Helvetica Neue"/>
              </a:rPr>
              <a:t>Gris = zonas sin estación nueva: su transporte público no cambia con el tren, y no capturan este ahorro.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En auto Batuco es de las más caras y su sobreprecio es acotado; el tren se lo da vuelta: le suma ~977 UF de valor —y ~652 a Estación Colina— que ninguna zona sin estación puede igualar. Ese es su argumento de precio.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12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POR TIPO DE PRODUCTO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En los segmentos donde competimos,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quedamos entre los mejores.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DS19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8 zonas · ranking en auto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Hda. Batuco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Colina·Reina 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" y="427482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Buin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48970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7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70458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5711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5711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99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Casa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3999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13 zonas · ranking en auto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3999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Chicauma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999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2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Urbanya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99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Ayres Chicureo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99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Sta Elena Chic.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3999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9997" y="427482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6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9997" y="448970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7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Hda. Batuco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9997" y="470458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8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39997" y="491947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9A958C"/>
                </a:solidFill>
                <a:latin typeface="Helvetica Neue"/>
              </a:rPr>
              <a:t>+5 más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586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5586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3874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Townhouses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3874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4 zonas · ranking en auto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874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874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874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3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3874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4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54617" y="2331720"/>
            <a:ext cx="2478709" cy="2788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54617" y="2331720"/>
            <a:ext cx="2478709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37497" y="2514600"/>
            <a:ext cx="215866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spc="20">
                <a:solidFill>
                  <a:srgbClr val="161616"/>
                </a:solidFill>
                <a:latin typeface="Helvetica Neue"/>
              </a:rPr>
              <a:t>Edificio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7497" y="2852928"/>
            <a:ext cx="215866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9A958C"/>
                </a:solidFill>
                <a:latin typeface="Helvetica Neue"/>
              </a:rPr>
              <a:t>6 zonas · ranking en auto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7497" y="320040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1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Valle Grande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7497" y="3415284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2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7497" y="3630168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3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NOS · Laguna Cóndores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7497" y="3845052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07D24"/>
                </a:solidFill>
                <a:latin typeface="Helvetica Neue"/>
              </a:rPr>
              <a:t>4  </a:t>
            </a:r>
            <a:r>
              <a:rPr sz="95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37497" y="4059935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5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Laguna del Sol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37497" y="4274820"/>
            <a:ext cx="215866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9A958C"/>
                </a:solidFill>
                <a:latin typeface="Helvetica Neue"/>
              </a:rPr>
              <a:t>6  </a:t>
            </a:r>
            <a:r>
              <a:rPr sz="950" b="0">
                <a:solidFill>
                  <a:srgbClr val="161616"/>
                </a:solidFill>
                <a:latin typeface="Helvetica Neue"/>
              </a:rPr>
              <a:t>El Peñón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compite en DS19, townhouses y edificios; Batuco en townhouses y edificios — y en varios, entre los mejores del segmento.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13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LOS REPAROS, SIN VUELTAS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Dónde somos débiles hoy — y por qué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cada reparo tiene salida.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31720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Batuco es caro en auto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2359151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Cruza autopistas concesionadas: su costo de manejar está entre los más altos.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359151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La Orbital lo acerca y el tren lo saca del auto.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3136391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3264408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transporte público no es 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4487" y="3291839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Batuco y Estación Colina pagan por tramo, sin bip! integrado: tarifa más alta.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16368" y="3291839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Integrarse a RED es gestión, no una obra: depende de nosotros.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069080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58368" y="4197096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El valor depende de obra futura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4487" y="4224528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E6A64"/>
                </a:solidFill>
                <a:latin typeface="Helvetica Neue"/>
              </a:rPr>
              <a:t>La Orbital y los trenes están en construcción (2028–2030), no operando hoy.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4224528"/>
            <a:ext cx="456559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34E48"/>
                </a:solidFill>
                <a:latin typeface="Helvetica Neue"/>
              </a:rPr>
              <a:t>→  </a:t>
            </a:r>
            <a:r>
              <a:rPr sz="1250" b="1">
                <a:solidFill>
                  <a:srgbClr val="134E48"/>
                </a:solidFill>
                <a:latin typeface="Helvetica Neue"/>
              </a:rPr>
              <a:t>Con cronograma oficial de EFE y el MOP como respaldo.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Ninguna debilidad es de fondo: dos se resuelven con la infraestructura que ya viene, y la tercera —RED— la podemos empujar nosotros.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14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LA RECOMENDACIÓN · INTEGRAR A 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La palanca que depende de nosotros: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integrar Batuco y Colina a 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35040" y="22219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Hoy · pagan por tramo (sin RED)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2514600"/>
            <a:ext cx="4937760" cy="457200"/>
          </a:xfrm>
          <a:prstGeom prst="rect">
            <a:avLst/>
          </a:prstGeom>
          <a:solidFill>
            <a:srgbClr val="C05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82528" y="256946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616"/>
                </a:solidFill>
                <a:latin typeface="Helvetica Neue"/>
              </a:rPr>
              <a:t>~$103k/mes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309067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6E6A64"/>
                </a:solidFill>
                <a:latin typeface="Helvetica Neue"/>
              </a:rPr>
              <a:t>Integrado a RED (bip!)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3383280"/>
            <a:ext cx="1750747" cy="457200"/>
          </a:xfrm>
          <a:prstGeom prst="rect">
            <a:avLst/>
          </a:prstGeom>
          <a:solidFill>
            <a:srgbClr val="2F9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95515" y="34381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2F9E6E"/>
                </a:solidFill>
                <a:latin typeface="Helvetica Neue"/>
              </a:rPr>
              <a:t>~$37k/mes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8056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F9E6E"/>
                </a:solidFill>
                <a:latin typeface="Helvetica Neue"/>
              </a:rPr>
              <a:t>−</a:t>
            </a:r>
            <a:r>
              <a:rPr sz="2600" b="1">
                <a:solidFill>
                  <a:srgbClr val="2F9E6E"/>
                </a:solidFill>
                <a:latin typeface="Helvetica Neue"/>
              </a:rPr>
              <a:t>65%</a:t>
            </a:r>
            <a:r>
              <a:rPr sz="1400" b="0">
                <a:solidFill>
                  <a:srgbClr val="6E6A64"/>
                </a:solidFill>
                <a:latin typeface="Helvetica Neue"/>
              </a:rPr>
              <a:t>  en el costo de transporte público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95728"/>
            <a:ext cx="4480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00">
                <a:solidFill>
                  <a:srgbClr val="B07D24"/>
                </a:solidFill>
                <a:latin typeface="Helvetica Neue"/>
              </a:rPr>
              <a:t>NO ES UNA OBRA · ES GESTIÓN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72491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E6A64"/>
                </a:solidFill>
                <a:latin typeface="Helvetica Neue"/>
              </a:rPr>
              <a:t>Batuco y Estación Colina quedan a un trámite de tarifa integrada. Gestionar su incorporación a RED con el Ministerio de Transportes y EFE completa su ventaja competitiva — y no depende de esperar a 2030.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 la recomendación central: gestionar la integración a RED. Baja el costo, sube el atractivo, y está bajo nuestra influencia — no la de una autopista por construir.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15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 PROYECTO · BATUCO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Batuco: de periférico a los primeros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lugares con la infraestructura que viene.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134E48"/>
                </a:solidFill>
                <a:latin typeface="Helvetica Neue"/>
              </a:rPr>
              <a:t>POSICIÓN COMPETITIVA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Auto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3º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la Orbital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Transp. público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11º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2º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el tren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Costo de manejar  </a:t>
            </a:r>
            <a:r>
              <a:rPr sz="1400" b="1">
                <a:solidFill>
                  <a:srgbClr val="161616"/>
                </a:solidFill>
                <a:latin typeface="Helvetica Neue"/>
              </a:rPr>
              <a:t>$355k/mes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1605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Su valor está amarrado a la obra futura: la Orbital lo acerca en auto, el Tren Batuco lo conecta en transporte público. Sin ellas es lejano; con ellas, entre los mejores del corredor.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965960"/>
            <a:ext cx="4949647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9192237" y="3329297"/>
            <a:ext cx="6434" cy="5701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9100374" y="3183009"/>
            <a:ext cx="91863" cy="14628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940695" y="3006033"/>
            <a:ext cx="159679" cy="176976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8779222" y="2923393"/>
            <a:ext cx="161473" cy="82640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8567124" y="2814754"/>
            <a:ext cx="212098" cy="10863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8257574" y="2655916"/>
            <a:ext cx="309550" cy="15883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7793828" y="2418274"/>
            <a:ext cx="463746" cy="237642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71239" y="33588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64805" y="3301865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72942" y="3155577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3263" y="297860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51790" y="289596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39692" y="278732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0142" y="26284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66396" y="239084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84806" y="2330003"/>
            <a:ext cx="201168" cy="201168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65305" y="2601409"/>
            <a:ext cx="100584" cy="100584"/>
          </a:xfrm>
          <a:prstGeom prst="ellipse">
            <a:avLst/>
          </a:prstGeom>
          <a:solidFill>
            <a:srgbClr val="D8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7876" y="2798921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74447" y="264661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8314" y="2682610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91790" y="22038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28001" y="227864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69407" y="402946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69095" y="3909179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18736" y="471175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39329" y="211881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547685" y="306985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37920" y="235394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19486" y="41862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31694" y="2211131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Batuco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626864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4E48"/>
                </a:solidFill>
                <a:latin typeface="Helvetica Neue"/>
              </a:rPr>
              <a:t>— corredor Tren Santiago–Batuco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Batuco no se vende por lo que es hoy, sino por lo que la infraestructura —ya en construcción— lo convierte: un proyecto de primer nivel.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16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NUESTRO PROYECTO · ESTACIÓN COLINA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Estación Colina: ya central hoy,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spc="-10">
                <a:solidFill>
                  <a:srgbClr val="161616"/>
                </a:solidFill>
                <a:latin typeface="Helvetica Neue"/>
              </a:rPr>
              <a:t>y #1 en transporte público mañana.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4884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50">
                <a:solidFill>
                  <a:srgbClr val="134E48"/>
                </a:solidFill>
                <a:latin typeface="Helvetica Neue"/>
              </a:rPr>
              <a:t>POSICIÓN COMPETITIVA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42032"/>
            <a:ext cx="48463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Auto 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6º de 14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— ya central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Transp. público  </a:t>
            </a:r>
            <a:r>
              <a:rPr sz="1400" b="1">
                <a:solidFill>
                  <a:srgbClr val="6E6A64"/>
                </a:solidFill>
                <a:latin typeface="Helvetica Neue"/>
              </a:rPr>
              <a:t>5º → </a:t>
            </a:r>
            <a:r>
              <a:rPr sz="1600" b="1">
                <a:solidFill>
                  <a:srgbClr val="B07D24"/>
                </a:solidFill>
                <a:latin typeface="Helvetica Neue"/>
              </a:rPr>
              <a:t>1º</a:t>
            </a:r>
            <a:r>
              <a:rPr sz="1200" b="0">
                <a:solidFill>
                  <a:srgbClr val="6E6A64"/>
                </a:solidFill>
                <a:latin typeface="Helvetica Neue"/>
              </a:rPr>
              <a:t>  con el tren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616"/>
                </a:solidFill>
                <a:latin typeface="Helvetica Neue"/>
              </a:rPr>
              <a:t>Costo de manejar  </a:t>
            </a:r>
            <a:r>
              <a:rPr sz="1400" b="1">
                <a:solidFill>
                  <a:srgbClr val="161616"/>
                </a:solidFill>
                <a:latin typeface="Helvetica Neue"/>
              </a:rPr>
              <a:t>$282k/mes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16052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Su fortaleza es la centralidad y una estación de tren propia — no depende de la Orbital. El tren la vuelve la mejor conectada del set en transporte público, y su tarifa se mantiene baja.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1965960"/>
            <a:ext cx="4949647" cy="2971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9192237" y="3329297"/>
            <a:ext cx="6434" cy="5701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9100374" y="3183009"/>
            <a:ext cx="91863" cy="14628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 flipV="1">
            <a:off x="8940695" y="3006033"/>
            <a:ext cx="159679" cy="176976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 flipV="1">
            <a:off x="8779222" y="2923393"/>
            <a:ext cx="161473" cy="82640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8567124" y="2814754"/>
            <a:ext cx="212098" cy="108639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8257574" y="2655916"/>
            <a:ext cx="309550" cy="158838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 flipV="1">
            <a:off x="7793828" y="2418274"/>
            <a:ext cx="463746" cy="237642"/>
          </a:xfrm>
          <a:prstGeom prst="line">
            <a:avLst/>
          </a:prstGeom>
          <a:ln w="33020">
            <a:solidFill>
              <a:srgbClr val="134E4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9171239" y="33588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64805" y="3301865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72942" y="3155577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913263" y="297860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51790" y="2895961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539692" y="278732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30142" y="2628484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766396" y="2390842"/>
            <a:ext cx="54864" cy="54864"/>
          </a:xfrm>
          <a:prstGeom prst="ellipse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735098" y="2380295"/>
            <a:ext cx="100584" cy="100584"/>
          </a:xfrm>
          <a:prstGeom prst="ellipse">
            <a:avLst/>
          </a:prstGeom>
          <a:solidFill>
            <a:srgbClr val="D8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15013" y="2551117"/>
            <a:ext cx="201168" cy="201168"/>
          </a:xfrm>
          <a:prstGeom prst="ellipse">
            <a:avLst/>
          </a:prstGeom>
          <a:solidFill>
            <a:srgbClr val="B07D2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47876" y="2798921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074447" y="264661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518314" y="2682610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491790" y="22038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628001" y="2278648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969407" y="402946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569095" y="3909179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18736" y="471175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039329" y="211881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547685" y="3069855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37920" y="2353947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119486" y="4186222"/>
            <a:ext cx="73152" cy="73152"/>
          </a:xfrm>
          <a:prstGeom prst="ellipse">
            <a:avLst/>
          </a:prstGeom>
          <a:solidFill>
            <a:srgbClr val="C7C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61901" y="2432245"/>
            <a:ext cx="1828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7D24"/>
                </a:solidFill>
                <a:latin typeface="Helvetica Neue"/>
              </a:rPr>
              <a:t>Estación Colina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626864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134E48"/>
                </a:solidFill>
                <a:latin typeface="Helvetica Neue"/>
              </a:rPr>
              <a:t>— corredor Tren Santiago–Batuco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Estación Colina ya compite hoy por ubicación; el tren la convierte en la referencia de transporte público del corredor norte.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17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IMPLICANCIAS PARA MODELA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Qué hacemos con esto: producto,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precio y argumento comercial.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PRODUCTO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Densificar donde la conectividad futura sube el techo de valor (Batuco con Orbital + tren).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Estación Colina admite DS19, townhouse y edificio: producto para el que valora ubicación.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5754" y="2331720"/>
            <a:ext cx="384048" cy="45720"/>
          </a:xfrm>
          <a:prstGeom prst="rect">
            <a:avLst/>
          </a:prstGeom>
          <a:solidFill>
            <a:srgbClr val="134E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35754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134E48"/>
                </a:solidFill>
                <a:latin typeface="Helvetica Neue"/>
              </a:rPr>
              <a:t>PRECIO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5754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La conectividad justifica sobreprecio en UF — o mejor propuesta a igual precio.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5754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Fijar precio contra el set del corredor, no contra el promedio RM.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13140" y="2331720"/>
            <a:ext cx="384048" cy="45720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3140" y="2560320"/>
            <a:ext cx="332018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spc="150">
                <a:solidFill>
                  <a:srgbClr val="B07D24"/>
                </a:solidFill>
                <a:latin typeface="Helvetica Neue"/>
              </a:rPr>
              <a:t>COMERCIAL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3140" y="3017520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Vender el ‘mañana’ con respaldo: Orbital y trenes ya en construcción, con fuente.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3140" y="4069079"/>
            <a:ext cx="3320186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61616"/>
                </a:solidFill>
                <a:latin typeface="Helvetica Neue"/>
              </a:rPr>
              <a:t>Batuco = tesis de plusvalía; Estación Colina = conectividad ya disponible.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La conectividad deja de ser un dato del estudio: es palanca de pricing, de mezcla de producto y de relato de venta.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spc="180">
                <a:solidFill>
                  <a:srgbClr val="134E48"/>
                </a:solidFill>
                <a:latin typeface="Helvetica Neue"/>
              </a:rPr>
              <a:t>18</a:t>
            </a:r>
            <a:r>
              <a:rPr sz="1100" b="0">
                <a:solidFill>
                  <a:srgbClr val="134E48"/>
                </a:solidFill>
                <a:latin typeface="Helvetica Neue"/>
              </a:rPr>
              <a:t>   </a:t>
            </a:r>
            <a:r>
              <a:rPr sz="1100" b="0" spc="180">
                <a:solidFill>
                  <a:srgbClr val="6E6A64"/>
                </a:solidFill>
                <a:latin typeface="Helvetica Neue"/>
              </a:rPr>
              <a:t>CONCLUSIONES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960120"/>
            <a:ext cx="10874959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¿Cuánto vale la conectividad? Lo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spc="-10">
                <a:solidFill>
                  <a:srgbClr val="161616"/>
                </a:solidFill>
                <a:latin typeface="Helvetica Neue"/>
              </a:rPr>
              <a:t>suficiente para decidir el portafolio.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1945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1945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fuertes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81728" y="21945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Estación Colina ya es central hoy; ambos proyectos justifican sobreprecio en UF.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8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69748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el tren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69748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transporte público se reordena: Estación Colina pasa a 1º y Batuco a 2º del set.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2004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20040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Qué cambia con la Orbital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81728" y="320040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sube del 11º al 3º en auto — la mayor palanca vial del estudio.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37033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7033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Dónde somos débiles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1728" y="370332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Batuco es caro en auto, y ninguno es RED: hoy pagan tarifa por tramo.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20624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2062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07D24"/>
                </a:solidFill>
                <a:latin typeface="Helvetica Neue"/>
              </a:rPr>
              <a:t>El paso inmediato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420624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B07D24"/>
                </a:solidFill>
                <a:latin typeface="Helvetica Neue"/>
              </a:rPr>
              <a:t>Gestionar la integración de Batuco y Estación Colina a RED: baja el costo y depende de nosotros.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70916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B07D24"/>
                </a:solidFill>
                <a:latin typeface="Helvetica Neue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0916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1616"/>
                </a:solidFill>
                <a:latin typeface="Helvetica Neue"/>
              </a:rPr>
              <a:t>Cuánto vale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1728" y="4709160"/>
            <a:ext cx="685159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E6A64"/>
                </a:solidFill>
                <a:latin typeface="Helvetica Neue"/>
              </a:rPr>
              <a:t>El ahorro de tiempo y de costo se capitaliza en UF y en capacidad de compra.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285232"/>
            <a:ext cx="10874959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E4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5285232"/>
            <a:ext cx="50292" cy="877824"/>
          </a:xfrm>
          <a:prstGeom prst="rect">
            <a:avLst/>
          </a:prstGeom>
          <a:solidFill>
            <a:srgbClr val="B07D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422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spc="200">
                <a:solidFill>
                  <a:srgbClr val="B07D24"/>
                </a:solidFill>
                <a:latin typeface="Helvetica Neue"/>
              </a:rPr>
              <a:t>INSIGHT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650992"/>
            <a:ext cx="10372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spc="-5">
                <a:solidFill>
                  <a:srgbClr val="161616"/>
                </a:solidFill>
                <a:latin typeface="Helvetica Neue"/>
              </a:rPr>
              <a:t>Competitivos hoy, y de los más competitivos del norte con la infraestructura que viene. La decisión que no depende de nadie más: integrarlos a RED.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8368" y="6382512"/>
            <a:ext cx="10874959" cy="0"/>
          </a:xfrm>
          <a:prstGeom prst="bentConnector3">
            <a:avLst/>
          </a:prstGeom>
          <a:ln w="9525">
            <a:solidFill>
              <a:srgbClr val="E4DF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368" y="6455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spc="150">
                <a:solidFill>
                  <a:srgbClr val="6E6A64"/>
                </a:solidFill>
                <a:latin typeface="Helvetica Neue"/>
              </a:rPr>
              <a:t>MODELA</a:t>
            </a:r>
            <a:r>
              <a:rPr sz="850" b="0" spc="150">
                <a:solidFill>
                  <a:srgbClr val="9A958C"/>
                </a:solidFill>
                <a:latin typeface="Helvetica Neue"/>
              </a:rPr>
              <a:t>   ·   CONECTIVIDAD 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61727" y="645566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spc="120">
                <a:solidFill>
                  <a:srgbClr val="9A958C"/>
                </a:solidFill>
                <a:latin typeface="Helvetica Neue"/>
              </a:rPr>
              <a:t>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