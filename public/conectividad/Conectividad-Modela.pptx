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más que puede cobrar Estación Colina frente a la competencia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La conectividad decide dónde se vive: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">
                <a:solidFill>
                  <a:srgbClr val="161616"/>
                </a:solidFill>
                <a:latin typeface="Helvetica Neue"/>
              </a:rPr>
              <a:t>tiempo, costo y valor.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entre $430 y $750 mil al mes (seguro, cuota, permiso, mantención, bencina y TAG):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 en sobreprecio, o en una mejor propuesta al mismo precio. Y es medible, zona por zona.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cuesta, en tiempo y en dinero,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14 zonas de origen y 9 destinos,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medidos puerta a puerta.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837944"/>
            <a:ext cx="2446632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920240"/>
            <a:ext cx="2282040" cy="32552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59744" y="327933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9744" y="327933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5740188" y="338101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0188" y="338101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95820" y="294562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820" y="294562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2071" y="333039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2071" y="333039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14384" y="402512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4384" y="402512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4588" y="304354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4588" y="304354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99734" y="3444489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9734" y="3444489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1392" y="305087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1392" y="305087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4167" y="336658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4167" y="336658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341" y="3658903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41" y="3658903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77267" y="381005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77267" y="3810056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8022" y="314120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8022" y="314120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28108" y="330928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28108" y="330928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958" y="315943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8958" y="315943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49351" y="4138946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49351" y="4138946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0590" y="3765241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0590" y="3765241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30841" y="4181535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0841" y="4181535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21036" y="326214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21036" y="326214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28733" y="256475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28733" y="256475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4285" y="3823945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4285" y="3823945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9880" y="3604431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9880" y="3604431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80450" y="3006277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80450" y="3006277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12956" y="2994178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12956" y="2994178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1777" y="409771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61777" y="4097712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54440" y="3782494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54440" y="3782494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78433" y="4438810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78433" y="4438810"/>
            <a:ext cx="118872" cy="118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sp>
        <p:nvSpPr>
          <p:cNvPr id="59" name="Oval 58"/>
          <p:cNvSpPr/>
          <p:nvPr/>
        </p:nvSpPr>
        <p:spPr>
          <a:xfrm>
            <a:off x="4963986" y="2293000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63986" y="2287514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1" name="Oval 60"/>
          <p:cNvSpPr/>
          <p:nvPr/>
        </p:nvSpPr>
        <p:spPr>
          <a:xfrm>
            <a:off x="5148677" y="2546314"/>
            <a:ext cx="182880" cy="182880"/>
          </a:xfrm>
          <a:prstGeom prst="ellipse">
            <a:avLst/>
          </a:prstGeom>
          <a:solidFill>
            <a:srgbClr val="B07D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8677" y="254082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63" name="Oval 62"/>
          <p:cNvSpPr/>
          <p:nvPr/>
        </p:nvSpPr>
        <p:spPr>
          <a:xfrm>
            <a:off x="5239456" y="277516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39456" y="276967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65" name="Oval 64"/>
          <p:cNvSpPr/>
          <p:nvPr/>
        </p:nvSpPr>
        <p:spPr>
          <a:xfrm>
            <a:off x="4692762" y="2600681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2762" y="259519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67" name="Oval 66"/>
          <p:cNvSpPr/>
          <p:nvPr/>
        </p:nvSpPr>
        <p:spPr>
          <a:xfrm>
            <a:off x="5312626" y="264191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12626" y="263642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69" name="Oval 68"/>
          <p:cNvSpPr/>
          <p:nvPr/>
        </p:nvSpPr>
        <p:spPr>
          <a:xfrm>
            <a:off x="5145754" y="22059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45754" y="220046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71" name="Oval 70"/>
          <p:cNvSpPr/>
          <p:nvPr/>
        </p:nvSpPr>
        <p:spPr>
          <a:xfrm>
            <a:off x="5359716" y="2179124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59716" y="2173638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73" name="Oval 72"/>
          <p:cNvSpPr/>
          <p:nvPr/>
        </p:nvSpPr>
        <p:spPr>
          <a:xfrm>
            <a:off x="5730547" y="209340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0547" y="208791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75" name="Oval 74"/>
          <p:cNvSpPr/>
          <p:nvPr/>
        </p:nvSpPr>
        <p:spPr>
          <a:xfrm>
            <a:off x="5536302" y="1996016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36302" y="1990529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77" name="Oval 76"/>
          <p:cNvSpPr/>
          <p:nvPr/>
        </p:nvSpPr>
        <p:spPr>
          <a:xfrm>
            <a:off x="4895927" y="3085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95927" y="3080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79" name="Oval 78"/>
          <p:cNvSpPr/>
          <p:nvPr/>
        </p:nvSpPr>
        <p:spPr>
          <a:xfrm>
            <a:off x="6364900" y="4184910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64900" y="4179423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11</a:t>
            </a:r>
          </a:p>
        </p:txBody>
      </p:sp>
      <p:sp>
        <p:nvSpPr>
          <p:cNvPr id="81" name="Oval 80"/>
          <p:cNvSpPr/>
          <p:nvPr/>
        </p:nvSpPr>
        <p:spPr>
          <a:xfrm>
            <a:off x="4905119" y="404710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05119" y="4041617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12</a:t>
            </a:r>
          </a:p>
        </p:txBody>
      </p:sp>
      <p:sp>
        <p:nvSpPr>
          <p:cNvPr id="83" name="Oval 82"/>
          <p:cNvSpPr/>
          <p:nvPr/>
        </p:nvSpPr>
        <p:spPr>
          <a:xfrm>
            <a:off x="5312807" y="4966553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12807" y="4961066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13</a:t>
            </a:r>
          </a:p>
        </p:txBody>
      </p:sp>
      <p:sp>
        <p:nvSpPr>
          <p:cNvPr id="85" name="Oval 84"/>
          <p:cNvSpPr/>
          <p:nvPr/>
        </p:nvSpPr>
        <p:spPr>
          <a:xfrm>
            <a:off x="5570714" y="4364492"/>
            <a:ext cx="146304" cy="146304"/>
          </a:xfrm>
          <a:prstGeom prst="ellipse">
            <a:avLst/>
          </a:prstGeom>
          <a:solidFill>
            <a:srgbClr val="134E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70714" y="4359005"/>
            <a:ext cx="14630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Helvetica Neue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8368" y="219913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8368" y="2196388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A</a:t>
            </a:r>
          </a:p>
        </p:txBody>
      </p:sp>
      <p:pic>
        <p:nvPicPr>
          <p:cNvPr id="90" name="Picture 89" descr="d_tobala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9132"/>
            <a:ext cx="201168" cy="20116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280160" y="21717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80160" y="233629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" y="2521000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" y="2518257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B</a:t>
            </a:r>
          </a:p>
        </p:txBody>
      </p:sp>
      <p:pic>
        <p:nvPicPr>
          <p:cNvPr id="95" name="Picture 94" descr="d_cen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21000"/>
            <a:ext cx="201168" cy="20116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280160" y="24935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80160" y="2658160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8" y="2842869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8368" y="2840126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C</a:t>
            </a:r>
          </a:p>
        </p:txBody>
      </p:sp>
      <p:pic>
        <p:nvPicPr>
          <p:cNvPr id="100" name="Picture 99" descr="near_indus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842869"/>
            <a:ext cx="201168" cy="20116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280160" y="281543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80160" y="2980029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164738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8368" y="3161995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D</a:t>
            </a:r>
          </a:p>
        </p:txBody>
      </p:sp>
      <p:pic>
        <p:nvPicPr>
          <p:cNvPr id="105" name="Picture 104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164738"/>
            <a:ext cx="201168" cy="20116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280160" y="313730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80160" y="3301898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58368" y="3486607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58368" y="3483864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E</a:t>
            </a:r>
          </a:p>
        </p:txBody>
      </p:sp>
      <p:pic>
        <p:nvPicPr>
          <p:cNvPr id="110" name="Picture 109" descr="near_universid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486607"/>
            <a:ext cx="201168" cy="20116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280160" y="345917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80160" y="3623767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las más cercanas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58368" y="3808476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58368" y="3805732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F</a:t>
            </a:r>
          </a:p>
        </p:txBody>
      </p:sp>
      <p:pic>
        <p:nvPicPr>
          <p:cNvPr id="115" name="Picture 114" descr="d_aeropuert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808476"/>
            <a:ext cx="201168" cy="20116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80160" y="37810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80160" y="3945636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8368" y="4130344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8368" y="4127601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G</a:t>
            </a:r>
          </a:p>
        </p:txBody>
      </p:sp>
      <p:pic>
        <p:nvPicPr>
          <p:cNvPr id="120" name="Picture 119" descr="near_hospit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" y="4130344"/>
            <a:ext cx="201168" cy="201168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280160" y="41029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80160" y="4267504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58368" y="4452213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8368" y="4449470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H</a:t>
            </a:r>
          </a:p>
        </p:txBody>
      </p:sp>
      <p:pic>
        <p:nvPicPr>
          <p:cNvPr id="125" name="Picture 124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4452213"/>
            <a:ext cx="201168" cy="201168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280160" y="442478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80160" y="4589373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las más cercanas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58368" y="4774082"/>
            <a:ext cx="19202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58368" y="4771339"/>
            <a:ext cx="192024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4E48"/>
                </a:solidFill>
                <a:latin typeface="Helvetica Neue"/>
              </a:rPr>
              <a:t>I</a:t>
            </a:r>
          </a:p>
        </p:txBody>
      </p:sp>
      <p:pic>
        <p:nvPicPr>
          <p:cNvPr id="130" name="Picture 129" descr="near_ma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" y="4774082"/>
            <a:ext cx="201168" cy="201168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" y="474665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280160" y="4911242"/>
            <a:ext cx="2743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los más cercanos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01583" y="183794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134" name="Oval 133"/>
          <p:cNvSpPr/>
          <p:nvPr/>
        </p:nvSpPr>
        <p:spPr>
          <a:xfrm>
            <a:off x="8110727" y="2199132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339327" y="21854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36" name="Oval 135"/>
          <p:cNvSpPr/>
          <p:nvPr/>
        </p:nvSpPr>
        <p:spPr>
          <a:xfrm>
            <a:off x="8110727" y="2403043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39327" y="2389327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10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38" name="Oval 137"/>
          <p:cNvSpPr/>
          <p:nvPr/>
        </p:nvSpPr>
        <p:spPr>
          <a:xfrm>
            <a:off x="8124444" y="262067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339327" y="259323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40" name="Oval 139"/>
          <p:cNvSpPr/>
          <p:nvPr/>
        </p:nvSpPr>
        <p:spPr>
          <a:xfrm>
            <a:off x="8124444" y="282458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339327" y="279714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42" name="Oval 141"/>
          <p:cNvSpPr/>
          <p:nvPr/>
        </p:nvSpPr>
        <p:spPr>
          <a:xfrm>
            <a:off x="8124444" y="302849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339327" y="30010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44" name="Oval 143"/>
          <p:cNvSpPr/>
          <p:nvPr/>
        </p:nvSpPr>
        <p:spPr>
          <a:xfrm>
            <a:off x="8124444" y="323240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339327" y="320497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46" name="Oval 145"/>
          <p:cNvSpPr/>
          <p:nvPr/>
        </p:nvSpPr>
        <p:spPr>
          <a:xfrm>
            <a:off x="8124444" y="3436315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339327" y="3408883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48" name="Oval 147"/>
          <p:cNvSpPr/>
          <p:nvPr/>
        </p:nvSpPr>
        <p:spPr>
          <a:xfrm>
            <a:off x="8124444" y="3640226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339327" y="3612794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150" name="Oval 149"/>
          <p:cNvSpPr/>
          <p:nvPr/>
        </p:nvSpPr>
        <p:spPr>
          <a:xfrm>
            <a:off x="8124444" y="3844137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39327" y="3816705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52" name="Oval 151"/>
          <p:cNvSpPr/>
          <p:nvPr/>
        </p:nvSpPr>
        <p:spPr>
          <a:xfrm>
            <a:off x="8124444" y="404804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39327" y="4020616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54" name="Oval 153"/>
          <p:cNvSpPr/>
          <p:nvPr/>
        </p:nvSpPr>
        <p:spPr>
          <a:xfrm>
            <a:off x="8124444" y="4251960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339327" y="4224528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56" name="Oval 155"/>
          <p:cNvSpPr/>
          <p:nvPr/>
        </p:nvSpPr>
        <p:spPr>
          <a:xfrm>
            <a:off x="8124444" y="4455871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39327" y="44284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58" name="Oval 157"/>
          <p:cNvSpPr/>
          <p:nvPr/>
        </p:nvSpPr>
        <p:spPr>
          <a:xfrm>
            <a:off x="8124444" y="4659782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339327" y="463235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60" name="Oval 159"/>
          <p:cNvSpPr/>
          <p:nvPr/>
        </p:nvSpPr>
        <p:spPr>
          <a:xfrm>
            <a:off x="8124444" y="4863693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339327" y="4836261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10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8110727" y="5159044"/>
            <a:ext cx="201169" cy="0"/>
          </a:xfrm>
          <a:prstGeom prst="line">
            <a:avLst/>
          </a:prstGeom>
          <a:ln w="38100">
            <a:solidFill>
              <a:srgbClr val="6E9E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8403336" y="507674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Corredores de tren: Batuco y Melipilla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Medición puerta a puerta y en hora punta: red vial y tarifas reales hoy; los trenes y la Autopista en construcción como escenario futuro.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está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en auto es la debilidad precisa que la Autopista corrige: de 11º a 3º de 14.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lejano y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02899" y="2798064"/>
            <a:ext cx="5161747" cy="1300099"/>
          </a:xfrm>
          <a:prstGeom prst="rect">
            <a:avLst/>
          </a:prstGeom>
          <a:solidFill>
            <a:srgbClr val="F6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57763" y="2779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3928999"/>
            <a:ext cx="12344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costo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6085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86207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RÁPIDA, PERO CARA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1527" y="460857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LENTA, PERO BARATA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1527" y="2862072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B06A5E"/>
                </a:solidFill>
                <a:latin typeface="Helvetica Neue"/>
              </a:rPr>
              <a:t>LENTA Y CARA</a:t>
            </a:r>
          </a:p>
        </p:txBody>
      </p:sp>
      <p:sp>
        <p:nvSpPr>
          <p:cNvPr id="20" name="Oval 19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Oval 21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24" name="Oval 23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6" name="Oval 25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8" name="Oval 27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30" name="Oval 29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2" name="Oval 31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Oval 33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6" name="Oval 35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8" name="Oval 37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40" name="Oval 39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2" name="Oval 41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Oval 43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6" name="Oval 45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Batuco, lejos: es la zona que más necesita el salto de infraestructura.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tarifa sin integrar a RED encarece 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transporte público de nuestros proyectos.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cada tramo por separado, sin bip! integrado.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Sin integración a RED pagan cada tramo por separado: Estación Colina queda 12ª de 14 en costo y Batuco 8º. Es una debilidad corregible por gestión (lámina 18).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POR TIEMPO Y COSTO DE AUTO AHORRADOS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32625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58368" y="428670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Verde = puede cobrar más que esa columna; rojo = debe cobrar menos. Orden: de la que más sobreprecio justifica a la que menos.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Las dos láminas siguientes muestran dónde recupera esa diferencia.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VALOR DEL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El ahorro no es solo bencina y TAG: el tiempo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de viaje tiene precio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Cada hora arriba de un auto o una micro es una hora menos de trabajo, familia o descanso: un costo de oportunidad. MIDESO lo valora oficialmente (Precios Sociales 2025) en $3.846 por hora de viaje al trabajo: el VTC, 50% del costo de la mano de obra.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788920"/>
            <a:ext cx="2478709" cy="457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MINUTOS AHORRADOS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67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por viaje: el tren
desde Batuco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622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711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57117" y="2788920"/>
            <a:ext cx="2478709" cy="457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99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HORAS AL 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99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49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99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ida y vuelta ×
22 días hábiles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497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586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27889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74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VALOR DEL TIEMPO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74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34E48"/>
                </a:solidFill>
                <a:latin typeface="Helvetica Neue"/>
              </a:rPr>
              <a:t>$189 mil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74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al mes, valorizado al
VTC de $3.846/hora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43721" y="3520440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58C"/>
                </a:solidFill>
                <a:latin typeface="Helvetica Neue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4617" y="2788920"/>
            <a:ext cx="2478709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4617" y="2788920"/>
            <a:ext cx="2478709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7497" y="2999232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CAPACIDAD DE COMPRA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7497" y="3364992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B07D24"/>
                </a:solidFill>
                <a:latin typeface="Helvetica Neue"/>
              </a:rPr>
              <a:t>+977 UF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7497" y="4041648"/>
            <a:ext cx="215866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÷ $193, el dividendo
mensual de 1 UF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el puente de las láminas de valor: los minutos ahorrados se valorizan al precio oficial del tiempo y se capitalizan en UF de vivienda. No es solo ahorro de bolsillo: es costo de oportunidad.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SOLO POR EL TIEMPO QUE EL TREN LE AHORRA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82366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3116275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El tiempo ahorrado se valoriza al VTC de MIDESO y se capitaliza (lámina anterior). NOS ya cuenta con tren hoy: su ventaja ferroviaria está en sus tiempos actuales, no en este diferencial.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 ·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Por producto y con la Autopista, Batuco pasa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a liderar los segmentos donde participa.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MINUTOS PROMEDIO EN AUTO CON LA AUTOPISTA, PUERTA A PUERTA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40739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503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431122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70234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4586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7808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4718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0993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3489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4007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56944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8555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60987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48986" y="409194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3895" y="431596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31894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54521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39717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32746" y="292502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43112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698" y="310227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44375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79330" y="327953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45430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89878" y="3456783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458696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94272" y="363403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471881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07456" y="3811289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53489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70471" y="398854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56944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05019" y="4165795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609874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5450" y="434304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64766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3244" y="4520301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732047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67623" y="469755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8478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0359" y="487480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43673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068779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49174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23780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505875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37914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6823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40739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35894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52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4586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887200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58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4718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900384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534895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963398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73204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160550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213287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99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la Autopista, Batuco queda 1º de 8 en DS19, 1º en townhouses y 1º en edificios; Estación Colina es 4ª en DS19 y 7ª de 13 en casas. El orden de hoy no es el orden con la obra.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POSICIÓN POR PRODUCTO ·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En transporte público con el tren,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proyectos encabezan cada segmento.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MINUTOS PROMEDIO EN TRANSPORTE PÚBLICO CON EL TREN, PUERTA A PUERTA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8 zonas compiten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391" y="2768803"/>
            <a:ext cx="361926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1038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1" y="2992831"/>
            <a:ext cx="403000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2112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93391" y="3216859"/>
            <a:ext cx="410191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49303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1" y="3440887"/>
            <a:ext cx="471870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0982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1" y="3664915"/>
            <a:ext cx="508289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47401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93391" y="3888943"/>
            <a:ext cx="543129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2241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9194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09194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1" y="4112971"/>
            <a:ext cx="72540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4515" y="409194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31596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431596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93391" y="4336999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23895" y="431596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136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99383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54831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CASAS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4831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13 zonas compiten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4831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4287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89855" y="2768803"/>
            <a:ext cx="361926" cy="8124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97502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4831" y="292502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4287" y="292502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89855" y="2946056"/>
            <a:ext cx="410191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45767" y="292502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4831" y="310227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4287" y="310227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89855" y="3123309"/>
            <a:ext cx="47187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07446" y="310227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54831" y="327953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287" y="327953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89855" y="3300561"/>
            <a:ext cx="50828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43865" y="327953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4831" y="3456783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74287" y="3456783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89855" y="3477814"/>
            <a:ext cx="52821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3795" y="3456783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4831" y="363403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74287" y="363403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89855" y="3655067"/>
            <a:ext cx="543129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78704" y="363403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54831" y="3811289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4287" y="3811289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89855" y="3832320"/>
            <a:ext cx="543388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78964" y="3811289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54831" y="398854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74287" y="398854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89855" y="4009573"/>
            <a:ext cx="607295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2871" y="398854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105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54831" y="4165795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74287" y="4165795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89855" y="4186826"/>
            <a:ext cx="644832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0408" y="4165795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4831" y="4343048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74287" y="4343048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89855" y="4364079"/>
            <a:ext cx="705190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40766" y="4343048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54831" y="4520301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74287" y="4520301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789855" y="4541332"/>
            <a:ext cx="72540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60979" y="4520301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4831" y="469755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74287" y="469755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89855" y="4718585"/>
            <a:ext cx="749386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84962" y="469755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130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54831" y="487480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74287" y="487480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89855" y="4895838"/>
            <a:ext cx="784783" cy="81240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0359" y="487480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136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095847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251295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295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4 zonas compiten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1295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0751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586319" y="2768803"/>
            <a:ext cx="467703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099742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51295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0751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6319" y="2992831"/>
            <a:ext cx="520781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52821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70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1295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70751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86319" y="3216859"/>
            <a:ext cx="530074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62114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51295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70751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6319" y="3440887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6823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105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8892311" y="2286000"/>
            <a:ext cx="0" cy="274320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9047759" y="2267712"/>
            <a:ext cx="2485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40">
                <a:solidFill>
                  <a:srgbClr val="161616"/>
                </a:solidFill>
                <a:latin typeface="Helvetica Neue"/>
              </a:rPr>
              <a:t>EDIFICIOS · 4 PISOS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47759" y="2487168"/>
            <a:ext cx="248556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6 zonas compiten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47759" y="274777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67215" y="274777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382783" y="2768803"/>
            <a:ext cx="391552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20056" y="274777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63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47759" y="2971800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67215" y="2971800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382783" y="2992831"/>
            <a:ext cx="435989" cy="1280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864492" y="2971800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7D24"/>
                </a:solidFill>
                <a:latin typeface="Helvetica Neue"/>
              </a:rPr>
              <a:t>70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47759" y="3195827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267215" y="3195827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82783" y="3216859"/>
            <a:ext cx="443769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872272" y="3195827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71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47759" y="3419856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67215" y="3419856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382783" y="3440887"/>
            <a:ext cx="510496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939000" y="3419856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82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47759" y="3643884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67215" y="3643884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382783" y="3664915"/>
            <a:ext cx="657007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085510" y="3643884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105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47759" y="3867912"/>
            <a:ext cx="2377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67215" y="38679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382783" y="3888943"/>
            <a:ext cx="784783" cy="128016"/>
          </a:xfrm>
          <a:prstGeom prst="rect">
            <a:avLst/>
          </a:prstGeom>
          <a:solidFill>
            <a:srgbClr val="B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1213287" y="3867912"/>
            <a:ext cx="3474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6A64"/>
                </a:solidFill>
                <a:latin typeface="Helvetica Neue"/>
              </a:rPr>
              <a:t>126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es 1ª y Batuco 2º en DS19; en townhouses y edificios quedan 1ª y 2º. Para el comprador sin auto, la mejor conectada del corredor es nuestra.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967227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387851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80847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22910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64972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DEBILIDADES Y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debilidades del caso,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tres respuestas concretas.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8976" y="2359151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La Autopista lo acerca y el tren reduce su dependencia del auto.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cada tramo por separado, sin bip! integrado.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32918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6" y="3291839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Autopista y los trenes están en construcción (2028 a 2030), no operando hoy.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4224528"/>
            <a:ext cx="42729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4E48"/>
                </a:solidFill>
                <a:latin typeface="Helvetica Neue"/>
              </a:rPr>
              <a:t>Se respalda con el cronograma oficial de EFE y del MOP.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estructural: dos se resuelven con obras ya en construcción y la tercera, la integración a RED, depende de nuestra gestión.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Producto, precio y estrategia comercial: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las decisiones que abre el estudio.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(Batuco, con Autopista y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UF, o una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las comparables del corredor, no contra el promedio de la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Respaldar el argumento futuro con el cronograma oficial de la Autopista y de los trenes.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es tesis de plusvalía; Estación Colina,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define el pricing, la mezcla de producto y el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Capturar el diferencial en UF, o mantener precio competitivo y convertirlo en velocidad de venta.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20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ANEXO · 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Cómo se construyó el modelo: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dato real, criterio conservador.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MEDICIÓN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Puerta a puerta a las 07:00, hora punta: caminata, espera, transbordos y llegada al destino incluidos.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3975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63975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6855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855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Google Directions API con tráfico de hora punta; bencina por kilómetro y peajes TAG pórtico a pórtico.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9583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9583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463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RED URBANA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463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Recorridos y tarifas de RED (bip!) levantados de las fuentes oficiales del sistema (GTFS).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5191" y="1993392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5191" y="1993392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071" y="2176272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INTERURBANO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071" y="2432304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Micros rurales verificadas parada a parada en Moovit y contra los operadores.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TRENES Y AUTOPISTA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Trazados, estaciones y cronogramas oficiales de EFE y del MOP para el escenario futuro.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3975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3975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6855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VALOR DEL TIEMPO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6855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MIDESO, Precios Sociales 2025: VTC de $3.846 por hora de viaje al trabajo.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9583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9583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2463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CRITERIO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2463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Conservador: esperas y frecuencias completas y, ante alternativas dudosas, la más desfavorable en tiempo. Lo no verificable se declara.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5191" y="3566160"/>
            <a:ext cx="2458135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5191" y="3566160"/>
            <a:ext cx="2458135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58071" y="3749040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50">
                <a:solidFill>
                  <a:srgbClr val="161616"/>
                </a:solidFill>
                <a:latin typeface="Helvetica Neue"/>
              </a:rPr>
              <a:t>SELECCIÓN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8071" y="4005072"/>
            <a:ext cx="2110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Zonas: la competencia periférica y pericentral del corredor. Destinos: trabajo, estudio, salud, comercio y aeropuerto.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Cada cifra del deck es trazable a su fuente: dato real donde existe, proyección transparente donde aún no. Si un dato no es verificable, no se usa.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